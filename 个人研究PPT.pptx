
<file path=[Content_Types].xml><?xml version="1.0" encoding="utf-8"?>
<Types xmlns="http://schemas.openxmlformats.org/package/2006/content-types">
  <Default Extension="bin" ContentType="application/vnd.openxmlformats-officedocument.oleObject"/>
  <Default Extension="png" ContentType="image/png"/>
  <Default Extension="tmp" ContentType="image/pn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5.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6.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tags/tag23.xml" ContentType="application/vnd.openxmlformats-officedocument.presentationml.tags+xml"/>
  <Override PartName="/ppt/tags/tag2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683" r:id="rId2"/>
    <p:sldMasterId id="2147483704" r:id="rId3"/>
    <p:sldMasterId id="2147483707" r:id="rId4"/>
    <p:sldMasterId id="2147483710" r:id="rId5"/>
    <p:sldMasterId id="2147483713" r:id="rId6"/>
  </p:sldMasterIdLst>
  <p:notesMasterIdLst>
    <p:notesMasterId r:id="rId78"/>
  </p:notesMasterIdLst>
  <p:handoutMasterIdLst>
    <p:handoutMasterId r:id="rId79"/>
  </p:handoutMasterIdLst>
  <p:sldIdLst>
    <p:sldId id="295" r:id="rId7"/>
    <p:sldId id="480" r:id="rId8"/>
    <p:sldId id="479" r:id="rId9"/>
    <p:sldId id="444" r:id="rId10"/>
    <p:sldId id="476" r:id="rId11"/>
    <p:sldId id="440" r:id="rId12"/>
    <p:sldId id="475" r:id="rId13"/>
    <p:sldId id="451" r:id="rId14"/>
    <p:sldId id="452" r:id="rId15"/>
    <p:sldId id="439" r:id="rId16"/>
    <p:sldId id="459" r:id="rId17"/>
    <p:sldId id="468" r:id="rId18"/>
    <p:sldId id="478" r:id="rId19"/>
    <p:sldId id="458" r:id="rId20"/>
    <p:sldId id="455" r:id="rId21"/>
    <p:sldId id="469" r:id="rId22"/>
    <p:sldId id="470" r:id="rId23"/>
    <p:sldId id="472" r:id="rId24"/>
    <p:sldId id="473" r:id="rId25"/>
    <p:sldId id="457" r:id="rId26"/>
    <p:sldId id="409" r:id="rId27"/>
    <p:sldId id="428" r:id="rId28"/>
    <p:sldId id="474" r:id="rId29"/>
    <p:sldId id="453" r:id="rId30"/>
    <p:sldId id="454" r:id="rId31"/>
    <p:sldId id="467" r:id="rId32"/>
    <p:sldId id="465" r:id="rId33"/>
    <p:sldId id="437" r:id="rId34"/>
    <p:sldId id="433" r:id="rId35"/>
    <p:sldId id="499" r:id="rId36"/>
    <p:sldId id="483" r:id="rId37"/>
    <p:sldId id="484" r:id="rId38"/>
    <p:sldId id="486" r:id="rId39"/>
    <p:sldId id="487" r:id="rId40"/>
    <p:sldId id="488" r:id="rId41"/>
    <p:sldId id="489" r:id="rId42"/>
    <p:sldId id="490" r:id="rId43"/>
    <p:sldId id="491" r:id="rId44"/>
    <p:sldId id="492" r:id="rId45"/>
    <p:sldId id="493" r:id="rId46"/>
    <p:sldId id="494" r:id="rId47"/>
    <p:sldId id="495" r:id="rId48"/>
    <p:sldId id="496" r:id="rId49"/>
    <p:sldId id="497" r:id="rId50"/>
    <p:sldId id="498" r:id="rId51"/>
    <p:sldId id="500" r:id="rId52"/>
    <p:sldId id="502" r:id="rId53"/>
    <p:sldId id="513" r:id="rId54"/>
    <p:sldId id="503" r:id="rId55"/>
    <p:sldId id="514" r:id="rId56"/>
    <p:sldId id="504" r:id="rId57"/>
    <p:sldId id="515" r:id="rId58"/>
    <p:sldId id="516" r:id="rId59"/>
    <p:sldId id="507" r:id="rId60"/>
    <p:sldId id="517" r:id="rId61"/>
    <p:sldId id="508" r:id="rId62"/>
    <p:sldId id="518" r:id="rId63"/>
    <p:sldId id="509" r:id="rId64"/>
    <p:sldId id="510" r:id="rId65"/>
    <p:sldId id="511" r:id="rId66"/>
    <p:sldId id="512" r:id="rId67"/>
    <p:sldId id="521" r:id="rId68"/>
    <p:sldId id="522" r:id="rId69"/>
    <p:sldId id="523" r:id="rId70"/>
    <p:sldId id="526" r:id="rId71"/>
    <p:sldId id="524" r:id="rId72"/>
    <p:sldId id="525" r:id="rId73"/>
    <p:sldId id="528" r:id="rId74"/>
    <p:sldId id="527" r:id="rId75"/>
    <p:sldId id="529" r:id="rId76"/>
    <p:sldId id="530" r:id="rId77"/>
  </p:sldIdLst>
  <p:sldSz cx="9904413" cy="6859588"/>
  <p:notesSz cx="7104063" cy="10234613"/>
  <p:custDataLst>
    <p:tags r:id="rId80"/>
  </p:custDataLst>
  <p:defaultTextStyle>
    <a:defPPr>
      <a:defRPr lang="de-DE"/>
    </a:defPPr>
    <a:lvl1pPr marL="0" algn="l" defTabSz="957925" rtl="0" eaLnBrk="1" latinLnBrk="0" hangingPunct="1">
      <a:defRPr sz="1900" kern="1200">
        <a:solidFill>
          <a:schemeClr val="tx1"/>
        </a:solidFill>
        <a:latin typeface="+mn-lt"/>
        <a:ea typeface="+mn-ea"/>
        <a:cs typeface="+mn-cs"/>
      </a:defRPr>
    </a:lvl1pPr>
    <a:lvl2pPr marL="478963" algn="l" defTabSz="957925" rtl="0" eaLnBrk="1" latinLnBrk="0" hangingPunct="1">
      <a:defRPr sz="1900" kern="1200">
        <a:solidFill>
          <a:schemeClr val="tx1"/>
        </a:solidFill>
        <a:latin typeface="+mn-lt"/>
        <a:ea typeface="+mn-ea"/>
        <a:cs typeface="+mn-cs"/>
      </a:defRPr>
    </a:lvl2pPr>
    <a:lvl3pPr marL="957925" algn="l" defTabSz="957925" rtl="0" eaLnBrk="1" latinLnBrk="0" hangingPunct="1">
      <a:defRPr sz="1900" kern="1200">
        <a:solidFill>
          <a:schemeClr val="tx1"/>
        </a:solidFill>
        <a:latin typeface="+mn-lt"/>
        <a:ea typeface="+mn-ea"/>
        <a:cs typeface="+mn-cs"/>
      </a:defRPr>
    </a:lvl3pPr>
    <a:lvl4pPr marL="1436888" algn="l" defTabSz="957925" rtl="0" eaLnBrk="1" latinLnBrk="0" hangingPunct="1">
      <a:defRPr sz="1900" kern="1200">
        <a:solidFill>
          <a:schemeClr val="tx1"/>
        </a:solidFill>
        <a:latin typeface="+mn-lt"/>
        <a:ea typeface="+mn-ea"/>
        <a:cs typeface="+mn-cs"/>
      </a:defRPr>
    </a:lvl4pPr>
    <a:lvl5pPr marL="1915851" algn="l" defTabSz="957925" rtl="0" eaLnBrk="1" latinLnBrk="0" hangingPunct="1">
      <a:defRPr sz="1900" kern="1200">
        <a:solidFill>
          <a:schemeClr val="tx1"/>
        </a:solidFill>
        <a:latin typeface="+mn-lt"/>
        <a:ea typeface="+mn-ea"/>
        <a:cs typeface="+mn-cs"/>
      </a:defRPr>
    </a:lvl5pPr>
    <a:lvl6pPr marL="2394814" algn="l" defTabSz="957925" rtl="0" eaLnBrk="1" latinLnBrk="0" hangingPunct="1">
      <a:defRPr sz="1900" kern="1200">
        <a:solidFill>
          <a:schemeClr val="tx1"/>
        </a:solidFill>
        <a:latin typeface="+mn-lt"/>
        <a:ea typeface="+mn-ea"/>
        <a:cs typeface="+mn-cs"/>
      </a:defRPr>
    </a:lvl6pPr>
    <a:lvl7pPr marL="2873776" algn="l" defTabSz="957925" rtl="0" eaLnBrk="1" latinLnBrk="0" hangingPunct="1">
      <a:defRPr sz="1900" kern="1200">
        <a:solidFill>
          <a:schemeClr val="tx1"/>
        </a:solidFill>
        <a:latin typeface="+mn-lt"/>
        <a:ea typeface="+mn-ea"/>
        <a:cs typeface="+mn-cs"/>
      </a:defRPr>
    </a:lvl7pPr>
    <a:lvl8pPr marL="3352739" algn="l" defTabSz="957925" rtl="0" eaLnBrk="1" latinLnBrk="0" hangingPunct="1">
      <a:defRPr sz="1900" kern="1200">
        <a:solidFill>
          <a:schemeClr val="tx1"/>
        </a:solidFill>
        <a:latin typeface="+mn-lt"/>
        <a:ea typeface="+mn-ea"/>
        <a:cs typeface="+mn-cs"/>
      </a:defRPr>
    </a:lvl8pPr>
    <a:lvl9pPr marL="3831702" algn="l" defTabSz="957925"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31" userDrawn="1">
          <p15:clr>
            <a:srgbClr val="A4A3A4"/>
          </p15:clr>
        </p15:guide>
        <p15:guide id="2" orient="horz" pos="187" userDrawn="1">
          <p15:clr>
            <a:srgbClr val="A4A3A4"/>
          </p15:clr>
        </p15:guide>
        <p15:guide id="3" orient="horz" pos="3975" userDrawn="1">
          <p15:clr>
            <a:srgbClr val="A4A3A4"/>
          </p15:clr>
        </p15:guide>
        <p15:guide id="4" orient="horz" pos="4066" userDrawn="1">
          <p15:clr>
            <a:srgbClr val="A4A3A4"/>
          </p15:clr>
        </p15:guide>
        <p15:guide id="5" orient="horz" pos="867" userDrawn="1">
          <p15:clr>
            <a:srgbClr val="A4A3A4"/>
          </p15:clr>
        </p15:guide>
        <p15:guide id="6" orient="horz" pos="572" userDrawn="1">
          <p15:clr>
            <a:srgbClr val="A4A3A4"/>
          </p15:clr>
        </p15:guide>
        <p15:guide id="7" orient="horz" userDrawn="1">
          <p15:clr>
            <a:srgbClr val="A4A3A4"/>
          </p15:clr>
        </p15:guide>
        <p15:guide id="8" pos="3119" userDrawn="1">
          <p15:clr>
            <a:srgbClr val="A4A3A4"/>
          </p15:clr>
        </p15:guide>
        <p15:guide id="9" pos="3210" userDrawn="1">
          <p15:clr>
            <a:srgbClr val="A4A3A4"/>
          </p15:clr>
        </p15:guide>
        <p15:guide id="10" pos="6238" userDrawn="1">
          <p15:clr>
            <a:srgbClr val="A4A3A4"/>
          </p15:clr>
        </p15:guide>
        <p15:guide id="11" pos="6090" userDrawn="1">
          <p15:clr>
            <a:srgbClr val="A4A3A4"/>
          </p15:clr>
        </p15:guide>
        <p15:guide id="12" pos="3028" userDrawn="1">
          <p15:clr>
            <a:srgbClr val="A4A3A4"/>
          </p15:clr>
        </p15:guide>
        <p15:guide id="13" pos="171" userDrawn="1">
          <p15:clr>
            <a:srgbClr val="A4A3A4"/>
          </p15:clr>
        </p15:guide>
        <p15:guide id="14" pos="5954" userDrawn="1">
          <p15:clr>
            <a:srgbClr val="A4A3A4"/>
          </p15:clr>
        </p15:guide>
        <p15:guide id="15" pos="284"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C04F4"/>
    <a:srgbClr val="FF00FF"/>
    <a:srgbClr val="FF7C80"/>
    <a:srgbClr val="FF6699"/>
    <a:srgbClr val="D34817"/>
    <a:srgbClr val="B42100"/>
    <a:srgbClr val="9B2D1F"/>
    <a:srgbClr val="9B1717"/>
    <a:srgbClr val="741111"/>
    <a:srgbClr val="4E0C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98" autoAdjust="0"/>
    <p:restoredTop sz="98993" autoAdjust="0"/>
  </p:normalViewPr>
  <p:slideViewPr>
    <p:cSldViewPr snapToObjects="1" showGuides="1">
      <p:cViewPr varScale="1">
        <p:scale>
          <a:sx n="93" d="100"/>
          <a:sy n="93" d="100"/>
        </p:scale>
        <p:origin x="859" y="77"/>
      </p:cViewPr>
      <p:guideLst>
        <p:guide orient="horz" pos="731"/>
        <p:guide orient="horz" pos="187"/>
        <p:guide orient="horz" pos="3975"/>
        <p:guide orient="horz" pos="4066"/>
        <p:guide orient="horz" pos="867"/>
        <p:guide orient="horz" pos="572"/>
        <p:guide orient="horz"/>
        <p:guide pos="3119"/>
        <p:guide pos="3210"/>
        <p:guide pos="6238"/>
        <p:guide pos="6090"/>
        <p:guide pos="3028"/>
        <p:guide pos="171"/>
        <p:guide pos="5954"/>
        <p:guide pos="284"/>
      </p:guideLst>
    </p:cSldViewPr>
  </p:slideViewPr>
  <p:outlineViewPr>
    <p:cViewPr>
      <p:scale>
        <a:sx n="33" d="100"/>
        <a:sy n="33" d="100"/>
      </p:scale>
      <p:origin x="0" y="0"/>
    </p:cViewPr>
  </p:outlineViewPr>
  <p:notesTextViewPr>
    <p:cViewPr>
      <p:scale>
        <a:sx n="1" d="1"/>
        <a:sy n="1" d="1"/>
      </p:scale>
      <p:origin x="0" y="0"/>
    </p:cViewPr>
  </p:notesTextViewPr>
  <p:sorterViewPr>
    <p:cViewPr>
      <p:scale>
        <a:sx n="70" d="100"/>
        <a:sy n="70" d="100"/>
      </p:scale>
      <p:origin x="0" y="0"/>
    </p:cViewPr>
  </p:sorterViewPr>
  <p:notesViewPr>
    <p:cSldViewPr snapToObjects="1" showGuides="1">
      <p:cViewPr varScale="1">
        <p:scale>
          <a:sx n="43" d="100"/>
          <a:sy n="43" d="100"/>
        </p:scale>
        <p:origin x="-2010" y="-120"/>
      </p:cViewPr>
      <p:guideLst>
        <p:guide orient="horz" pos="3224"/>
        <p:guide pos="2238"/>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tableStyles" Target="tableStyle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handoutMaster" Target="handoutMasters/handoutMaster1.xml"/><Relationship Id="rId5" Type="http://schemas.openxmlformats.org/officeDocument/2006/relationships/slideMaster" Target="slideMasters/slideMaster5.xml"/><Relationship Id="rId61" Type="http://schemas.openxmlformats.org/officeDocument/2006/relationships/slide" Target="slides/slide55.xml"/><Relationship Id="rId82" Type="http://schemas.openxmlformats.org/officeDocument/2006/relationships/viewProps" Target="viewProps.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tags" Target="tags/tag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notesMaster" Target="notesMasters/notesMaster1.xml"/><Relationship Id="rId8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8427" cy="511731"/>
          </a:xfrm>
          <a:prstGeom prst="rect">
            <a:avLst/>
          </a:prstGeom>
        </p:spPr>
        <p:txBody>
          <a:bodyPr vert="horz" lIns="95088" tIns="47544" rIns="95088" bIns="47544" rtlCol="0"/>
          <a:lstStyle>
            <a:lvl1pPr algn="l">
              <a:defRPr sz="1200"/>
            </a:lvl1pPr>
          </a:lstStyle>
          <a:p>
            <a:endParaRPr lang="en-US" dirty="0">
              <a:latin typeface="Arial" pitchFamily="34" charset="0"/>
              <a:cs typeface="Arial" pitchFamily="34" charset="0"/>
            </a:endParaRPr>
          </a:p>
        </p:txBody>
      </p:sp>
      <p:sp>
        <p:nvSpPr>
          <p:cNvPr id="3" name="Date Placeholder 2"/>
          <p:cNvSpPr>
            <a:spLocks noGrp="1"/>
          </p:cNvSpPr>
          <p:nvPr>
            <p:ph type="dt" sz="quarter" idx="1"/>
          </p:nvPr>
        </p:nvSpPr>
        <p:spPr>
          <a:xfrm>
            <a:off x="4023993" y="1"/>
            <a:ext cx="3078427" cy="511731"/>
          </a:xfrm>
          <a:prstGeom prst="rect">
            <a:avLst/>
          </a:prstGeom>
        </p:spPr>
        <p:txBody>
          <a:bodyPr vert="horz" lIns="95088" tIns="47544" rIns="95088" bIns="47544" rtlCol="0"/>
          <a:lstStyle>
            <a:lvl1pPr algn="r">
              <a:defRPr sz="1200"/>
            </a:lvl1pPr>
          </a:lstStyle>
          <a:p>
            <a:fld id="{37497BA2-BE1C-4EE9-A31C-7FFCDEBC3FDE}" type="datetimeFigureOut">
              <a:rPr lang="en-US" smtClean="0">
                <a:latin typeface="Arial" pitchFamily="34" charset="0"/>
                <a:cs typeface="Arial" pitchFamily="34" charset="0"/>
              </a:rPr>
              <a:pPr/>
              <a:t>5/9/2023</a:t>
            </a:fld>
            <a:endParaRPr lang="en-US">
              <a:latin typeface="Arial" pitchFamily="34" charset="0"/>
              <a:cs typeface="Arial" pitchFamily="34" charset="0"/>
            </a:endParaRPr>
          </a:p>
        </p:txBody>
      </p:sp>
      <p:sp>
        <p:nvSpPr>
          <p:cNvPr id="4" name="Footer Placeholder 3"/>
          <p:cNvSpPr>
            <a:spLocks noGrp="1"/>
          </p:cNvSpPr>
          <p:nvPr>
            <p:ph type="ftr" sz="quarter" idx="2"/>
          </p:nvPr>
        </p:nvSpPr>
        <p:spPr>
          <a:xfrm>
            <a:off x="1" y="9721107"/>
            <a:ext cx="3078427" cy="511731"/>
          </a:xfrm>
          <a:prstGeom prst="rect">
            <a:avLst/>
          </a:prstGeom>
        </p:spPr>
        <p:txBody>
          <a:bodyPr vert="horz" lIns="95088" tIns="47544" rIns="95088" bIns="47544" rtlCol="0" anchor="b"/>
          <a:lstStyle>
            <a:lvl1pPr algn="l">
              <a:defRPr sz="1200"/>
            </a:lvl1pPr>
          </a:lstStyle>
          <a:p>
            <a:endParaRPr lang="en-US">
              <a:latin typeface="Arial" pitchFamily="34" charset="0"/>
              <a:cs typeface="Arial" pitchFamily="34" charset="0"/>
            </a:endParaRPr>
          </a:p>
        </p:txBody>
      </p:sp>
      <p:sp>
        <p:nvSpPr>
          <p:cNvPr id="5" name="Slide Number Placeholder 4"/>
          <p:cNvSpPr>
            <a:spLocks noGrp="1"/>
          </p:cNvSpPr>
          <p:nvPr>
            <p:ph type="sldNum" sz="quarter" idx="3"/>
          </p:nvPr>
        </p:nvSpPr>
        <p:spPr>
          <a:xfrm>
            <a:off x="4023993" y="9721107"/>
            <a:ext cx="3078427" cy="511731"/>
          </a:xfrm>
          <a:prstGeom prst="rect">
            <a:avLst/>
          </a:prstGeom>
        </p:spPr>
        <p:txBody>
          <a:bodyPr vert="horz" lIns="95088" tIns="47544" rIns="95088" bIns="47544" rtlCol="0" anchor="b"/>
          <a:lstStyle>
            <a:lvl1pPr algn="r">
              <a:defRPr sz="1200"/>
            </a:lvl1pPr>
          </a:lstStyle>
          <a:p>
            <a:fld id="{F0C191C2-D4F7-424F-868C-23ADE6615EBC}" type="slidenum">
              <a:rPr lang="en-US" smtClean="0">
                <a:latin typeface="Arial" pitchFamily="34" charset="0"/>
                <a:cs typeface="Arial" pitchFamily="34" charset="0"/>
              </a:rPr>
              <a:pPr/>
              <a:t>‹#›</a:t>
            </a:fld>
            <a:endParaRPr lang="en-US">
              <a:latin typeface="Arial" pitchFamily="34" charset="0"/>
              <a:cs typeface="Arial" pitchFamily="34" charset="0"/>
            </a:endParaRPr>
          </a:p>
        </p:txBody>
      </p:sp>
    </p:spTree>
    <p:extLst>
      <p:ext uri="{BB962C8B-B14F-4D97-AF65-F5344CB8AC3E}">
        <p14:creationId xmlns:p14="http://schemas.microsoft.com/office/powerpoint/2010/main" val="6860554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8427" cy="511731"/>
          </a:xfrm>
          <a:prstGeom prst="rect">
            <a:avLst/>
          </a:prstGeom>
        </p:spPr>
        <p:txBody>
          <a:bodyPr vert="horz" lIns="95088" tIns="47544" rIns="95088" bIns="47544" rtlCol="0"/>
          <a:lstStyle>
            <a:lvl1pPr algn="l">
              <a:defRPr sz="1200">
                <a:latin typeface="Arial" pitchFamily="34" charset="0"/>
                <a:cs typeface="Arial" pitchFamily="34" charset="0"/>
              </a:defRPr>
            </a:lvl1pPr>
          </a:lstStyle>
          <a:p>
            <a:endParaRPr lang="en-US" dirty="0"/>
          </a:p>
        </p:txBody>
      </p:sp>
      <p:sp>
        <p:nvSpPr>
          <p:cNvPr id="3" name="Date Placeholder 2"/>
          <p:cNvSpPr>
            <a:spLocks noGrp="1"/>
          </p:cNvSpPr>
          <p:nvPr>
            <p:ph type="dt" idx="1"/>
          </p:nvPr>
        </p:nvSpPr>
        <p:spPr>
          <a:xfrm>
            <a:off x="4023993" y="1"/>
            <a:ext cx="3078427" cy="511731"/>
          </a:xfrm>
          <a:prstGeom prst="rect">
            <a:avLst/>
          </a:prstGeom>
        </p:spPr>
        <p:txBody>
          <a:bodyPr vert="horz" lIns="95088" tIns="47544" rIns="95088" bIns="47544" rtlCol="0"/>
          <a:lstStyle>
            <a:lvl1pPr algn="r">
              <a:defRPr sz="1200">
                <a:latin typeface="Arial" pitchFamily="34" charset="0"/>
                <a:cs typeface="Arial" pitchFamily="34" charset="0"/>
              </a:defRPr>
            </a:lvl1pPr>
          </a:lstStyle>
          <a:p>
            <a:fld id="{732C4D34-2C19-43C3-91CC-9F2B4AC12977}" type="datetimeFigureOut">
              <a:rPr lang="en-US" smtClean="0"/>
              <a:pPr/>
              <a:t>5/9/2023</a:t>
            </a:fld>
            <a:endParaRPr lang="en-US"/>
          </a:p>
        </p:txBody>
      </p:sp>
      <p:sp>
        <p:nvSpPr>
          <p:cNvPr id="4" name="Slide Image Placeholder 3"/>
          <p:cNvSpPr>
            <a:spLocks noGrp="1" noRot="1" noChangeAspect="1"/>
          </p:cNvSpPr>
          <p:nvPr>
            <p:ph type="sldImg" idx="2"/>
          </p:nvPr>
        </p:nvSpPr>
        <p:spPr>
          <a:xfrm>
            <a:off x="782638" y="768350"/>
            <a:ext cx="5538787" cy="3836988"/>
          </a:xfrm>
          <a:prstGeom prst="rect">
            <a:avLst/>
          </a:prstGeom>
          <a:noFill/>
          <a:ln w="12700">
            <a:solidFill>
              <a:prstClr val="black"/>
            </a:solidFill>
          </a:ln>
        </p:spPr>
        <p:txBody>
          <a:bodyPr vert="horz" lIns="95088" tIns="47544" rIns="95088" bIns="47544" rtlCol="0" anchor="ctr"/>
          <a:lstStyle/>
          <a:p>
            <a:endParaRPr lang="en-US"/>
          </a:p>
        </p:txBody>
      </p:sp>
      <p:sp>
        <p:nvSpPr>
          <p:cNvPr id="5" name="Notes Placeholder 4"/>
          <p:cNvSpPr>
            <a:spLocks noGrp="1"/>
          </p:cNvSpPr>
          <p:nvPr>
            <p:ph type="body" sz="quarter" idx="3"/>
          </p:nvPr>
        </p:nvSpPr>
        <p:spPr>
          <a:xfrm>
            <a:off x="710407" y="4861442"/>
            <a:ext cx="5683250" cy="4605576"/>
          </a:xfrm>
          <a:prstGeom prst="rect">
            <a:avLst/>
          </a:prstGeom>
        </p:spPr>
        <p:txBody>
          <a:bodyPr vert="horz" lIns="95088" tIns="47544" rIns="95088" bIns="47544"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1" y="9721107"/>
            <a:ext cx="3078427" cy="511731"/>
          </a:xfrm>
          <a:prstGeom prst="rect">
            <a:avLst/>
          </a:prstGeom>
        </p:spPr>
        <p:txBody>
          <a:bodyPr vert="horz" lIns="95088" tIns="47544" rIns="95088" bIns="47544" rtlCol="0" anchor="b"/>
          <a:lstStyle>
            <a:lvl1pPr algn="l">
              <a:defRPr sz="1200">
                <a:latin typeface="Arial" pitchFamily="34" charset="0"/>
                <a:cs typeface="Arial" pitchFamily="34" charset="0"/>
              </a:defRPr>
            </a:lvl1pPr>
          </a:lstStyle>
          <a:p>
            <a:endParaRPr lang="en-US"/>
          </a:p>
        </p:txBody>
      </p:sp>
      <p:sp>
        <p:nvSpPr>
          <p:cNvPr id="7" name="Slide Number Placeholder 6"/>
          <p:cNvSpPr>
            <a:spLocks noGrp="1"/>
          </p:cNvSpPr>
          <p:nvPr>
            <p:ph type="sldNum" sz="quarter" idx="5"/>
          </p:nvPr>
        </p:nvSpPr>
        <p:spPr>
          <a:xfrm>
            <a:off x="4023993" y="9721107"/>
            <a:ext cx="3078427" cy="511731"/>
          </a:xfrm>
          <a:prstGeom prst="rect">
            <a:avLst/>
          </a:prstGeom>
        </p:spPr>
        <p:txBody>
          <a:bodyPr vert="horz" lIns="95088" tIns="47544" rIns="95088" bIns="47544" rtlCol="0" anchor="b"/>
          <a:lstStyle>
            <a:lvl1pPr algn="r">
              <a:defRPr sz="1200">
                <a:latin typeface="Arial" pitchFamily="34" charset="0"/>
                <a:cs typeface="Arial" pitchFamily="34" charset="0"/>
              </a:defRPr>
            </a:lvl1pPr>
          </a:lstStyle>
          <a:p>
            <a:fld id="{D256E95E-57AA-4526-AA4C-3002F47FB13B}" type="slidenum">
              <a:rPr lang="en-US" smtClean="0"/>
              <a:pPr/>
              <a:t>‹#›</a:t>
            </a:fld>
            <a:endParaRPr lang="en-US"/>
          </a:p>
        </p:txBody>
      </p:sp>
    </p:spTree>
    <p:extLst>
      <p:ext uri="{BB962C8B-B14F-4D97-AF65-F5344CB8AC3E}">
        <p14:creationId xmlns:p14="http://schemas.microsoft.com/office/powerpoint/2010/main" val="1571392403"/>
      </p:ext>
    </p:extLst>
  </p:cSld>
  <p:clrMap bg1="lt1" tx1="dk1" bg2="lt2" tx2="dk2" accent1="accent1" accent2="accent2" accent3="accent3" accent4="accent4" accent5="accent5" accent6="accent6" hlink="hlink" folHlink="folHlink"/>
  <p:notesStyle>
    <a:lvl1pPr marL="0" algn="l" defTabSz="957925" rtl="0" eaLnBrk="1" latinLnBrk="0" hangingPunct="1">
      <a:defRPr sz="1300" kern="1200">
        <a:solidFill>
          <a:schemeClr val="tx1"/>
        </a:solidFill>
        <a:latin typeface="Arial" pitchFamily="34" charset="0"/>
        <a:ea typeface="+mn-ea"/>
        <a:cs typeface="Arial" pitchFamily="34" charset="0"/>
      </a:defRPr>
    </a:lvl1pPr>
    <a:lvl2pPr marL="478963" algn="l" defTabSz="957925" rtl="0" eaLnBrk="1" latinLnBrk="0" hangingPunct="1">
      <a:defRPr sz="1300" kern="1200">
        <a:solidFill>
          <a:schemeClr val="tx1"/>
        </a:solidFill>
        <a:latin typeface="Arial" pitchFamily="34" charset="0"/>
        <a:ea typeface="+mn-ea"/>
        <a:cs typeface="Arial" pitchFamily="34" charset="0"/>
      </a:defRPr>
    </a:lvl2pPr>
    <a:lvl3pPr marL="957925" algn="l" defTabSz="957925" rtl="0" eaLnBrk="1" latinLnBrk="0" hangingPunct="1">
      <a:defRPr sz="1300" kern="1200">
        <a:solidFill>
          <a:schemeClr val="tx1"/>
        </a:solidFill>
        <a:latin typeface="Arial" pitchFamily="34" charset="0"/>
        <a:ea typeface="+mn-ea"/>
        <a:cs typeface="Arial" pitchFamily="34" charset="0"/>
      </a:defRPr>
    </a:lvl3pPr>
    <a:lvl4pPr marL="1436888" algn="l" defTabSz="957925" rtl="0" eaLnBrk="1" latinLnBrk="0" hangingPunct="1">
      <a:defRPr sz="1300" kern="1200">
        <a:solidFill>
          <a:schemeClr val="tx1"/>
        </a:solidFill>
        <a:latin typeface="Arial" pitchFamily="34" charset="0"/>
        <a:ea typeface="+mn-ea"/>
        <a:cs typeface="Arial" pitchFamily="34" charset="0"/>
      </a:defRPr>
    </a:lvl4pPr>
    <a:lvl5pPr marL="1915851" algn="l" defTabSz="957925" rtl="0" eaLnBrk="1" latinLnBrk="0" hangingPunct="1">
      <a:defRPr sz="1300" kern="1200">
        <a:solidFill>
          <a:schemeClr val="tx1"/>
        </a:solidFill>
        <a:latin typeface="Arial" pitchFamily="34" charset="0"/>
        <a:ea typeface="+mn-ea"/>
        <a:cs typeface="Arial" pitchFamily="34" charset="0"/>
      </a:defRPr>
    </a:lvl5pPr>
    <a:lvl6pPr marL="2394814" algn="l" defTabSz="957925" rtl="0" eaLnBrk="1" latinLnBrk="0" hangingPunct="1">
      <a:defRPr sz="1300" kern="1200">
        <a:solidFill>
          <a:schemeClr val="tx1"/>
        </a:solidFill>
        <a:latin typeface="+mn-lt"/>
        <a:ea typeface="+mn-ea"/>
        <a:cs typeface="+mn-cs"/>
      </a:defRPr>
    </a:lvl6pPr>
    <a:lvl7pPr marL="2873776" algn="l" defTabSz="957925" rtl="0" eaLnBrk="1" latinLnBrk="0" hangingPunct="1">
      <a:defRPr sz="1300" kern="1200">
        <a:solidFill>
          <a:schemeClr val="tx1"/>
        </a:solidFill>
        <a:latin typeface="+mn-lt"/>
        <a:ea typeface="+mn-ea"/>
        <a:cs typeface="+mn-cs"/>
      </a:defRPr>
    </a:lvl7pPr>
    <a:lvl8pPr marL="3352739" algn="l" defTabSz="957925" rtl="0" eaLnBrk="1" latinLnBrk="0" hangingPunct="1">
      <a:defRPr sz="1300" kern="1200">
        <a:solidFill>
          <a:schemeClr val="tx1"/>
        </a:solidFill>
        <a:latin typeface="+mn-lt"/>
        <a:ea typeface="+mn-ea"/>
        <a:cs typeface="+mn-cs"/>
      </a:defRPr>
    </a:lvl8pPr>
    <a:lvl9pPr marL="3831702" algn="l" defTabSz="957925" rtl="0" eaLnBrk="1" latinLnBrk="0" hangingPunct="1">
      <a:defRPr sz="13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3.v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5" Type="http://schemas.openxmlformats.org/officeDocument/2006/relationships/image" Target="../media/image2.emf"/><Relationship Id="rId4" Type="http://schemas.openxmlformats.org/officeDocument/2006/relationships/oleObject" Target="../embeddings/oleObject5.bin"/></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xml"/><Relationship Id="rId1" Type="http://schemas.openxmlformats.org/officeDocument/2006/relationships/vmlDrawing" Target="../drawings/vmlDrawing10.v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4.xml"/><Relationship Id="rId1" Type="http://schemas.openxmlformats.org/officeDocument/2006/relationships/vmlDrawing" Target="../drawings/vmlDrawing13.v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17.xml"/><Relationship Id="rId1" Type="http://schemas.openxmlformats.org/officeDocument/2006/relationships/vmlDrawing" Target="../drawings/vmlDrawing16.v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20.xml"/><Relationship Id="rId1" Type="http://schemas.openxmlformats.org/officeDocument/2006/relationships/vmlDrawing" Target="../drawings/vmlDrawing19.v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21.xml"/><Relationship Id="rId1" Type="http://schemas.openxmlformats.org/officeDocument/2006/relationships/vmlDrawing" Target="../drawings/vmlDrawing20.vml"/><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22.xml"/><Relationship Id="rId1" Type="http://schemas.openxmlformats.org/officeDocument/2006/relationships/vmlDrawing" Target="../drawings/vmlDrawing21.vml"/><Relationship Id="rId5" Type="http://schemas.openxmlformats.org/officeDocument/2006/relationships/image" Target="../media/image2.emf"/><Relationship Id="rId4" Type="http://schemas.openxmlformats.org/officeDocument/2006/relationships/oleObject" Target="../embeddings/oleObject3.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R CoverWhite">
    <p:spTree>
      <p:nvGrpSpPr>
        <p:cNvPr id="1" name=""/>
        <p:cNvGrpSpPr/>
        <p:nvPr/>
      </p:nvGrpSpPr>
      <p:grpSpPr>
        <a:xfrm>
          <a:off x="0" y="0"/>
          <a:ext cx="0" cy="0"/>
          <a:chOff x="0" y="0"/>
          <a:chExt cx="0" cy="0"/>
        </a:xfrm>
      </p:grpSpPr>
      <p:graphicFrame>
        <p:nvGraphicFramePr>
          <p:cNvPr id="39" name="对象 38" hidden="1"/>
          <p:cNvGraphicFramePr>
            <a:graphicFrameLocks noChangeAspect="1"/>
          </p:cNvGraphicFramePr>
          <p:nvPr userDrawn="1">
            <p:custDataLst>
              <p:tags r:id="rId2"/>
            </p:custDataLst>
            <p:extLst>
              <p:ext uri="{D42A27DB-BD31-4B8C-83A1-F6EECF244321}">
                <p14:modId xmlns:p14="http://schemas.microsoft.com/office/powerpoint/2010/main" val="2805504870"/>
              </p:ex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2312" name="think-cell Slide" r:id="rId4" imgW="465" imgH="457" progId="TCLayout.ActiveDocument.1">
                  <p:embed/>
                </p:oleObj>
              </mc:Choice>
              <mc:Fallback>
                <p:oleObj name="think-cell Slide" r:id="rId4" imgW="465" imgH="457" progId="TCLayout.ActiveDocument.1">
                  <p:embed/>
                  <p:pic>
                    <p:nvPicPr>
                      <p:cNvPr id="0" name=""/>
                      <p:cNvPicPr/>
                      <p:nvPr/>
                    </p:nvPicPr>
                    <p:blipFill>
                      <a:blip r:embed="rId5"/>
                      <a:stretch>
                        <a:fillRect/>
                      </a:stretch>
                    </p:blipFill>
                    <p:spPr>
                      <a:xfrm>
                        <a:off x="1589" y="1592"/>
                        <a:ext cx="1587" cy="1587"/>
                      </a:xfrm>
                      <a:prstGeom prst="rect">
                        <a:avLst/>
                      </a:prstGeom>
                    </p:spPr>
                  </p:pic>
                </p:oleObj>
              </mc:Fallback>
            </mc:AlternateContent>
          </a:graphicData>
        </a:graphic>
      </p:graphicFrame>
      <p:sp>
        <p:nvSpPr>
          <p:cNvPr id="15" name="Text Placeholder 13"/>
          <p:cNvSpPr>
            <a:spLocks noGrp="1"/>
          </p:cNvSpPr>
          <p:nvPr>
            <p:ph type="body" sz="quarter" idx="16" hasCustomPrompt="1"/>
          </p:nvPr>
        </p:nvSpPr>
        <p:spPr>
          <a:xfrm>
            <a:off x="265160" y="6103037"/>
            <a:ext cx="3586911" cy="207749"/>
          </a:xfrm>
          <a:prstGeom prst="rect">
            <a:avLst/>
          </a:prstGeom>
        </p:spPr>
        <p:txBody>
          <a:bodyPr anchor="b" anchorCtr="0"/>
          <a:lstStyle>
            <a:lvl1pPr marL="0" indent="0">
              <a:spcBef>
                <a:spcPts val="0"/>
              </a:spcBef>
              <a:buNone/>
              <a:defRPr sz="1500">
                <a:latin typeface="Palatino Linotype" panose="02040502050505030304" pitchFamily="18" charset="0"/>
              </a:defRPr>
            </a:lvl1pPr>
            <a:lvl2pPr marL="191597" indent="0">
              <a:buNone/>
              <a:defRPr sz="1000"/>
            </a:lvl2pPr>
            <a:lvl3pPr marL="338645" indent="0">
              <a:buNone/>
              <a:defRPr sz="1000"/>
            </a:lvl3pPr>
            <a:lvl4pPr marL="535189" indent="0">
              <a:buNone/>
              <a:defRPr sz="1000"/>
            </a:lvl4pPr>
            <a:lvl5pPr marL="686431" indent="0">
              <a:buNone/>
              <a:defRPr sz="1000"/>
            </a:lvl5pPr>
          </a:lstStyle>
          <a:p>
            <a:pPr lvl="0"/>
            <a:r>
              <a:rPr lang="en-US" dirty="0"/>
              <a:t>Author(s) here</a:t>
            </a:r>
          </a:p>
        </p:txBody>
      </p:sp>
      <p:sp>
        <p:nvSpPr>
          <p:cNvPr id="9" name="Text Placeholder 8"/>
          <p:cNvSpPr>
            <a:spLocks noGrp="1"/>
          </p:cNvSpPr>
          <p:nvPr>
            <p:ph type="body" sz="quarter" idx="15" hasCustomPrompt="1"/>
          </p:nvPr>
        </p:nvSpPr>
        <p:spPr>
          <a:xfrm>
            <a:off x="265158" y="5074617"/>
            <a:ext cx="4297888" cy="207749"/>
          </a:xfrm>
          <a:prstGeom prst="rect">
            <a:avLst/>
          </a:prstGeom>
          <a:noFill/>
          <a:ln w="6350" cap="flat">
            <a:noFill/>
          </a:ln>
        </p:spPr>
        <p:txBody>
          <a:bodyPr vert="horz" wrap="square" lIns="0" tIns="0" rIns="0" bIns="0" rtlCol="0">
            <a:spAutoFit/>
          </a:bodyPr>
          <a:lstStyle>
            <a:lvl1pPr marL="188580" indent="-188580">
              <a:buNone/>
              <a:defRPr lang="en-US" sz="1500" baseline="0" smtClean="0">
                <a:latin typeface="Palatino Linotype" panose="02040502050505030304" pitchFamily="18" charset="0"/>
              </a:defRPr>
            </a:lvl1pPr>
            <a:lvl2pPr>
              <a:defRPr lang="en-US" smtClean="0"/>
            </a:lvl2pPr>
            <a:lvl3pPr>
              <a:defRPr lang="en-US" smtClean="0"/>
            </a:lvl3pPr>
            <a:lvl4pPr>
              <a:defRPr lang="en-US" smtClean="0"/>
            </a:lvl4pPr>
            <a:lvl5pPr>
              <a:defRPr lang="en-US"/>
            </a:lvl5pPr>
          </a:lstStyle>
          <a:p>
            <a:r>
              <a:rPr lang="en-US" dirty="0"/>
              <a:t>Date here</a:t>
            </a:r>
          </a:p>
        </p:txBody>
      </p:sp>
      <p:sp>
        <p:nvSpPr>
          <p:cNvPr id="7" name="Text Placeholder 8"/>
          <p:cNvSpPr>
            <a:spLocks noGrp="1"/>
          </p:cNvSpPr>
          <p:nvPr>
            <p:ph type="body" sz="quarter" idx="12" hasCustomPrompt="1"/>
          </p:nvPr>
        </p:nvSpPr>
        <p:spPr>
          <a:xfrm>
            <a:off x="265158" y="4859209"/>
            <a:ext cx="4296719" cy="207749"/>
          </a:xfrm>
          <a:prstGeom prst="rect">
            <a:avLst/>
          </a:prstGeom>
          <a:noFill/>
          <a:ln w="6350" cap="flat">
            <a:noFill/>
          </a:ln>
        </p:spPr>
        <p:txBody>
          <a:bodyPr/>
          <a:lstStyle>
            <a:lvl1pPr marL="0" indent="0">
              <a:spcBef>
                <a:spcPts val="0"/>
              </a:spcBef>
              <a:buFontTx/>
              <a:buNone/>
              <a:defRPr sz="1500" baseline="0">
                <a:latin typeface="Palatino Linotype" panose="02040502050505030304" pitchFamily="18" charset="0"/>
              </a:defRPr>
            </a:lvl1pPr>
          </a:lstStyle>
          <a:p>
            <a:r>
              <a:rPr lang="en-US" dirty="0"/>
              <a:t>Report type here</a:t>
            </a:r>
          </a:p>
        </p:txBody>
      </p:sp>
      <p:sp>
        <p:nvSpPr>
          <p:cNvPr id="3" name="Title 1"/>
          <p:cNvSpPr>
            <a:spLocks noGrp="1"/>
          </p:cNvSpPr>
          <p:nvPr>
            <p:ph type="ctrTitle" hasCustomPrompt="1"/>
          </p:nvPr>
        </p:nvSpPr>
        <p:spPr>
          <a:xfrm>
            <a:off x="265157" y="3595830"/>
            <a:ext cx="9361046" cy="498713"/>
          </a:xfrm>
          <a:prstGeom prst="rect">
            <a:avLst/>
          </a:prstGeom>
          <a:noFill/>
          <a:ln w="6350" cap="flat">
            <a:noFill/>
          </a:ln>
        </p:spPr>
        <p:txBody>
          <a:bodyPr lIns="95793" tIns="47896" rIns="95793" bIns="47896"/>
          <a:lstStyle>
            <a:lvl1pPr algn="l">
              <a:lnSpc>
                <a:spcPct val="90000"/>
              </a:lnSpc>
              <a:defRPr sz="3800" b="0" baseline="0">
                <a:latin typeface="Arial" pitchFamily="34" charset="0"/>
                <a:cs typeface="Arial" pitchFamily="34" charset="0"/>
              </a:defRPr>
            </a:lvl1pPr>
          </a:lstStyle>
          <a:p>
            <a:r>
              <a:rPr lang="en-US" dirty="0"/>
              <a:t>Presentation title here</a:t>
            </a:r>
            <a:endParaRPr lang="de-DE" dirty="0"/>
          </a:p>
        </p:txBody>
      </p:sp>
      <p:cxnSp>
        <p:nvCxnSpPr>
          <p:cNvPr id="5" name="Straight Connector 4"/>
          <p:cNvCxnSpPr/>
          <p:nvPr/>
        </p:nvCxnSpPr>
        <p:spPr>
          <a:xfrm>
            <a:off x="2" y="3458637"/>
            <a:ext cx="9904413" cy="0"/>
          </a:xfrm>
          <a:prstGeom prst="line">
            <a:avLst/>
          </a:prstGeom>
          <a:ln w="6350" cap="flat">
            <a:solidFill>
              <a:srgbClr val="B42100"/>
            </a:solidFill>
            <a:miter lim="800000"/>
          </a:ln>
        </p:spPr>
        <p:style>
          <a:lnRef idx="1">
            <a:schemeClr val="accent1"/>
          </a:lnRef>
          <a:fillRef idx="0">
            <a:schemeClr val="accent1"/>
          </a:fillRef>
          <a:effectRef idx="0">
            <a:schemeClr val="accent1"/>
          </a:effectRef>
          <a:fontRef idx="minor">
            <a:schemeClr val="tx1"/>
          </a:fontRef>
        </p:style>
      </p:cxnSp>
      <p:sp>
        <p:nvSpPr>
          <p:cNvPr id="4" name="Subtitle 2"/>
          <p:cNvSpPr>
            <a:spLocks noGrp="1"/>
          </p:cNvSpPr>
          <p:nvPr>
            <p:ph type="subTitle" idx="1" hasCustomPrompt="1"/>
          </p:nvPr>
        </p:nvSpPr>
        <p:spPr>
          <a:xfrm>
            <a:off x="265157" y="3065358"/>
            <a:ext cx="9361046" cy="263149"/>
          </a:xfrm>
          <a:prstGeom prst="rect">
            <a:avLst/>
          </a:prstGeom>
          <a:noFill/>
          <a:ln w="6350" cap="flat">
            <a:noFill/>
          </a:ln>
        </p:spPr>
        <p:txBody>
          <a:bodyPr/>
          <a:lstStyle>
            <a:lvl1pPr marL="0" indent="0" algn="l">
              <a:lnSpc>
                <a:spcPct val="90000"/>
              </a:lnSpc>
              <a:spcBef>
                <a:spcPts val="943"/>
              </a:spcBef>
              <a:buNone/>
              <a:defRPr sz="1900" b="1" i="0" baseline="0">
                <a:solidFill>
                  <a:schemeClr val="tx1"/>
                </a:solidFill>
                <a:latin typeface="Arial" pitchFamily="34" charset="0"/>
                <a:cs typeface="Arial" pitchFamily="34" charset="0"/>
              </a:defRPr>
            </a:lvl1pPr>
            <a:lvl2pPr marL="478993" indent="0" algn="ctr">
              <a:buNone/>
              <a:defRPr>
                <a:solidFill>
                  <a:schemeClr val="tx1">
                    <a:tint val="75000"/>
                  </a:schemeClr>
                </a:solidFill>
              </a:defRPr>
            </a:lvl2pPr>
            <a:lvl3pPr marL="957984" indent="0" algn="ctr">
              <a:buNone/>
              <a:defRPr>
                <a:solidFill>
                  <a:schemeClr val="tx1">
                    <a:tint val="75000"/>
                  </a:schemeClr>
                </a:solidFill>
              </a:defRPr>
            </a:lvl3pPr>
            <a:lvl4pPr marL="1436977" indent="0" algn="ctr">
              <a:buNone/>
              <a:defRPr>
                <a:solidFill>
                  <a:schemeClr val="tx1">
                    <a:tint val="75000"/>
                  </a:schemeClr>
                </a:solidFill>
              </a:defRPr>
            </a:lvl4pPr>
            <a:lvl5pPr marL="1915969" indent="0" algn="ctr">
              <a:buNone/>
              <a:defRPr>
                <a:solidFill>
                  <a:schemeClr val="tx1">
                    <a:tint val="75000"/>
                  </a:schemeClr>
                </a:solidFill>
              </a:defRPr>
            </a:lvl5pPr>
            <a:lvl6pPr marL="2394962" indent="0" algn="ctr">
              <a:buNone/>
              <a:defRPr>
                <a:solidFill>
                  <a:schemeClr val="tx1">
                    <a:tint val="75000"/>
                  </a:schemeClr>
                </a:solidFill>
              </a:defRPr>
            </a:lvl6pPr>
            <a:lvl7pPr marL="2873953" indent="0" algn="ctr">
              <a:buNone/>
              <a:defRPr>
                <a:solidFill>
                  <a:schemeClr val="tx1">
                    <a:tint val="75000"/>
                  </a:schemeClr>
                </a:solidFill>
              </a:defRPr>
            </a:lvl7pPr>
            <a:lvl8pPr marL="3352947" indent="0" algn="ctr">
              <a:buNone/>
              <a:defRPr>
                <a:solidFill>
                  <a:schemeClr val="tx1">
                    <a:tint val="75000"/>
                  </a:schemeClr>
                </a:solidFill>
              </a:defRPr>
            </a:lvl8pPr>
            <a:lvl9pPr marL="3831939" indent="0" algn="ctr">
              <a:buNone/>
              <a:defRPr>
                <a:solidFill>
                  <a:schemeClr val="tx1">
                    <a:tint val="75000"/>
                  </a:schemeClr>
                </a:solidFill>
              </a:defRPr>
            </a:lvl9pPr>
          </a:lstStyle>
          <a:p>
            <a:r>
              <a:rPr lang="en-US" dirty="0"/>
              <a:t>Presentation subtitle or client name here</a:t>
            </a:r>
          </a:p>
        </p:txBody>
      </p:sp>
      <p:sp>
        <p:nvSpPr>
          <p:cNvPr id="10" name="矩形 9"/>
          <p:cNvSpPr/>
          <p:nvPr userDrawn="1"/>
        </p:nvSpPr>
        <p:spPr>
          <a:xfrm>
            <a:off x="2647952" y="-3775"/>
            <a:ext cx="7254875" cy="922898"/>
          </a:xfrm>
          <a:prstGeom prst="rect">
            <a:avLst/>
          </a:prstGeom>
          <a:solidFill>
            <a:srgbClr val="B42100"/>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endParaRPr lang="en-US" sz="1400" dirty="0" err="1">
              <a:solidFill>
                <a:schemeClr val="bg1"/>
              </a:solidFill>
              <a:latin typeface="Arial" pitchFamily="34" charset="0"/>
              <a:cs typeface="Arial" pitchFamily="34" charset="0"/>
            </a:endParaRPr>
          </a:p>
        </p:txBody>
      </p:sp>
      <p:pic>
        <p:nvPicPr>
          <p:cNvPr id="11" name="Picture 2" descr="http://statics.phbs.pku.edu.cn/uploadfile/2017/1122/20171122092949636.png"/>
          <p:cNvPicPr>
            <a:picLocks noChangeAspect="1" noChangeArrowheads="1"/>
          </p:cNvPicPr>
          <p:nvPr userDrawn="1"/>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l="16631" t="26645" r="15215" b="28137"/>
          <a:stretch/>
        </p:blipFill>
        <p:spPr bwMode="auto">
          <a:xfrm>
            <a:off x="364939" y="166241"/>
            <a:ext cx="1957908" cy="669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4939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R Disclaimer">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extLst>
              <p:ext uri="{D42A27DB-BD31-4B8C-83A1-F6EECF244321}">
                <p14:modId xmlns:p14="http://schemas.microsoft.com/office/powerpoint/2010/main" val="2391956560"/>
              </p:ex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3345" name="think-cell Slide" r:id="rId4" imgW="465" imgH="457" progId="TCLayout.ActiveDocument.1">
                  <p:embed/>
                </p:oleObj>
              </mc:Choice>
              <mc:Fallback>
                <p:oleObj name="think-cell Slide" r:id="rId4" imgW="465" imgH="457" progId="TCLayout.ActiveDocument.1">
                  <p:embed/>
                  <p:pic>
                    <p:nvPicPr>
                      <p:cNvPr id="0" name=""/>
                      <p:cNvPicPr/>
                      <p:nvPr/>
                    </p:nvPicPr>
                    <p:blipFill>
                      <a:blip r:embed="rId5"/>
                      <a:stretch>
                        <a:fillRect/>
                      </a:stretch>
                    </p:blipFill>
                    <p:spPr>
                      <a:xfrm>
                        <a:off x="1589" y="1592"/>
                        <a:ext cx="1587" cy="1587"/>
                      </a:xfrm>
                      <a:prstGeom prst="rect">
                        <a:avLst/>
                      </a:prstGeom>
                    </p:spPr>
                  </p:pic>
                </p:oleObj>
              </mc:Fallback>
            </mc:AlternateContent>
          </a:graphicData>
        </a:graphic>
      </p:graphicFrame>
      <p:sp>
        <p:nvSpPr>
          <p:cNvPr id="7" name="Title Placeholder 1"/>
          <p:cNvSpPr>
            <a:spLocks noGrp="1"/>
          </p:cNvSpPr>
          <p:nvPr>
            <p:ph type="title"/>
          </p:nvPr>
        </p:nvSpPr>
        <p:spPr bwMode="auto">
          <a:xfrm>
            <a:off x="522512" y="1341566"/>
            <a:ext cx="9368110" cy="6111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defRPr sz="1800">
                <a:latin typeface="Times New Roman" panose="02020603050405020304" pitchFamily="18" charset="0"/>
                <a:ea typeface="华文楷体" panose="02010600040101010101" pitchFamily="2" charset="-122"/>
                <a:cs typeface="Times New Roman" panose="02020603050405020304" pitchFamily="18" charset="0"/>
              </a:defRPr>
            </a:lvl1pPr>
          </a:lstStyle>
          <a:p>
            <a:pPr lvl="0"/>
            <a:r>
              <a:rPr lang="en-US" dirty="0"/>
              <a:t>Click to edit Master title style</a:t>
            </a:r>
          </a:p>
        </p:txBody>
      </p:sp>
    </p:spTree>
    <p:extLst>
      <p:ext uri="{BB962C8B-B14F-4D97-AF65-F5344CB8AC3E}">
        <p14:creationId xmlns:p14="http://schemas.microsoft.com/office/powerpoint/2010/main" val="306107673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R CoverWhite">
    <p:spTree>
      <p:nvGrpSpPr>
        <p:cNvPr id="1" name=""/>
        <p:cNvGrpSpPr/>
        <p:nvPr/>
      </p:nvGrpSpPr>
      <p:grpSpPr>
        <a:xfrm>
          <a:off x="0" y="0"/>
          <a:ext cx="0" cy="0"/>
          <a:chOff x="0" y="0"/>
          <a:chExt cx="0" cy="0"/>
        </a:xfrm>
      </p:grpSpPr>
      <p:graphicFrame>
        <p:nvGraphicFramePr>
          <p:cNvPr id="39" name="对象 38"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27877" name="think-cell Slide" r:id="rId4" imgW="465" imgH="457" progId="TCLayout.ActiveDocument.1">
                  <p:embed/>
                </p:oleObj>
              </mc:Choice>
              <mc:Fallback>
                <p:oleObj name="think-cell Slide" r:id="rId4" imgW="465" imgH="457" progId="TCLayout.ActiveDocument.1">
                  <p:embed/>
                  <p:pic>
                    <p:nvPicPr>
                      <p:cNvPr id="39" name="对象 38" hidden="1"/>
                      <p:cNvPicPr/>
                      <p:nvPr/>
                    </p:nvPicPr>
                    <p:blipFill>
                      <a:blip r:embed="rId5"/>
                      <a:stretch>
                        <a:fillRect/>
                      </a:stretch>
                    </p:blipFill>
                    <p:spPr>
                      <a:xfrm>
                        <a:off x="1589" y="1592"/>
                        <a:ext cx="1587" cy="1587"/>
                      </a:xfrm>
                      <a:prstGeom prst="rect">
                        <a:avLst/>
                      </a:prstGeom>
                    </p:spPr>
                  </p:pic>
                </p:oleObj>
              </mc:Fallback>
            </mc:AlternateContent>
          </a:graphicData>
        </a:graphic>
      </p:graphicFrame>
      <p:sp>
        <p:nvSpPr>
          <p:cNvPr id="15" name="Text Placeholder 13"/>
          <p:cNvSpPr>
            <a:spLocks noGrp="1"/>
          </p:cNvSpPr>
          <p:nvPr>
            <p:ph type="body" sz="quarter" idx="16" hasCustomPrompt="1"/>
          </p:nvPr>
        </p:nvSpPr>
        <p:spPr>
          <a:xfrm>
            <a:off x="265160" y="6103037"/>
            <a:ext cx="3586911" cy="207749"/>
          </a:xfrm>
          <a:prstGeom prst="rect">
            <a:avLst/>
          </a:prstGeom>
        </p:spPr>
        <p:txBody>
          <a:bodyPr anchor="b" anchorCtr="0"/>
          <a:lstStyle>
            <a:lvl1pPr marL="0" indent="0">
              <a:spcBef>
                <a:spcPts val="0"/>
              </a:spcBef>
              <a:buNone/>
              <a:defRPr sz="1500">
                <a:latin typeface="Palatino Linotype" panose="02040502050505030304" pitchFamily="18" charset="0"/>
              </a:defRPr>
            </a:lvl1pPr>
            <a:lvl2pPr marL="191597" indent="0">
              <a:buNone/>
              <a:defRPr sz="1000"/>
            </a:lvl2pPr>
            <a:lvl3pPr marL="338645" indent="0">
              <a:buNone/>
              <a:defRPr sz="1000"/>
            </a:lvl3pPr>
            <a:lvl4pPr marL="535189" indent="0">
              <a:buNone/>
              <a:defRPr sz="1000"/>
            </a:lvl4pPr>
            <a:lvl5pPr marL="686431" indent="0">
              <a:buNone/>
              <a:defRPr sz="1000"/>
            </a:lvl5pPr>
          </a:lstStyle>
          <a:p>
            <a:pPr lvl="0"/>
            <a:r>
              <a:rPr lang="en-US" dirty="0"/>
              <a:t>Author(s) here</a:t>
            </a:r>
          </a:p>
        </p:txBody>
      </p:sp>
      <p:sp>
        <p:nvSpPr>
          <p:cNvPr id="9" name="Text Placeholder 8"/>
          <p:cNvSpPr>
            <a:spLocks noGrp="1"/>
          </p:cNvSpPr>
          <p:nvPr>
            <p:ph type="body" sz="quarter" idx="15" hasCustomPrompt="1"/>
          </p:nvPr>
        </p:nvSpPr>
        <p:spPr>
          <a:xfrm>
            <a:off x="265158" y="5074617"/>
            <a:ext cx="4297888" cy="207749"/>
          </a:xfrm>
          <a:prstGeom prst="rect">
            <a:avLst/>
          </a:prstGeom>
          <a:noFill/>
          <a:ln w="6350" cap="flat">
            <a:noFill/>
          </a:ln>
        </p:spPr>
        <p:txBody>
          <a:bodyPr vert="horz" wrap="square" lIns="0" tIns="0" rIns="0" bIns="0" rtlCol="0">
            <a:spAutoFit/>
          </a:bodyPr>
          <a:lstStyle>
            <a:lvl1pPr marL="188580" indent="-188580">
              <a:buNone/>
              <a:defRPr lang="en-US" sz="1500" baseline="0" smtClean="0">
                <a:latin typeface="Palatino Linotype" panose="02040502050505030304" pitchFamily="18" charset="0"/>
              </a:defRPr>
            </a:lvl1pPr>
            <a:lvl2pPr>
              <a:defRPr lang="en-US" smtClean="0"/>
            </a:lvl2pPr>
            <a:lvl3pPr>
              <a:defRPr lang="en-US" smtClean="0"/>
            </a:lvl3pPr>
            <a:lvl4pPr>
              <a:defRPr lang="en-US" smtClean="0"/>
            </a:lvl4pPr>
            <a:lvl5pPr>
              <a:defRPr lang="en-US"/>
            </a:lvl5pPr>
          </a:lstStyle>
          <a:p>
            <a:r>
              <a:rPr lang="en-US" dirty="0"/>
              <a:t>Date here</a:t>
            </a:r>
          </a:p>
        </p:txBody>
      </p:sp>
      <p:sp>
        <p:nvSpPr>
          <p:cNvPr id="7" name="Text Placeholder 8"/>
          <p:cNvSpPr>
            <a:spLocks noGrp="1"/>
          </p:cNvSpPr>
          <p:nvPr>
            <p:ph type="body" sz="quarter" idx="12" hasCustomPrompt="1"/>
          </p:nvPr>
        </p:nvSpPr>
        <p:spPr>
          <a:xfrm>
            <a:off x="265158" y="4859209"/>
            <a:ext cx="4296719" cy="207749"/>
          </a:xfrm>
          <a:prstGeom prst="rect">
            <a:avLst/>
          </a:prstGeom>
          <a:noFill/>
          <a:ln w="6350" cap="flat">
            <a:noFill/>
          </a:ln>
        </p:spPr>
        <p:txBody>
          <a:bodyPr/>
          <a:lstStyle>
            <a:lvl1pPr marL="0" indent="0">
              <a:spcBef>
                <a:spcPts val="0"/>
              </a:spcBef>
              <a:buFontTx/>
              <a:buNone/>
              <a:defRPr sz="1500" baseline="0">
                <a:latin typeface="Palatino Linotype" panose="02040502050505030304" pitchFamily="18" charset="0"/>
              </a:defRPr>
            </a:lvl1pPr>
          </a:lstStyle>
          <a:p>
            <a:r>
              <a:rPr lang="en-US" dirty="0"/>
              <a:t>Report type here</a:t>
            </a:r>
          </a:p>
        </p:txBody>
      </p:sp>
      <p:sp>
        <p:nvSpPr>
          <p:cNvPr id="3" name="Title 1"/>
          <p:cNvSpPr>
            <a:spLocks noGrp="1"/>
          </p:cNvSpPr>
          <p:nvPr>
            <p:ph type="ctrTitle" hasCustomPrompt="1"/>
          </p:nvPr>
        </p:nvSpPr>
        <p:spPr>
          <a:xfrm>
            <a:off x="265157" y="3595830"/>
            <a:ext cx="9361046" cy="498713"/>
          </a:xfrm>
          <a:prstGeom prst="rect">
            <a:avLst/>
          </a:prstGeom>
          <a:noFill/>
          <a:ln w="6350" cap="flat">
            <a:noFill/>
          </a:ln>
        </p:spPr>
        <p:txBody>
          <a:bodyPr lIns="95793" tIns="47896" rIns="95793" bIns="47896"/>
          <a:lstStyle>
            <a:lvl1pPr algn="l">
              <a:lnSpc>
                <a:spcPct val="90000"/>
              </a:lnSpc>
              <a:defRPr sz="3800" b="0" baseline="0">
                <a:latin typeface="Arial" pitchFamily="34" charset="0"/>
                <a:cs typeface="Arial" pitchFamily="34" charset="0"/>
              </a:defRPr>
            </a:lvl1pPr>
          </a:lstStyle>
          <a:p>
            <a:r>
              <a:rPr lang="en-US" dirty="0"/>
              <a:t>Presentation title here</a:t>
            </a:r>
            <a:endParaRPr lang="de-DE" dirty="0"/>
          </a:p>
        </p:txBody>
      </p:sp>
      <p:cxnSp>
        <p:nvCxnSpPr>
          <p:cNvPr id="5" name="Straight Connector 4"/>
          <p:cNvCxnSpPr/>
          <p:nvPr/>
        </p:nvCxnSpPr>
        <p:spPr>
          <a:xfrm>
            <a:off x="2" y="3458637"/>
            <a:ext cx="9904413" cy="0"/>
          </a:xfrm>
          <a:prstGeom prst="line">
            <a:avLst/>
          </a:prstGeom>
          <a:ln w="6350" cap="flat">
            <a:solidFill>
              <a:srgbClr val="B42100"/>
            </a:solidFill>
            <a:miter lim="800000"/>
          </a:ln>
        </p:spPr>
        <p:style>
          <a:lnRef idx="1">
            <a:schemeClr val="accent1"/>
          </a:lnRef>
          <a:fillRef idx="0">
            <a:schemeClr val="accent1"/>
          </a:fillRef>
          <a:effectRef idx="0">
            <a:schemeClr val="accent1"/>
          </a:effectRef>
          <a:fontRef idx="minor">
            <a:schemeClr val="tx1"/>
          </a:fontRef>
        </p:style>
      </p:cxnSp>
      <p:sp>
        <p:nvSpPr>
          <p:cNvPr id="4" name="Subtitle 2"/>
          <p:cNvSpPr>
            <a:spLocks noGrp="1"/>
          </p:cNvSpPr>
          <p:nvPr>
            <p:ph type="subTitle" idx="1" hasCustomPrompt="1"/>
          </p:nvPr>
        </p:nvSpPr>
        <p:spPr>
          <a:xfrm>
            <a:off x="265157" y="3065358"/>
            <a:ext cx="9361046" cy="263149"/>
          </a:xfrm>
          <a:prstGeom prst="rect">
            <a:avLst/>
          </a:prstGeom>
          <a:noFill/>
          <a:ln w="6350" cap="flat">
            <a:noFill/>
          </a:ln>
        </p:spPr>
        <p:txBody>
          <a:bodyPr/>
          <a:lstStyle>
            <a:lvl1pPr marL="0" indent="0" algn="l">
              <a:lnSpc>
                <a:spcPct val="90000"/>
              </a:lnSpc>
              <a:spcBef>
                <a:spcPts val="943"/>
              </a:spcBef>
              <a:buNone/>
              <a:defRPr sz="1900" b="1" i="0" baseline="0">
                <a:solidFill>
                  <a:schemeClr val="tx1"/>
                </a:solidFill>
                <a:latin typeface="Arial" pitchFamily="34" charset="0"/>
                <a:cs typeface="Arial" pitchFamily="34" charset="0"/>
              </a:defRPr>
            </a:lvl1pPr>
            <a:lvl2pPr marL="478993" indent="0" algn="ctr">
              <a:buNone/>
              <a:defRPr>
                <a:solidFill>
                  <a:schemeClr val="tx1">
                    <a:tint val="75000"/>
                  </a:schemeClr>
                </a:solidFill>
              </a:defRPr>
            </a:lvl2pPr>
            <a:lvl3pPr marL="957984" indent="0" algn="ctr">
              <a:buNone/>
              <a:defRPr>
                <a:solidFill>
                  <a:schemeClr val="tx1">
                    <a:tint val="75000"/>
                  </a:schemeClr>
                </a:solidFill>
              </a:defRPr>
            </a:lvl3pPr>
            <a:lvl4pPr marL="1436977" indent="0" algn="ctr">
              <a:buNone/>
              <a:defRPr>
                <a:solidFill>
                  <a:schemeClr val="tx1">
                    <a:tint val="75000"/>
                  </a:schemeClr>
                </a:solidFill>
              </a:defRPr>
            </a:lvl4pPr>
            <a:lvl5pPr marL="1915969" indent="0" algn="ctr">
              <a:buNone/>
              <a:defRPr>
                <a:solidFill>
                  <a:schemeClr val="tx1">
                    <a:tint val="75000"/>
                  </a:schemeClr>
                </a:solidFill>
              </a:defRPr>
            </a:lvl5pPr>
            <a:lvl6pPr marL="2394962" indent="0" algn="ctr">
              <a:buNone/>
              <a:defRPr>
                <a:solidFill>
                  <a:schemeClr val="tx1">
                    <a:tint val="75000"/>
                  </a:schemeClr>
                </a:solidFill>
              </a:defRPr>
            </a:lvl6pPr>
            <a:lvl7pPr marL="2873953" indent="0" algn="ctr">
              <a:buNone/>
              <a:defRPr>
                <a:solidFill>
                  <a:schemeClr val="tx1">
                    <a:tint val="75000"/>
                  </a:schemeClr>
                </a:solidFill>
              </a:defRPr>
            </a:lvl7pPr>
            <a:lvl8pPr marL="3352947" indent="0" algn="ctr">
              <a:buNone/>
              <a:defRPr>
                <a:solidFill>
                  <a:schemeClr val="tx1">
                    <a:tint val="75000"/>
                  </a:schemeClr>
                </a:solidFill>
              </a:defRPr>
            </a:lvl8pPr>
            <a:lvl9pPr marL="3831939" indent="0" algn="ctr">
              <a:buNone/>
              <a:defRPr>
                <a:solidFill>
                  <a:schemeClr val="tx1">
                    <a:tint val="75000"/>
                  </a:schemeClr>
                </a:solidFill>
              </a:defRPr>
            </a:lvl9pPr>
          </a:lstStyle>
          <a:p>
            <a:r>
              <a:rPr lang="en-US" dirty="0"/>
              <a:t>Presentation subtitle or client name here</a:t>
            </a:r>
          </a:p>
        </p:txBody>
      </p:sp>
      <p:sp>
        <p:nvSpPr>
          <p:cNvPr id="10" name="矩形 9"/>
          <p:cNvSpPr/>
          <p:nvPr userDrawn="1"/>
        </p:nvSpPr>
        <p:spPr>
          <a:xfrm>
            <a:off x="2647952" y="-3775"/>
            <a:ext cx="7254875" cy="922898"/>
          </a:xfrm>
          <a:prstGeom prst="rect">
            <a:avLst/>
          </a:prstGeom>
          <a:solidFill>
            <a:srgbClr val="B42100"/>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endParaRPr lang="en-US" sz="1400" dirty="0" err="1">
              <a:solidFill>
                <a:schemeClr val="bg1"/>
              </a:solidFill>
              <a:latin typeface="Arial" pitchFamily="34" charset="0"/>
              <a:cs typeface="Arial" pitchFamily="34" charset="0"/>
            </a:endParaRPr>
          </a:p>
        </p:txBody>
      </p:sp>
      <p:pic>
        <p:nvPicPr>
          <p:cNvPr id="11" name="Picture 2" descr="http://statics.phbs.pku.edu.cn/uploadfile/2017/1122/20171122092949636.png"/>
          <p:cNvPicPr>
            <a:picLocks noChangeAspect="1" noChangeArrowheads="1"/>
          </p:cNvPicPr>
          <p:nvPr userDrawn="1"/>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l="16631" t="26645" r="15215" b="28137"/>
          <a:stretch/>
        </p:blipFill>
        <p:spPr bwMode="auto">
          <a:xfrm>
            <a:off x="364939" y="166241"/>
            <a:ext cx="1957908" cy="669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971102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R Disclaimer">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28904" name="think-cell Slide" r:id="rId4" imgW="465" imgH="457" progId="TCLayout.ActiveDocument.1">
                  <p:embed/>
                </p:oleObj>
              </mc:Choice>
              <mc:Fallback>
                <p:oleObj name="think-cell Slide" r:id="rId4" imgW="465" imgH="457" progId="TCLayout.ActiveDocument.1">
                  <p:embed/>
                  <p:pic>
                    <p:nvPicPr>
                      <p:cNvPr id="2" name="对象 1" hidden="1"/>
                      <p:cNvPicPr/>
                      <p:nvPr/>
                    </p:nvPicPr>
                    <p:blipFill>
                      <a:blip r:embed="rId5"/>
                      <a:stretch>
                        <a:fillRect/>
                      </a:stretch>
                    </p:blipFill>
                    <p:spPr>
                      <a:xfrm>
                        <a:off x="1589" y="1592"/>
                        <a:ext cx="1587" cy="1587"/>
                      </a:xfrm>
                      <a:prstGeom prst="rect">
                        <a:avLst/>
                      </a:prstGeom>
                    </p:spPr>
                  </p:pic>
                </p:oleObj>
              </mc:Fallback>
            </mc:AlternateContent>
          </a:graphicData>
        </a:graphic>
      </p:graphicFrame>
      <p:sp>
        <p:nvSpPr>
          <p:cNvPr id="7" name="Title Placeholder 1"/>
          <p:cNvSpPr>
            <a:spLocks noGrp="1"/>
          </p:cNvSpPr>
          <p:nvPr>
            <p:ph type="title"/>
          </p:nvPr>
        </p:nvSpPr>
        <p:spPr bwMode="auto">
          <a:xfrm>
            <a:off x="522512" y="1341566"/>
            <a:ext cx="9368110" cy="6111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defRPr sz="1800">
                <a:latin typeface="Times New Roman" panose="02020603050405020304" pitchFamily="18" charset="0"/>
                <a:ea typeface="华文楷体" panose="02010600040101010101" pitchFamily="2" charset="-122"/>
                <a:cs typeface="Times New Roman" panose="02020603050405020304" pitchFamily="18" charset="0"/>
              </a:defRPr>
            </a:lvl1pPr>
          </a:lstStyle>
          <a:p>
            <a:pPr lvl="0"/>
            <a:r>
              <a:rPr lang="en-US" dirty="0"/>
              <a:t>Click to edit Master title style</a:t>
            </a:r>
          </a:p>
        </p:txBody>
      </p:sp>
    </p:spTree>
    <p:extLst>
      <p:ext uri="{BB962C8B-B14F-4D97-AF65-F5344CB8AC3E}">
        <p14:creationId xmlns:p14="http://schemas.microsoft.com/office/powerpoint/2010/main" val="29609382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81040" y="365125"/>
            <a:ext cx="8542337" cy="1325563"/>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defRPr/>
            </a:pPr>
            <a:r>
              <a:rPr lang="en-US" altLang="zh-CN" smtClean="0"/>
              <a:t>- </a:t>
            </a:r>
            <a:fld id="{D196C2D1-191C-4448-BECC-17644327C254}" type="slidenum">
              <a:rPr lang="en-US" altLang="zh-CN" smtClean="0"/>
              <a:pPr>
                <a:defRPr/>
              </a:pPr>
              <a:t>‹#›</a:t>
            </a:fld>
            <a:r>
              <a:rPr lang="en-US" altLang="zh-CN" smtClean="0"/>
              <a:t> -</a:t>
            </a:r>
            <a:endParaRPr lang="en-US" altLang="zh-CN"/>
          </a:p>
        </p:txBody>
      </p:sp>
    </p:spTree>
    <p:extLst>
      <p:ext uri="{BB962C8B-B14F-4D97-AF65-F5344CB8AC3E}">
        <p14:creationId xmlns:p14="http://schemas.microsoft.com/office/powerpoint/2010/main" val="9003056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R Onlytext2">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29925" name="think-cell Slide" r:id="rId4" imgW="465" imgH="457" progId="TCLayout.ActiveDocument.1">
                  <p:embed/>
                </p:oleObj>
              </mc:Choice>
              <mc:Fallback>
                <p:oleObj name="think-cell Slide" r:id="rId4" imgW="465" imgH="457" progId="TCLayout.ActiveDocument.1">
                  <p:embed/>
                  <p:pic>
                    <p:nvPicPr>
                      <p:cNvPr id="2" name="对象 1" hidden="1"/>
                      <p:cNvPicPr/>
                      <p:nvPr/>
                    </p:nvPicPr>
                    <p:blipFill>
                      <a:blip r:embed="rId5"/>
                      <a:stretch>
                        <a:fillRect/>
                      </a:stretch>
                    </p:blipFill>
                    <p:spPr>
                      <a:xfrm>
                        <a:off x="1589" y="1592"/>
                        <a:ext cx="1587" cy="1587"/>
                      </a:xfrm>
                      <a:prstGeom prst="rect">
                        <a:avLst/>
                      </a:prstGeom>
                    </p:spPr>
                  </p:pic>
                </p:oleObj>
              </mc:Fallback>
            </mc:AlternateContent>
          </a:graphicData>
        </a:graphic>
      </p:graphicFrame>
      <p:sp>
        <p:nvSpPr>
          <p:cNvPr id="8" name="Text Placeholder 3"/>
          <p:cNvSpPr>
            <a:spLocks noGrp="1"/>
          </p:cNvSpPr>
          <p:nvPr>
            <p:ph type="body" sz="quarter" idx="10" hasCustomPrompt="1"/>
          </p:nvPr>
        </p:nvSpPr>
        <p:spPr>
          <a:xfrm>
            <a:off x="264806" y="1376363"/>
            <a:ext cx="4531032" cy="4933950"/>
          </a:xfrm>
          <a:prstGeom prst="rect">
            <a:avLst/>
          </a:prstGeom>
        </p:spPr>
        <p:txBody>
          <a:bodyPr/>
          <a:lstStyle>
            <a:lvl1pPr marL="153155" indent="-153155">
              <a:lnSpc>
                <a:spcPct val="110000"/>
              </a:lnSpc>
              <a:buClr>
                <a:srgbClr val="B42100"/>
              </a:buClr>
              <a:defRPr baseline="0">
                <a:latin typeface="Palatino Linotype" panose="02040502050505030304" pitchFamily="18" charset="0"/>
                <a:ea typeface="华文楷体" panose="02010600040101010101" pitchFamily="2" charset="-122"/>
              </a:defRPr>
            </a:lvl1pPr>
            <a:lvl2pPr>
              <a:defRPr>
                <a:latin typeface="Palatino Linotype" panose="02040502050505030304" pitchFamily="18" charset="0"/>
                <a:ea typeface="华文楷体" panose="02010600040101010101" pitchFamily="2" charset="-122"/>
              </a:defRPr>
            </a:lvl2pPr>
            <a:lvl3pPr marL="895405" indent="-171460">
              <a:lnSpc>
                <a:spcPct val="110000"/>
              </a:lnSpc>
              <a:spcBef>
                <a:spcPct val="0"/>
              </a:spcBef>
              <a:buClr>
                <a:srgbClr val="B42100"/>
              </a:buClr>
              <a:buFont typeface="Arial" pitchFamily="34" charset="0"/>
              <a:buChar char="•"/>
              <a:tabLst>
                <a:tab pos="1162122" algn="l"/>
              </a:tabLst>
              <a:defRPr>
                <a:latin typeface="Palatino Linotype" panose="02040502050505030304" pitchFamily="18" charset="0"/>
                <a:ea typeface="华文楷体" panose="02010600040101010101" pitchFamily="2" charset="-122"/>
              </a:defRPr>
            </a:lvl3pPr>
            <a:lvl4pPr marL="1162122" indent="-171460">
              <a:lnSpc>
                <a:spcPct val="110000"/>
              </a:lnSpc>
              <a:spcBef>
                <a:spcPct val="0"/>
              </a:spcBef>
              <a:buClr>
                <a:schemeClr val="bg1">
                  <a:lumMod val="75000"/>
                </a:schemeClr>
              </a:buClr>
              <a:buFont typeface="Vrinda" panose="020B0502040204020203" pitchFamily="34" charset="0"/>
              <a:buChar char="-"/>
              <a:tabLst>
                <a:tab pos="1162122" algn="l"/>
              </a:tabLst>
              <a:defRPr>
                <a:latin typeface="Palatino Linotype" panose="02040502050505030304" pitchFamily="18" charset="0"/>
                <a:ea typeface="华文楷体" panose="02010600040101010101" pitchFamily="2" charset="-122"/>
              </a:defRPr>
            </a:lvl4pPr>
            <a:lvl5pPr>
              <a:defRPr>
                <a:latin typeface="Palatino Linotype" panose="02040502050505030304" pitchFamily="18" charset="0"/>
                <a:ea typeface="华文楷体" panose="02010600040101010101" pitchFamily="2" charset="-122"/>
              </a:defRPr>
            </a:lvl5pPr>
          </a:lstStyle>
          <a:p>
            <a:pPr marL="188568" indent="-188568">
              <a:lnSpc>
                <a:spcPct val="110000"/>
              </a:lnSpc>
              <a:buClr>
                <a:srgbClr val="B42100"/>
              </a:buClr>
            </a:pPr>
            <a:r>
              <a:rPr kumimoji="1" lang="en-US" altLang="zh-CN" sz="1600" dirty="0">
                <a:ea typeface="PMingLiU" pitchFamily="18" charset="-120"/>
              </a:rPr>
              <a:t>Text</a:t>
            </a:r>
            <a:r>
              <a:rPr kumimoji="1" lang="en-US" altLang="zh-CN" sz="1600" baseline="0" dirty="0">
                <a:ea typeface="PMingLiU" pitchFamily="18" charset="-120"/>
              </a:rPr>
              <a:t> on first level here</a:t>
            </a:r>
            <a:endParaRPr kumimoji="1" lang="en-US" altLang="zh-CN" sz="1600" dirty="0">
              <a:ea typeface="PMingLiU" pitchFamily="18" charset="-120"/>
            </a:endParaRPr>
          </a:p>
          <a:p>
            <a:pPr marL="527083" lvl="1" indent="-180987" fontAlgn="b">
              <a:lnSpc>
                <a:spcPct val="110000"/>
              </a:lnSpc>
              <a:buClr>
                <a:schemeClr val="bg1">
                  <a:lumMod val="75000"/>
                </a:schemeClr>
              </a:buClr>
              <a:defRPr/>
            </a:pPr>
            <a:r>
              <a:rPr lang="en-US" altLang="zh-CN" sz="1600" dirty="0">
                <a:latin typeface="Palatino Linotype" panose="02040502050505030304" pitchFamily="18" charset="0"/>
              </a:rPr>
              <a:t>Second level</a:t>
            </a:r>
          </a:p>
          <a:p>
            <a:pPr marL="895405" lvl="2" indent="-171460">
              <a:lnSpc>
                <a:spcPct val="110000"/>
              </a:lnSpc>
              <a:spcBef>
                <a:spcPct val="0"/>
              </a:spcBef>
              <a:buClr>
                <a:srgbClr val="B42100"/>
              </a:buClr>
              <a:buFont typeface="Arial" pitchFamily="34" charset="0"/>
              <a:buChar char="•"/>
              <a:tabLst>
                <a:tab pos="1162122" algn="l"/>
              </a:tabLst>
            </a:pPr>
            <a:r>
              <a:rPr kumimoji="1" lang="en-US" altLang="zh-CN" sz="1600" dirty="0">
                <a:latin typeface="Palatino Linotype" panose="02040502050505030304" pitchFamily="18" charset="0"/>
                <a:ea typeface="PMingLiU" pitchFamily="18" charset="-120"/>
              </a:rPr>
              <a:t>Third level</a:t>
            </a:r>
          </a:p>
          <a:p>
            <a:pPr marL="1162122" lvl="3" indent="-171460">
              <a:lnSpc>
                <a:spcPct val="110000"/>
              </a:lnSpc>
              <a:spcBef>
                <a:spcPct val="0"/>
              </a:spcBef>
              <a:buClr>
                <a:schemeClr val="bg1">
                  <a:lumMod val="75000"/>
                </a:schemeClr>
              </a:buClr>
              <a:buFont typeface="Vrinda" panose="020B0502040204020203" pitchFamily="34" charset="0"/>
              <a:buChar char="-"/>
              <a:tabLst>
                <a:tab pos="1162122" algn="l"/>
              </a:tabLst>
            </a:pPr>
            <a:r>
              <a:rPr kumimoji="1" lang="en-US" altLang="zh-CN" sz="1600" dirty="0">
                <a:latin typeface="Palatino Linotype" panose="02040502050505030304" pitchFamily="18" charset="0"/>
                <a:ea typeface="PMingLiU" pitchFamily="18" charset="-120"/>
              </a:rPr>
              <a:t>Content</a:t>
            </a:r>
          </a:p>
          <a:p>
            <a:pPr marL="628689" lvl="1" indent="-180987" fontAlgn="b">
              <a:lnSpc>
                <a:spcPct val="110000"/>
              </a:lnSpc>
              <a:buClr>
                <a:schemeClr val="bg1">
                  <a:lumMod val="75000"/>
                </a:schemeClr>
              </a:buClr>
              <a:defRPr/>
            </a:pPr>
            <a:endParaRPr lang="en-US" altLang="zh-CN" sz="1600" dirty="0">
              <a:latin typeface="Palatino Linotype" panose="02040502050505030304" pitchFamily="18" charset="0"/>
            </a:endParaRPr>
          </a:p>
        </p:txBody>
      </p:sp>
      <p:sp>
        <p:nvSpPr>
          <p:cNvPr id="5" name="Text Placeholder 3"/>
          <p:cNvSpPr>
            <a:spLocks noGrp="1"/>
          </p:cNvSpPr>
          <p:nvPr>
            <p:ph type="body" sz="quarter" idx="11" hasCustomPrompt="1"/>
          </p:nvPr>
        </p:nvSpPr>
        <p:spPr>
          <a:xfrm>
            <a:off x="5085277" y="1376363"/>
            <a:ext cx="4531032" cy="4933950"/>
          </a:xfrm>
          <a:prstGeom prst="rect">
            <a:avLst/>
          </a:prstGeom>
        </p:spPr>
        <p:txBody>
          <a:bodyPr/>
          <a:lstStyle>
            <a:lvl1pPr marL="153155" indent="-153155">
              <a:lnSpc>
                <a:spcPct val="110000"/>
              </a:lnSpc>
              <a:buClr>
                <a:srgbClr val="B42100"/>
              </a:buClr>
              <a:defRPr baseline="0">
                <a:latin typeface="Palatino Linotype" panose="02040502050505030304" pitchFamily="18" charset="0"/>
                <a:ea typeface="华文楷体" panose="02010600040101010101" pitchFamily="2" charset="-122"/>
              </a:defRPr>
            </a:lvl1pPr>
            <a:lvl2pPr>
              <a:defRPr>
                <a:latin typeface="Palatino Linotype" panose="02040502050505030304" pitchFamily="18" charset="0"/>
                <a:ea typeface="华文楷体" panose="02010600040101010101" pitchFamily="2" charset="-122"/>
              </a:defRPr>
            </a:lvl2pPr>
            <a:lvl3pPr marL="895405" indent="-171460">
              <a:lnSpc>
                <a:spcPct val="110000"/>
              </a:lnSpc>
              <a:spcBef>
                <a:spcPct val="0"/>
              </a:spcBef>
              <a:buClr>
                <a:srgbClr val="B42100"/>
              </a:buClr>
              <a:buFont typeface="Arial" pitchFamily="34" charset="0"/>
              <a:buChar char="•"/>
              <a:tabLst>
                <a:tab pos="1162122" algn="l"/>
              </a:tabLst>
              <a:defRPr>
                <a:latin typeface="Palatino Linotype" panose="02040502050505030304" pitchFamily="18" charset="0"/>
                <a:ea typeface="华文楷体" panose="02010600040101010101" pitchFamily="2" charset="-122"/>
              </a:defRPr>
            </a:lvl3pPr>
            <a:lvl4pPr marL="1162122" indent="-171460">
              <a:lnSpc>
                <a:spcPct val="110000"/>
              </a:lnSpc>
              <a:spcBef>
                <a:spcPct val="0"/>
              </a:spcBef>
              <a:buClr>
                <a:schemeClr val="bg1">
                  <a:lumMod val="75000"/>
                </a:schemeClr>
              </a:buClr>
              <a:buFont typeface="Vrinda" panose="020B0502040204020203" pitchFamily="34" charset="0"/>
              <a:buChar char="-"/>
              <a:tabLst>
                <a:tab pos="1162122" algn="l"/>
              </a:tabLst>
              <a:defRPr>
                <a:latin typeface="Palatino Linotype" panose="02040502050505030304" pitchFamily="18" charset="0"/>
                <a:ea typeface="华文楷体" panose="02010600040101010101" pitchFamily="2" charset="-122"/>
              </a:defRPr>
            </a:lvl4pPr>
            <a:lvl5pPr>
              <a:defRPr>
                <a:latin typeface="Palatino Linotype" panose="02040502050505030304" pitchFamily="18" charset="0"/>
                <a:ea typeface="华文楷体" panose="02010600040101010101" pitchFamily="2" charset="-122"/>
              </a:defRPr>
            </a:lvl5pPr>
          </a:lstStyle>
          <a:p>
            <a:pPr marL="188568" indent="-188568">
              <a:lnSpc>
                <a:spcPct val="110000"/>
              </a:lnSpc>
              <a:buClr>
                <a:srgbClr val="B42100"/>
              </a:buClr>
            </a:pPr>
            <a:r>
              <a:rPr kumimoji="1" lang="en-US" altLang="zh-CN" sz="1600" dirty="0">
                <a:ea typeface="PMingLiU" pitchFamily="18" charset="-120"/>
              </a:rPr>
              <a:t>Text</a:t>
            </a:r>
            <a:r>
              <a:rPr kumimoji="1" lang="en-US" altLang="zh-CN" sz="1600" baseline="0" dirty="0">
                <a:ea typeface="PMingLiU" pitchFamily="18" charset="-120"/>
              </a:rPr>
              <a:t> on first level here</a:t>
            </a:r>
            <a:endParaRPr kumimoji="1" lang="en-US" altLang="zh-CN" sz="1600" dirty="0">
              <a:ea typeface="PMingLiU" pitchFamily="18" charset="-120"/>
            </a:endParaRPr>
          </a:p>
          <a:p>
            <a:pPr marL="527083" lvl="1" indent="-180987" fontAlgn="b">
              <a:lnSpc>
                <a:spcPct val="110000"/>
              </a:lnSpc>
              <a:buClr>
                <a:schemeClr val="bg1">
                  <a:lumMod val="75000"/>
                </a:schemeClr>
              </a:buClr>
              <a:defRPr/>
            </a:pPr>
            <a:r>
              <a:rPr lang="en-US" altLang="zh-CN" sz="1600" dirty="0">
                <a:latin typeface="Palatino Linotype" panose="02040502050505030304" pitchFamily="18" charset="0"/>
              </a:rPr>
              <a:t>Second level</a:t>
            </a:r>
          </a:p>
          <a:p>
            <a:pPr marL="895405" lvl="2" indent="-171460">
              <a:lnSpc>
                <a:spcPct val="110000"/>
              </a:lnSpc>
              <a:spcBef>
                <a:spcPct val="0"/>
              </a:spcBef>
              <a:buClr>
                <a:srgbClr val="B42100"/>
              </a:buClr>
              <a:buFont typeface="Arial" pitchFamily="34" charset="0"/>
              <a:buChar char="•"/>
              <a:tabLst>
                <a:tab pos="1162122" algn="l"/>
              </a:tabLst>
            </a:pPr>
            <a:r>
              <a:rPr kumimoji="1" lang="en-US" altLang="zh-CN" sz="1600" dirty="0">
                <a:latin typeface="Palatino Linotype" panose="02040502050505030304" pitchFamily="18" charset="0"/>
                <a:ea typeface="PMingLiU" pitchFamily="18" charset="-120"/>
              </a:rPr>
              <a:t>Third level</a:t>
            </a:r>
          </a:p>
          <a:p>
            <a:pPr marL="1162122" lvl="3" indent="-171460">
              <a:lnSpc>
                <a:spcPct val="110000"/>
              </a:lnSpc>
              <a:spcBef>
                <a:spcPct val="0"/>
              </a:spcBef>
              <a:buClr>
                <a:schemeClr val="bg1">
                  <a:lumMod val="75000"/>
                </a:schemeClr>
              </a:buClr>
              <a:buFont typeface="Vrinda" panose="020B0502040204020203" pitchFamily="34" charset="0"/>
              <a:buChar char="-"/>
              <a:tabLst>
                <a:tab pos="1162122" algn="l"/>
              </a:tabLst>
            </a:pPr>
            <a:r>
              <a:rPr kumimoji="1" lang="en-US" altLang="zh-CN" sz="1600" dirty="0">
                <a:latin typeface="Palatino Linotype" panose="02040502050505030304" pitchFamily="18" charset="0"/>
                <a:ea typeface="PMingLiU" pitchFamily="18" charset="-120"/>
              </a:rPr>
              <a:t>Content</a:t>
            </a:r>
          </a:p>
          <a:p>
            <a:pPr marL="628689" lvl="1" indent="-180987" fontAlgn="b">
              <a:lnSpc>
                <a:spcPct val="110000"/>
              </a:lnSpc>
              <a:buClr>
                <a:schemeClr val="bg1">
                  <a:lumMod val="75000"/>
                </a:schemeClr>
              </a:buClr>
              <a:defRPr/>
            </a:pPr>
            <a:endParaRPr lang="en-US" altLang="zh-CN" sz="1600" dirty="0">
              <a:latin typeface="Palatino Linotype" panose="02040502050505030304" pitchFamily="18" charset="0"/>
            </a:endParaRPr>
          </a:p>
        </p:txBody>
      </p:sp>
    </p:spTree>
    <p:extLst>
      <p:ext uri="{BB962C8B-B14F-4D97-AF65-F5344CB8AC3E}">
        <p14:creationId xmlns:p14="http://schemas.microsoft.com/office/powerpoint/2010/main" val="1904635998"/>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R Divider">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30949" name="think-cell Slide" r:id="rId4" imgW="465" imgH="457" progId="TCLayout.ActiveDocument.1">
                  <p:embed/>
                </p:oleObj>
              </mc:Choice>
              <mc:Fallback>
                <p:oleObj name="think-cell Slide" r:id="rId4" imgW="465" imgH="457" progId="TCLayout.ActiveDocument.1">
                  <p:embed/>
                  <p:pic>
                    <p:nvPicPr>
                      <p:cNvPr id="3" name="对象 2" hidden="1"/>
                      <p:cNvPicPr/>
                      <p:nvPr/>
                    </p:nvPicPr>
                    <p:blipFill>
                      <a:blip r:embed="rId5"/>
                      <a:stretch>
                        <a:fillRect/>
                      </a:stretch>
                    </p:blipFill>
                    <p:spPr>
                      <a:xfrm>
                        <a:off x="1589" y="1592"/>
                        <a:ext cx="1587" cy="1587"/>
                      </a:xfrm>
                      <a:prstGeom prst="rect">
                        <a:avLst/>
                      </a:prstGeom>
                    </p:spPr>
                  </p:pic>
                </p:oleObj>
              </mc:Fallback>
            </mc:AlternateContent>
          </a:graphicData>
        </a:graphic>
      </p:graphicFrame>
      <p:sp>
        <p:nvSpPr>
          <p:cNvPr id="6" name="Text Placeholder 5"/>
          <p:cNvSpPr>
            <a:spLocks noGrp="1"/>
          </p:cNvSpPr>
          <p:nvPr>
            <p:ph type="body" sz="quarter" idx="10" hasCustomPrompt="1"/>
          </p:nvPr>
        </p:nvSpPr>
        <p:spPr>
          <a:xfrm>
            <a:off x="265158" y="2158488"/>
            <a:ext cx="9365380" cy="290849"/>
          </a:xfrm>
          <a:prstGeom prst="rect">
            <a:avLst/>
          </a:prstGeom>
          <a:ln>
            <a:noFill/>
          </a:ln>
        </p:spPr>
        <p:txBody>
          <a:bodyPr/>
          <a:lstStyle>
            <a:lvl1pPr marL="172437" indent="-172437">
              <a:buFont typeface="Arial" pitchFamily="34" charset="0"/>
              <a:buChar char="•"/>
              <a:defRPr sz="2100" baseline="0"/>
            </a:lvl1pPr>
            <a:lvl2pPr marL="364035" indent="-191597">
              <a:spcBef>
                <a:spcPts val="629"/>
              </a:spcBef>
              <a:buFont typeface="Arial" pitchFamily="34" charset="0"/>
              <a:buChar char="–"/>
              <a:defRPr sz="2100"/>
            </a:lvl2pPr>
            <a:lvl3pPr marL="507731" indent="-143698">
              <a:spcBef>
                <a:spcPts val="210"/>
              </a:spcBef>
              <a:buFont typeface="Arial" pitchFamily="34" charset="0"/>
              <a:buChar char="-"/>
              <a:defRPr sz="2100"/>
            </a:lvl3pPr>
            <a:lvl4pPr>
              <a:defRPr sz="2100"/>
            </a:lvl4pPr>
            <a:lvl5pPr>
              <a:defRPr sz="2100"/>
            </a:lvl5pPr>
          </a:lstStyle>
          <a:p>
            <a:pPr lvl="0"/>
            <a:r>
              <a:rPr lang="en-US" dirty="0"/>
              <a:t>Divider subsections here</a:t>
            </a:r>
          </a:p>
        </p:txBody>
      </p:sp>
      <p:sp>
        <p:nvSpPr>
          <p:cNvPr id="2" name="Title 1"/>
          <p:cNvSpPr>
            <a:spLocks noGrp="1"/>
          </p:cNvSpPr>
          <p:nvPr>
            <p:ph type="title" hasCustomPrompt="1"/>
          </p:nvPr>
        </p:nvSpPr>
        <p:spPr>
          <a:xfrm>
            <a:off x="265158" y="1628009"/>
            <a:ext cx="9365310" cy="338406"/>
          </a:xfrm>
          <a:prstGeom prst="rect">
            <a:avLst/>
          </a:prstGeom>
          <a:ln>
            <a:noFill/>
          </a:ln>
        </p:spPr>
        <p:txBody>
          <a:bodyPr lIns="95793" tIns="47896" rIns="95793" bIns="47896"/>
          <a:lstStyle>
            <a:lvl1pPr>
              <a:defRPr baseline="0"/>
            </a:lvl1pPr>
          </a:lstStyle>
          <a:p>
            <a:r>
              <a:rPr lang="en-US" dirty="0"/>
              <a:t>Divider text here</a:t>
            </a:r>
          </a:p>
        </p:txBody>
      </p:sp>
    </p:spTree>
    <p:extLst>
      <p:ext uri="{BB962C8B-B14F-4D97-AF65-F5344CB8AC3E}">
        <p14:creationId xmlns:p14="http://schemas.microsoft.com/office/powerpoint/2010/main" val="165341846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R CoverWhite">
    <p:spTree>
      <p:nvGrpSpPr>
        <p:cNvPr id="1" name=""/>
        <p:cNvGrpSpPr/>
        <p:nvPr/>
      </p:nvGrpSpPr>
      <p:grpSpPr>
        <a:xfrm>
          <a:off x="0" y="0"/>
          <a:ext cx="0" cy="0"/>
          <a:chOff x="0" y="0"/>
          <a:chExt cx="0" cy="0"/>
        </a:xfrm>
      </p:grpSpPr>
      <p:graphicFrame>
        <p:nvGraphicFramePr>
          <p:cNvPr id="39" name="对象 38"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36061" name="think-cell Slide" r:id="rId4" imgW="465" imgH="457" progId="TCLayout.ActiveDocument.1">
                  <p:embed/>
                </p:oleObj>
              </mc:Choice>
              <mc:Fallback>
                <p:oleObj name="think-cell Slide" r:id="rId4" imgW="465" imgH="457" progId="TCLayout.ActiveDocument.1">
                  <p:embed/>
                  <p:pic>
                    <p:nvPicPr>
                      <p:cNvPr id="39" name="对象 38" hidden="1"/>
                      <p:cNvPicPr/>
                      <p:nvPr/>
                    </p:nvPicPr>
                    <p:blipFill>
                      <a:blip r:embed="rId5"/>
                      <a:stretch>
                        <a:fillRect/>
                      </a:stretch>
                    </p:blipFill>
                    <p:spPr>
                      <a:xfrm>
                        <a:off x="1589" y="1592"/>
                        <a:ext cx="1587" cy="1587"/>
                      </a:xfrm>
                      <a:prstGeom prst="rect">
                        <a:avLst/>
                      </a:prstGeom>
                    </p:spPr>
                  </p:pic>
                </p:oleObj>
              </mc:Fallback>
            </mc:AlternateContent>
          </a:graphicData>
        </a:graphic>
      </p:graphicFrame>
      <p:sp>
        <p:nvSpPr>
          <p:cNvPr id="15" name="Text Placeholder 13"/>
          <p:cNvSpPr>
            <a:spLocks noGrp="1"/>
          </p:cNvSpPr>
          <p:nvPr>
            <p:ph type="body" sz="quarter" idx="16" hasCustomPrompt="1"/>
          </p:nvPr>
        </p:nvSpPr>
        <p:spPr>
          <a:xfrm>
            <a:off x="265160" y="6103037"/>
            <a:ext cx="3586911" cy="207749"/>
          </a:xfrm>
          <a:prstGeom prst="rect">
            <a:avLst/>
          </a:prstGeom>
        </p:spPr>
        <p:txBody>
          <a:bodyPr anchor="b" anchorCtr="0"/>
          <a:lstStyle>
            <a:lvl1pPr marL="0" indent="0">
              <a:spcBef>
                <a:spcPts val="0"/>
              </a:spcBef>
              <a:buNone/>
              <a:defRPr sz="1500">
                <a:latin typeface="Palatino Linotype" panose="02040502050505030304" pitchFamily="18" charset="0"/>
              </a:defRPr>
            </a:lvl1pPr>
            <a:lvl2pPr marL="191597" indent="0">
              <a:buNone/>
              <a:defRPr sz="1000"/>
            </a:lvl2pPr>
            <a:lvl3pPr marL="338645" indent="0">
              <a:buNone/>
              <a:defRPr sz="1000"/>
            </a:lvl3pPr>
            <a:lvl4pPr marL="535189" indent="0">
              <a:buNone/>
              <a:defRPr sz="1000"/>
            </a:lvl4pPr>
            <a:lvl5pPr marL="686431" indent="0">
              <a:buNone/>
              <a:defRPr sz="1000"/>
            </a:lvl5pPr>
          </a:lstStyle>
          <a:p>
            <a:pPr lvl="0"/>
            <a:r>
              <a:rPr lang="en-US" dirty="0"/>
              <a:t>Author(s) here</a:t>
            </a:r>
          </a:p>
        </p:txBody>
      </p:sp>
      <p:sp>
        <p:nvSpPr>
          <p:cNvPr id="9" name="Text Placeholder 8"/>
          <p:cNvSpPr>
            <a:spLocks noGrp="1"/>
          </p:cNvSpPr>
          <p:nvPr>
            <p:ph type="body" sz="quarter" idx="15" hasCustomPrompt="1"/>
          </p:nvPr>
        </p:nvSpPr>
        <p:spPr>
          <a:xfrm>
            <a:off x="265158" y="5074617"/>
            <a:ext cx="4297888" cy="207749"/>
          </a:xfrm>
          <a:prstGeom prst="rect">
            <a:avLst/>
          </a:prstGeom>
          <a:noFill/>
          <a:ln w="6350" cap="flat">
            <a:noFill/>
          </a:ln>
        </p:spPr>
        <p:txBody>
          <a:bodyPr vert="horz" wrap="square" lIns="0" tIns="0" rIns="0" bIns="0" rtlCol="0">
            <a:spAutoFit/>
          </a:bodyPr>
          <a:lstStyle>
            <a:lvl1pPr marL="188580" indent="-188580">
              <a:buNone/>
              <a:defRPr lang="en-US" sz="1500" baseline="0" smtClean="0">
                <a:latin typeface="Palatino Linotype" panose="02040502050505030304" pitchFamily="18" charset="0"/>
              </a:defRPr>
            </a:lvl1pPr>
            <a:lvl2pPr>
              <a:defRPr lang="en-US" smtClean="0"/>
            </a:lvl2pPr>
            <a:lvl3pPr>
              <a:defRPr lang="en-US" smtClean="0"/>
            </a:lvl3pPr>
            <a:lvl4pPr>
              <a:defRPr lang="en-US" smtClean="0"/>
            </a:lvl4pPr>
            <a:lvl5pPr>
              <a:defRPr lang="en-US"/>
            </a:lvl5pPr>
          </a:lstStyle>
          <a:p>
            <a:r>
              <a:rPr lang="en-US" dirty="0"/>
              <a:t>Date here</a:t>
            </a:r>
          </a:p>
        </p:txBody>
      </p:sp>
      <p:sp>
        <p:nvSpPr>
          <p:cNvPr id="7" name="Text Placeholder 8"/>
          <p:cNvSpPr>
            <a:spLocks noGrp="1"/>
          </p:cNvSpPr>
          <p:nvPr>
            <p:ph type="body" sz="quarter" idx="12" hasCustomPrompt="1"/>
          </p:nvPr>
        </p:nvSpPr>
        <p:spPr>
          <a:xfrm>
            <a:off x="265158" y="4859209"/>
            <a:ext cx="4296719" cy="207749"/>
          </a:xfrm>
          <a:prstGeom prst="rect">
            <a:avLst/>
          </a:prstGeom>
          <a:noFill/>
          <a:ln w="6350" cap="flat">
            <a:noFill/>
          </a:ln>
        </p:spPr>
        <p:txBody>
          <a:bodyPr/>
          <a:lstStyle>
            <a:lvl1pPr marL="0" indent="0">
              <a:spcBef>
                <a:spcPts val="0"/>
              </a:spcBef>
              <a:buFontTx/>
              <a:buNone/>
              <a:defRPr sz="1500" baseline="0">
                <a:latin typeface="Palatino Linotype" panose="02040502050505030304" pitchFamily="18" charset="0"/>
              </a:defRPr>
            </a:lvl1pPr>
          </a:lstStyle>
          <a:p>
            <a:r>
              <a:rPr lang="en-US" dirty="0"/>
              <a:t>Report type here</a:t>
            </a:r>
          </a:p>
        </p:txBody>
      </p:sp>
      <p:sp>
        <p:nvSpPr>
          <p:cNvPr id="3" name="Title 1"/>
          <p:cNvSpPr>
            <a:spLocks noGrp="1"/>
          </p:cNvSpPr>
          <p:nvPr>
            <p:ph type="ctrTitle" hasCustomPrompt="1"/>
          </p:nvPr>
        </p:nvSpPr>
        <p:spPr>
          <a:xfrm>
            <a:off x="265157" y="3595830"/>
            <a:ext cx="9361046" cy="498713"/>
          </a:xfrm>
          <a:prstGeom prst="rect">
            <a:avLst/>
          </a:prstGeom>
          <a:noFill/>
          <a:ln w="6350" cap="flat">
            <a:noFill/>
          </a:ln>
        </p:spPr>
        <p:txBody>
          <a:bodyPr lIns="95793" tIns="47896" rIns="95793" bIns="47896"/>
          <a:lstStyle>
            <a:lvl1pPr algn="l">
              <a:lnSpc>
                <a:spcPct val="90000"/>
              </a:lnSpc>
              <a:defRPr sz="3800" b="0" baseline="0">
                <a:latin typeface="Arial" pitchFamily="34" charset="0"/>
                <a:cs typeface="Arial" pitchFamily="34" charset="0"/>
              </a:defRPr>
            </a:lvl1pPr>
          </a:lstStyle>
          <a:p>
            <a:r>
              <a:rPr lang="en-US" dirty="0"/>
              <a:t>Presentation title here</a:t>
            </a:r>
            <a:endParaRPr lang="de-DE" dirty="0"/>
          </a:p>
        </p:txBody>
      </p:sp>
      <p:cxnSp>
        <p:nvCxnSpPr>
          <p:cNvPr id="5" name="Straight Connector 4"/>
          <p:cNvCxnSpPr/>
          <p:nvPr/>
        </p:nvCxnSpPr>
        <p:spPr>
          <a:xfrm>
            <a:off x="2" y="3458637"/>
            <a:ext cx="9904413" cy="0"/>
          </a:xfrm>
          <a:prstGeom prst="line">
            <a:avLst/>
          </a:prstGeom>
          <a:ln w="6350" cap="flat">
            <a:solidFill>
              <a:srgbClr val="B42100"/>
            </a:solidFill>
            <a:miter lim="800000"/>
          </a:ln>
        </p:spPr>
        <p:style>
          <a:lnRef idx="1">
            <a:schemeClr val="accent1"/>
          </a:lnRef>
          <a:fillRef idx="0">
            <a:schemeClr val="accent1"/>
          </a:fillRef>
          <a:effectRef idx="0">
            <a:schemeClr val="accent1"/>
          </a:effectRef>
          <a:fontRef idx="minor">
            <a:schemeClr val="tx1"/>
          </a:fontRef>
        </p:style>
      </p:cxnSp>
      <p:sp>
        <p:nvSpPr>
          <p:cNvPr id="4" name="Subtitle 2"/>
          <p:cNvSpPr>
            <a:spLocks noGrp="1"/>
          </p:cNvSpPr>
          <p:nvPr>
            <p:ph type="subTitle" idx="1" hasCustomPrompt="1"/>
          </p:nvPr>
        </p:nvSpPr>
        <p:spPr>
          <a:xfrm>
            <a:off x="265157" y="3065358"/>
            <a:ext cx="9361046" cy="263149"/>
          </a:xfrm>
          <a:prstGeom prst="rect">
            <a:avLst/>
          </a:prstGeom>
          <a:noFill/>
          <a:ln w="6350" cap="flat">
            <a:noFill/>
          </a:ln>
        </p:spPr>
        <p:txBody>
          <a:bodyPr/>
          <a:lstStyle>
            <a:lvl1pPr marL="0" indent="0" algn="l">
              <a:lnSpc>
                <a:spcPct val="90000"/>
              </a:lnSpc>
              <a:spcBef>
                <a:spcPts val="943"/>
              </a:spcBef>
              <a:buNone/>
              <a:defRPr sz="1900" b="1" i="0" baseline="0">
                <a:solidFill>
                  <a:schemeClr val="tx1"/>
                </a:solidFill>
                <a:latin typeface="Arial" pitchFamily="34" charset="0"/>
                <a:cs typeface="Arial" pitchFamily="34" charset="0"/>
              </a:defRPr>
            </a:lvl1pPr>
            <a:lvl2pPr marL="478993" indent="0" algn="ctr">
              <a:buNone/>
              <a:defRPr>
                <a:solidFill>
                  <a:schemeClr val="tx1">
                    <a:tint val="75000"/>
                  </a:schemeClr>
                </a:solidFill>
              </a:defRPr>
            </a:lvl2pPr>
            <a:lvl3pPr marL="957984" indent="0" algn="ctr">
              <a:buNone/>
              <a:defRPr>
                <a:solidFill>
                  <a:schemeClr val="tx1">
                    <a:tint val="75000"/>
                  </a:schemeClr>
                </a:solidFill>
              </a:defRPr>
            </a:lvl3pPr>
            <a:lvl4pPr marL="1436977" indent="0" algn="ctr">
              <a:buNone/>
              <a:defRPr>
                <a:solidFill>
                  <a:schemeClr val="tx1">
                    <a:tint val="75000"/>
                  </a:schemeClr>
                </a:solidFill>
              </a:defRPr>
            </a:lvl4pPr>
            <a:lvl5pPr marL="1915969" indent="0" algn="ctr">
              <a:buNone/>
              <a:defRPr>
                <a:solidFill>
                  <a:schemeClr val="tx1">
                    <a:tint val="75000"/>
                  </a:schemeClr>
                </a:solidFill>
              </a:defRPr>
            </a:lvl5pPr>
            <a:lvl6pPr marL="2394962" indent="0" algn="ctr">
              <a:buNone/>
              <a:defRPr>
                <a:solidFill>
                  <a:schemeClr val="tx1">
                    <a:tint val="75000"/>
                  </a:schemeClr>
                </a:solidFill>
              </a:defRPr>
            </a:lvl6pPr>
            <a:lvl7pPr marL="2873953" indent="0" algn="ctr">
              <a:buNone/>
              <a:defRPr>
                <a:solidFill>
                  <a:schemeClr val="tx1">
                    <a:tint val="75000"/>
                  </a:schemeClr>
                </a:solidFill>
              </a:defRPr>
            </a:lvl7pPr>
            <a:lvl8pPr marL="3352947" indent="0" algn="ctr">
              <a:buNone/>
              <a:defRPr>
                <a:solidFill>
                  <a:schemeClr val="tx1">
                    <a:tint val="75000"/>
                  </a:schemeClr>
                </a:solidFill>
              </a:defRPr>
            </a:lvl8pPr>
            <a:lvl9pPr marL="3831939" indent="0" algn="ctr">
              <a:buNone/>
              <a:defRPr>
                <a:solidFill>
                  <a:schemeClr val="tx1">
                    <a:tint val="75000"/>
                  </a:schemeClr>
                </a:solidFill>
              </a:defRPr>
            </a:lvl9pPr>
          </a:lstStyle>
          <a:p>
            <a:r>
              <a:rPr lang="en-US" dirty="0"/>
              <a:t>Presentation subtitle or client name here</a:t>
            </a:r>
          </a:p>
        </p:txBody>
      </p:sp>
      <p:sp>
        <p:nvSpPr>
          <p:cNvPr id="10" name="矩形 9"/>
          <p:cNvSpPr/>
          <p:nvPr userDrawn="1"/>
        </p:nvSpPr>
        <p:spPr>
          <a:xfrm>
            <a:off x="2647952" y="-3775"/>
            <a:ext cx="7254875" cy="922898"/>
          </a:xfrm>
          <a:prstGeom prst="rect">
            <a:avLst/>
          </a:prstGeom>
          <a:solidFill>
            <a:srgbClr val="B42100"/>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endParaRPr lang="en-US" sz="1400" dirty="0" err="1">
              <a:solidFill>
                <a:schemeClr val="bg1"/>
              </a:solidFill>
              <a:latin typeface="Arial" pitchFamily="34" charset="0"/>
              <a:cs typeface="Arial" pitchFamily="34" charset="0"/>
            </a:endParaRPr>
          </a:p>
        </p:txBody>
      </p:sp>
      <p:pic>
        <p:nvPicPr>
          <p:cNvPr id="11" name="Picture 2" descr="http://statics.phbs.pku.edu.cn/uploadfile/2017/1122/20171122092949636.png"/>
          <p:cNvPicPr>
            <a:picLocks noChangeAspect="1" noChangeArrowheads="1"/>
          </p:cNvPicPr>
          <p:nvPr userDrawn="1"/>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l="16631" t="26645" r="15215" b="28137"/>
          <a:stretch/>
        </p:blipFill>
        <p:spPr bwMode="auto">
          <a:xfrm>
            <a:off x="364939" y="166241"/>
            <a:ext cx="1957908" cy="669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545946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R Disclaimer">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37087" name="think-cell Slide" r:id="rId4" imgW="465" imgH="457" progId="TCLayout.ActiveDocument.1">
                  <p:embed/>
                </p:oleObj>
              </mc:Choice>
              <mc:Fallback>
                <p:oleObj name="think-cell Slide" r:id="rId4" imgW="465" imgH="457" progId="TCLayout.ActiveDocument.1">
                  <p:embed/>
                  <p:pic>
                    <p:nvPicPr>
                      <p:cNvPr id="2" name="对象 1" hidden="1"/>
                      <p:cNvPicPr/>
                      <p:nvPr/>
                    </p:nvPicPr>
                    <p:blipFill>
                      <a:blip r:embed="rId5"/>
                      <a:stretch>
                        <a:fillRect/>
                      </a:stretch>
                    </p:blipFill>
                    <p:spPr>
                      <a:xfrm>
                        <a:off x="1589" y="1592"/>
                        <a:ext cx="1587" cy="1587"/>
                      </a:xfrm>
                      <a:prstGeom prst="rect">
                        <a:avLst/>
                      </a:prstGeom>
                    </p:spPr>
                  </p:pic>
                </p:oleObj>
              </mc:Fallback>
            </mc:AlternateContent>
          </a:graphicData>
        </a:graphic>
      </p:graphicFrame>
    </p:spTree>
    <p:extLst>
      <p:ext uri="{BB962C8B-B14F-4D97-AF65-F5344CB8AC3E}">
        <p14:creationId xmlns:p14="http://schemas.microsoft.com/office/powerpoint/2010/main" val="254840657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R CoverWhite">
    <p:spTree>
      <p:nvGrpSpPr>
        <p:cNvPr id="1" name=""/>
        <p:cNvGrpSpPr/>
        <p:nvPr/>
      </p:nvGrpSpPr>
      <p:grpSpPr>
        <a:xfrm>
          <a:off x="0" y="0"/>
          <a:ext cx="0" cy="0"/>
          <a:chOff x="0" y="0"/>
          <a:chExt cx="0" cy="0"/>
        </a:xfrm>
      </p:grpSpPr>
      <p:graphicFrame>
        <p:nvGraphicFramePr>
          <p:cNvPr id="39" name="对象 38"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39132" name="think-cell Slide" r:id="rId4" imgW="465" imgH="457" progId="TCLayout.ActiveDocument.1">
                  <p:embed/>
                </p:oleObj>
              </mc:Choice>
              <mc:Fallback>
                <p:oleObj name="think-cell Slide" r:id="rId4" imgW="465" imgH="457" progId="TCLayout.ActiveDocument.1">
                  <p:embed/>
                  <p:pic>
                    <p:nvPicPr>
                      <p:cNvPr id="39" name="对象 38" hidden="1"/>
                      <p:cNvPicPr/>
                      <p:nvPr/>
                    </p:nvPicPr>
                    <p:blipFill>
                      <a:blip r:embed="rId5"/>
                      <a:stretch>
                        <a:fillRect/>
                      </a:stretch>
                    </p:blipFill>
                    <p:spPr>
                      <a:xfrm>
                        <a:off x="1589" y="1592"/>
                        <a:ext cx="1587" cy="1587"/>
                      </a:xfrm>
                      <a:prstGeom prst="rect">
                        <a:avLst/>
                      </a:prstGeom>
                    </p:spPr>
                  </p:pic>
                </p:oleObj>
              </mc:Fallback>
            </mc:AlternateContent>
          </a:graphicData>
        </a:graphic>
      </p:graphicFrame>
      <p:sp>
        <p:nvSpPr>
          <p:cNvPr id="15" name="Text Placeholder 13"/>
          <p:cNvSpPr>
            <a:spLocks noGrp="1"/>
          </p:cNvSpPr>
          <p:nvPr>
            <p:ph type="body" sz="quarter" idx="16" hasCustomPrompt="1"/>
          </p:nvPr>
        </p:nvSpPr>
        <p:spPr>
          <a:xfrm>
            <a:off x="265160" y="6103037"/>
            <a:ext cx="3586911" cy="207749"/>
          </a:xfrm>
          <a:prstGeom prst="rect">
            <a:avLst/>
          </a:prstGeom>
        </p:spPr>
        <p:txBody>
          <a:bodyPr anchor="b" anchorCtr="0"/>
          <a:lstStyle>
            <a:lvl1pPr marL="0" indent="0">
              <a:spcBef>
                <a:spcPts val="0"/>
              </a:spcBef>
              <a:buNone/>
              <a:defRPr sz="1500">
                <a:latin typeface="Palatino Linotype" panose="02040502050505030304" pitchFamily="18" charset="0"/>
              </a:defRPr>
            </a:lvl1pPr>
            <a:lvl2pPr marL="191597" indent="0">
              <a:buNone/>
              <a:defRPr sz="1000"/>
            </a:lvl2pPr>
            <a:lvl3pPr marL="338645" indent="0">
              <a:buNone/>
              <a:defRPr sz="1000"/>
            </a:lvl3pPr>
            <a:lvl4pPr marL="535189" indent="0">
              <a:buNone/>
              <a:defRPr sz="1000"/>
            </a:lvl4pPr>
            <a:lvl5pPr marL="686431" indent="0">
              <a:buNone/>
              <a:defRPr sz="1000"/>
            </a:lvl5pPr>
          </a:lstStyle>
          <a:p>
            <a:pPr lvl="0"/>
            <a:r>
              <a:rPr lang="en-US" dirty="0"/>
              <a:t>Author(s) here</a:t>
            </a:r>
          </a:p>
        </p:txBody>
      </p:sp>
      <p:sp>
        <p:nvSpPr>
          <p:cNvPr id="9" name="Text Placeholder 8"/>
          <p:cNvSpPr>
            <a:spLocks noGrp="1"/>
          </p:cNvSpPr>
          <p:nvPr>
            <p:ph type="body" sz="quarter" idx="15" hasCustomPrompt="1"/>
          </p:nvPr>
        </p:nvSpPr>
        <p:spPr>
          <a:xfrm>
            <a:off x="265158" y="5074617"/>
            <a:ext cx="4297888" cy="207749"/>
          </a:xfrm>
          <a:prstGeom prst="rect">
            <a:avLst/>
          </a:prstGeom>
          <a:noFill/>
          <a:ln w="6350" cap="flat">
            <a:noFill/>
          </a:ln>
        </p:spPr>
        <p:txBody>
          <a:bodyPr vert="horz" wrap="square" lIns="0" tIns="0" rIns="0" bIns="0" rtlCol="0">
            <a:spAutoFit/>
          </a:bodyPr>
          <a:lstStyle>
            <a:lvl1pPr marL="188580" indent="-188580">
              <a:buNone/>
              <a:defRPr lang="en-US" sz="1500" baseline="0" smtClean="0">
                <a:latin typeface="Palatino Linotype" panose="02040502050505030304" pitchFamily="18" charset="0"/>
              </a:defRPr>
            </a:lvl1pPr>
            <a:lvl2pPr>
              <a:defRPr lang="en-US" smtClean="0"/>
            </a:lvl2pPr>
            <a:lvl3pPr>
              <a:defRPr lang="en-US" smtClean="0"/>
            </a:lvl3pPr>
            <a:lvl4pPr>
              <a:defRPr lang="en-US" smtClean="0"/>
            </a:lvl4pPr>
            <a:lvl5pPr>
              <a:defRPr lang="en-US"/>
            </a:lvl5pPr>
          </a:lstStyle>
          <a:p>
            <a:r>
              <a:rPr lang="en-US" dirty="0"/>
              <a:t>Date here</a:t>
            </a:r>
          </a:p>
        </p:txBody>
      </p:sp>
      <p:sp>
        <p:nvSpPr>
          <p:cNvPr id="7" name="Text Placeholder 8"/>
          <p:cNvSpPr>
            <a:spLocks noGrp="1"/>
          </p:cNvSpPr>
          <p:nvPr>
            <p:ph type="body" sz="quarter" idx="12" hasCustomPrompt="1"/>
          </p:nvPr>
        </p:nvSpPr>
        <p:spPr>
          <a:xfrm>
            <a:off x="265158" y="4859209"/>
            <a:ext cx="4296719" cy="207749"/>
          </a:xfrm>
          <a:prstGeom prst="rect">
            <a:avLst/>
          </a:prstGeom>
          <a:noFill/>
          <a:ln w="6350" cap="flat">
            <a:noFill/>
          </a:ln>
        </p:spPr>
        <p:txBody>
          <a:bodyPr/>
          <a:lstStyle>
            <a:lvl1pPr marL="0" indent="0">
              <a:spcBef>
                <a:spcPts val="0"/>
              </a:spcBef>
              <a:buFontTx/>
              <a:buNone/>
              <a:defRPr sz="1500" baseline="0">
                <a:latin typeface="Palatino Linotype" panose="02040502050505030304" pitchFamily="18" charset="0"/>
              </a:defRPr>
            </a:lvl1pPr>
          </a:lstStyle>
          <a:p>
            <a:r>
              <a:rPr lang="en-US" dirty="0"/>
              <a:t>Report type here</a:t>
            </a:r>
          </a:p>
        </p:txBody>
      </p:sp>
      <p:sp>
        <p:nvSpPr>
          <p:cNvPr id="3" name="Title 1"/>
          <p:cNvSpPr>
            <a:spLocks noGrp="1"/>
          </p:cNvSpPr>
          <p:nvPr>
            <p:ph type="ctrTitle" hasCustomPrompt="1"/>
          </p:nvPr>
        </p:nvSpPr>
        <p:spPr>
          <a:xfrm>
            <a:off x="265157" y="3595830"/>
            <a:ext cx="9361046" cy="498713"/>
          </a:xfrm>
          <a:prstGeom prst="rect">
            <a:avLst/>
          </a:prstGeom>
          <a:noFill/>
          <a:ln w="6350" cap="flat">
            <a:noFill/>
          </a:ln>
        </p:spPr>
        <p:txBody>
          <a:bodyPr lIns="95793" tIns="47896" rIns="95793" bIns="47896"/>
          <a:lstStyle>
            <a:lvl1pPr algn="l">
              <a:lnSpc>
                <a:spcPct val="90000"/>
              </a:lnSpc>
              <a:defRPr sz="3800" b="0" baseline="0">
                <a:latin typeface="Arial" pitchFamily="34" charset="0"/>
                <a:cs typeface="Arial" pitchFamily="34" charset="0"/>
              </a:defRPr>
            </a:lvl1pPr>
          </a:lstStyle>
          <a:p>
            <a:r>
              <a:rPr lang="en-US" dirty="0"/>
              <a:t>Presentation title here</a:t>
            </a:r>
            <a:endParaRPr lang="de-DE" dirty="0"/>
          </a:p>
        </p:txBody>
      </p:sp>
      <p:cxnSp>
        <p:nvCxnSpPr>
          <p:cNvPr id="5" name="Straight Connector 4"/>
          <p:cNvCxnSpPr/>
          <p:nvPr/>
        </p:nvCxnSpPr>
        <p:spPr>
          <a:xfrm>
            <a:off x="2" y="3458637"/>
            <a:ext cx="9904413" cy="0"/>
          </a:xfrm>
          <a:prstGeom prst="line">
            <a:avLst/>
          </a:prstGeom>
          <a:ln w="6350" cap="flat">
            <a:solidFill>
              <a:srgbClr val="B42100"/>
            </a:solidFill>
            <a:miter lim="800000"/>
          </a:ln>
        </p:spPr>
        <p:style>
          <a:lnRef idx="1">
            <a:schemeClr val="accent1"/>
          </a:lnRef>
          <a:fillRef idx="0">
            <a:schemeClr val="accent1"/>
          </a:fillRef>
          <a:effectRef idx="0">
            <a:schemeClr val="accent1"/>
          </a:effectRef>
          <a:fontRef idx="minor">
            <a:schemeClr val="tx1"/>
          </a:fontRef>
        </p:style>
      </p:cxnSp>
      <p:sp>
        <p:nvSpPr>
          <p:cNvPr id="4" name="Subtitle 2"/>
          <p:cNvSpPr>
            <a:spLocks noGrp="1"/>
          </p:cNvSpPr>
          <p:nvPr>
            <p:ph type="subTitle" idx="1" hasCustomPrompt="1"/>
          </p:nvPr>
        </p:nvSpPr>
        <p:spPr>
          <a:xfrm>
            <a:off x="265157" y="3065358"/>
            <a:ext cx="9361046" cy="263149"/>
          </a:xfrm>
          <a:prstGeom prst="rect">
            <a:avLst/>
          </a:prstGeom>
          <a:noFill/>
          <a:ln w="6350" cap="flat">
            <a:noFill/>
          </a:ln>
        </p:spPr>
        <p:txBody>
          <a:bodyPr/>
          <a:lstStyle>
            <a:lvl1pPr marL="0" indent="0" algn="l">
              <a:lnSpc>
                <a:spcPct val="90000"/>
              </a:lnSpc>
              <a:spcBef>
                <a:spcPts val="943"/>
              </a:spcBef>
              <a:buNone/>
              <a:defRPr sz="1900" b="1" i="0" baseline="0">
                <a:solidFill>
                  <a:schemeClr val="tx1"/>
                </a:solidFill>
                <a:latin typeface="Arial" pitchFamily="34" charset="0"/>
                <a:cs typeface="Arial" pitchFamily="34" charset="0"/>
              </a:defRPr>
            </a:lvl1pPr>
            <a:lvl2pPr marL="478993" indent="0" algn="ctr">
              <a:buNone/>
              <a:defRPr>
                <a:solidFill>
                  <a:schemeClr val="tx1">
                    <a:tint val="75000"/>
                  </a:schemeClr>
                </a:solidFill>
              </a:defRPr>
            </a:lvl2pPr>
            <a:lvl3pPr marL="957984" indent="0" algn="ctr">
              <a:buNone/>
              <a:defRPr>
                <a:solidFill>
                  <a:schemeClr val="tx1">
                    <a:tint val="75000"/>
                  </a:schemeClr>
                </a:solidFill>
              </a:defRPr>
            </a:lvl3pPr>
            <a:lvl4pPr marL="1436977" indent="0" algn="ctr">
              <a:buNone/>
              <a:defRPr>
                <a:solidFill>
                  <a:schemeClr val="tx1">
                    <a:tint val="75000"/>
                  </a:schemeClr>
                </a:solidFill>
              </a:defRPr>
            </a:lvl4pPr>
            <a:lvl5pPr marL="1915969" indent="0" algn="ctr">
              <a:buNone/>
              <a:defRPr>
                <a:solidFill>
                  <a:schemeClr val="tx1">
                    <a:tint val="75000"/>
                  </a:schemeClr>
                </a:solidFill>
              </a:defRPr>
            </a:lvl5pPr>
            <a:lvl6pPr marL="2394962" indent="0" algn="ctr">
              <a:buNone/>
              <a:defRPr>
                <a:solidFill>
                  <a:schemeClr val="tx1">
                    <a:tint val="75000"/>
                  </a:schemeClr>
                </a:solidFill>
              </a:defRPr>
            </a:lvl6pPr>
            <a:lvl7pPr marL="2873953" indent="0" algn="ctr">
              <a:buNone/>
              <a:defRPr>
                <a:solidFill>
                  <a:schemeClr val="tx1">
                    <a:tint val="75000"/>
                  </a:schemeClr>
                </a:solidFill>
              </a:defRPr>
            </a:lvl7pPr>
            <a:lvl8pPr marL="3352947" indent="0" algn="ctr">
              <a:buNone/>
              <a:defRPr>
                <a:solidFill>
                  <a:schemeClr val="tx1">
                    <a:tint val="75000"/>
                  </a:schemeClr>
                </a:solidFill>
              </a:defRPr>
            </a:lvl8pPr>
            <a:lvl9pPr marL="3831939" indent="0" algn="ctr">
              <a:buNone/>
              <a:defRPr>
                <a:solidFill>
                  <a:schemeClr val="tx1">
                    <a:tint val="75000"/>
                  </a:schemeClr>
                </a:solidFill>
              </a:defRPr>
            </a:lvl9pPr>
          </a:lstStyle>
          <a:p>
            <a:r>
              <a:rPr lang="en-US" dirty="0"/>
              <a:t>Presentation subtitle or client name here</a:t>
            </a:r>
          </a:p>
        </p:txBody>
      </p:sp>
      <p:sp>
        <p:nvSpPr>
          <p:cNvPr id="10" name="矩形 9"/>
          <p:cNvSpPr/>
          <p:nvPr userDrawn="1"/>
        </p:nvSpPr>
        <p:spPr>
          <a:xfrm>
            <a:off x="2647952" y="-3775"/>
            <a:ext cx="7254875" cy="922898"/>
          </a:xfrm>
          <a:prstGeom prst="rect">
            <a:avLst/>
          </a:prstGeom>
          <a:solidFill>
            <a:srgbClr val="B42100"/>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endParaRPr lang="en-US" sz="1400" dirty="0" err="1">
              <a:solidFill>
                <a:schemeClr val="bg1"/>
              </a:solidFill>
              <a:latin typeface="Arial" pitchFamily="34" charset="0"/>
              <a:cs typeface="Arial" pitchFamily="34" charset="0"/>
            </a:endParaRPr>
          </a:p>
        </p:txBody>
      </p:sp>
      <p:pic>
        <p:nvPicPr>
          <p:cNvPr id="11" name="Picture 2" descr="http://statics.phbs.pku.edu.cn/uploadfile/2017/1122/20171122092949636.png"/>
          <p:cNvPicPr>
            <a:picLocks noChangeAspect="1" noChangeArrowheads="1"/>
          </p:cNvPicPr>
          <p:nvPr userDrawn="1"/>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l="16631" t="26645" r="15215" b="28137"/>
          <a:stretch/>
        </p:blipFill>
        <p:spPr bwMode="auto">
          <a:xfrm>
            <a:off x="364939" y="166241"/>
            <a:ext cx="1957908" cy="669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02148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R Disclaimer">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40158" name="think-cell Slide" r:id="rId4" imgW="465" imgH="457" progId="TCLayout.ActiveDocument.1">
                  <p:embed/>
                </p:oleObj>
              </mc:Choice>
              <mc:Fallback>
                <p:oleObj name="think-cell Slide" r:id="rId4" imgW="465" imgH="457" progId="TCLayout.ActiveDocument.1">
                  <p:embed/>
                  <p:pic>
                    <p:nvPicPr>
                      <p:cNvPr id="2" name="对象 1" hidden="1"/>
                      <p:cNvPicPr/>
                      <p:nvPr/>
                    </p:nvPicPr>
                    <p:blipFill>
                      <a:blip r:embed="rId5"/>
                      <a:stretch>
                        <a:fillRect/>
                      </a:stretch>
                    </p:blipFill>
                    <p:spPr>
                      <a:xfrm>
                        <a:off x="1589" y="1592"/>
                        <a:ext cx="1587" cy="1587"/>
                      </a:xfrm>
                      <a:prstGeom prst="rect">
                        <a:avLst/>
                      </a:prstGeom>
                    </p:spPr>
                  </p:pic>
                </p:oleObj>
              </mc:Fallback>
            </mc:AlternateContent>
          </a:graphicData>
        </a:graphic>
      </p:graphicFrame>
    </p:spTree>
    <p:extLst>
      <p:ext uri="{BB962C8B-B14F-4D97-AF65-F5344CB8AC3E}">
        <p14:creationId xmlns:p14="http://schemas.microsoft.com/office/powerpoint/2010/main" val="164333481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R CoverWhite">
    <p:spTree>
      <p:nvGrpSpPr>
        <p:cNvPr id="1" name=""/>
        <p:cNvGrpSpPr/>
        <p:nvPr/>
      </p:nvGrpSpPr>
      <p:grpSpPr>
        <a:xfrm>
          <a:off x="0" y="0"/>
          <a:ext cx="0" cy="0"/>
          <a:chOff x="0" y="0"/>
          <a:chExt cx="0" cy="0"/>
        </a:xfrm>
      </p:grpSpPr>
      <p:graphicFrame>
        <p:nvGraphicFramePr>
          <p:cNvPr id="39" name="对象 38"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42204" name="think-cell Slide" r:id="rId4" imgW="465" imgH="457" progId="TCLayout.ActiveDocument.1">
                  <p:embed/>
                </p:oleObj>
              </mc:Choice>
              <mc:Fallback>
                <p:oleObj name="think-cell Slide" r:id="rId4" imgW="465" imgH="457" progId="TCLayout.ActiveDocument.1">
                  <p:embed/>
                  <p:pic>
                    <p:nvPicPr>
                      <p:cNvPr id="39" name="对象 38" hidden="1"/>
                      <p:cNvPicPr/>
                      <p:nvPr/>
                    </p:nvPicPr>
                    <p:blipFill>
                      <a:blip r:embed="rId5"/>
                      <a:stretch>
                        <a:fillRect/>
                      </a:stretch>
                    </p:blipFill>
                    <p:spPr>
                      <a:xfrm>
                        <a:off x="1589" y="1592"/>
                        <a:ext cx="1587" cy="1587"/>
                      </a:xfrm>
                      <a:prstGeom prst="rect">
                        <a:avLst/>
                      </a:prstGeom>
                    </p:spPr>
                  </p:pic>
                </p:oleObj>
              </mc:Fallback>
            </mc:AlternateContent>
          </a:graphicData>
        </a:graphic>
      </p:graphicFrame>
      <p:sp>
        <p:nvSpPr>
          <p:cNvPr id="15" name="Text Placeholder 13"/>
          <p:cNvSpPr>
            <a:spLocks noGrp="1"/>
          </p:cNvSpPr>
          <p:nvPr>
            <p:ph type="body" sz="quarter" idx="16" hasCustomPrompt="1"/>
          </p:nvPr>
        </p:nvSpPr>
        <p:spPr>
          <a:xfrm>
            <a:off x="265160" y="6103037"/>
            <a:ext cx="3586911" cy="207749"/>
          </a:xfrm>
          <a:prstGeom prst="rect">
            <a:avLst/>
          </a:prstGeom>
        </p:spPr>
        <p:txBody>
          <a:bodyPr anchor="b" anchorCtr="0"/>
          <a:lstStyle>
            <a:lvl1pPr marL="0" indent="0">
              <a:spcBef>
                <a:spcPts val="0"/>
              </a:spcBef>
              <a:buNone/>
              <a:defRPr sz="1500">
                <a:latin typeface="Palatino Linotype" panose="02040502050505030304" pitchFamily="18" charset="0"/>
              </a:defRPr>
            </a:lvl1pPr>
            <a:lvl2pPr marL="191597" indent="0">
              <a:buNone/>
              <a:defRPr sz="1000"/>
            </a:lvl2pPr>
            <a:lvl3pPr marL="338645" indent="0">
              <a:buNone/>
              <a:defRPr sz="1000"/>
            </a:lvl3pPr>
            <a:lvl4pPr marL="535189" indent="0">
              <a:buNone/>
              <a:defRPr sz="1000"/>
            </a:lvl4pPr>
            <a:lvl5pPr marL="686431" indent="0">
              <a:buNone/>
              <a:defRPr sz="1000"/>
            </a:lvl5pPr>
          </a:lstStyle>
          <a:p>
            <a:pPr lvl="0"/>
            <a:r>
              <a:rPr lang="en-US" dirty="0"/>
              <a:t>Author(s) here</a:t>
            </a:r>
          </a:p>
        </p:txBody>
      </p:sp>
      <p:sp>
        <p:nvSpPr>
          <p:cNvPr id="9" name="Text Placeholder 8"/>
          <p:cNvSpPr>
            <a:spLocks noGrp="1"/>
          </p:cNvSpPr>
          <p:nvPr>
            <p:ph type="body" sz="quarter" idx="15" hasCustomPrompt="1"/>
          </p:nvPr>
        </p:nvSpPr>
        <p:spPr>
          <a:xfrm>
            <a:off x="265158" y="5074617"/>
            <a:ext cx="4297888" cy="207749"/>
          </a:xfrm>
          <a:prstGeom prst="rect">
            <a:avLst/>
          </a:prstGeom>
          <a:noFill/>
          <a:ln w="6350" cap="flat">
            <a:noFill/>
          </a:ln>
        </p:spPr>
        <p:txBody>
          <a:bodyPr vert="horz" wrap="square" lIns="0" tIns="0" rIns="0" bIns="0" rtlCol="0">
            <a:spAutoFit/>
          </a:bodyPr>
          <a:lstStyle>
            <a:lvl1pPr marL="188580" indent="-188580">
              <a:buNone/>
              <a:defRPr lang="en-US" sz="1500" baseline="0" smtClean="0">
                <a:latin typeface="Palatino Linotype" panose="02040502050505030304" pitchFamily="18" charset="0"/>
              </a:defRPr>
            </a:lvl1pPr>
            <a:lvl2pPr>
              <a:defRPr lang="en-US" smtClean="0"/>
            </a:lvl2pPr>
            <a:lvl3pPr>
              <a:defRPr lang="en-US" smtClean="0"/>
            </a:lvl3pPr>
            <a:lvl4pPr>
              <a:defRPr lang="en-US" smtClean="0"/>
            </a:lvl4pPr>
            <a:lvl5pPr>
              <a:defRPr lang="en-US"/>
            </a:lvl5pPr>
          </a:lstStyle>
          <a:p>
            <a:r>
              <a:rPr lang="en-US" dirty="0"/>
              <a:t>Date here</a:t>
            </a:r>
          </a:p>
        </p:txBody>
      </p:sp>
      <p:sp>
        <p:nvSpPr>
          <p:cNvPr id="7" name="Text Placeholder 8"/>
          <p:cNvSpPr>
            <a:spLocks noGrp="1"/>
          </p:cNvSpPr>
          <p:nvPr>
            <p:ph type="body" sz="quarter" idx="12" hasCustomPrompt="1"/>
          </p:nvPr>
        </p:nvSpPr>
        <p:spPr>
          <a:xfrm>
            <a:off x="265158" y="4859209"/>
            <a:ext cx="4296719" cy="207749"/>
          </a:xfrm>
          <a:prstGeom prst="rect">
            <a:avLst/>
          </a:prstGeom>
          <a:noFill/>
          <a:ln w="6350" cap="flat">
            <a:noFill/>
          </a:ln>
        </p:spPr>
        <p:txBody>
          <a:bodyPr/>
          <a:lstStyle>
            <a:lvl1pPr marL="0" indent="0">
              <a:spcBef>
                <a:spcPts val="0"/>
              </a:spcBef>
              <a:buFontTx/>
              <a:buNone/>
              <a:defRPr sz="1500" baseline="0">
                <a:latin typeface="Palatino Linotype" panose="02040502050505030304" pitchFamily="18" charset="0"/>
              </a:defRPr>
            </a:lvl1pPr>
          </a:lstStyle>
          <a:p>
            <a:r>
              <a:rPr lang="en-US" dirty="0"/>
              <a:t>Report type here</a:t>
            </a:r>
          </a:p>
        </p:txBody>
      </p:sp>
      <p:sp>
        <p:nvSpPr>
          <p:cNvPr id="3" name="Title 1"/>
          <p:cNvSpPr>
            <a:spLocks noGrp="1"/>
          </p:cNvSpPr>
          <p:nvPr>
            <p:ph type="ctrTitle" hasCustomPrompt="1"/>
          </p:nvPr>
        </p:nvSpPr>
        <p:spPr>
          <a:xfrm>
            <a:off x="265157" y="3595830"/>
            <a:ext cx="9361046" cy="498713"/>
          </a:xfrm>
          <a:prstGeom prst="rect">
            <a:avLst/>
          </a:prstGeom>
          <a:noFill/>
          <a:ln w="6350" cap="flat">
            <a:noFill/>
          </a:ln>
        </p:spPr>
        <p:txBody>
          <a:bodyPr lIns="95793" tIns="47896" rIns="95793" bIns="47896"/>
          <a:lstStyle>
            <a:lvl1pPr algn="l">
              <a:lnSpc>
                <a:spcPct val="90000"/>
              </a:lnSpc>
              <a:defRPr sz="3800" b="0" baseline="0">
                <a:latin typeface="Arial" pitchFamily="34" charset="0"/>
                <a:cs typeface="Arial" pitchFamily="34" charset="0"/>
              </a:defRPr>
            </a:lvl1pPr>
          </a:lstStyle>
          <a:p>
            <a:r>
              <a:rPr lang="en-US" dirty="0"/>
              <a:t>Presentation title here</a:t>
            </a:r>
            <a:endParaRPr lang="de-DE" dirty="0"/>
          </a:p>
        </p:txBody>
      </p:sp>
      <p:cxnSp>
        <p:nvCxnSpPr>
          <p:cNvPr id="5" name="Straight Connector 4"/>
          <p:cNvCxnSpPr/>
          <p:nvPr/>
        </p:nvCxnSpPr>
        <p:spPr>
          <a:xfrm>
            <a:off x="2" y="3458637"/>
            <a:ext cx="9904413" cy="0"/>
          </a:xfrm>
          <a:prstGeom prst="line">
            <a:avLst/>
          </a:prstGeom>
          <a:ln w="6350" cap="flat">
            <a:solidFill>
              <a:srgbClr val="B42100"/>
            </a:solidFill>
            <a:miter lim="800000"/>
          </a:ln>
        </p:spPr>
        <p:style>
          <a:lnRef idx="1">
            <a:schemeClr val="accent1"/>
          </a:lnRef>
          <a:fillRef idx="0">
            <a:schemeClr val="accent1"/>
          </a:fillRef>
          <a:effectRef idx="0">
            <a:schemeClr val="accent1"/>
          </a:effectRef>
          <a:fontRef idx="minor">
            <a:schemeClr val="tx1"/>
          </a:fontRef>
        </p:style>
      </p:cxnSp>
      <p:sp>
        <p:nvSpPr>
          <p:cNvPr id="4" name="Subtitle 2"/>
          <p:cNvSpPr>
            <a:spLocks noGrp="1"/>
          </p:cNvSpPr>
          <p:nvPr>
            <p:ph type="subTitle" idx="1" hasCustomPrompt="1"/>
          </p:nvPr>
        </p:nvSpPr>
        <p:spPr>
          <a:xfrm>
            <a:off x="265157" y="3065358"/>
            <a:ext cx="9361046" cy="263149"/>
          </a:xfrm>
          <a:prstGeom prst="rect">
            <a:avLst/>
          </a:prstGeom>
          <a:noFill/>
          <a:ln w="6350" cap="flat">
            <a:noFill/>
          </a:ln>
        </p:spPr>
        <p:txBody>
          <a:bodyPr/>
          <a:lstStyle>
            <a:lvl1pPr marL="0" indent="0" algn="l">
              <a:lnSpc>
                <a:spcPct val="90000"/>
              </a:lnSpc>
              <a:spcBef>
                <a:spcPts val="943"/>
              </a:spcBef>
              <a:buNone/>
              <a:defRPr sz="1900" b="1" i="0" baseline="0">
                <a:solidFill>
                  <a:schemeClr val="tx1"/>
                </a:solidFill>
                <a:latin typeface="Arial" pitchFamily="34" charset="0"/>
                <a:cs typeface="Arial" pitchFamily="34" charset="0"/>
              </a:defRPr>
            </a:lvl1pPr>
            <a:lvl2pPr marL="478993" indent="0" algn="ctr">
              <a:buNone/>
              <a:defRPr>
                <a:solidFill>
                  <a:schemeClr val="tx1">
                    <a:tint val="75000"/>
                  </a:schemeClr>
                </a:solidFill>
              </a:defRPr>
            </a:lvl2pPr>
            <a:lvl3pPr marL="957984" indent="0" algn="ctr">
              <a:buNone/>
              <a:defRPr>
                <a:solidFill>
                  <a:schemeClr val="tx1">
                    <a:tint val="75000"/>
                  </a:schemeClr>
                </a:solidFill>
              </a:defRPr>
            </a:lvl3pPr>
            <a:lvl4pPr marL="1436977" indent="0" algn="ctr">
              <a:buNone/>
              <a:defRPr>
                <a:solidFill>
                  <a:schemeClr val="tx1">
                    <a:tint val="75000"/>
                  </a:schemeClr>
                </a:solidFill>
              </a:defRPr>
            </a:lvl4pPr>
            <a:lvl5pPr marL="1915969" indent="0" algn="ctr">
              <a:buNone/>
              <a:defRPr>
                <a:solidFill>
                  <a:schemeClr val="tx1">
                    <a:tint val="75000"/>
                  </a:schemeClr>
                </a:solidFill>
              </a:defRPr>
            </a:lvl5pPr>
            <a:lvl6pPr marL="2394962" indent="0" algn="ctr">
              <a:buNone/>
              <a:defRPr>
                <a:solidFill>
                  <a:schemeClr val="tx1">
                    <a:tint val="75000"/>
                  </a:schemeClr>
                </a:solidFill>
              </a:defRPr>
            </a:lvl6pPr>
            <a:lvl7pPr marL="2873953" indent="0" algn="ctr">
              <a:buNone/>
              <a:defRPr>
                <a:solidFill>
                  <a:schemeClr val="tx1">
                    <a:tint val="75000"/>
                  </a:schemeClr>
                </a:solidFill>
              </a:defRPr>
            </a:lvl7pPr>
            <a:lvl8pPr marL="3352947" indent="0" algn="ctr">
              <a:buNone/>
              <a:defRPr>
                <a:solidFill>
                  <a:schemeClr val="tx1">
                    <a:tint val="75000"/>
                  </a:schemeClr>
                </a:solidFill>
              </a:defRPr>
            </a:lvl8pPr>
            <a:lvl9pPr marL="3831939" indent="0" algn="ctr">
              <a:buNone/>
              <a:defRPr>
                <a:solidFill>
                  <a:schemeClr val="tx1">
                    <a:tint val="75000"/>
                  </a:schemeClr>
                </a:solidFill>
              </a:defRPr>
            </a:lvl9pPr>
          </a:lstStyle>
          <a:p>
            <a:r>
              <a:rPr lang="en-US" dirty="0"/>
              <a:t>Presentation subtitle or client name here</a:t>
            </a:r>
          </a:p>
        </p:txBody>
      </p:sp>
      <p:sp>
        <p:nvSpPr>
          <p:cNvPr id="10" name="矩形 9"/>
          <p:cNvSpPr/>
          <p:nvPr userDrawn="1"/>
        </p:nvSpPr>
        <p:spPr>
          <a:xfrm>
            <a:off x="2647952" y="-3775"/>
            <a:ext cx="7254875" cy="922898"/>
          </a:xfrm>
          <a:prstGeom prst="rect">
            <a:avLst/>
          </a:prstGeom>
          <a:solidFill>
            <a:srgbClr val="B42100"/>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endParaRPr lang="en-US" sz="1400" dirty="0" err="1">
              <a:solidFill>
                <a:schemeClr val="bg1"/>
              </a:solidFill>
              <a:latin typeface="Arial" pitchFamily="34" charset="0"/>
              <a:cs typeface="Arial" pitchFamily="34" charset="0"/>
            </a:endParaRPr>
          </a:p>
        </p:txBody>
      </p:sp>
      <p:pic>
        <p:nvPicPr>
          <p:cNvPr id="11" name="Picture 2" descr="http://statics.phbs.pku.edu.cn/uploadfile/2017/1122/20171122092949636.png"/>
          <p:cNvPicPr>
            <a:picLocks noChangeAspect="1" noChangeArrowheads="1"/>
          </p:cNvPicPr>
          <p:nvPr userDrawn="1"/>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l="16631" t="26645" r="15215" b="28137"/>
          <a:stretch/>
        </p:blipFill>
        <p:spPr bwMode="auto">
          <a:xfrm>
            <a:off x="364939" y="166241"/>
            <a:ext cx="1957908" cy="669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2447998"/>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R Disclaimer">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43230" name="think-cell Slide" r:id="rId4" imgW="465" imgH="457" progId="TCLayout.ActiveDocument.1">
                  <p:embed/>
                </p:oleObj>
              </mc:Choice>
              <mc:Fallback>
                <p:oleObj name="think-cell Slide" r:id="rId4" imgW="465" imgH="457" progId="TCLayout.ActiveDocument.1">
                  <p:embed/>
                  <p:pic>
                    <p:nvPicPr>
                      <p:cNvPr id="2" name="对象 1" hidden="1"/>
                      <p:cNvPicPr/>
                      <p:nvPr/>
                    </p:nvPicPr>
                    <p:blipFill>
                      <a:blip r:embed="rId5"/>
                      <a:stretch>
                        <a:fillRect/>
                      </a:stretch>
                    </p:blipFill>
                    <p:spPr>
                      <a:xfrm>
                        <a:off x="1589" y="1592"/>
                        <a:ext cx="1587" cy="1587"/>
                      </a:xfrm>
                      <a:prstGeom prst="rect">
                        <a:avLst/>
                      </a:prstGeom>
                    </p:spPr>
                  </p:pic>
                </p:oleObj>
              </mc:Fallback>
            </mc:AlternateContent>
          </a:graphicData>
        </a:graphic>
      </p:graphicFrame>
    </p:spTree>
    <p:extLst>
      <p:ext uri="{BB962C8B-B14F-4D97-AF65-F5344CB8AC3E}">
        <p14:creationId xmlns:p14="http://schemas.microsoft.com/office/powerpoint/2010/main" val="161486817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R CoverWhite">
    <p:spTree>
      <p:nvGrpSpPr>
        <p:cNvPr id="1" name=""/>
        <p:cNvGrpSpPr/>
        <p:nvPr/>
      </p:nvGrpSpPr>
      <p:grpSpPr>
        <a:xfrm>
          <a:off x="0" y="0"/>
          <a:ext cx="0" cy="0"/>
          <a:chOff x="0" y="0"/>
          <a:chExt cx="0" cy="0"/>
        </a:xfrm>
      </p:grpSpPr>
      <p:graphicFrame>
        <p:nvGraphicFramePr>
          <p:cNvPr id="39" name="对象 38"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48257" name="think-cell Slide" r:id="rId4" imgW="465" imgH="457" progId="TCLayout.ActiveDocument.1">
                  <p:embed/>
                </p:oleObj>
              </mc:Choice>
              <mc:Fallback>
                <p:oleObj name="think-cell Slide" r:id="rId4" imgW="465" imgH="457" progId="TCLayout.ActiveDocument.1">
                  <p:embed/>
                  <p:pic>
                    <p:nvPicPr>
                      <p:cNvPr id="39" name="对象 38" hidden="1"/>
                      <p:cNvPicPr/>
                      <p:nvPr/>
                    </p:nvPicPr>
                    <p:blipFill>
                      <a:blip r:embed="rId5"/>
                      <a:stretch>
                        <a:fillRect/>
                      </a:stretch>
                    </p:blipFill>
                    <p:spPr>
                      <a:xfrm>
                        <a:off x="1589" y="1592"/>
                        <a:ext cx="1587" cy="1587"/>
                      </a:xfrm>
                      <a:prstGeom prst="rect">
                        <a:avLst/>
                      </a:prstGeom>
                    </p:spPr>
                  </p:pic>
                </p:oleObj>
              </mc:Fallback>
            </mc:AlternateContent>
          </a:graphicData>
        </a:graphic>
      </p:graphicFrame>
      <p:sp>
        <p:nvSpPr>
          <p:cNvPr id="15" name="Text Placeholder 13"/>
          <p:cNvSpPr>
            <a:spLocks noGrp="1"/>
          </p:cNvSpPr>
          <p:nvPr>
            <p:ph type="body" sz="quarter" idx="16" hasCustomPrompt="1"/>
          </p:nvPr>
        </p:nvSpPr>
        <p:spPr>
          <a:xfrm>
            <a:off x="265160" y="6103037"/>
            <a:ext cx="3586911" cy="207749"/>
          </a:xfrm>
          <a:prstGeom prst="rect">
            <a:avLst/>
          </a:prstGeom>
        </p:spPr>
        <p:txBody>
          <a:bodyPr anchor="b" anchorCtr="0"/>
          <a:lstStyle>
            <a:lvl1pPr marL="0" indent="0">
              <a:spcBef>
                <a:spcPts val="0"/>
              </a:spcBef>
              <a:buNone/>
              <a:defRPr sz="1500">
                <a:latin typeface="Palatino Linotype" panose="02040502050505030304" pitchFamily="18" charset="0"/>
              </a:defRPr>
            </a:lvl1pPr>
            <a:lvl2pPr marL="191597" indent="0">
              <a:buNone/>
              <a:defRPr sz="1000"/>
            </a:lvl2pPr>
            <a:lvl3pPr marL="338645" indent="0">
              <a:buNone/>
              <a:defRPr sz="1000"/>
            </a:lvl3pPr>
            <a:lvl4pPr marL="535189" indent="0">
              <a:buNone/>
              <a:defRPr sz="1000"/>
            </a:lvl4pPr>
            <a:lvl5pPr marL="686431" indent="0">
              <a:buNone/>
              <a:defRPr sz="1000"/>
            </a:lvl5pPr>
          </a:lstStyle>
          <a:p>
            <a:pPr lvl="0"/>
            <a:r>
              <a:rPr lang="en-US" dirty="0"/>
              <a:t>Author(s) here</a:t>
            </a:r>
          </a:p>
        </p:txBody>
      </p:sp>
      <p:sp>
        <p:nvSpPr>
          <p:cNvPr id="9" name="Text Placeholder 8"/>
          <p:cNvSpPr>
            <a:spLocks noGrp="1"/>
          </p:cNvSpPr>
          <p:nvPr>
            <p:ph type="body" sz="quarter" idx="15" hasCustomPrompt="1"/>
          </p:nvPr>
        </p:nvSpPr>
        <p:spPr>
          <a:xfrm>
            <a:off x="265158" y="5074617"/>
            <a:ext cx="4297888" cy="207749"/>
          </a:xfrm>
          <a:prstGeom prst="rect">
            <a:avLst/>
          </a:prstGeom>
          <a:noFill/>
          <a:ln w="6350" cap="flat">
            <a:noFill/>
          </a:ln>
        </p:spPr>
        <p:txBody>
          <a:bodyPr vert="horz" wrap="square" lIns="0" tIns="0" rIns="0" bIns="0" rtlCol="0">
            <a:spAutoFit/>
          </a:bodyPr>
          <a:lstStyle>
            <a:lvl1pPr marL="188580" indent="-188580">
              <a:buNone/>
              <a:defRPr lang="en-US" sz="1500" baseline="0" smtClean="0">
                <a:latin typeface="Palatino Linotype" panose="02040502050505030304" pitchFamily="18" charset="0"/>
              </a:defRPr>
            </a:lvl1pPr>
            <a:lvl2pPr>
              <a:defRPr lang="en-US" smtClean="0"/>
            </a:lvl2pPr>
            <a:lvl3pPr>
              <a:defRPr lang="en-US" smtClean="0"/>
            </a:lvl3pPr>
            <a:lvl4pPr>
              <a:defRPr lang="en-US" smtClean="0"/>
            </a:lvl4pPr>
            <a:lvl5pPr>
              <a:defRPr lang="en-US"/>
            </a:lvl5pPr>
          </a:lstStyle>
          <a:p>
            <a:r>
              <a:rPr lang="en-US" dirty="0"/>
              <a:t>Date here</a:t>
            </a:r>
          </a:p>
        </p:txBody>
      </p:sp>
      <p:sp>
        <p:nvSpPr>
          <p:cNvPr id="7" name="Text Placeholder 8"/>
          <p:cNvSpPr>
            <a:spLocks noGrp="1"/>
          </p:cNvSpPr>
          <p:nvPr>
            <p:ph type="body" sz="quarter" idx="12" hasCustomPrompt="1"/>
          </p:nvPr>
        </p:nvSpPr>
        <p:spPr>
          <a:xfrm>
            <a:off x="265158" y="4859209"/>
            <a:ext cx="4296719" cy="207749"/>
          </a:xfrm>
          <a:prstGeom prst="rect">
            <a:avLst/>
          </a:prstGeom>
          <a:noFill/>
          <a:ln w="6350" cap="flat">
            <a:noFill/>
          </a:ln>
        </p:spPr>
        <p:txBody>
          <a:bodyPr/>
          <a:lstStyle>
            <a:lvl1pPr marL="0" indent="0">
              <a:spcBef>
                <a:spcPts val="0"/>
              </a:spcBef>
              <a:buFontTx/>
              <a:buNone/>
              <a:defRPr sz="1500" baseline="0">
                <a:latin typeface="Palatino Linotype" panose="02040502050505030304" pitchFamily="18" charset="0"/>
              </a:defRPr>
            </a:lvl1pPr>
          </a:lstStyle>
          <a:p>
            <a:r>
              <a:rPr lang="en-US" dirty="0"/>
              <a:t>Report type here</a:t>
            </a:r>
          </a:p>
        </p:txBody>
      </p:sp>
      <p:sp>
        <p:nvSpPr>
          <p:cNvPr id="3" name="Title 1"/>
          <p:cNvSpPr>
            <a:spLocks noGrp="1"/>
          </p:cNvSpPr>
          <p:nvPr>
            <p:ph type="ctrTitle" hasCustomPrompt="1"/>
          </p:nvPr>
        </p:nvSpPr>
        <p:spPr>
          <a:xfrm>
            <a:off x="265157" y="3595830"/>
            <a:ext cx="9361046" cy="498713"/>
          </a:xfrm>
          <a:prstGeom prst="rect">
            <a:avLst/>
          </a:prstGeom>
          <a:noFill/>
          <a:ln w="6350" cap="flat">
            <a:noFill/>
          </a:ln>
        </p:spPr>
        <p:txBody>
          <a:bodyPr lIns="95793" tIns="47896" rIns="95793" bIns="47896"/>
          <a:lstStyle>
            <a:lvl1pPr algn="l">
              <a:lnSpc>
                <a:spcPct val="90000"/>
              </a:lnSpc>
              <a:defRPr sz="3800" b="0" baseline="0">
                <a:latin typeface="Arial" pitchFamily="34" charset="0"/>
                <a:cs typeface="Arial" pitchFamily="34" charset="0"/>
              </a:defRPr>
            </a:lvl1pPr>
          </a:lstStyle>
          <a:p>
            <a:r>
              <a:rPr lang="en-US" dirty="0"/>
              <a:t>Presentation title here</a:t>
            </a:r>
            <a:endParaRPr lang="de-DE" dirty="0"/>
          </a:p>
        </p:txBody>
      </p:sp>
      <p:cxnSp>
        <p:nvCxnSpPr>
          <p:cNvPr id="5" name="Straight Connector 4"/>
          <p:cNvCxnSpPr/>
          <p:nvPr/>
        </p:nvCxnSpPr>
        <p:spPr>
          <a:xfrm>
            <a:off x="2" y="3458637"/>
            <a:ext cx="9904413" cy="0"/>
          </a:xfrm>
          <a:prstGeom prst="line">
            <a:avLst/>
          </a:prstGeom>
          <a:ln w="6350" cap="flat">
            <a:solidFill>
              <a:srgbClr val="B42100"/>
            </a:solidFill>
            <a:miter lim="800000"/>
          </a:ln>
        </p:spPr>
        <p:style>
          <a:lnRef idx="1">
            <a:schemeClr val="accent1"/>
          </a:lnRef>
          <a:fillRef idx="0">
            <a:schemeClr val="accent1"/>
          </a:fillRef>
          <a:effectRef idx="0">
            <a:schemeClr val="accent1"/>
          </a:effectRef>
          <a:fontRef idx="minor">
            <a:schemeClr val="tx1"/>
          </a:fontRef>
        </p:style>
      </p:cxnSp>
      <p:sp>
        <p:nvSpPr>
          <p:cNvPr id="4" name="Subtitle 2"/>
          <p:cNvSpPr>
            <a:spLocks noGrp="1"/>
          </p:cNvSpPr>
          <p:nvPr>
            <p:ph type="subTitle" idx="1" hasCustomPrompt="1"/>
          </p:nvPr>
        </p:nvSpPr>
        <p:spPr>
          <a:xfrm>
            <a:off x="265157" y="3065358"/>
            <a:ext cx="9361046" cy="263149"/>
          </a:xfrm>
          <a:prstGeom prst="rect">
            <a:avLst/>
          </a:prstGeom>
          <a:noFill/>
          <a:ln w="6350" cap="flat">
            <a:noFill/>
          </a:ln>
        </p:spPr>
        <p:txBody>
          <a:bodyPr/>
          <a:lstStyle>
            <a:lvl1pPr marL="0" indent="0" algn="l">
              <a:lnSpc>
                <a:spcPct val="90000"/>
              </a:lnSpc>
              <a:spcBef>
                <a:spcPts val="943"/>
              </a:spcBef>
              <a:buNone/>
              <a:defRPr sz="1900" b="1" i="0" baseline="0">
                <a:solidFill>
                  <a:schemeClr val="tx1"/>
                </a:solidFill>
                <a:latin typeface="Arial" pitchFamily="34" charset="0"/>
                <a:cs typeface="Arial" pitchFamily="34" charset="0"/>
              </a:defRPr>
            </a:lvl1pPr>
            <a:lvl2pPr marL="478993" indent="0" algn="ctr">
              <a:buNone/>
              <a:defRPr>
                <a:solidFill>
                  <a:schemeClr val="tx1">
                    <a:tint val="75000"/>
                  </a:schemeClr>
                </a:solidFill>
              </a:defRPr>
            </a:lvl2pPr>
            <a:lvl3pPr marL="957984" indent="0" algn="ctr">
              <a:buNone/>
              <a:defRPr>
                <a:solidFill>
                  <a:schemeClr val="tx1">
                    <a:tint val="75000"/>
                  </a:schemeClr>
                </a:solidFill>
              </a:defRPr>
            </a:lvl3pPr>
            <a:lvl4pPr marL="1436977" indent="0" algn="ctr">
              <a:buNone/>
              <a:defRPr>
                <a:solidFill>
                  <a:schemeClr val="tx1">
                    <a:tint val="75000"/>
                  </a:schemeClr>
                </a:solidFill>
              </a:defRPr>
            </a:lvl4pPr>
            <a:lvl5pPr marL="1915969" indent="0" algn="ctr">
              <a:buNone/>
              <a:defRPr>
                <a:solidFill>
                  <a:schemeClr val="tx1">
                    <a:tint val="75000"/>
                  </a:schemeClr>
                </a:solidFill>
              </a:defRPr>
            </a:lvl5pPr>
            <a:lvl6pPr marL="2394962" indent="0" algn="ctr">
              <a:buNone/>
              <a:defRPr>
                <a:solidFill>
                  <a:schemeClr val="tx1">
                    <a:tint val="75000"/>
                  </a:schemeClr>
                </a:solidFill>
              </a:defRPr>
            </a:lvl6pPr>
            <a:lvl7pPr marL="2873953" indent="0" algn="ctr">
              <a:buNone/>
              <a:defRPr>
                <a:solidFill>
                  <a:schemeClr val="tx1">
                    <a:tint val="75000"/>
                  </a:schemeClr>
                </a:solidFill>
              </a:defRPr>
            </a:lvl7pPr>
            <a:lvl8pPr marL="3352947" indent="0" algn="ctr">
              <a:buNone/>
              <a:defRPr>
                <a:solidFill>
                  <a:schemeClr val="tx1">
                    <a:tint val="75000"/>
                  </a:schemeClr>
                </a:solidFill>
              </a:defRPr>
            </a:lvl8pPr>
            <a:lvl9pPr marL="3831939" indent="0" algn="ctr">
              <a:buNone/>
              <a:defRPr>
                <a:solidFill>
                  <a:schemeClr val="tx1">
                    <a:tint val="75000"/>
                  </a:schemeClr>
                </a:solidFill>
              </a:defRPr>
            </a:lvl9pPr>
          </a:lstStyle>
          <a:p>
            <a:r>
              <a:rPr lang="en-US" dirty="0"/>
              <a:t>Presentation subtitle or client name here</a:t>
            </a:r>
          </a:p>
        </p:txBody>
      </p:sp>
      <p:sp>
        <p:nvSpPr>
          <p:cNvPr id="10" name="矩形 9"/>
          <p:cNvSpPr/>
          <p:nvPr userDrawn="1"/>
        </p:nvSpPr>
        <p:spPr>
          <a:xfrm>
            <a:off x="2647952" y="-3775"/>
            <a:ext cx="7254875" cy="922898"/>
          </a:xfrm>
          <a:prstGeom prst="rect">
            <a:avLst/>
          </a:prstGeom>
          <a:solidFill>
            <a:srgbClr val="B42100"/>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endParaRPr lang="en-US" sz="1400" dirty="0" err="1">
              <a:solidFill>
                <a:schemeClr val="bg1"/>
              </a:solidFill>
              <a:latin typeface="Arial" pitchFamily="34" charset="0"/>
              <a:cs typeface="Arial" pitchFamily="34" charset="0"/>
            </a:endParaRPr>
          </a:p>
        </p:txBody>
      </p:sp>
      <p:pic>
        <p:nvPicPr>
          <p:cNvPr id="11" name="Picture 2" descr="http://statics.phbs.pku.edu.cn/uploadfile/2017/1122/20171122092949636.png"/>
          <p:cNvPicPr>
            <a:picLocks noChangeAspect="1" noChangeArrowheads="1"/>
          </p:cNvPicPr>
          <p:nvPr userDrawn="1"/>
        </p:nvPicPr>
        <p:blipFill rotWithShape="1">
          <a:blip r:embed="rId6"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rcRect l="16631" t="26645" r="15215" b="28137"/>
          <a:stretch/>
        </p:blipFill>
        <p:spPr bwMode="auto">
          <a:xfrm>
            <a:off x="364939" y="166241"/>
            <a:ext cx="1957908" cy="669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5365546"/>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R Disclaimer">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47233" name="think-cell Slide" r:id="rId4" imgW="465" imgH="457" progId="TCLayout.ActiveDocument.1">
                  <p:embed/>
                </p:oleObj>
              </mc:Choice>
              <mc:Fallback>
                <p:oleObj name="think-cell Slide" r:id="rId4" imgW="465" imgH="457" progId="TCLayout.ActiveDocument.1">
                  <p:embed/>
                  <p:pic>
                    <p:nvPicPr>
                      <p:cNvPr id="2" name="对象 1" hidden="1"/>
                      <p:cNvPicPr/>
                      <p:nvPr/>
                    </p:nvPicPr>
                    <p:blipFill>
                      <a:blip r:embed="rId5"/>
                      <a:stretch>
                        <a:fillRect/>
                      </a:stretch>
                    </p:blipFill>
                    <p:spPr>
                      <a:xfrm>
                        <a:off x="1589" y="1592"/>
                        <a:ext cx="1587" cy="1587"/>
                      </a:xfrm>
                      <a:prstGeom prst="rect">
                        <a:avLst/>
                      </a:prstGeom>
                    </p:spPr>
                  </p:pic>
                </p:oleObj>
              </mc:Fallback>
            </mc:AlternateContent>
          </a:graphicData>
        </a:graphic>
      </p:graphicFrame>
    </p:spTree>
    <p:extLst>
      <p:ext uri="{BB962C8B-B14F-4D97-AF65-F5344CB8AC3E}">
        <p14:creationId xmlns:p14="http://schemas.microsoft.com/office/powerpoint/2010/main" val="374197415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8F9D74-485E-465B-AF8E-191FF4A43B1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3F2A746-CF63-45F4-8654-5D8CF9C3DF6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0F7E5A1-52CB-4639-BAA8-7494D25D132B}"/>
              </a:ext>
            </a:extLst>
          </p:cNvPr>
          <p:cNvSpPr>
            <a:spLocks noGrp="1"/>
          </p:cNvSpPr>
          <p:nvPr>
            <p:ph type="dt" sz="half" idx="10"/>
          </p:nvPr>
        </p:nvSpPr>
        <p:spPr/>
        <p:txBody>
          <a:bodyPr/>
          <a:lstStyle/>
          <a:p>
            <a:fld id="{BC75F2A8-ACAA-4B69-AD7A-D28C19D9FA93}" type="datetimeFigureOut">
              <a:rPr lang="zh-CN" altLang="en-US" smtClean="0"/>
              <a:t>2023-5-9</a:t>
            </a:fld>
            <a:endParaRPr lang="zh-CN" altLang="en-US"/>
          </a:p>
        </p:txBody>
      </p:sp>
      <p:sp>
        <p:nvSpPr>
          <p:cNvPr id="5" name="页脚占位符 4">
            <a:extLst>
              <a:ext uri="{FF2B5EF4-FFF2-40B4-BE49-F238E27FC236}">
                <a16:creationId xmlns:a16="http://schemas.microsoft.com/office/drawing/2014/main" id="{9A4B20AF-01D2-4E12-91DA-B012C21D85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78A24F4-7670-46D2-8A3E-BCB5A5C30F01}"/>
              </a:ext>
            </a:extLst>
          </p:cNvPr>
          <p:cNvSpPr>
            <a:spLocks noGrp="1"/>
          </p:cNvSpPr>
          <p:nvPr>
            <p:ph type="sldNum" sz="quarter" idx="12"/>
          </p:nvPr>
        </p:nvSpPr>
        <p:spPr/>
        <p:txBody>
          <a:bodyPr/>
          <a:lstStyle/>
          <a:p>
            <a:fld id="{CA9CB605-3706-42FA-B3E9-F025C61509B9}" type="slidenum">
              <a:rPr lang="zh-CN" altLang="en-US" smtClean="0"/>
              <a:t>‹#›</a:t>
            </a:fld>
            <a:endParaRPr lang="zh-CN" altLang="en-US"/>
          </a:p>
        </p:txBody>
      </p:sp>
    </p:spTree>
    <p:extLst>
      <p:ext uri="{BB962C8B-B14F-4D97-AF65-F5344CB8AC3E}">
        <p14:creationId xmlns:p14="http://schemas.microsoft.com/office/powerpoint/2010/main" val="17229107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CR Disclaimer">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ext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spid="_x0000_s55320" name="think-cell Slide" r:id="rId4" imgW="465" imgH="457" progId="TCLayout.ActiveDocument.1">
                  <p:embed/>
                </p:oleObj>
              </mc:Choice>
              <mc:Fallback>
                <p:oleObj name="think-cell Slide" r:id="rId4" imgW="465" imgH="457" progId="TCLayout.ActiveDocument.1">
                  <p:embed/>
                  <p:pic>
                    <p:nvPicPr>
                      <p:cNvPr id="2" name="对象 1" hidden="1"/>
                      <p:cNvPicPr/>
                      <p:nvPr/>
                    </p:nvPicPr>
                    <p:blipFill>
                      <a:blip r:embed="rId5"/>
                      <a:stretch>
                        <a:fillRect/>
                      </a:stretch>
                    </p:blipFill>
                    <p:spPr>
                      <a:xfrm>
                        <a:off x="1589" y="1592"/>
                        <a:ext cx="1587" cy="1587"/>
                      </a:xfrm>
                      <a:prstGeom prst="rect">
                        <a:avLst/>
                      </a:prstGeom>
                    </p:spPr>
                  </p:pic>
                </p:oleObj>
              </mc:Fallback>
            </mc:AlternateContent>
          </a:graphicData>
        </a:graphic>
      </p:graphicFrame>
      <p:sp>
        <p:nvSpPr>
          <p:cNvPr id="7" name="Title Placeholder 1"/>
          <p:cNvSpPr>
            <a:spLocks noGrp="1"/>
          </p:cNvSpPr>
          <p:nvPr>
            <p:ph type="title"/>
          </p:nvPr>
        </p:nvSpPr>
        <p:spPr bwMode="auto">
          <a:xfrm>
            <a:off x="522512" y="1341566"/>
            <a:ext cx="9368110" cy="6111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defRPr sz="1800">
                <a:latin typeface="Times New Roman" panose="02020603050405020304" pitchFamily="18" charset="0"/>
                <a:ea typeface="华文楷体" panose="02010600040101010101" pitchFamily="2" charset="-122"/>
                <a:cs typeface="Times New Roman" panose="02020603050405020304" pitchFamily="18" charset="0"/>
              </a:defRPr>
            </a:lvl1pPr>
          </a:lstStyle>
          <a:p>
            <a:pPr lvl="0"/>
            <a:r>
              <a:rPr lang="en-US" dirty="0"/>
              <a:t>Click to edit Master title style</a:t>
            </a:r>
          </a:p>
        </p:txBody>
      </p:sp>
    </p:spTree>
    <p:extLst>
      <p:ext uri="{BB962C8B-B14F-4D97-AF65-F5344CB8AC3E}">
        <p14:creationId xmlns:p14="http://schemas.microsoft.com/office/powerpoint/2010/main" val="188291069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2.xml"/><Relationship Id="rId4" Type="http://schemas.openxmlformats.org/officeDocument/2006/relationships/vmlDrawing" Target="../drawings/vmlDrawing1.v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5.xml"/><Relationship Id="rId3" Type="http://schemas.openxmlformats.org/officeDocument/2006/relationships/slideLayout" Target="../slideLayouts/slideLayout5.xml"/><Relationship Id="rId7" Type="http://schemas.openxmlformats.org/officeDocument/2006/relationships/vmlDrawing" Target="../drawings/vmlDrawing4.v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2.xml"/><Relationship Id="rId5" Type="http://schemas.openxmlformats.org/officeDocument/2006/relationships/slideLayout" Target="../slideLayouts/slideLayout7.xml"/><Relationship Id="rId10" Type="http://schemas.openxmlformats.org/officeDocument/2006/relationships/image" Target="../media/image1.emf"/><Relationship Id="rId4" Type="http://schemas.openxmlformats.org/officeDocument/2006/relationships/slideLayout" Target="../slideLayouts/slideLayout6.xml"/><Relationship Id="rId9"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7" Type="http://schemas.openxmlformats.org/officeDocument/2006/relationships/image" Target="../media/image1.emf"/><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oleObject" Target="../embeddings/oleObject1.bin"/><Relationship Id="rId5" Type="http://schemas.openxmlformats.org/officeDocument/2006/relationships/tags" Target="../tags/tag10.xml"/><Relationship Id="rId4" Type="http://schemas.openxmlformats.org/officeDocument/2006/relationships/vmlDrawing" Target="../drawings/vmlDrawing9.v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7" Type="http://schemas.openxmlformats.org/officeDocument/2006/relationships/image" Target="../media/image1.emf"/><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oleObject" Target="../embeddings/oleObject1.bin"/><Relationship Id="rId5" Type="http://schemas.openxmlformats.org/officeDocument/2006/relationships/tags" Target="../tags/tag13.xml"/><Relationship Id="rId4" Type="http://schemas.openxmlformats.org/officeDocument/2006/relationships/vmlDrawing" Target="../drawings/vmlDrawing12.v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7" Type="http://schemas.openxmlformats.org/officeDocument/2006/relationships/image" Target="../media/image1.emf"/><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oleObject" Target="../embeddings/oleObject1.bin"/><Relationship Id="rId5" Type="http://schemas.openxmlformats.org/officeDocument/2006/relationships/tags" Target="../tags/tag16.xml"/><Relationship Id="rId4" Type="http://schemas.openxmlformats.org/officeDocument/2006/relationships/vmlDrawing" Target="../drawings/vmlDrawing15.vml"/></Relationships>
</file>

<file path=ppt/slideMasters/_rels/slideMaster6.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16.xml"/><Relationship Id="rId7" Type="http://schemas.openxmlformats.org/officeDocument/2006/relationships/tags" Target="../tags/tag19.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vmlDrawing" Target="../drawings/vmlDrawing18.vml"/><Relationship Id="rId5" Type="http://schemas.openxmlformats.org/officeDocument/2006/relationships/theme" Target="../theme/theme6.xml"/><Relationship Id="rId4" Type="http://schemas.openxmlformats.org/officeDocument/2006/relationships/slideLayout" Target="../slideLayouts/slideLayout17.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5"/>
            </p:custDataLst>
            <p:extLst>
              <p:ext uri="{D42A27DB-BD31-4B8C-83A1-F6EECF244321}">
                <p14:modId xmlns:p14="http://schemas.microsoft.com/office/powerpoint/2010/main" val="3714759154"/>
              </p:ext>
            </p:extLst>
          </p:nvPr>
        </p:nvGraphicFramePr>
        <p:xfrm>
          <a:off x="1723" y="1593"/>
          <a:ext cx="1719" cy="1587"/>
        </p:xfrm>
        <a:graphic>
          <a:graphicData uri="http://schemas.openxmlformats.org/presentationml/2006/ole">
            <mc:AlternateContent xmlns:mc="http://schemas.openxmlformats.org/markup-compatibility/2006">
              <mc:Choice xmlns:v="urn:schemas-microsoft-com:vml" Requires="v">
                <p:oleObj spid="_x0000_s1298" name="think-cell Slide" r:id="rId6" imgW="270" imgH="270" progId="TCLayout.ActiveDocument.1">
                  <p:embed/>
                </p:oleObj>
              </mc:Choice>
              <mc:Fallback>
                <p:oleObj name="think-cell Slide" r:id="rId6" imgW="270" imgH="270" progId="TCLayout.ActiveDocument.1">
                  <p:embed/>
                  <p:pic>
                    <p:nvPicPr>
                      <p:cNvPr id="0" name=""/>
                      <p:cNvPicPr/>
                      <p:nvPr/>
                    </p:nvPicPr>
                    <p:blipFill>
                      <a:blip r:embed="rId7"/>
                      <a:stretch>
                        <a:fillRect/>
                      </a:stretch>
                    </p:blipFill>
                    <p:spPr>
                      <a:xfrm>
                        <a:off x="1723" y="1593"/>
                        <a:ext cx="1719" cy="1587"/>
                      </a:xfrm>
                      <a:prstGeom prst="rect">
                        <a:avLst/>
                      </a:prstGeom>
                    </p:spPr>
                  </p:pic>
                </p:oleObj>
              </mc:Fallback>
            </mc:AlternateContent>
          </a:graphicData>
        </a:graphic>
      </p:graphicFrame>
      <p:sp>
        <p:nvSpPr>
          <p:cNvPr id="15" name="TextBox 14"/>
          <p:cNvSpPr txBox="1"/>
          <p:nvPr/>
        </p:nvSpPr>
        <p:spPr>
          <a:xfrm>
            <a:off x="9360551" y="6596788"/>
            <a:ext cx="287228" cy="138531"/>
          </a:xfrm>
          <a:prstGeom prst="rect">
            <a:avLst/>
          </a:prstGeom>
          <a:noFill/>
          <a:ln w="6350">
            <a:noFill/>
            <a:miter lim="800000"/>
          </a:ln>
        </p:spPr>
        <p:txBody>
          <a:bodyPr wrap="none" lIns="0" tIns="0" rIns="0" bIns="0" rtlCol="0" anchor="b" anchorCtr="0">
            <a:noAutofit/>
          </a:bodyPr>
          <a:lstStyle/>
          <a:p>
            <a:pPr algn="r"/>
            <a:fld id="{6CE8C368-3382-4C28-AE75-DF7C05ACA19D}" type="slidenum">
              <a:rPr lang="en-US" sz="900">
                <a:solidFill>
                  <a:srgbClr val="ADABA1"/>
                </a:solidFill>
              </a:rPr>
              <a:pPr algn="r"/>
              <a:t>‹#›</a:t>
            </a:fld>
            <a:endParaRPr lang="en-US" sz="900" dirty="0">
              <a:solidFill>
                <a:srgbClr val="ADABA1"/>
              </a:solidFill>
            </a:endParaRPr>
          </a:p>
        </p:txBody>
      </p:sp>
      <p:sp>
        <p:nvSpPr>
          <p:cNvPr id="19" name="Rectangle 27"/>
          <p:cNvSpPr>
            <a:spLocks noGrp="1" noChangeArrowheads="1"/>
          </p:cNvSpPr>
          <p:nvPr>
            <p:ph type="dt" sz="half" idx="2"/>
          </p:nvPr>
        </p:nvSpPr>
        <p:spPr bwMode="auto">
          <a:xfrm>
            <a:off x="4704598" y="6505766"/>
            <a:ext cx="495221" cy="165138"/>
          </a:xfrm>
          <a:prstGeom prst="rect">
            <a:avLst/>
          </a:prstGeom>
          <a:noFill/>
          <a:ln>
            <a:noFill/>
          </a:ln>
          <a:effectLst/>
        </p:spPr>
        <p:txBody>
          <a:bodyPr vert="horz" wrap="square" lIns="95793" tIns="47896" rIns="95793" bIns="47896" numCol="1" anchor="t" anchorCtr="0" compatLnSpc="1">
            <a:prstTxWarp prst="textNoShape">
              <a:avLst/>
            </a:prstTxWarp>
          </a:bodyPr>
          <a:lstStyle>
            <a:lvl1pPr algn="ctr" eaLnBrk="0" hangingPunct="0">
              <a:spcBef>
                <a:spcPct val="20000"/>
              </a:spcBef>
              <a:buClr>
                <a:schemeClr val="accent1"/>
              </a:buClr>
              <a:buSzPct val="85000"/>
              <a:buFontTx/>
              <a:buChar char="-"/>
              <a:defRPr sz="800" b="0" smtClean="0">
                <a:solidFill>
                  <a:srgbClr val="937632"/>
                </a:solidFill>
              </a:defRPr>
            </a:lvl1pPr>
          </a:lstStyle>
          <a:p>
            <a:pPr>
              <a:defRPr/>
            </a:pPr>
            <a:r>
              <a:rPr lang="en-US" altLang="zh-CN"/>
              <a:t>- </a:t>
            </a:r>
            <a:fld id="{D196C2D1-191C-4448-BECC-17644327C254}" type="slidenum">
              <a:rPr lang="en-US" altLang="zh-CN"/>
              <a:pPr>
                <a:defRPr/>
              </a:pPr>
              <a:t>‹#›</a:t>
            </a:fld>
            <a:r>
              <a:rPr lang="en-US" altLang="zh-CN"/>
              <a:t> -</a:t>
            </a:r>
          </a:p>
        </p:txBody>
      </p:sp>
      <p:sp>
        <p:nvSpPr>
          <p:cNvPr id="2" name="矩形 1"/>
          <p:cNvSpPr/>
          <p:nvPr userDrawn="1"/>
        </p:nvSpPr>
        <p:spPr>
          <a:xfrm>
            <a:off x="2" y="304800"/>
            <a:ext cx="9904413" cy="532706"/>
          </a:xfrm>
          <a:prstGeom prst="rect">
            <a:avLst/>
          </a:prstGeom>
          <a:solidFill>
            <a:srgbClr val="9B1717"/>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endParaRPr lang="zh-CN" altLang="en-US" sz="1400" dirty="0" err="1" smtClean="0">
              <a:solidFill>
                <a:schemeClr val="bg1"/>
              </a:solidFill>
              <a:latin typeface="Arial" pitchFamily="34" charset="0"/>
              <a:cs typeface="Arial" pitchFamily="34" charset="0"/>
            </a:endParaRPr>
          </a:p>
        </p:txBody>
      </p:sp>
      <p:sp>
        <p:nvSpPr>
          <p:cNvPr id="14" name="矩形 13"/>
          <p:cNvSpPr/>
          <p:nvPr userDrawn="1"/>
        </p:nvSpPr>
        <p:spPr>
          <a:xfrm>
            <a:off x="3176" y="0"/>
            <a:ext cx="2932806" cy="304800"/>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r>
              <a:rPr lang="en-US" altLang="zh-CN" sz="1600" dirty="0" smtClean="0">
                <a:solidFill>
                  <a:schemeClr val="bg2"/>
                </a:solidFill>
                <a:latin typeface="Times New Roman" panose="02020603050405020304" pitchFamily="18" charset="0"/>
                <a:cs typeface="Times New Roman" panose="02020603050405020304" pitchFamily="18" charset="0"/>
              </a:rPr>
              <a:t>Introduction</a:t>
            </a:r>
            <a:endParaRPr lang="zh-CN" altLang="en-US" sz="1600" dirty="0" err="1" smtClean="0">
              <a:solidFill>
                <a:schemeClr val="bg2"/>
              </a:solidFill>
              <a:latin typeface="Times New Roman" panose="02020603050405020304" pitchFamily="18" charset="0"/>
              <a:cs typeface="Times New Roman" panose="02020603050405020304" pitchFamily="18" charset="0"/>
            </a:endParaRPr>
          </a:p>
        </p:txBody>
      </p:sp>
      <p:sp>
        <p:nvSpPr>
          <p:cNvPr id="18" name="矩形 17"/>
          <p:cNvSpPr/>
          <p:nvPr userDrawn="1"/>
        </p:nvSpPr>
        <p:spPr>
          <a:xfrm>
            <a:off x="2952170" y="-8911"/>
            <a:ext cx="2343891" cy="313711"/>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r>
              <a:rPr lang="en-US" altLang="zh-CN" sz="1600" dirty="0" smtClean="0">
                <a:solidFill>
                  <a:schemeClr val="bg1">
                    <a:lumMod val="50000"/>
                  </a:schemeClr>
                </a:solidFill>
                <a:latin typeface="Times New Roman" panose="02020603050405020304" pitchFamily="18" charset="0"/>
                <a:cs typeface="Times New Roman" panose="02020603050405020304" pitchFamily="18" charset="0"/>
              </a:rPr>
              <a:t>Hypothesis</a:t>
            </a:r>
            <a:endParaRPr lang="zh-CN" altLang="en-US" sz="1600" dirty="0" err="1" smtClean="0">
              <a:solidFill>
                <a:schemeClr val="bg1">
                  <a:lumMod val="50000"/>
                </a:schemeClr>
              </a:solidFill>
              <a:latin typeface="Times New Roman" panose="02020603050405020304" pitchFamily="18" charset="0"/>
              <a:cs typeface="Times New Roman" panose="02020603050405020304" pitchFamily="18" charset="0"/>
            </a:endParaRPr>
          </a:p>
        </p:txBody>
      </p:sp>
      <p:sp>
        <p:nvSpPr>
          <p:cNvPr id="21" name="矩形 20"/>
          <p:cNvSpPr/>
          <p:nvPr userDrawn="1"/>
        </p:nvSpPr>
        <p:spPr>
          <a:xfrm>
            <a:off x="5312247" y="3176"/>
            <a:ext cx="2520278" cy="303690"/>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73152" rIns="73152" bIns="73152" numCol="1" spcCol="0" rtlCol="0" fromWordArt="0" anchor="ctr" anchorCtr="0" forceAA="0" compatLnSpc="1">
            <a:prstTxWarp prst="textNoShape">
              <a:avLst/>
            </a:prstTxWarp>
            <a:noAutofit/>
          </a:bodyPr>
          <a:lstStyle>
            <a:defPPr>
              <a:defRPr lang="de-DE"/>
            </a:defPPr>
            <a:lvl1pPr marL="0" algn="l" defTabSz="957925" rtl="0" eaLnBrk="1" latinLnBrk="0" hangingPunct="1">
              <a:defRPr sz="1900" kern="1200">
                <a:solidFill>
                  <a:schemeClr val="lt1"/>
                </a:solidFill>
                <a:latin typeface="+mn-lt"/>
                <a:ea typeface="+mn-ea"/>
                <a:cs typeface="+mn-cs"/>
              </a:defRPr>
            </a:lvl1pPr>
            <a:lvl2pPr marL="478963" algn="l" defTabSz="957925" rtl="0" eaLnBrk="1" latinLnBrk="0" hangingPunct="1">
              <a:defRPr sz="1900" kern="1200">
                <a:solidFill>
                  <a:schemeClr val="lt1"/>
                </a:solidFill>
                <a:latin typeface="+mn-lt"/>
                <a:ea typeface="+mn-ea"/>
                <a:cs typeface="+mn-cs"/>
              </a:defRPr>
            </a:lvl2pPr>
            <a:lvl3pPr marL="957925" algn="l" defTabSz="957925" rtl="0" eaLnBrk="1" latinLnBrk="0" hangingPunct="1">
              <a:defRPr sz="1900" kern="1200">
                <a:solidFill>
                  <a:schemeClr val="lt1"/>
                </a:solidFill>
                <a:latin typeface="+mn-lt"/>
                <a:ea typeface="+mn-ea"/>
                <a:cs typeface="+mn-cs"/>
              </a:defRPr>
            </a:lvl3pPr>
            <a:lvl4pPr marL="1436888" algn="l" defTabSz="957925" rtl="0" eaLnBrk="1" latinLnBrk="0" hangingPunct="1">
              <a:defRPr sz="1900" kern="1200">
                <a:solidFill>
                  <a:schemeClr val="lt1"/>
                </a:solidFill>
                <a:latin typeface="+mn-lt"/>
                <a:ea typeface="+mn-ea"/>
                <a:cs typeface="+mn-cs"/>
              </a:defRPr>
            </a:lvl4pPr>
            <a:lvl5pPr marL="1915851" algn="l" defTabSz="957925" rtl="0" eaLnBrk="1" latinLnBrk="0" hangingPunct="1">
              <a:defRPr sz="1900" kern="1200">
                <a:solidFill>
                  <a:schemeClr val="lt1"/>
                </a:solidFill>
                <a:latin typeface="+mn-lt"/>
                <a:ea typeface="+mn-ea"/>
                <a:cs typeface="+mn-cs"/>
              </a:defRPr>
            </a:lvl5pPr>
            <a:lvl6pPr marL="2394814" algn="l" defTabSz="957925" rtl="0" eaLnBrk="1" latinLnBrk="0" hangingPunct="1">
              <a:defRPr sz="1900" kern="1200">
                <a:solidFill>
                  <a:schemeClr val="lt1"/>
                </a:solidFill>
                <a:latin typeface="+mn-lt"/>
                <a:ea typeface="+mn-ea"/>
                <a:cs typeface="+mn-cs"/>
              </a:defRPr>
            </a:lvl6pPr>
            <a:lvl7pPr marL="2873776" algn="l" defTabSz="957925" rtl="0" eaLnBrk="1" latinLnBrk="0" hangingPunct="1">
              <a:defRPr sz="1900" kern="1200">
                <a:solidFill>
                  <a:schemeClr val="lt1"/>
                </a:solidFill>
                <a:latin typeface="+mn-lt"/>
                <a:ea typeface="+mn-ea"/>
                <a:cs typeface="+mn-cs"/>
              </a:defRPr>
            </a:lvl7pPr>
            <a:lvl8pPr marL="3352739" algn="l" defTabSz="957925" rtl="0" eaLnBrk="1" latinLnBrk="0" hangingPunct="1">
              <a:defRPr sz="1900" kern="1200">
                <a:solidFill>
                  <a:schemeClr val="lt1"/>
                </a:solidFill>
                <a:latin typeface="+mn-lt"/>
                <a:ea typeface="+mn-ea"/>
                <a:cs typeface="+mn-cs"/>
              </a:defRPr>
            </a:lvl8pPr>
            <a:lvl9pPr marL="3831702" algn="l" defTabSz="957925" rtl="0" eaLnBrk="1" latinLnBrk="0" hangingPunct="1">
              <a:defRPr sz="1900" kern="1200">
                <a:solidFill>
                  <a:schemeClr val="lt1"/>
                </a:solidFill>
                <a:latin typeface="+mn-lt"/>
                <a:ea typeface="+mn-ea"/>
                <a:cs typeface="+mn-cs"/>
              </a:defRPr>
            </a:lvl9pPr>
          </a:lstStyle>
          <a:p>
            <a:pPr algn="ctr">
              <a:lnSpc>
                <a:spcPct val="90000"/>
              </a:lnSpc>
              <a:spcBef>
                <a:spcPts val="900"/>
              </a:spcBef>
            </a:pPr>
            <a:r>
              <a:rPr lang="en-US" altLang="zh-CN" sz="1600" dirty="0" smtClean="0">
                <a:solidFill>
                  <a:schemeClr val="bg1">
                    <a:lumMod val="50000"/>
                  </a:schemeClr>
                </a:solidFill>
                <a:latin typeface="Times New Roman" panose="02020603050405020304" pitchFamily="18" charset="0"/>
                <a:cs typeface="Times New Roman" panose="02020603050405020304" pitchFamily="18" charset="0"/>
              </a:rPr>
              <a:t>Empirical</a:t>
            </a:r>
            <a:r>
              <a:rPr lang="en-US" altLang="zh-CN" sz="1600" baseline="0" dirty="0" smtClean="0">
                <a:solidFill>
                  <a:schemeClr val="bg1">
                    <a:lumMod val="50000"/>
                  </a:schemeClr>
                </a:solidFill>
                <a:latin typeface="Times New Roman" panose="02020603050405020304" pitchFamily="18" charset="0"/>
                <a:cs typeface="Times New Roman" panose="02020603050405020304" pitchFamily="18" charset="0"/>
              </a:rPr>
              <a:t> Analysis</a:t>
            </a:r>
            <a:endParaRPr lang="en-US" altLang="zh-CN" sz="1600" dirty="0" smtClean="0">
              <a:solidFill>
                <a:schemeClr val="bg1">
                  <a:lumMod val="50000"/>
                </a:schemeClr>
              </a:solidFill>
              <a:latin typeface="Times New Roman" panose="02020603050405020304" pitchFamily="18" charset="0"/>
              <a:cs typeface="Times New Roman" panose="02020603050405020304" pitchFamily="18" charset="0"/>
            </a:endParaRPr>
          </a:p>
        </p:txBody>
      </p:sp>
      <p:sp>
        <p:nvSpPr>
          <p:cNvPr id="23" name="矩形 22"/>
          <p:cNvSpPr/>
          <p:nvPr userDrawn="1"/>
        </p:nvSpPr>
        <p:spPr>
          <a:xfrm>
            <a:off x="7848713" y="-8911"/>
            <a:ext cx="2055700" cy="313711"/>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73152" rIns="73152" bIns="73152" numCol="1" spcCol="0" rtlCol="0" fromWordArt="0" anchor="ctr" anchorCtr="0" forceAA="0" compatLnSpc="1">
            <a:prstTxWarp prst="textNoShape">
              <a:avLst/>
            </a:prstTxWarp>
            <a:noAutofit/>
          </a:bodyPr>
          <a:lstStyle>
            <a:defPPr>
              <a:defRPr lang="de-DE"/>
            </a:defPPr>
            <a:lvl1pPr marL="0" algn="l" defTabSz="957925" rtl="0" eaLnBrk="1" latinLnBrk="0" hangingPunct="1">
              <a:defRPr sz="1900" kern="1200">
                <a:solidFill>
                  <a:schemeClr val="lt1"/>
                </a:solidFill>
                <a:latin typeface="+mn-lt"/>
                <a:ea typeface="+mn-ea"/>
                <a:cs typeface="+mn-cs"/>
              </a:defRPr>
            </a:lvl1pPr>
            <a:lvl2pPr marL="478963" algn="l" defTabSz="957925" rtl="0" eaLnBrk="1" latinLnBrk="0" hangingPunct="1">
              <a:defRPr sz="1900" kern="1200">
                <a:solidFill>
                  <a:schemeClr val="lt1"/>
                </a:solidFill>
                <a:latin typeface="+mn-lt"/>
                <a:ea typeface="+mn-ea"/>
                <a:cs typeface="+mn-cs"/>
              </a:defRPr>
            </a:lvl2pPr>
            <a:lvl3pPr marL="957925" algn="l" defTabSz="957925" rtl="0" eaLnBrk="1" latinLnBrk="0" hangingPunct="1">
              <a:defRPr sz="1900" kern="1200">
                <a:solidFill>
                  <a:schemeClr val="lt1"/>
                </a:solidFill>
                <a:latin typeface="+mn-lt"/>
                <a:ea typeface="+mn-ea"/>
                <a:cs typeface="+mn-cs"/>
              </a:defRPr>
            </a:lvl3pPr>
            <a:lvl4pPr marL="1436888" algn="l" defTabSz="957925" rtl="0" eaLnBrk="1" latinLnBrk="0" hangingPunct="1">
              <a:defRPr sz="1900" kern="1200">
                <a:solidFill>
                  <a:schemeClr val="lt1"/>
                </a:solidFill>
                <a:latin typeface="+mn-lt"/>
                <a:ea typeface="+mn-ea"/>
                <a:cs typeface="+mn-cs"/>
              </a:defRPr>
            </a:lvl4pPr>
            <a:lvl5pPr marL="1915851" algn="l" defTabSz="957925" rtl="0" eaLnBrk="1" latinLnBrk="0" hangingPunct="1">
              <a:defRPr sz="1900" kern="1200">
                <a:solidFill>
                  <a:schemeClr val="lt1"/>
                </a:solidFill>
                <a:latin typeface="+mn-lt"/>
                <a:ea typeface="+mn-ea"/>
                <a:cs typeface="+mn-cs"/>
              </a:defRPr>
            </a:lvl5pPr>
            <a:lvl6pPr marL="2394814" algn="l" defTabSz="957925" rtl="0" eaLnBrk="1" latinLnBrk="0" hangingPunct="1">
              <a:defRPr sz="1900" kern="1200">
                <a:solidFill>
                  <a:schemeClr val="lt1"/>
                </a:solidFill>
                <a:latin typeface="+mn-lt"/>
                <a:ea typeface="+mn-ea"/>
                <a:cs typeface="+mn-cs"/>
              </a:defRPr>
            </a:lvl6pPr>
            <a:lvl7pPr marL="2873776" algn="l" defTabSz="957925" rtl="0" eaLnBrk="1" latinLnBrk="0" hangingPunct="1">
              <a:defRPr sz="1900" kern="1200">
                <a:solidFill>
                  <a:schemeClr val="lt1"/>
                </a:solidFill>
                <a:latin typeface="+mn-lt"/>
                <a:ea typeface="+mn-ea"/>
                <a:cs typeface="+mn-cs"/>
              </a:defRPr>
            </a:lvl7pPr>
            <a:lvl8pPr marL="3352739" algn="l" defTabSz="957925" rtl="0" eaLnBrk="1" latinLnBrk="0" hangingPunct="1">
              <a:defRPr sz="1900" kern="1200">
                <a:solidFill>
                  <a:schemeClr val="lt1"/>
                </a:solidFill>
                <a:latin typeface="+mn-lt"/>
                <a:ea typeface="+mn-ea"/>
                <a:cs typeface="+mn-cs"/>
              </a:defRPr>
            </a:lvl8pPr>
            <a:lvl9pPr marL="3831702" algn="l" defTabSz="957925" rtl="0" eaLnBrk="1" latinLnBrk="0" hangingPunct="1">
              <a:defRPr sz="1900" kern="1200">
                <a:solidFill>
                  <a:schemeClr val="lt1"/>
                </a:solidFill>
                <a:latin typeface="+mn-lt"/>
                <a:ea typeface="+mn-ea"/>
                <a:cs typeface="+mn-cs"/>
              </a:defRPr>
            </a:lvl9pPr>
          </a:lstStyle>
          <a:p>
            <a:pPr algn="ctr">
              <a:lnSpc>
                <a:spcPct val="90000"/>
              </a:lnSpc>
              <a:spcBef>
                <a:spcPts val="900"/>
              </a:spcBef>
            </a:pPr>
            <a:r>
              <a:rPr lang="en-US" altLang="zh-CN" sz="1600" dirty="0" smtClean="0">
                <a:solidFill>
                  <a:schemeClr val="bg1">
                    <a:lumMod val="50000"/>
                  </a:schemeClr>
                </a:solidFill>
                <a:latin typeface="Times New Roman" panose="02020603050405020304" pitchFamily="18" charset="0"/>
                <a:cs typeface="Times New Roman" panose="02020603050405020304" pitchFamily="18" charset="0"/>
              </a:rPr>
              <a:t>Conclusions</a:t>
            </a:r>
          </a:p>
        </p:txBody>
      </p:sp>
    </p:spTree>
    <p:extLst>
      <p:ext uri="{BB962C8B-B14F-4D97-AF65-F5344CB8AC3E}">
        <p14:creationId xmlns:p14="http://schemas.microsoft.com/office/powerpoint/2010/main" val="1941171506"/>
      </p:ext>
    </p:extLst>
  </p:cSld>
  <p:clrMap bg1="lt1" tx1="dk1" bg2="lt2" tx2="dk2" accent1="accent1" accent2="accent2" accent3="accent3" accent4="accent4" accent5="accent5" accent6="accent6" hlink="hlink" folHlink="folHlink"/>
  <p:sldLayoutIdLst>
    <p:sldLayoutId id="2147483661" r:id="rId1"/>
    <p:sldLayoutId id="2147483669" r:id="rId2"/>
  </p:sldLayoutIdLst>
  <p:timing>
    <p:tnLst>
      <p:par>
        <p:cTn id="1" dur="indefinite" restart="never" nodeType="tmRoot"/>
      </p:par>
    </p:tnLst>
  </p:timing>
  <p:hf sldNum="0" hdr="0" ftr="0" dt="0"/>
  <p:txStyles>
    <p:titleStyle>
      <a:lvl1pPr marL="0" indent="0" algn="l" defTabSz="957984"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mj-ea"/>
          <a:cs typeface="Arial" pitchFamily="34" charset="0"/>
        </a:defRPr>
      </a:lvl1pPr>
    </p:titleStyle>
    <p:bodyStyle>
      <a:lvl1pPr marL="188580" indent="-188580" algn="l" defTabSz="957984" rtl="0" eaLnBrk="1" latinLnBrk="0" hangingPunct="1">
        <a:lnSpc>
          <a:spcPct val="90000"/>
        </a:lnSpc>
        <a:spcBef>
          <a:spcPts val="1467"/>
        </a:spcBef>
        <a:buClr>
          <a:schemeClr val="bg2"/>
        </a:buClr>
        <a:buSzPct val="100000"/>
        <a:buFont typeface="Arial" pitchFamily="34" charset="0"/>
        <a:buChar char="■"/>
        <a:defRPr sz="1700" kern="1200">
          <a:solidFill>
            <a:schemeClr val="tx1"/>
          </a:solidFill>
          <a:latin typeface="Palatino Linotype" panose="02040502050505030304" pitchFamily="18" charset="0"/>
          <a:ea typeface="+mn-ea"/>
          <a:cs typeface="Arial" pitchFamily="34" charset="0"/>
        </a:defRPr>
      </a:lvl1pPr>
      <a:lvl2pPr marL="325715" indent="-134119" algn="l" defTabSz="957984" rtl="0" eaLnBrk="1" latinLnBrk="0" hangingPunct="1">
        <a:lnSpc>
          <a:spcPct val="90000"/>
        </a:lnSpc>
        <a:spcBef>
          <a:spcPts val="943"/>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2pPr>
      <a:lvl3pPr marL="512937" indent="-188580" algn="l" defTabSz="957984" rtl="0" eaLnBrk="1" latinLnBrk="0" hangingPunct="1">
        <a:lnSpc>
          <a:spcPct val="90000"/>
        </a:lnSpc>
        <a:spcBef>
          <a:spcPts val="629"/>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3pPr>
      <a:lvl4pPr marL="663800" indent="-143698" algn="l" defTabSz="957984" rtl="0" eaLnBrk="1" latinLnBrk="0" hangingPunct="1">
        <a:lnSpc>
          <a:spcPct val="90000"/>
        </a:lnSpc>
        <a:spcBef>
          <a:spcPts val="210"/>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4pPr>
      <a:lvl5pPr marL="807121" indent="-143321" algn="l" defTabSz="957984" rtl="0" eaLnBrk="1" latinLnBrk="0" hangingPunct="1">
        <a:lnSpc>
          <a:spcPct val="90000"/>
        </a:lnSpc>
        <a:spcBef>
          <a:spcPts val="105"/>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5pPr>
      <a:lvl6pPr marL="2634458"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13451"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92442"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71435"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en-US"/>
      </a:defPPr>
      <a:lvl1pPr marL="0" algn="l" defTabSz="957984" rtl="0" eaLnBrk="1" latinLnBrk="0" hangingPunct="1">
        <a:defRPr sz="1900" kern="1200">
          <a:solidFill>
            <a:schemeClr val="tx1"/>
          </a:solidFill>
          <a:latin typeface="+mn-lt"/>
          <a:ea typeface="+mn-ea"/>
          <a:cs typeface="+mn-cs"/>
        </a:defRPr>
      </a:lvl1pPr>
      <a:lvl2pPr marL="478993" algn="l" defTabSz="957984" rtl="0" eaLnBrk="1" latinLnBrk="0" hangingPunct="1">
        <a:defRPr sz="1900" kern="1200">
          <a:solidFill>
            <a:schemeClr val="tx1"/>
          </a:solidFill>
          <a:latin typeface="+mn-lt"/>
          <a:ea typeface="+mn-ea"/>
          <a:cs typeface="+mn-cs"/>
        </a:defRPr>
      </a:lvl2pPr>
      <a:lvl3pPr marL="957984" algn="l" defTabSz="957984" rtl="0" eaLnBrk="1" latinLnBrk="0" hangingPunct="1">
        <a:defRPr sz="1900" kern="1200">
          <a:solidFill>
            <a:schemeClr val="tx1"/>
          </a:solidFill>
          <a:latin typeface="+mn-lt"/>
          <a:ea typeface="+mn-ea"/>
          <a:cs typeface="+mn-cs"/>
        </a:defRPr>
      </a:lvl3pPr>
      <a:lvl4pPr marL="1436977" algn="l" defTabSz="957984" rtl="0" eaLnBrk="1" latinLnBrk="0" hangingPunct="1">
        <a:defRPr sz="1900" kern="1200">
          <a:solidFill>
            <a:schemeClr val="tx1"/>
          </a:solidFill>
          <a:latin typeface="+mn-lt"/>
          <a:ea typeface="+mn-ea"/>
          <a:cs typeface="+mn-cs"/>
        </a:defRPr>
      </a:lvl4pPr>
      <a:lvl5pPr marL="1915969" algn="l" defTabSz="957984" rtl="0" eaLnBrk="1" latinLnBrk="0" hangingPunct="1">
        <a:defRPr sz="1900" kern="1200">
          <a:solidFill>
            <a:schemeClr val="tx1"/>
          </a:solidFill>
          <a:latin typeface="+mn-lt"/>
          <a:ea typeface="+mn-ea"/>
          <a:cs typeface="+mn-cs"/>
        </a:defRPr>
      </a:lvl5pPr>
      <a:lvl6pPr marL="2394962" algn="l" defTabSz="957984" rtl="0" eaLnBrk="1" latinLnBrk="0" hangingPunct="1">
        <a:defRPr sz="1900" kern="1200">
          <a:solidFill>
            <a:schemeClr val="tx1"/>
          </a:solidFill>
          <a:latin typeface="+mn-lt"/>
          <a:ea typeface="+mn-ea"/>
          <a:cs typeface="+mn-cs"/>
        </a:defRPr>
      </a:lvl6pPr>
      <a:lvl7pPr marL="2873953" algn="l" defTabSz="957984" rtl="0" eaLnBrk="1" latinLnBrk="0" hangingPunct="1">
        <a:defRPr sz="1900" kern="1200">
          <a:solidFill>
            <a:schemeClr val="tx1"/>
          </a:solidFill>
          <a:latin typeface="+mn-lt"/>
          <a:ea typeface="+mn-ea"/>
          <a:cs typeface="+mn-cs"/>
        </a:defRPr>
      </a:lvl7pPr>
      <a:lvl8pPr marL="3352947" algn="l" defTabSz="957984" rtl="0" eaLnBrk="1" latinLnBrk="0" hangingPunct="1">
        <a:defRPr sz="1900" kern="1200">
          <a:solidFill>
            <a:schemeClr val="tx1"/>
          </a:solidFill>
          <a:latin typeface="+mn-lt"/>
          <a:ea typeface="+mn-ea"/>
          <a:cs typeface="+mn-cs"/>
        </a:defRPr>
      </a:lvl8pPr>
      <a:lvl9pPr marL="3831939" algn="l" defTabSz="957984"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8"/>
            </p:custDataLst>
            <p:extLst/>
          </p:nvPr>
        </p:nvGraphicFramePr>
        <p:xfrm>
          <a:off x="1723" y="1593"/>
          <a:ext cx="1719" cy="1587"/>
        </p:xfrm>
        <a:graphic>
          <a:graphicData uri="http://schemas.openxmlformats.org/presentationml/2006/ole">
            <mc:AlternateContent xmlns:mc="http://schemas.openxmlformats.org/markup-compatibility/2006">
              <mc:Choice xmlns:v="urn:schemas-microsoft-com:vml" Requires="v">
                <p:oleObj spid="_x0000_s26856" name="think-cell Slide" r:id="rId9" imgW="270" imgH="270" progId="TCLayout.ActiveDocument.1">
                  <p:embed/>
                </p:oleObj>
              </mc:Choice>
              <mc:Fallback>
                <p:oleObj name="think-cell Slide" r:id="rId9" imgW="270" imgH="270" progId="TCLayout.ActiveDocument.1">
                  <p:embed/>
                  <p:pic>
                    <p:nvPicPr>
                      <p:cNvPr id="4" name="Object 3" hidden="1"/>
                      <p:cNvPicPr/>
                      <p:nvPr/>
                    </p:nvPicPr>
                    <p:blipFill>
                      <a:blip r:embed="rId10"/>
                      <a:stretch>
                        <a:fillRect/>
                      </a:stretch>
                    </p:blipFill>
                    <p:spPr>
                      <a:xfrm>
                        <a:off x="1723" y="1593"/>
                        <a:ext cx="1719" cy="1587"/>
                      </a:xfrm>
                      <a:prstGeom prst="rect">
                        <a:avLst/>
                      </a:prstGeom>
                    </p:spPr>
                  </p:pic>
                </p:oleObj>
              </mc:Fallback>
            </mc:AlternateContent>
          </a:graphicData>
        </a:graphic>
      </p:graphicFrame>
      <p:sp>
        <p:nvSpPr>
          <p:cNvPr id="15" name="TextBox 14"/>
          <p:cNvSpPr txBox="1"/>
          <p:nvPr/>
        </p:nvSpPr>
        <p:spPr>
          <a:xfrm>
            <a:off x="9360551" y="6596788"/>
            <a:ext cx="287228" cy="138531"/>
          </a:xfrm>
          <a:prstGeom prst="rect">
            <a:avLst/>
          </a:prstGeom>
          <a:noFill/>
          <a:ln w="6350">
            <a:noFill/>
            <a:miter lim="800000"/>
          </a:ln>
        </p:spPr>
        <p:txBody>
          <a:bodyPr wrap="none" lIns="0" tIns="0" rIns="0" bIns="0" rtlCol="0" anchor="b" anchorCtr="0">
            <a:noAutofit/>
          </a:bodyPr>
          <a:lstStyle/>
          <a:p>
            <a:pPr algn="r"/>
            <a:fld id="{6CE8C368-3382-4C28-AE75-DF7C05ACA19D}" type="slidenum">
              <a:rPr lang="en-US" sz="900">
                <a:solidFill>
                  <a:srgbClr val="ADABA1"/>
                </a:solidFill>
              </a:rPr>
              <a:pPr algn="r"/>
              <a:t>‹#›</a:t>
            </a:fld>
            <a:endParaRPr lang="en-US" sz="900" dirty="0">
              <a:solidFill>
                <a:srgbClr val="ADABA1"/>
              </a:solidFill>
            </a:endParaRPr>
          </a:p>
        </p:txBody>
      </p:sp>
      <p:sp>
        <p:nvSpPr>
          <p:cNvPr id="19" name="Rectangle 27"/>
          <p:cNvSpPr>
            <a:spLocks noGrp="1" noChangeArrowheads="1"/>
          </p:cNvSpPr>
          <p:nvPr>
            <p:ph type="dt" sz="half" idx="2"/>
          </p:nvPr>
        </p:nvSpPr>
        <p:spPr bwMode="auto">
          <a:xfrm>
            <a:off x="4704598" y="6505766"/>
            <a:ext cx="495221" cy="165138"/>
          </a:xfrm>
          <a:prstGeom prst="rect">
            <a:avLst/>
          </a:prstGeom>
          <a:noFill/>
          <a:ln>
            <a:noFill/>
          </a:ln>
          <a:effectLst/>
        </p:spPr>
        <p:txBody>
          <a:bodyPr vert="horz" wrap="square" lIns="95793" tIns="47896" rIns="95793" bIns="47896" numCol="1" anchor="t" anchorCtr="0" compatLnSpc="1">
            <a:prstTxWarp prst="textNoShape">
              <a:avLst/>
            </a:prstTxWarp>
          </a:bodyPr>
          <a:lstStyle>
            <a:lvl1pPr algn="ctr" eaLnBrk="0" hangingPunct="0">
              <a:spcBef>
                <a:spcPct val="20000"/>
              </a:spcBef>
              <a:buClr>
                <a:schemeClr val="accent1"/>
              </a:buClr>
              <a:buSzPct val="85000"/>
              <a:buFontTx/>
              <a:buChar char="-"/>
              <a:defRPr sz="800" b="0" smtClean="0">
                <a:solidFill>
                  <a:srgbClr val="937632"/>
                </a:solidFill>
              </a:defRPr>
            </a:lvl1pPr>
          </a:lstStyle>
          <a:p>
            <a:pPr>
              <a:defRPr/>
            </a:pPr>
            <a:r>
              <a:rPr lang="en-US" altLang="zh-CN"/>
              <a:t>- </a:t>
            </a:r>
            <a:fld id="{D196C2D1-191C-4448-BECC-17644327C254}" type="slidenum">
              <a:rPr lang="en-US" altLang="zh-CN"/>
              <a:pPr>
                <a:defRPr/>
              </a:pPr>
              <a:t>‹#›</a:t>
            </a:fld>
            <a:r>
              <a:rPr lang="en-US" altLang="zh-CN"/>
              <a:t> -</a:t>
            </a:r>
          </a:p>
        </p:txBody>
      </p:sp>
      <p:sp>
        <p:nvSpPr>
          <p:cNvPr id="11" name="矩形 10"/>
          <p:cNvSpPr/>
          <p:nvPr userDrawn="1"/>
        </p:nvSpPr>
        <p:spPr>
          <a:xfrm>
            <a:off x="2" y="304800"/>
            <a:ext cx="9904413" cy="532706"/>
          </a:xfrm>
          <a:prstGeom prst="rect">
            <a:avLst/>
          </a:prstGeom>
          <a:solidFill>
            <a:srgbClr val="9B1717"/>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endParaRPr lang="zh-CN" altLang="en-US" sz="1400" dirty="0" err="1" smtClean="0">
              <a:solidFill>
                <a:schemeClr val="bg1"/>
              </a:solidFill>
              <a:latin typeface="Arial" pitchFamily="34" charset="0"/>
              <a:cs typeface="Arial" pitchFamily="34" charset="0"/>
            </a:endParaRPr>
          </a:p>
        </p:txBody>
      </p:sp>
      <p:sp>
        <p:nvSpPr>
          <p:cNvPr id="14" name="矩形 13"/>
          <p:cNvSpPr/>
          <p:nvPr userDrawn="1"/>
        </p:nvSpPr>
        <p:spPr>
          <a:xfrm>
            <a:off x="3176" y="0"/>
            <a:ext cx="2932806" cy="304800"/>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r>
              <a:rPr lang="en-US" altLang="zh-CN" sz="1600" dirty="0" smtClean="0">
                <a:solidFill>
                  <a:schemeClr val="bg2"/>
                </a:solidFill>
                <a:latin typeface="Times New Roman" panose="02020603050405020304" pitchFamily="18" charset="0"/>
                <a:cs typeface="Times New Roman" panose="02020603050405020304" pitchFamily="18" charset="0"/>
              </a:rPr>
              <a:t>Introduction</a:t>
            </a:r>
            <a:endParaRPr lang="zh-CN" altLang="en-US" sz="1600" dirty="0" err="1" smtClean="0">
              <a:solidFill>
                <a:schemeClr val="bg2"/>
              </a:solidFill>
              <a:latin typeface="Times New Roman" panose="02020603050405020304" pitchFamily="18" charset="0"/>
              <a:cs typeface="Times New Roman" panose="02020603050405020304" pitchFamily="18" charset="0"/>
            </a:endParaRPr>
          </a:p>
        </p:txBody>
      </p:sp>
      <p:sp>
        <p:nvSpPr>
          <p:cNvPr id="18" name="矩形 17"/>
          <p:cNvSpPr/>
          <p:nvPr userDrawn="1"/>
        </p:nvSpPr>
        <p:spPr>
          <a:xfrm>
            <a:off x="2952170" y="-8911"/>
            <a:ext cx="2343891" cy="313711"/>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r>
              <a:rPr lang="en-US" altLang="zh-CN" sz="1600" dirty="0" smtClean="0">
                <a:solidFill>
                  <a:schemeClr val="bg1">
                    <a:lumMod val="50000"/>
                  </a:schemeClr>
                </a:solidFill>
                <a:latin typeface="Times New Roman" panose="02020603050405020304" pitchFamily="18" charset="0"/>
                <a:cs typeface="Times New Roman" panose="02020603050405020304" pitchFamily="18" charset="0"/>
              </a:rPr>
              <a:t>Hypothesis</a:t>
            </a:r>
            <a:endParaRPr lang="zh-CN" altLang="en-US" sz="1600" dirty="0" err="1" smtClean="0">
              <a:solidFill>
                <a:schemeClr val="bg1">
                  <a:lumMod val="50000"/>
                </a:schemeClr>
              </a:solidFill>
              <a:latin typeface="Times New Roman" panose="02020603050405020304" pitchFamily="18" charset="0"/>
              <a:cs typeface="Times New Roman" panose="02020603050405020304" pitchFamily="18" charset="0"/>
            </a:endParaRPr>
          </a:p>
        </p:txBody>
      </p:sp>
      <p:sp>
        <p:nvSpPr>
          <p:cNvPr id="20" name="矩形 19"/>
          <p:cNvSpPr/>
          <p:nvPr userDrawn="1"/>
        </p:nvSpPr>
        <p:spPr>
          <a:xfrm>
            <a:off x="5312247" y="3176"/>
            <a:ext cx="2520278" cy="303690"/>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73152" rIns="73152" bIns="73152" numCol="1" spcCol="0" rtlCol="0" fromWordArt="0" anchor="ctr" anchorCtr="0" forceAA="0" compatLnSpc="1">
            <a:prstTxWarp prst="textNoShape">
              <a:avLst/>
            </a:prstTxWarp>
            <a:noAutofit/>
          </a:bodyPr>
          <a:lstStyle>
            <a:defPPr>
              <a:defRPr lang="de-DE"/>
            </a:defPPr>
            <a:lvl1pPr marL="0" algn="l" defTabSz="957925" rtl="0" eaLnBrk="1" latinLnBrk="0" hangingPunct="1">
              <a:defRPr sz="1900" kern="1200">
                <a:solidFill>
                  <a:schemeClr val="lt1"/>
                </a:solidFill>
                <a:latin typeface="+mn-lt"/>
                <a:ea typeface="+mn-ea"/>
                <a:cs typeface="+mn-cs"/>
              </a:defRPr>
            </a:lvl1pPr>
            <a:lvl2pPr marL="478963" algn="l" defTabSz="957925" rtl="0" eaLnBrk="1" latinLnBrk="0" hangingPunct="1">
              <a:defRPr sz="1900" kern="1200">
                <a:solidFill>
                  <a:schemeClr val="lt1"/>
                </a:solidFill>
                <a:latin typeface="+mn-lt"/>
                <a:ea typeface="+mn-ea"/>
                <a:cs typeface="+mn-cs"/>
              </a:defRPr>
            </a:lvl2pPr>
            <a:lvl3pPr marL="957925" algn="l" defTabSz="957925" rtl="0" eaLnBrk="1" latinLnBrk="0" hangingPunct="1">
              <a:defRPr sz="1900" kern="1200">
                <a:solidFill>
                  <a:schemeClr val="lt1"/>
                </a:solidFill>
                <a:latin typeface="+mn-lt"/>
                <a:ea typeface="+mn-ea"/>
                <a:cs typeface="+mn-cs"/>
              </a:defRPr>
            </a:lvl3pPr>
            <a:lvl4pPr marL="1436888" algn="l" defTabSz="957925" rtl="0" eaLnBrk="1" latinLnBrk="0" hangingPunct="1">
              <a:defRPr sz="1900" kern="1200">
                <a:solidFill>
                  <a:schemeClr val="lt1"/>
                </a:solidFill>
                <a:latin typeface="+mn-lt"/>
                <a:ea typeface="+mn-ea"/>
                <a:cs typeface="+mn-cs"/>
              </a:defRPr>
            </a:lvl4pPr>
            <a:lvl5pPr marL="1915851" algn="l" defTabSz="957925" rtl="0" eaLnBrk="1" latinLnBrk="0" hangingPunct="1">
              <a:defRPr sz="1900" kern="1200">
                <a:solidFill>
                  <a:schemeClr val="lt1"/>
                </a:solidFill>
                <a:latin typeface="+mn-lt"/>
                <a:ea typeface="+mn-ea"/>
                <a:cs typeface="+mn-cs"/>
              </a:defRPr>
            </a:lvl5pPr>
            <a:lvl6pPr marL="2394814" algn="l" defTabSz="957925" rtl="0" eaLnBrk="1" latinLnBrk="0" hangingPunct="1">
              <a:defRPr sz="1900" kern="1200">
                <a:solidFill>
                  <a:schemeClr val="lt1"/>
                </a:solidFill>
                <a:latin typeface="+mn-lt"/>
                <a:ea typeface="+mn-ea"/>
                <a:cs typeface="+mn-cs"/>
              </a:defRPr>
            </a:lvl6pPr>
            <a:lvl7pPr marL="2873776" algn="l" defTabSz="957925" rtl="0" eaLnBrk="1" latinLnBrk="0" hangingPunct="1">
              <a:defRPr sz="1900" kern="1200">
                <a:solidFill>
                  <a:schemeClr val="lt1"/>
                </a:solidFill>
                <a:latin typeface="+mn-lt"/>
                <a:ea typeface="+mn-ea"/>
                <a:cs typeface="+mn-cs"/>
              </a:defRPr>
            </a:lvl7pPr>
            <a:lvl8pPr marL="3352739" algn="l" defTabSz="957925" rtl="0" eaLnBrk="1" latinLnBrk="0" hangingPunct="1">
              <a:defRPr sz="1900" kern="1200">
                <a:solidFill>
                  <a:schemeClr val="lt1"/>
                </a:solidFill>
                <a:latin typeface="+mn-lt"/>
                <a:ea typeface="+mn-ea"/>
                <a:cs typeface="+mn-cs"/>
              </a:defRPr>
            </a:lvl8pPr>
            <a:lvl9pPr marL="3831702" algn="l" defTabSz="957925" rtl="0" eaLnBrk="1" latinLnBrk="0" hangingPunct="1">
              <a:defRPr sz="1900" kern="1200">
                <a:solidFill>
                  <a:schemeClr val="lt1"/>
                </a:solidFill>
                <a:latin typeface="+mn-lt"/>
                <a:ea typeface="+mn-ea"/>
                <a:cs typeface="+mn-cs"/>
              </a:defRPr>
            </a:lvl9pPr>
          </a:lstStyle>
          <a:p>
            <a:pPr algn="ctr">
              <a:lnSpc>
                <a:spcPct val="90000"/>
              </a:lnSpc>
              <a:spcBef>
                <a:spcPts val="900"/>
              </a:spcBef>
            </a:pPr>
            <a:r>
              <a:rPr lang="en-US" altLang="zh-CN" sz="1600" dirty="0" smtClean="0">
                <a:solidFill>
                  <a:schemeClr val="bg1">
                    <a:lumMod val="50000"/>
                  </a:schemeClr>
                </a:solidFill>
                <a:latin typeface="Times New Roman" panose="02020603050405020304" pitchFamily="18" charset="0"/>
                <a:cs typeface="Times New Roman" panose="02020603050405020304" pitchFamily="18" charset="0"/>
              </a:rPr>
              <a:t>Empirical</a:t>
            </a:r>
            <a:r>
              <a:rPr lang="en-US" altLang="zh-CN" sz="1600" baseline="0" dirty="0" smtClean="0">
                <a:solidFill>
                  <a:schemeClr val="bg1">
                    <a:lumMod val="50000"/>
                  </a:schemeClr>
                </a:solidFill>
                <a:latin typeface="Times New Roman" panose="02020603050405020304" pitchFamily="18" charset="0"/>
                <a:cs typeface="Times New Roman" panose="02020603050405020304" pitchFamily="18" charset="0"/>
              </a:rPr>
              <a:t> Analysis</a:t>
            </a:r>
            <a:endParaRPr lang="en-US" altLang="zh-CN" sz="1600" dirty="0" smtClean="0">
              <a:solidFill>
                <a:schemeClr val="bg1">
                  <a:lumMod val="50000"/>
                </a:schemeClr>
              </a:solidFill>
              <a:latin typeface="Times New Roman" panose="02020603050405020304" pitchFamily="18" charset="0"/>
              <a:cs typeface="Times New Roman" panose="02020603050405020304" pitchFamily="18" charset="0"/>
            </a:endParaRPr>
          </a:p>
        </p:txBody>
      </p:sp>
      <p:sp>
        <p:nvSpPr>
          <p:cNvPr id="21" name="矩形 20"/>
          <p:cNvSpPr/>
          <p:nvPr userDrawn="1"/>
        </p:nvSpPr>
        <p:spPr>
          <a:xfrm>
            <a:off x="7848713" y="-8911"/>
            <a:ext cx="2055700" cy="313711"/>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73152" rIns="73152" bIns="73152" numCol="1" spcCol="0" rtlCol="0" fromWordArt="0" anchor="ctr" anchorCtr="0" forceAA="0" compatLnSpc="1">
            <a:prstTxWarp prst="textNoShape">
              <a:avLst/>
            </a:prstTxWarp>
            <a:noAutofit/>
          </a:bodyPr>
          <a:lstStyle>
            <a:defPPr>
              <a:defRPr lang="de-DE"/>
            </a:defPPr>
            <a:lvl1pPr marL="0" algn="l" defTabSz="957925" rtl="0" eaLnBrk="1" latinLnBrk="0" hangingPunct="1">
              <a:defRPr sz="1900" kern="1200">
                <a:solidFill>
                  <a:schemeClr val="lt1"/>
                </a:solidFill>
                <a:latin typeface="+mn-lt"/>
                <a:ea typeface="+mn-ea"/>
                <a:cs typeface="+mn-cs"/>
              </a:defRPr>
            </a:lvl1pPr>
            <a:lvl2pPr marL="478963" algn="l" defTabSz="957925" rtl="0" eaLnBrk="1" latinLnBrk="0" hangingPunct="1">
              <a:defRPr sz="1900" kern="1200">
                <a:solidFill>
                  <a:schemeClr val="lt1"/>
                </a:solidFill>
                <a:latin typeface="+mn-lt"/>
                <a:ea typeface="+mn-ea"/>
                <a:cs typeface="+mn-cs"/>
              </a:defRPr>
            </a:lvl2pPr>
            <a:lvl3pPr marL="957925" algn="l" defTabSz="957925" rtl="0" eaLnBrk="1" latinLnBrk="0" hangingPunct="1">
              <a:defRPr sz="1900" kern="1200">
                <a:solidFill>
                  <a:schemeClr val="lt1"/>
                </a:solidFill>
                <a:latin typeface="+mn-lt"/>
                <a:ea typeface="+mn-ea"/>
                <a:cs typeface="+mn-cs"/>
              </a:defRPr>
            </a:lvl3pPr>
            <a:lvl4pPr marL="1436888" algn="l" defTabSz="957925" rtl="0" eaLnBrk="1" latinLnBrk="0" hangingPunct="1">
              <a:defRPr sz="1900" kern="1200">
                <a:solidFill>
                  <a:schemeClr val="lt1"/>
                </a:solidFill>
                <a:latin typeface="+mn-lt"/>
                <a:ea typeface="+mn-ea"/>
                <a:cs typeface="+mn-cs"/>
              </a:defRPr>
            </a:lvl4pPr>
            <a:lvl5pPr marL="1915851" algn="l" defTabSz="957925" rtl="0" eaLnBrk="1" latinLnBrk="0" hangingPunct="1">
              <a:defRPr sz="1900" kern="1200">
                <a:solidFill>
                  <a:schemeClr val="lt1"/>
                </a:solidFill>
                <a:latin typeface="+mn-lt"/>
                <a:ea typeface="+mn-ea"/>
                <a:cs typeface="+mn-cs"/>
              </a:defRPr>
            </a:lvl5pPr>
            <a:lvl6pPr marL="2394814" algn="l" defTabSz="957925" rtl="0" eaLnBrk="1" latinLnBrk="0" hangingPunct="1">
              <a:defRPr sz="1900" kern="1200">
                <a:solidFill>
                  <a:schemeClr val="lt1"/>
                </a:solidFill>
                <a:latin typeface="+mn-lt"/>
                <a:ea typeface="+mn-ea"/>
                <a:cs typeface="+mn-cs"/>
              </a:defRPr>
            </a:lvl6pPr>
            <a:lvl7pPr marL="2873776" algn="l" defTabSz="957925" rtl="0" eaLnBrk="1" latinLnBrk="0" hangingPunct="1">
              <a:defRPr sz="1900" kern="1200">
                <a:solidFill>
                  <a:schemeClr val="lt1"/>
                </a:solidFill>
                <a:latin typeface="+mn-lt"/>
                <a:ea typeface="+mn-ea"/>
                <a:cs typeface="+mn-cs"/>
              </a:defRPr>
            </a:lvl7pPr>
            <a:lvl8pPr marL="3352739" algn="l" defTabSz="957925" rtl="0" eaLnBrk="1" latinLnBrk="0" hangingPunct="1">
              <a:defRPr sz="1900" kern="1200">
                <a:solidFill>
                  <a:schemeClr val="lt1"/>
                </a:solidFill>
                <a:latin typeface="+mn-lt"/>
                <a:ea typeface="+mn-ea"/>
                <a:cs typeface="+mn-cs"/>
              </a:defRPr>
            </a:lvl8pPr>
            <a:lvl9pPr marL="3831702" algn="l" defTabSz="957925" rtl="0" eaLnBrk="1" latinLnBrk="0" hangingPunct="1">
              <a:defRPr sz="1900" kern="1200">
                <a:solidFill>
                  <a:schemeClr val="lt1"/>
                </a:solidFill>
                <a:latin typeface="+mn-lt"/>
                <a:ea typeface="+mn-ea"/>
                <a:cs typeface="+mn-cs"/>
              </a:defRPr>
            </a:lvl9pPr>
          </a:lstStyle>
          <a:p>
            <a:pPr algn="ctr">
              <a:lnSpc>
                <a:spcPct val="90000"/>
              </a:lnSpc>
              <a:spcBef>
                <a:spcPts val="900"/>
              </a:spcBef>
            </a:pPr>
            <a:r>
              <a:rPr lang="en-US" altLang="zh-CN" sz="1600" dirty="0" smtClean="0">
                <a:solidFill>
                  <a:schemeClr val="bg1">
                    <a:lumMod val="50000"/>
                  </a:schemeClr>
                </a:solidFill>
                <a:latin typeface="Times New Roman" panose="02020603050405020304" pitchFamily="18" charset="0"/>
                <a:cs typeface="Times New Roman" panose="02020603050405020304" pitchFamily="18" charset="0"/>
              </a:rPr>
              <a:t>Conclusions</a:t>
            </a:r>
          </a:p>
        </p:txBody>
      </p:sp>
    </p:spTree>
    <p:extLst>
      <p:ext uri="{BB962C8B-B14F-4D97-AF65-F5344CB8AC3E}">
        <p14:creationId xmlns:p14="http://schemas.microsoft.com/office/powerpoint/2010/main" val="160764067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Lst>
  <p:timing>
    <p:tnLst>
      <p:par>
        <p:cTn id="1" dur="indefinite" restart="never" nodeType="tmRoot"/>
      </p:par>
    </p:tnLst>
  </p:timing>
  <p:hf sldNum="0" hdr="0" ftr="0" dt="0"/>
  <p:txStyles>
    <p:titleStyle>
      <a:lvl1pPr marL="0" indent="0" algn="l" defTabSz="957984"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mj-ea"/>
          <a:cs typeface="Arial" pitchFamily="34" charset="0"/>
        </a:defRPr>
      </a:lvl1pPr>
    </p:titleStyle>
    <p:bodyStyle>
      <a:lvl1pPr marL="188580" indent="-188580" algn="l" defTabSz="957984" rtl="0" eaLnBrk="1" latinLnBrk="0" hangingPunct="1">
        <a:lnSpc>
          <a:spcPct val="90000"/>
        </a:lnSpc>
        <a:spcBef>
          <a:spcPts val="1467"/>
        </a:spcBef>
        <a:buClr>
          <a:schemeClr val="bg2"/>
        </a:buClr>
        <a:buSzPct val="100000"/>
        <a:buFont typeface="Arial" pitchFamily="34" charset="0"/>
        <a:buChar char="■"/>
        <a:defRPr sz="1700" kern="1200">
          <a:solidFill>
            <a:schemeClr val="tx1"/>
          </a:solidFill>
          <a:latin typeface="Palatino Linotype" panose="02040502050505030304" pitchFamily="18" charset="0"/>
          <a:ea typeface="+mn-ea"/>
          <a:cs typeface="Arial" pitchFamily="34" charset="0"/>
        </a:defRPr>
      </a:lvl1pPr>
      <a:lvl2pPr marL="325715" indent="-134119" algn="l" defTabSz="957984" rtl="0" eaLnBrk="1" latinLnBrk="0" hangingPunct="1">
        <a:lnSpc>
          <a:spcPct val="90000"/>
        </a:lnSpc>
        <a:spcBef>
          <a:spcPts val="943"/>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2pPr>
      <a:lvl3pPr marL="512937" indent="-188580" algn="l" defTabSz="957984" rtl="0" eaLnBrk="1" latinLnBrk="0" hangingPunct="1">
        <a:lnSpc>
          <a:spcPct val="90000"/>
        </a:lnSpc>
        <a:spcBef>
          <a:spcPts val="629"/>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3pPr>
      <a:lvl4pPr marL="663800" indent="-143698" algn="l" defTabSz="957984" rtl="0" eaLnBrk="1" latinLnBrk="0" hangingPunct="1">
        <a:lnSpc>
          <a:spcPct val="90000"/>
        </a:lnSpc>
        <a:spcBef>
          <a:spcPts val="210"/>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4pPr>
      <a:lvl5pPr marL="807121" indent="-143321" algn="l" defTabSz="957984" rtl="0" eaLnBrk="1" latinLnBrk="0" hangingPunct="1">
        <a:lnSpc>
          <a:spcPct val="90000"/>
        </a:lnSpc>
        <a:spcBef>
          <a:spcPts val="105"/>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5pPr>
      <a:lvl6pPr marL="2634458"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13451"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92442"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71435"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en-US"/>
      </a:defPPr>
      <a:lvl1pPr marL="0" algn="l" defTabSz="957984" rtl="0" eaLnBrk="1" latinLnBrk="0" hangingPunct="1">
        <a:defRPr sz="1900" kern="1200">
          <a:solidFill>
            <a:schemeClr val="tx1"/>
          </a:solidFill>
          <a:latin typeface="+mn-lt"/>
          <a:ea typeface="+mn-ea"/>
          <a:cs typeface="+mn-cs"/>
        </a:defRPr>
      </a:lvl1pPr>
      <a:lvl2pPr marL="478993" algn="l" defTabSz="957984" rtl="0" eaLnBrk="1" latinLnBrk="0" hangingPunct="1">
        <a:defRPr sz="1900" kern="1200">
          <a:solidFill>
            <a:schemeClr val="tx1"/>
          </a:solidFill>
          <a:latin typeface="+mn-lt"/>
          <a:ea typeface="+mn-ea"/>
          <a:cs typeface="+mn-cs"/>
        </a:defRPr>
      </a:lvl2pPr>
      <a:lvl3pPr marL="957984" algn="l" defTabSz="957984" rtl="0" eaLnBrk="1" latinLnBrk="0" hangingPunct="1">
        <a:defRPr sz="1900" kern="1200">
          <a:solidFill>
            <a:schemeClr val="tx1"/>
          </a:solidFill>
          <a:latin typeface="+mn-lt"/>
          <a:ea typeface="+mn-ea"/>
          <a:cs typeface="+mn-cs"/>
        </a:defRPr>
      </a:lvl3pPr>
      <a:lvl4pPr marL="1436977" algn="l" defTabSz="957984" rtl="0" eaLnBrk="1" latinLnBrk="0" hangingPunct="1">
        <a:defRPr sz="1900" kern="1200">
          <a:solidFill>
            <a:schemeClr val="tx1"/>
          </a:solidFill>
          <a:latin typeface="+mn-lt"/>
          <a:ea typeface="+mn-ea"/>
          <a:cs typeface="+mn-cs"/>
        </a:defRPr>
      </a:lvl4pPr>
      <a:lvl5pPr marL="1915969" algn="l" defTabSz="957984" rtl="0" eaLnBrk="1" latinLnBrk="0" hangingPunct="1">
        <a:defRPr sz="1900" kern="1200">
          <a:solidFill>
            <a:schemeClr val="tx1"/>
          </a:solidFill>
          <a:latin typeface="+mn-lt"/>
          <a:ea typeface="+mn-ea"/>
          <a:cs typeface="+mn-cs"/>
        </a:defRPr>
      </a:lvl5pPr>
      <a:lvl6pPr marL="2394962" algn="l" defTabSz="957984" rtl="0" eaLnBrk="1" latinLnBrk="0" hangingPunct="1">
        <a:defRPr sz="1900" kern="1200">
          <a:solidFill>
            <a:schemeClr val="tx1"/>
          </a:solidFill>
          <a:latin typeface="+mn-lt"/>
          <a:ea typeface="+mn-ea"/>
          <a:cs typeface="+mn-cs"/>
        </a:defRPr>
      </a:lvl6pPr>
      <a:lvl7pPr marL="2873953" algn="l" defTabSz="957984" rtl="0" eaLnBrk="1" latinLnBrk="0" hangingPunct="1">
        <a:defRPr sz="1900" kern="1200">
          <a:solidFill>
            <a:schemeClr val="tx1"/>
          </a:solidFill>
          <a:latin typeface="+mn-lt"/>
          <a:ea typeface="+mn-ea"/>
          <a:cs typeface="+mn-cs"/>
        </a:defRPr>
      </a:lvl7pPr>
      <a:lvl8pPr marL="3352947" algn="l" defTabSz="957984" rtl="0" eaLnBrk="1" latinLnBrk="0" hangingPunct="1">
        <a:defRPr sz="1900" kern="1200">
          <a:solidFill>
            <a:schemeClr val="tx1"/>
          </a:solidFill>
          <a:latin typeface="+mn-lt"/>
          <a:ea typeface="+mn-ea"/>
          <a:cs typeface="+mn-cs"/>
        </a:defRPr>
      </a:lvl8pPr>
      <a:lvl9pPr marL="3831939" algn="l" defTabSz="957984"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5"/>
            </p:custDataLst>
            <p:extLst/>
          </p:nvPr>
        </p:nvGraphicFramePr>
        <p:xfrm>
          <a:off x="1723" y="1593"/>
          <a:ext cx="1719" cy="1587"/>
        </p:xfrm>
        <a:graphic>
          <a:graphicData uri="http://schemas.openxmlformats.org/presentationml/2006/ole">
            <mc:AlternateContent xmlns:mc="http://schemas.openxmlformats.org/markup-compatibility/2006">
              <mc:Choice xmlns:v="urn:schemas-microsoft-com:vml" Requires="v">
                <p:oleObj spid="_x0000_s35039" name="think-cell Slide" r:id="rId6" imgW="270" imgH="270" progId="TCLayout.ActiveDocument.1">
                  <p:embed/>
                </p:oleObj>
              </mc:Choice>
              <mc:Fallback>
                <p:oleObj name="think-cell Slide" r:id="rId6" imgW="270" imgH="270" progId="TCLayout.ActiveDocument.1">
                  <p:embed/>
                  <p:pic>
                    <p:nvPicPr>
                      <p:cNvPr id="4" name="Object 3" hidden="1"/>
                      <p:cNvPicPr/>
                      <p:nvPr/>
                    </p:nvPicPr>
                    <p:blipFill>
                      <a:blip r:embed="rId7"/>
                      <a:stretch>
                        <a:fillRect/>
                      </a:stretch>
                    </p:blipFill>
                    <p:spPr>
                      <a:xfrm>
                        <a:off x="1723" y="1593"/>
                        <a:ext cx="1719" cy="1587"/>
                      </a:xfrm>
                      <a:prstGeom prst="rect">
                        <a:avLst/>
                      </a:prstGeom>
                    </p:spPr>
                  </p:pic>
                </p:oleObj>
              </mc:Fallback>
            </mc:AlternateContent>
          </a:graphicData>
        </a:graphic>
      </p:graphicFrame>
      <p:sp>
        <p:nvSpPr>
          <p:cNvPr id="15" name="TextBox 14"/>
          <p:cNvSpPr txBox="1"/>
          <p:nvPr/>
        </p:nvSpPr>
        <p:spPr>
          <a:xfrm>
            <a:off x="9360551" y="6596788"/>
            <a:ext cx="287228" cy="138531"/>
          </a:xfrm>
          <a:prstGeom prst="rect">
            <a:avLst/>
          </a:prstGeom>
          <a:noFill/>
          <a:ln w="6350">
            <a:noFill/>
            <a:miter lim="800000"/>
          </a:ln>
        </p:spPr>
        <p:txBody>
          <a:bodyPr wrap="none" lIns="0" tIns="0" rIns="0" bIns="0" rtlCol="0" anchor="b" anchorCtr="0">
            <a:noAutofit/>
          </a:bodyPr>
          <a:lstStyle/>
          <a:p>
            <a:pPr algn="r"/>
            <a:fld id="{6CE8C368-3382-4C28-AE75-DF7C05ACA19D}" type="slidenum">
              <a:rPr lang="en-US" sz="900">
                <a:solidFill>
                  <a:srgbClr val="ADABA1"/>
                </a:solidFill>
              </a:rPr>
              <a:pPr algn="r"/>
              <a:t>‹#›</a:t>
            </a:fld>
            <a:endParaRPr lang="en-US" sz="900" dirty="0">
              <a:solidFill>
                <a:srgbClr val="ADABA1"/>
              </a:solidFill>
            </a:endParaRPr>
          </a:p>
        </p:txBody>
      </p:sp>
      <p:sp>
        <p:nvSpPr>
          <p:cNvPr id="19" name="Rectangle 27"/>
          <p:cNvSpPr>
            <a:spLocks noGrp="1" noChangeArrowheads="1"/>
          </p:cNvSpPr>
          <p:nvPr>
            <p:ph type="dt" sz="half" idx="2"/>
          </p:nvPr>
        </p:nvSpPr>
        <p:spPr bwMode="auto">
          <a:xfrm>
            <a:off x="4704598" y="6505766"/>
            <a:ext cx="495221" cy="165138"/>
          </a:xfrm>
          <a:prstGeom prst="rect">
            <a:avLst/>
          </a:prstGeom>
          <a:noFill/>
          <a:ln>
            <a:noFill/>
          </a:ln>
          <a:effectLst/>
        </p:spPr>
        <p:txBody>
          <a:bodyPr vert="horz" wrap="square" lIns="95793" tIns="47896" rIns="95793" bIns="47896" numCol="1" anchor="t" anchorCtr="0" compatLnSpc="1">
            <a:prstTxWarp prst="textNoShape">
              <a:avLst/>
            </a:prstTxWarp>
          </a:bodyPr>
          <a:lstStyle>
            <a:lvl1pPr algn="ctr" eaLnBrk="0" hangingPunct="0">
              <a:spcBef>
                <a:spcPct val="20000"/>
              </a:spcBef>
              <a:buClr>
                <a:schemeClr val="accent1"/>
              </a:buClr>
              <a:buSzPct val="85000"/>
              <a:buFontTx/>
              <a:buChar char="-"/>
              <a:defRPr sz="800" b="0" smtClean="0">
                <a:solidFill>
                  <a:srgbClr val="937632"/>
                </a:solidFill>
              </a:defRPr>
            </a:lvl1pPr>
          </a:lstStyle>
          <a:p>
            <a:pPr>
              <a:defRPr/>
            </a:pPr>
            <a:r>
              <a:rPr lang="en-US" altLang="zh-CN"/>
              <a:t>- </a:t>
            </a:r>
            <a:fld id="{D196C2D1-191C-4448-BECC-17644327C254}" type="slidenum">
              <a:rPr lang="en-US" altLang="zh-CN"/>
              <a:pPr>
                <a:defRPr/>
              </a:pPr>
              <a:t>‹#›</a:t>
            </a:fld>
            <a:r>
              <a:rPr lang="en-US" altLang="zh-CN"/>
              <a:t> -</a:t>
            </a:r>
          </a:p>
        </p:txBody>
      </p:sp>
      <p:sp>
        <p:nvSpPr>
          <p:cNvPr id="2" name="矩形 1"/>
          <p:cNvSpPr/>
          <p:nvPr userDrawn="1"/>
        </p:nvSpPr>
        <p:spPr>
          <a:xfrm>
            <a:off x="2" y="304800"/>
            <a:ext cx="9904413" cy="532706"/>
          </a:xfrm>
          <a:prstGeom prst="rect">
            <a:avLst/>
          </a:prstGeom>
          <a:solidFill>
            <a:srgbClr val="9B1717"/>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endParaRPr lang="zh-CN" altLang="en-US" sz="1400" dirty="0" err="1" smtClean="0">
              <a:solidFill>
                <a:schemeClr val="bg1"/>
              </a:solidFill>
              <a:latin typeface="Arial" pitchFamily="34" charset="0"/>
              <a:cs typeface="Arial" pitchFamily="34" charset="0"/>
            </a:endParaRPr>
          </a:p>
        </p:txBody>
      </p:sp>
      <p:sp>
        <p:nvSpPr>
          <p:cNvPr id="11" name="矩形 10"/>
          <p:cNvSpPr/>
          <p:nvPr userDrawn="1"/>
        </p:nvSpPr>
        <p:spPr>
          <a:xfrm>
            <a:off x="3176" y="0"/>
            <a:ext cx="2932806" cy="304800"/>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r>
              <a:rPr lang="en-US" altLang="zh-CN" sz="1600" dirty="0" smtClean="0">
                <a:solidFill>
                  <a:schemeClr val="accent4"/>
                </a:solidFill>
                <a:latin typeface="Times New Roman" panose="02020603050405020304" pitchFamily="18" charset="0"/>
                <a:cs typeface="Times New Roman" panose="02020603050405020304" pitchFamily="18" charset="0"/>
              </a:rPr>
              <a:t>Introduction</a:t>
            </a:r>
            <a:endParaRPr lang="zh-CN" altLang="en-US" sz="1600" dirty="0" err="1" smtClean="0">
              <a:solidFill>
                <a:schemeClr val="accent4"/>
              </a:solidFill>
              <a:latin typeface="Times New Roman" panose="02020603050405020304" pitchFamily="18" charset="0"/>
              <a:cs typeface="Times New Roman" panose="02020603050405020304" pitchFamily="18" charset="0"/>
            </a:endParaRPr>
          </a:p>
        </p:txBody>
      </p:sp>
      <p:sp>
        <p:nvSpPr>
          <p:cNvPr id="12" name="矩形 11"/>
          <p:cNvSpPr/>
          <p:nvPr userDrawn="1"/>
        </p:nvSpPr>
        <p:spPr>
          <a:xfrm>
            <a:off x="2952170" y="-8911"/>
            <a:ext cx="2343891" cy="313711"/>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r>
              <a:rPr lang="en-US" altLang="zh-CN" sz="1600" dirty="0" smtClean="0">
                <a:solidFill>
                  <a:schemeClr val="bg1">
                    <a:lumMod val="50000"/>
                  </a:schemeClr>
                </a:solidFill>
                <a:latin typeface="Times New Roman" panose="02020603050405020304" pitchFamily="18" charset="0"/>
                <a:cs typeface="Times New Roman" panose="02020603050405020304" pitchFamily="18" charset="0"/>
              </a:rPr>
              <a:t>Hypothesis</a:t>
            </a:r>
            <a:endParaRPr lang="zh-CN" altLang="en-US" sz="1600" dirty="0" err="1" smtClean="0">
              <a:solidFill>
                <a:schemeClr val="bg1">
                  <a:lumMod val="50000"/>
                </a:schemeClr>
              </a:solidFill>
              <a:latin typeface="Times New Roman" panose="02020603050405020304" pitchFamily="18" charset="0"/>
              <a:cs typeface="Times New Roman" panose="02020603050405020304" pitchFamily="18" charset="0"/>
            </a:endParaRPr>
          </a:p>
        </p:txBody>
      </p:sp>
      <p:sp>
        <p:nvSpPr>
          <p:cNvPr id="13" name="矩形 12"/>
          <p:cNvSpPr/>
          <p:nvPr userDrawn="1"/>
        </p:nvSpPr>
        <p:spPr>
          <a:xfrm>
            <a:off x="5312247" y="3176"/>
            <a:ext cx="2520278" cy="303690"/>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73152" rIns="73152" bIns="73152" numCol="1" spcCol="0" rtlCol="0" fromWordArt="0" anchor="ctr" anchorCtr="0" forceAA="0" compatLnSpc="1">
            <a:prstTxWarp prst="textNoShape">
              <a:avLst/>
            </a:prstTxWarp>
            <a:noAutofit/>
          </a:bodyPr>
          <a:lstStyle>
            <a:defPPr>
              <a:defRPr lang="de-DE"/>
            </a:defPPr>
            <a:lvl1pPr marL="0" algn="l" defTabSz="957925" rtl="0" eaLnBrk="1" latinLnBrk="0" hangingPunct="1">
              <a:defRPr sz="1900" kern="1200">
                <a:solidFill>
                  <a:schemeClr val="lt1"/>
                </a:solidFill>
                <a:latin typeface="+mn-lt"/>
                <a:ea typeface="+mn-ea"/>
                <a:cs typeface="+mn-cs"/>
              </a:defRPr>
            </a:lvl1pPr>
            <a:lvl2pPr marL="478963" algn="l" defTabSz="957925" rtl="0" eaLnBrk="1" latinLnBrk="0" hangingPunct="1">
              <a:defRPr sz="1900" kern="1200">
                <a:solidFill>
                  <a:schemeClr val="lt1"/>
                </a:solidFill>
                <a:latin typeface="+mn-lt"/>
                <a:ea typeface="+mn-ea"/>
                <a:cs typeface="+mn-cs"/>
              </a:defRPr>
            </a:lvl2pPr>
            <a:lvl3pPr marL="957925" algn="l" defTabSz="957925" rtl="0" eaLnBrk="1" latinLnBrk="0" hangingPunct="1">
              <a:defRPr sz="1900" kern="1200">
                <a:solidFill>
                  <a:schemeClr val="lt1"/>
                </a:solidFill>
                <a:latin typeface="+mn-lt"/>
                <a:ea typeface="+mn-ea"/>
                <a:cs typeface="+mn-cs"/>
              </a:defRPr>
            </a:lvl3pPr>
            <a:lvl4pPr marL="1436888" algn="l" defTabSz="957925" rtl="0" eaLnBrk="1" latinLnBrk="0" hangingPunct="1">
              <a:defRPr sz="1900" kern="1200">
                <a:solidFill>
                  <a:schemeClr val="lt1"/>
                </a:solidFill>
                <a:latin typeface="+mn-lt"/>
                <a:ea typeface="+mn-ea"/>
                <a:cs typeface="+mn-cs"/>
              </a:defRPr>
            </a:lvl4pPr>
            <a:lvl5pPr marL="1915851" algn="l" defTabSz="957925" rtl="0" eaLnBrk="1" latinLnBrk="0" hangingPunct="1">
              <a:defRPr sz="1900" kern="1200">
                <a:solidFill>
                  <a:schemeClr val="lt1"/>
                </a:solidFill>
                <a:latin typeface="+mn-lt"/>
                <a:ea typeface="+mn-ea"/>
                <a:cs typeface="+mn-cs"/>
              </a:defRPr>
            </a:lvl5pPr>
            <a:lvl6pPr marL="2394814" algn="l" defTabSz="957925" rtl="0" eaLnBrk="1" latinLnBrk="0" hangingPunct="1">
              <a:defRPr sz="1900" kern="1200">
                <a:solidFill>
                  <a:schemeClr val="lt1"/>
                </a:solidFill>
                <a:latin typeface="+mn-lt"/>
                <a:ea typeface="+mn-ea"/>
                <a:cs typeface="+mn-cs"/>
              </a:defRPr>
            </a:lvl6pPr>
            <a:lvl7pPr marL="2873776" algn="l" defTabSz="957925" rtl="0" eaLnBrk="1" latinLnBrk="0" hangingPunct="1">
              <a:defRPr sz="1900" kern="1200">
                <a:solidFill>
                  <a:schemeClr val="lt1"/>
                </a:solidFill>
                <a:latin typeface="+mn-lt"/>
                <a:ea typeface="+mn-ea"/>
                <a:cs typeface="+mn-cs"/>
              </a:defRPr>
            </a:lvl7pPr>
            <a:lvl8pPr marL="3352739" algn="l" defTabSz="957925" rtl="0" eaLnBrk="1" latinLnBrk="0" hangingPunct="1">
              <a:defRPr sz="1900" kern="1200">
                <a:solidFill>
                  <a:schemeClr val="lt1"/>
                </a:solidFill>
                <a:latin typeface="+mn-lt"/>
                <a:ea typeface="+mn-ea"/>
                <a:cs typeface="+mn-cs"/>
              </a:defRPr>
            </a:lvl8pPr>
            <a:lvl9pPr marL="3831702" algn="l" defTabSz="957925" rtl="0" eaLnBrk="1" latinLnBrk="0" hangingPunct="1">
              <a:defRPr sz="1900" kern="1200">
                <a:solidFill>
                  <a:schemeClr val="lt1"/>
                </a:solidFill>
                <a:latin typeface="+mn-lt"/>
                <a:ea typeface="+mn-ea"/>
                <a:cs typeface="+mn-cs"/>
              </a:defRPr>
            </a:lvl9pPr>
          </a:lstStyle>
          <a:p>
            <a:pPr algn="ctr">
              <a:lnSpc>
                <a:spcPct val="90000"/>
              </a:lnSpc>
              <a:spcBef>
                <a:spcPts val="900"/>
              </a:spcBef>
            </a:pPr>
            <a:r>
              <a:rPr lang="en-US" altLang="zh-CN" sz="1600" dirty="0" smtClean="0">
                <a:solidFill>
                  <a:schemeClr val="bg2"/>
                </a:solidFill>
                <a:latin typeface="Times New Roman" panose="02020603050405020304" pitchFamily="18" charset="0"/>
                <a:cs typeface="Times New Roman" panose="02020603050405020304" pitchFamily="18" charset="0"/>
              </a:rPr>
              <a:t>Empirical</a:t>
            </a:r>
            <a:r>
              <a:rPr lang="en-US" altLang="zh-CN" sz="1600" baseline="0" dirty="0" smtClean="0">
                <a:solidFill>
                  <a:schemeClr val="bg2"/>
                </a:solidFill>
                <a:latin typeface="Times New Roman" panose="02020603050405020304" pitchFamily="18" charset="0"/>
                <a:cs typeface="Times New Roman" panose="02020603050405020304" pitchFamily="18" charset="0"/>
              </a:rPr>
              <a:t> Analysis</a:t>
            </a:r>
            <a:endParaRPr lang="en-US" altLang="zh-CN" sz="1600" dirty="0" smtClean="0">
              <a:solidFill>
                <a:schemeClr val="bg2"/>
              </a:solidFill>
              <a:latin typeface="Times New Roman" panose="02020603050405020304" pitchFamily="18" charset="0"/>
              <a:cs typeface="Times New Roman" panose="02020603050405020304" pitchFamily="18" charset="0"/>
            </a:endParaRPr>
          </a:p>
        </p:txBody>
      </p:sp>
      <p:sp>
        <p:nvSpPr>
          <p:cNvPr id="16" name="矩形 15"/>
          <p:cNvSpPr/>
          <p:nvPr userDrawn="1"/>
        </p:nvSpPr>
        <p:spPr>
          <a:xfrm>
            <a:off x="7848713" y="-8911"/>
            <a:ext cx="2055700" cy="313711"/>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73152" rIns="73152" bIns="73152" numCol="1" spcCol="0" rtlCol="0" fromWordArt="0" anchor="ctr" anchorCtr="0" forceAA="0" compatLnSpc="1">
            <a:prstTxWarp prst="textNoShape">
              <a:avLst/>
            </a:prstTxWarp>
            <a:noAutofit/>
          </a:bodyPr>
          <a:lstStyle>
            <a:defPPr>
              <a:defRPr lang="de-DE"/>
            </a:defPPr>
            <a:lvl1pPr marL="0" algn="l" defTabSz="957925" rtl="0" eaLnBrk="1" latinLnBrk="0" hangingPunct="1">
              <a:defRPr sz="1900" kern="1200">
                <a:solidFill>
                  <a:schemeClr val="lt1"/>
                </a:solidFill>
                <a:latin typeface="+mn-lt"/>
                <a:ea typeface="+mn-ea"/>
                <a:cs typeface="+mn-cs"/>
              </a:defRPr>
            </a:lvl1pPr>
            <a:lvl2pPr marL="478963" algn="l" defTabSz="957925" rtl="0" eaLnBrk="1" latinLnBrk="0" hangingPunct="1">
              <a:defRPr sz="1900" kern="1200">
                <a:solidFill>
                  <a:schemeClr val="lt1"/>
                </a:solidFill>
                <a:latin typeface="+mn-lt"/>
                <a:ea typeface="+mn-ea"/>
                <a:cs typeface="+mn-cs"/>
              </a:defRPr>
            </a:lvl2pPr>
            <a:lvl3pPr marL="957925" algn="l" defTabSz="957925" rtl="0" eaLnBrk="1" latinLnBrk="0" hangingPunct="1">
              <a:defRPr sz="1900" kern="1200">
                <a:solidFill>
                  <a:schemeClr val="lt1"/>
                </a:solidFill>
                <a:latin typeface="+mn-lt"/>
                <a:ea typeface="+mn-ea"/>
                <a:cs typeface="+mn-cs"/>
              </a:defRPr>
            </a:lvl3pPr>
            <a:lvl4pPr marL="1436888" algn="l" defTabSz="957925" rtl="0" eaLnBrk="1" latinLnBrk="0" hangingPunct="1">
              <a:defRPr sz="1900" kern="1200">
                <a:solidFill>
                  <a:schemeClr val="lt1"/>
                </a:solidFill>
                <a:latin typeface="+mn-lt"/>
                <a:ea typeface="+mn-ea"/>
                <a:cs typeface="+mn-cs"/>
              </a:defRPr>
            </a:lvl4pPr>
            <a:lvl5pPr marL="1915851" algn="l" defTabSz="957925" rtl="0" eaLnBrk="1" latinLnBrk="0" hangingPunct="1">
              <a:defRPr sz="1900" kern="1200">
                <a:solidFill>
                  <a:schemeClr val="lt1"/>
                </a:solidFill>
                <a:latin typeface="+mn-lt"/>
                <a:ea typeface="+mn-ea"/>
                <a:cs typeface="+mn-cs"/>
              </a:defRPr>
            </a:lvl5pPr>
            <a:lvl6pPr marL="2394814" algn="l" defTabSz="957925" rtl="0" eaLnBrk="1" latinLnBrk="0" hangingPunct="1">
              <a:defRPr sz="1900" kern="1200">
                <a:solidFill>
                  <a:schemeClr val="lt1"/>
                </a:solidFill>
                <a:latin typeface="+mn-lt"/>
                <a:ea typeface="+mn-ea"/>
                <a:cs typeface="+mn-cs"/>
              </a:defRPr>
            </a:lvl6pPr>
            <a:lvl7pPr marL="2873776" algn="l" defTabSz="957925" rtl="0" eaLnBrk="1" latinLnBrk="0" hangingPunct="1">
              <a:defRPr sz="1900" kern="1200">
                <a:solidFill>
                  <a:schemeClr val="lt1"/>
                </a:solidFill>
                <a:latin typeface="+mn-lt"/>
                <a:ea typeface="+mn-ea"/>
                <a:cs typeface="+mn-cs"/>
              </a:defRPr>
            </a:lvl7pPr>
            <a:lvl8pPr marL="3352739" algn="l" defTabSz="957925" rtl="0" eaLnBrk="1" latinLnBrk="0" hangingPunct="1">
              <a:defRPr sz="1900" kern="1200">
                <a:solidFill>
                  <a:schemeClr val="lt1"/>
                </a:solidFill>
                <a:latin typeface="+mn-lt"/>
                <a:ea typeface="+mn-ea"/>
                <a:cs typeface="+mn-cs"/>
              </a:defRPr>
            </a:lvl8pPr>
            <a:lvl9pPr marL="3831702" algn="l" defTabSz="957925" rtl="0" eaLnBrk="1" latinLnBrk="0" hangingPunct="1">
              <a:defRPr sz="1900" kern="1200">
                <a:solidFill>
                  <a:schemeClr val="lt1"/>
                </a:solidFill>
                <a:latin typeface="+mn-lt"/>
                <a:ea typeface="+mn-ea"/>
                <a:cs typeface="+mn-cs"/>
              </a:defRPr>
            </a:lvl9pPr>
          </a:lstStyle>
          <a:p>
            <a:pPr algn="ctr">
              <a:lnSpc>
                <a:spcPct val="90000"/>
              </a:lnSpc>
              <a:spcBef>
                <a:spcPts val="900"/>
              </a:spcBef>
            </a:pPr>
            <a:r>
              <a:rPr lang="en-US" altLang="zh-CN" sz="1600" dirty="0" smtClean="0">
                <a:solidFill>
                  <a:schemeClr val="bg1">
                    <a:lumMod val="50000"/>
                  </a:schemeClr>
                </a:solidFill>
                <a:latin typeface="Times New Roman" panose="02020603050405020304" pitchFamily="18" charset="0"/>
                <a:cs typeface="Times New Roman" panose="02020603050405020304" pitchFamily="18" charset="0"/>
              </a:rPr>
              <a:t>Conclusions</a:t>
            </a:r>
          </a:p>
        </p:txBody>
      </p:sp>
    </p:spTree>
    <p:extLst>
      <p:ext uri="{BB962C8B-B14F-4D97-AF65-F5344CB8AC3E}">
        <p14:creationId xmlns:p14="http://schemas.microsoft.com/office/powerpoint/2010/main" val="1467870568"/>
      </p:ext>
    </p:extLst>
  </p:cSld>
  <p:clrMap bg1="lt1" tx1="dk1" bg2="lt2" tx2="dk2" accent1="accent1" accent2="accent2" accent3="accent3" accent4="accent4" accent5="accent5" accent6="accent6" hlink="hlink" folHlink="folHlink"/>
  <p:sldLayoutIdLst>
    <p:sldLayoutId id="2147483705" r:id="rId1"/>
    <p:sldLayoutId id="2147483706" r:id="rId2"/>
  </p:sldLayoutIdLst>
  <p:timing>
    <p:tnLst>
      <p:par>
        <p:cTn id="1" dur="indefinite" restart="never" nodeType="tmRoot"/>
      </p:par>
    </p:tnLst>
  </p:timing>
  <p:hf sldNum="0" hdr="0" ftr="0" dt="0"/>
  <p:txStyles>
    <p:titleStyle>
      <a:lvl1pPr marL="0" indent="0" algn="l" defTabSz="957984"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mj-ea"/>
          <a:cs typeface="Arial" pitchFamily="34" charset="0"/>
        </a:defRPr>
      </a:lvl1pPr>
    </p:titleStyle>
    <p:bodyStyle>
      <a:lvl1pPr marL="188580" indent="-188580" algn="l" defTabSz="957984" rtl="0" eaLnBrk="1" latinLnBrk="0" hangingPunct="1">
        <a:lnSpc>
          <a:spcPct val="90000"/>
        </a:lnSpc>
        <a:spcBef>
          <a:spcPts val="1467"/>
        </a:spcBef>
        <a:buClr>
          <a:schemeClr val="bg2"/>
        </a:buClr>
        <a:buSzPct val="100000"/>
        <a:buFont typeface="Arial" pitchFamily="34" charset="0"/>
        <a:buChar char="■"/>
        <a:defRPr sz="1700" kern="1200">
          <a:solidFill>
            <a:schemeClr val="tx1"/>
          </a:solidFill>
          <a:latin typeface="Palatino Linotype" panose="02040502050505030304" pitchFamily="18" charset="0"/>
          <a:ea typeface="+mn-ea"/>
          <a:cs typeface="Arial" pitchFamily="34" charset="0"/>
        </a:defRPr>
      </a:lvl1pPr>
      <a:lvl2pPr marL="325715" indent="-134119" algn="l" defTabSz="957984" rtl="0" eaLnBrk="1" latinLnBrk="0" hangingPunct="1">
        <a:lnSpc>
          <a:spcPct val="90000"/>
        </a:lnSpc>
        <a:spcBef>
          <a:spcPts val="943"/>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2pPr>
      <a:lvl3pPr marL="512937" indent="-188580" algn="l" defTabSz="957984" rtl="0" eaLnBrk="1" latinLnBrk="0" hangingPunct="1">
        <a:lnSpc>
          <a:spcPct val="90000"/>
        </a:lnSpc>
        <a:spcBef>
          <a:spcPts val="629"/>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3pPr>
      <a:lvl4pPr marL="663800" indent="-143698" algn="l" defTabSz="957984" rtl="0" eaLnBrk="1" latinLnBrk="0" hangingPunct="1">
        <a:lnSpc>
          <a:spcPct val="90000"/>
        </a:lnSpc>
        <a:spcBef>
          <a:spcPts val="210"/>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4pPr>
      <a:lvl5pPr marL="807121" indent="-143321" algn="l" defTabSz="957984" rtl="0" eaLnBrk="1" latinLnBrk="0" hangingPunct="1">
        <a:lnSpc>
          <a:spcPct val="90000"/>
        </a:lnSpc>
        <a:spcBef>
          <a:spcPts val="105"/>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5pPr>
      <a:lvl6pPr marL="2634458"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13451"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92442"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71435"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en-US"/>
      </a:defPPr>
      <a:lvl1pPr marL="0" algn="l" defTabSz="957984" rtl="0" eaLnBrk="1" latinLnBrk="0" hangingPunct="1">
        <a:defRPr sz="1900" kern="1200">
          <a:solidFill>
            <a:schemeClr val="tx1"/>
          </a:solidFill>
          <a:latin typeface="+mn-lt"/>
          <a:ea typeface="+mn-ea"/>
          <a:cs typeface="+mn-cs"/>
        </a:defRPr>
      </a:lvl1pPr>
      <a:lvl2pPr marL="478993" algn="l" defTabSz="957984" rtl="0" eaLnBrk="1" latinLnBrk="0" hangingPunct="1">
        <a:defRPr sz="1900" kern="1200">
          <a:solidFill>
            <a:schemeClr val="tx1"/>
          </a:solidFill>
          <a:latin typeface="+mn-lt"/>
          <a:ea typeface="+mn-ea"/>
          <a:cs typeface="+mn-cs"/>
        </a:defRPr>
      </a:lvl2pPr>
      <a:lvl3pPr marL="957984" algn="l" defTabSz="957984" rtl="0" eaLnBrk="1" latinLnBrk="0" hangingPunct="1">
        <a:defRPr sz="1900" kern="1200">
          <a:solidFill>
            <a:schemeClr val="tx1"/>
          </a:solidFill>
          <a:latin typeface="+mn-lt"/>
          <a:ea typeface="+mn-ea"/>
          <a:cs typeface="+mn-cs"/>
        </a:defRPr>
      </a:lvl3pPr>
      <a:lvl4pPr marL="1436977" algn="l" defTabSz="957984" rtl="0" eaLnBrk="1" latinLnBrk="0" hangingPunct="1">
        <a:defRPr sz="1900" kern="1200">
          <a:solidFill>
            <a:schemeClr val="tx1"/>
          </a:solidFill>
          <a:latin typeface="+mn-lt"/>
          <a:ea typeface="+mn-ea"/>
          <a:cs typeface="+mn-cs"/>
        </a:defRPr>
      </a:lvl4pPr>
      <a:lvl5pPr marL="1915969" algn="l" defTabSz="957984" rtl="0" eaLnBrk="1" latinLnBrk="0" hangingPunct="1">
        <a:defRPr sz="1900" kern="1200">
          <a:solidFill>
            <a:schemeClr val="tx1"/>
          </a:solidFill>
          <a:latin typeface="+mn-lt"/>
          <a:ea typeface="+mn-ea"/>
          <a:cs typeface="+mn-cs"/>
        </a:defRPr>
      </a:lvl5pPr>
      <a:lvl6pPr marL="2394962" algn="l" defTabSz="957984" rtl="0" eaLnBrk="1" latinLnBrk="0" hangingPunct="1">
        <a:defRPr sz="1900" kern="1200">
          <a:solidFill>
            <a:schemeClr val="tx1"/>
          </a:solidFill>
          <a:latin typeface="+mn-lt"/>
          <a:ea typeface="+mn-ea"/>
          <a:cs typeface="+mn-cs"/>
        </a:defRPr>
      </a:lvl6pPr>
      <a:lvl7pPr marL="2873953" algn="l" defTabSz="957984" rtl="0" eaLnBrk="1" latinLnBrk="0" hangingPunct="1">
        <a:defRPr sz="1900" kern="1200">
          <a:solidFill>
            <a:schemeClr val="tx1"/>
          </a:solidFill>
          <a:latin typeface="+mn-lt"/>
          <a:ea typeface="+mn-ea"/>
          <a:cs typeface="+mn-cs"/>
        </a:defRPr>
      </a:lvl7pPr>
      <a:lvl8pPr marL="3352947" algn="l" defTabSz="957984" rtl="0" eaLnBrk="1" latinLnBrk="0" hangingPunct="1">
        <a:defRPr sz="1900" kern="1200">
          <a:solidFill>
            <a:schemeClr val="tx1"/>
          </a:solidFill>
          <a:latin typeface="+mn-lt"/>
          <a:ea typeface="+mn-ea"/>
          <a:cs typeface="+mn-cs"/>
        </a:defRPr>
      </a:lvl8pPr>
      <a:lvl9pPr marL="3831939" algn="l" defTabSz="957984" rtl="0" eaLnBrk="1" latinLnBrk="0" hangingPunct="1">
        <a:defRPr sz="19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5"/>
            </p:custDataLst>
            <p:extLst/>
          </p:nvPr>
        </p:nvGraphicFramePr>
        <p:xfrm>
          <a:off x="1723" y="1593"/>
          <a:ext cx="1719" cy="1587"/>
        </p:xfrm>
        <a:graphic>
          <a:graphicData uri="http://schemas.openxmlformats.org/presentationml/2006/ole">
            <mc:AlternateContent xmlns:mc="http://schemas.openxmlformats.org/markup-compatibility/2006">
              <mc:Choice xmlns:v="urn:schemas-microsoft-com:vml" Requires="v">
                <p:oleObj spid="_x0000_s38110" name="think-cell Slide" r:id="rId6" imgW="270" imgH="270" progId="TCLayout.ActiveDocument.1">
                  <p:embed/>
                </p:oleObj>
              </mc:Choice>
              <mc:Fallback>
                <p:oleObj name="think-cell Slide" r:id="rId6" imgW="270" imgH="270" progId="TCLayout.ActiveDocument.1">
                  <p:embed/>
                  <p:pic>
                    <p:nvPicPr>
                      <p:cNvPr id="4" name="Object 3" hidden="1"/>
                      <p:cNvPicPr/>
                      <p:nvPr/>
                    </p:nvPicPr>
                    <p:blipFill>
                      <a:blip r:embed="rId7"/>
                      <a:stretch>
                        <a:fillRect/>
                      </a:stretch>
                    </p:blipFill>
                    <p:spPr>
                      <a:xfrm>
                        <a:off x="1723" y="1593"/>
                        <a:ext cx="1719" cy="1587"/>
                      </a:xfrm>
                      <a:prstGeom prst="rect">
                        <a:avLst/>
                      </a:prstGeom>
                    </p:spPr>
                  </p:pic>
                </p:oleObj>
              </mc:Fallback>
            </mc:AlternateContent>
          </a:graphicData>
        </a:graphic>
      </p:graphicFrame>
      <p:sp>
        <p:nvSpPr>
          <p:cNvPr id="15" name="TextBox 14"/>
          <p:cNvSpPr txBox="1"/>
          <p:nvPr/>
        </p:nvSpPr>
        <p:spPr>
          <a:xfrm>
            <a:off x="9360551" y="6596788"/>
            <a:ext cx="287228" cy="138531"/>
          </a:xfrm>
          <a:prstGeom prst="rect">
            <a:avLst/>
          </a:prstGeom>
          <a:noFill/>
          <a:ln w="6350">
            <a:noFill/>
            <a:miter lim="800000"/>
          </a:ln>
        </p:spPr>
        <p:txBody>
          <a:bodyPr wrap="none" lIns="0" tIns="0" rIns="0" bIns="0" rtlCol="0" anchor="b" anchorCtr="0">
            <a:noAutofit/>
          </a:bodyPr>
          <a:lstStyle/>
          <a:p>
            <a:pPr algn="r"/>
            <a:fld id="{6CE8C368-3382-4C28-AE75-DF7C05ACA19D}" type="slidenum">
              <a:rPr lang="en-US" sz="900">
                <a:solidFill>
                  <a:srgbClr val="ADABA1"/>
                </a:solidFill>
              </a:rPr>
              <a:pPr algn="r"/>
              <a:t>‹#›</a:t>
            </a:fld>
            <a:endParaRPr lang="en-US" sz="900" dirty="0">
              <a:solidFill>
                <a:srgbClr val="ADABA1"/>
              </a:solidFill>
            </a:endParaRPr>
          </a:p>
        </p:txBody>
      </p:sp>
      <p:sp>
        <p:nvSpPr>
          <p:cNvPr id="19" name="Rectangle 27"/>
          <p:cNvSpPr>
            <a:spLocks noGrp="1" noChangeArrowheads="1"/>
          </p:cNvSpPr>
          <p:nvPr>
            <p:ph type="dt" sz="half" idx="2"/>
          </p:nvPr>
        </p:nvSpPr>
        <p:spPr bwMode="auto">
          <a:xfrm>
            <a:off x="4704598" y="6505766"/>
            <a:ext cx="495221" cy="165138"/>
          </a:xfrm>
          <a:prstGeom prst="rect">
            <a:avLst/>
          </a:prstGeom>
          <a:noFill/>
          <a:ln>
            <a:noFill/>
          </a:ln>
          <a:effectLst/>
        </p:spPr>
        <p:txBody>
          <a:bodyPr vert="horz" wrap="square" lIns="95793" tIns="47896" rIns="95793" bIns="47896" numCol="1" anchor="t" anchorCtr="0" compatLnSpc="1">
            <a:prstTxWarp prst="textNoShape">
              <a:avLst/>
            </a:prstTxWarp>
          </a:bodyPr>
          <a:lstStyle>
            <a:lvl1pPr algn="ctr" eaLnBrk="0" hangingPunct="0">
              <a:spcBef>
                <a:spcPct val="20000"/>
              </a:spcBef>
              <a:buClr>
                <a:schemeClr val="accent1"/>
              </a:buClr>
              <a:buSzPct val="85000"/>
              <a:buFontTx/>
              <a:buChar char="-"/>
              <a:defRPr sz="800" b="0" smtClean="0">
                <a:solidFill>
                  <a:srgbClr val="937632"/>
                </a:solidFill>
              </a:defRPr>
            </a:lvl1pPr>
          </a:lstStyle>
          <a:p>
            <a:pPr>
              <a:defRPr/>
            </a:pPr>
            <a:r>
              <a:rPr lang="en-US" altLang="zh-CN"/>
              <a:t>- </a:t>
            </a:r>
            <a:fld id="{D196C2D1-191C-4448-BECC-17644327C254}" type="slidenum">
              <a:rPr lang="en-US" altLang="zh-CN"/>
              <a:pPr>
                <a:defRPr/>
              </a:pPr>
              <a:t>‹#›</a:t>
            </a:fld>
            <a:r>
              <a:rPr lang="en-US" altLang="zh-CN"/>
              <a:t> -</a:t>
            </a:r>
          </a:p>
        </p:txBody>
      </p:sp>
      <p:sp>
        <p:nvSpPr>
          <p:cNvPr id="2" name="矩形 1"/>
          <p:cNvSpPr/>
          <p:nvPr userDrawn="1"/>
        </p:nvSpPr>
        <p:spPr>
          <a:xfrm>
            <a:off x="2" y="304800"/>
            <a:ext cx="9904413" cy="532706"/>
          </a:xfrm>
          <a:prstGeom prst="rect">
            <a:avLst/>
          </a:prstGeom>
          <a:solidFill>
            <a:srgbClr val="9B1717"/>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endParaRPr lang="zh-CN" altLang="en-US" sz="1400" dirty="0" err="1" smtClean="0">
              <a:solidFill>
                <a:schemeClr val="bg1"/>
              </a:solidFill>
              <a:latin typeface="Arial" pitchFamily="34" charset="0"/>
              <a:cs typeface="Arial" pitchFamily="34" charset="0"/>
            </a:endParaRPr>
          </a:p>
        </p:txBody>
      </p:sp>
      <p:sp>
        <p:nvSpPr>
          <p:cNvPr id="11" name="矩形 10"/>
          <p:cNvSpPr/>
          <p:nvPr userDrawn="1"/>
        </p:nvSpPr>
        <p:spPr>
          <a:xfrm>
            <a:off x="3176" y="0"/>
            <a:ext cx="2932806" cy="304800"/>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r>
              <a:rPr lang="en-US" altLang="zh-CN" sz="1600" dirty="0" smtClean="0">
                <a:solidFill>
                  <a:schemeClr val="accent4"/>
                </a:solidFill>
                <a:latin typeface="Times New Roman" panose="02020603050405020304" pitchFamily="18" charset="0"/>
                <a:cs typeface="Times New Roman" panose="02020603050405020304" pitchFamily="18" charset="0"/>
              </a:rPr>
              <a:t>Introduction</a:t>
            </a:r>
            <a:endParaRPr lang="zh-CN" altLang="en-US" sz="1600" dirty="0" err="1" smtClean="0">
              <a:solidFill>
                <a:schemeClr val="accent4"/>
              </a:solidFill>
              <a:latin typeface="Times New Roman" panose="02020603050405020304" pitchFamily="18" charset="0"/>
              <a:cs typeface="Times New Roman" panose="02020603050405020304" pitchFamily="18" charset="0"/>
            </a:endParaRPr>
          </a:p>
        </p:txBody>
      </p:sp>
      <p:sp>
        <p:nvSpPr>
          <p:cNvPr id="12" name="矩形 11"/>
          <p:cNvSpPr/>
          <p:nvPr userDrawn="1"/>
        </p:nvSpPr>
        <p:spPr>
          <a:xfrm>
            <a:off x="2952170" y="-8911"/>
            <a:ext cx="2343891" cy="313711"/>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r>
              <a:rPr lang="en-US" altLang="zh-CN" sz="1600" dirty="0" smtClean="0">
                <a:solidFill>
                  <a:schemeClr val="bg1">
                    <a:lumMod val="50000"/>
                  </a:schemeClr>
                </a:solidFill>
                <a:latin typeface="Times New Roman" panose="02020603050405020304" pitchFamily="18" charset="0"/>
                <a:cs typeface="Times New Roman" panose="02020603050405020304" pitchFamily="18" charset="0"/>
              </a:rPr>
              <a:t>Hypothesis</a:t>
            </a:r>
            <a:endParaRPr lang="zh-CN" altLang="en-US" sz="1600" dirty="0" err="1" smtClean="0">
              <a:solidFill>
                <a:schemeClr val="bg1">
                  <a:lumMod val="50000"/>
                </a:schemeClr>
              </a:solidFill>
              <a:latin typeface="Times New Roman" panose="02020603050405020304" pitchFamily="18" charset="0"/>
              <a:cs typeface="Times New Roman" panose="02020603050405020304" pitchFamily="18" charset="0"/>
            </a:endParaRPr>
          </a:p>
        </p:txBody>
      </p:sp>
      <p:sp>
        <p:nvSpPr>
          <p:cNvPr id="13" name="矩形 12"/>
          <p:cNvSpPr/>
          <p:nvPr userDrawn="1"/>
        </p:nvSpPr>
        <p:spPr>
          <a:xfrm>
            <a:off x="5312247" y="3176"/>
            <a:ext cx="2520278" cy="303690"/>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73152" rIns="73152" bIns="73152" numCol="1" spcCol="0" rtlCol="0" fromWordArt="0" anchor="ctr" anchorCtr="0" forceAA="0" compatLnSpc="1">
            <a:prstTxWarp prst="textNoShape">
              <a:avLst/>
            </a:prstTxWarp>
            <a:noAutofit/>
          </a:bodyPr>
          <a:lstStyle>
            <a:defPPr>
              <a:defRPr lang="de-DE"/>
            </a:defPPr>
            <a:lvl1pPr marL="0" algn="l" defTabSz="957925" rtl="0" eaLnBrk="1" latinLnBrk="0" hangingPunct="1">
              <a:defRPr sz="1900" kern="1200">
                <a:solidFill>
                  <a:schemeClr val="lt1"/>
                </a:solidFill>
                <a:latin typeface="+mn-lt"/>
                <a:ea typeface="+mn-ea"/>
                <a:cs typeface="+mn-cs"/>
              </a:defRPr>
            </a:lvl1pPr>
            <a:lvl2pPr marL="478963" algn="l" defTabSz="957925" rtl="0" eaLnBrk="1" latinLnBrk="0" hangingPunct="1">
              <a:defRPr sz="1900" kern="1200">
                <a:solidFill>
                  <a:schemeClr val="lt1"/>
                </a:solidFill>
                <a:latin typeface="+mn-lt"/>
                <a:ea typeface="+mn-ea"/>
                <a:cs typeface="+mn-cs"/>
              </a:defRPr>
            </a:lvl2pPr>
            <a:lvl3pPr marL="957925" algn="l" defTabSz="957925" rtl="0" eaLnBrk="1" latinLnBrk="0" hangingPunct="1">
              <a:defRPr sz="1900" kern="1200">
                <a:solidFill>
                  <a:schemeClr val="lt1"/>
                </a:solidFill>
                <a:latin typeface="+mn-lt"/>
                <a:ea typeface="+mn-ea"/>
                <a:cs typeface="+mn-cs"/>
              </a:defRPr>
            </a:lvl3pPr>
            <a:lvl4pPr marL="1436888" algn="l" defTabSz="957925" rtl="0" eaLnBrk="1" latinLnBrk="0" hangingPunct="1">
              <a:defRPr sz="1900" kern="1200">
                <a:solidFill>
                  <a:schemeClr val="lt1"/>
                </a:solidFill>
                <a:latin typeface="+mn-lt"/>
                <a:ea typeface="+mn-ea"/>
                <a:cs typeface="+mn-cs"/>
              </a:defRPr>
            </a:lvl4pPr>
            <a:lvl5pPr marL="1915851" algn="l" defTabSz="957925" rtl="0" eaLnBrk="1" latinLnBrk="0" hangingPunct="1">
              <a:defRPr sz="1900" kern="1200">
                <a:solidFill>
                  <a:schemeClr val="lt1"/>
                </a:solidFill>
                <a:latin typeface="+mn-lt"/>
                <a:ea typeface="+mn-ea"/>
                <a:cs typeface="+mn-cs"/>
              </a:defRPr>
            </a:lvl5pPr>
            <a:lvl6pPr marL="2394814" algn="l" defTabSz="957925" rtl="0" eaLnBrk="1" latinLnBrk="0" hangingPunct="1">
              <a:defRPr sz="1900" kern="1200">
                <a:solidFill>
                  <a:schemeClr val="lt1"/>
                </a:solidFill>
                <a:latin typeface="+mn-lt"/>
                <a:ea typeface="+mn-ea"/>
                <a:cs typeface="+mn-cs"/>
              </a:defRPr>
            </a:lvl6pPr>
            <a:lvl7pPr marL="2873776" algn="l" defTabSz="957925" rtl="0" eaLnBrk="1" latinLnBrk="0" hangingPunct="1">
              <a:defRPr sz="1900" kern="1200">
                <a:solidFill>
                  <a:schemeClr val="lt1"/>
                </a:solidFill>
                <a:latin typeface="+mn-lt"/>
                <a:ea typeface="+mn-ea"/>
                <a:cs typeface="+mn-cs"/>
              </a:defRPr>
            </a:lvl7pPr>
            <a:lvl8pPr marL="3352739" algn="l" defTabSz="957925" rtl="0" eaLnBrk="1" latinLnBrk="0" hangingPunct="1">
              <a:defRPr sz="1900" kern="1200">
                <a:solidFill>
                  <a:schemeClr val="lt1"/>
                </a:solidFill>
                <a:latin typeface="+mn-lt"/>
                <a:ea typeface="+mn-ea"/>
                <a:cs typeface="+mn-cs"/>
              </a:defRPr>
            </a:lvl8pPr>
            <a:lvl9pPr marL="3831702" algn="l" defTabSz="957925" rtl="0" eaLnBrk="1" latinLnBrk="0" hangingPunct="1">
              <a:defRPr sz="1900" kern="1200">
                <a:solidFill>
                  <a:schemeClr val="lt1"/>
                </a:solidFill>
                <a:latin typeface="+mn-lt"/>
                <a:ea typeface="+mn-ea"/>
                <a:cs typeface="+mn-cs"/>
              </a:defRPr>
            </a:lvl9pPr>
          </a:lstStyle>
          <a:p>
            <a:pPr algn="ctr">
              <a:lnSpc>
                <a:spcPct val="90000"/>
              </a:lnSpc>
              <a:spcBef>
                <a:spcPts val="900"/>
              </a:spcBef>
            </a:pPr>
            <a:r>
              <a:rPr lang="en-US" altLang="zh-CN" sz="1600" dirty="0" smtClean="0">
                <a:solidFill>
                  <a:schemeClr val="bg2"/>
                </a:solidFill>
                <a:latin typeface="Times New Roman" panose="02020603050405020304" pitchFamily="18" charset="0"/>
                <a:cs typeface="Times New Roman" panose="02020603050405020304" pitchFamily="18" charset="0"/>
              </a:rPr>
              <a:t>Empirical</a:t>
            </a:r>
            <a:r>
              <a:rPr lang="en-US" altLang="zh-CN" sz="1600" baseline="0" dirty="0" smtClean="0">
                <a:solidFill>
                  <a:schemeClr val="bg2"/>
                </a:solidFill>
                <a:latin typeface="Times New Roman" panose="02020603050405020304" pitchFamily="18" charset="0"/>
                <a:cs typeface="Times New Roman" panose="02020603050405020304" pitchFamily="18" charset="0"/>
              </a:rPr>
              <a:t> Analysis</a:t>
            </a:r>
            <a:endParaRPr lang="en-US" altLang="zh-CN" sz="1600" dirty="0" smtClean="0">
              <a:solidFill>
                <a:schemeClr val="bg2"/>
              </a:solidFill>
              <a:latin typeface="Times New Roman" panose="02020603050405020304" pitchFamily="18" charset="0"/>
              <a:cs typeface="Times New Roman" panose="02020603050405020304" pitchFamily="18" charset="0"/>
            </a:endParaRPr>
          </a:p>
        </p:txBody>
      </p:sp>
      <p:sp>
        <p:nvSpPr>
          <p:cNvPr id="16" name="矩形 15"/>
          <p:cNvSpPr/>
          <p:nvPr userDrawn="1"/>
        </p:nvSpPr>
        <p:spPr>
          <a:xfrm>
            <a:off x="7848713" y="-8911"/>
            <a:ext cx="2055700" cy="313711"/>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73152" rIns="73152" bIns="73152" numCol="1" spcCol="0" rtlCol="0" fromWordArt="0" anchor="ctr" anchorCtr="0" forceAA="0" compatLnSpc="1">
            <a:prstTxWarp prst="textNoShape">
              <a:avLst/>
            </a:prstTxWarp>
            <a:noAutofit/>
          </a:bodyPr>
          <a:lstStyle>
            <a:defPPr>
              <a:defRPr lang="de-DE"/>
            </a:defPPr>
            <a:lvl1pPr marL="0" algn="l" defTabSz="957925" rtl="0" eaLnBrk="1" latinLnBrk="0" hangingPunct="1">
              <a:defRPr sz="1900" kern="1200">
                <a:solidFill>
                  <a:schemeClr val="lt1"/>
                </a:solidFill>
                <a:latin typeface="+mn-lt"/>
                <a:ea typeface="+mn-ea"/>
                <a:cs typeface="+mn-cs"/>
              </a:defRPr>
            </a:lvl1pPr>
            <a:lvl2pPr marL="478963" algn="l" defTabSz="957925" rtl="0" eaLnBrk="1" latinLnBrk="0" hangingPunct="1">
              <a:defRPr sz="1900" kern="1200">
                <a:solidFill>
                  <a:schemeClr val="lt1"/>
                </a:solidFill>
                <a:latin typeface="+mn-lt"/>
                <a:ea typeface="+mn-ea"/>
                <a:cs typeface="+mn-cs"/>
              </a:defRPr>
            </a:lvl2pPr>
            <a:lvl3pPr marL="957925" algn="l" defTabSz="957925" rtl="0" eaLnBrk="1" latinLnBrk="0" hangingPunct="1">
              <a:defRPr sz="1900" kern="1200">
                <a:solidFill>
                  <a:schemeClr val="lt1"/>
                </a:solidFill>
                <a:latin typeface="+mn-lt"/>
                <a:ea typeface="+mn-ea"/>
                <a:cs typeface="+mn-cs"/>
              </a:defRPr>
            </a:lvl3pPr>
            <a:lvl4pPr marL="1436888" algn="l" defTabSz="957925" rtl="0" eaLnBrk="1" latinLnBrk="0" hangingPunct="1">
              <a:defRPr sz="1900" kern="1200">
                <a:solidFill>
                  <a:schemeClr val="lt1"/>
                </a:solidFill>
                <a:latin typeface="+mn-lt"/>
                <a:ea typeface="+mn-ea"/>
                <a:cs typeface="+mn-cs"/>
              </a:defRPr>
            </a:lvl4pPr>
            <a:lvl5pPr marL="1915851" algn="l" defTabSz="957925" rtl="0" eaLnBrk="1" latinLnBrk="0" hangingPunct="1">
              <a:defRPr sz="1900" kern="1200">
                <a:solidFill>
                  <a:schemeClr val="lt1"/>
                </a:solidFill>
                <a:latin typeface="+mn-lt"/>
                <a:ea typeface="+mn-ea"/>
                <a:cs typeface="+mn-cs"/>
              </a:defRPr>
            </a:lvl5pPr>
            <a:lvl6pPr marL="2394814" algn="l" defTabSz="957925" rtl="0" eaLnBrk="1" latinLnBrk="0" hangingPunct="1">
              <a:defRPr sz="1900" kern="1200">
                <a:solidFill>
                  <a:schemeClr val="lt1"/>
                </a:solidFill>
                <a:latin typeface="+mn-lt"/>
                <a:ea typeface="+mn-ea"/>
                <a:cs typeface="+mn-cs"/>
              </a:defRPr>
            </a:lvl6pPr>
            <a:lvl7pPr marL="2873776" algn="l" defTabSz="957925" rtl="0" eaLnBrk="1" latinLnBrk="0" hangingPunct="1">
              <a:defRPr sz="1900" kern="1200">
                <a:solidFill>
                  <a:schemeClr val="lt1"/>
                </a:solidFill>
                <a:latin typeface="+mn-lt"/>
                <a:ea typeface="+mn-ea"/>
                <a:cs typeface="+mn-cs"/>
              </a:defRPr>
            </a:lvl7pPr>
            <a:lvl8pPr marL="3352739" algn="l" defTabSz="957925" rtl="0" eaLnBrk="1" latinLnBrk="0" hangingPunct="1">
              <a:defRPr sz="1900" kern="1200">
                <a:solidFill>
                  <a:schemeClr val="lt1"/>
                </a:solidFill>
                <a:latin typeface="+mn-lt"/>
                <a:ea typeface="+mn-ea"/>
                <a:cs typeface="+mn-cs"/>
              </a:defRPr>
            </a:lvl8pPr>
            <a:lvl9pPr marL="3831702" algn="l" defTabSz="957925" rtl="0" eaLnBrk="1" latinLnBrk="0" hangingPunct="1">
              <a:defRPr sz="1900" kern="1200">
                <a:solidFill>
                  <a:schemeClr val="lt1"/>
                </a:solidFill>
                <a:latin typeface="+mn-lt"/>
                <a:ea typeface="+mn-ea"/>
                <a:cs typeface="+mn-cs"/>
              </a:defRPr>
            </a:lvl9pPr>
          </a:lstStyle>
          <a:p>
            <a:pPr algn="ctr">
              <a:lnSpc>
                <a:spcPct val="90000"/>
              </a:lnSpc>
              <a:spcBef>
                <a:spcPts val="900"/>
              </a:spcBef>
            </a:pPr>
            <a:r>
              <a:rPr lang="en-US" altLang="zh-CN" sz="1600" dirty="0" smtClean="0">
                <a:solidFill>
                  <a:schemeClr val="bg1">
                    <a:lumMod val="50000"/>
                  </a:schemeClr>
                </a:solidFill>
                <a:latin typeface="Times New Roman" panose="02020603050405020304" pitchFamily="18" charset="0"/>
                <a:cs typeface="Times New Roman" panose="02020603050405020304" pitchFamily="18" charset="0"/>
              </a:rPr>
              <a:t>Conclusions</a:t>
            </a:r>
          </a:p>
        </p:txBody>
      </p:sp>
    </p:spTree>
    <p:extLst>
      <p:ext uri="{BB962C8B-B14F-4D97-AF65-F5344CB8AC3E}">
        <p14:creationId xmlns:p14="http://schemas.microsoft.com/office/powerpoint/2010/main" val="2764627747"/>
      </p:ext>
    </p:extLst>
  </p:cSld>
  <p:clrMap bg1="lt1" tx1="dk1" bg2="lt2" tx2="dk2" accent1="accent1" accent2="accent2" accent3="accent3" accent4="accent4" accent5="accent5" accent6="accent6" hlink="hlink" folHlink="folHlink"/>
  <p:sldLayoutIdLst>
    <p:sldLayoutId id="2147483708" r:id="rId1"/>
    <p:sldLayoutId id="2147483709" r:id="rId2"/>
  </p:sldLayoutIdLst>
  <p:timing>
    <p:tnLst>
      <p:par>
        <p:cTn id="1" dur="indefinite" restart="never" nodeType="tmRoot"/>
      </p:par>
    </p:tnLst>
  </p:timing>
  <p:hf sldNum="0" hdr="0" ftr="0" dt="0"/>
  <p:txStyles>
    <p:titleStyle>
      <a:lvl1pPr marL="0" indent="0" algn="l" defTabSz="957984"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mj-ea"/>
          <a:cs typeface="Arial" pitchFamily="34" charset="0"/>
        </a:defRPr>
      </a:lvl1pPr>
    </p:titleStyle>
    <p:bodyStyle>
      <a:lvl1pPr marL="188580" indent="-188580" algn="l" defTabSz="957984" rtl="0" eaLnBrk="1" latinLnBrk="0" hangingPunct="1">
        <a:lnSpc>
          <a:spcPct val="90000"/>
        </a:lnSpc>
        <a:spcBef>
          <a:spcPts val="1467"/>
        </a:spcBef>
        <a:buClr>
          <a:schemeClr val="bg2"/>
        </a:buClr>
        <a:buSzPct val="100000"/>
        <a:buFont typeface="Arial" pitchFamily="34" charset="0"/>
        <a:buChar char="■"/>
        <a:defRPr sz="1700" kern="1200">
          <a:solidFill>
            <a:schemeClr val="tx1"/>
          </a:solidFill>
          <a:latin typeface="Palatino Linotype" panose="02040502050505030304" pitchFamily="18" charset="0"/>
          <a:ea typeface="+mn-ea"/>
          <a:cs typeface="Arial" pitchFamily="34" charset="0"/>
        </a:defRPr>
      </a:lvl1pPr>
      <a:lvl2pPr marL="325715" indent="-134119" algn="l" defTabSz="957984" rtl="0" eaLnBrk="1" latinLnBrk="0" hangingPunct="1">
        <a:lnSpc>
          <a:spcPct val="90000"/>
        </a:lnSpc>
        <a:spcBef>
          <a:spcPts val="943"/>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2pPr>
      <a:lvl3pPr marL="512937" indent="-188580" algn="l" defTabSz="957984" rtl="0" eaLnBrk="1" latinLnBrk="0" hangingPunct="1">
        <a:lnSpc>
          <a:spcPct val="90000"/>
        </a:lnSpc>
        <a:spcBef>
          <a:spcPts val="629"/>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3pPr>
      <a:lvl4pPr marL="663800" indent="-143698" algn="l" defTabSz="957984" rtl="0" eaLnBrk="1" latinLnBrk="0" hangingPunct="1">
        <a:lnSpc>
          <a:spcPct val="90000"/>
        </a:lnSpc>
        <a:spcBef>
          <a:spcPts val="210"/>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4pPr>
      <a:lvl5pPr marL="807121" indent="-143321" algn="l" defTabSz="957984" rtl="0" eaLnBrk="1" latinLnBrk="0" hangingPunct="1">
        <a:lnSpc>
          <a:spcPct val="90000"/>
        </a:lnSpc>
        <a:spcBef>
          <a:spcPts val="105"/>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5pPr>
      <a:lvl6pPr marL="2634458"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13451"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92442"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71435"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en-US"/>
      </a:defPPr>
      <a:lvl1pPr marL="0" algn="l" defTabSz="957984" rtl="0" eaLnBrk="1" latinLnBrk="0" hangingPunct="1">
        <a:defRPr sz="1900" kern="1200">
          <a:solidFill>
            <a:schemeClr val="tx1"/>
          </a:solidFill>
          <a:latin typeface="+mn-lt"/>
          <a:ea typeface="+mn-ea"/>
          <a:cs typeface="+mn-cs"/>
        </a:defRPr>
      </a:lvl1pPr>
      <a:lvl2pPr marL="478993" algn="l" defTabSz="957984" rtl="0" eaLnBrk="1" latinLnBrk="0" hangingPunct="1">
        <a:defRPr sz="1900" kern="1200">
          <a:solidFill>
            <a:schemeClr val="tx1"/>
          </a:solidFill>
          <a:latin typeface="+mn-lt"/>
          <a:ea typeface="+mn-ea"/>
          <a:cs typeface="+mn-cs"/>
        </a:defRPr>
      </a:lvl2pPr>
      <a:lvl3pPr marL="957984" algn="l" defTabSz="957984" rtl="0" eaLnBrk="1" latinLnBrk="0" hangingPunct="1">
        <a:defRPr sz="1900" kern="1200">
          <a:solidFill>
            <a:schemeClr val="tx1"/>
          </a:solidFill>
          <a:latin typeface="+mn-lt"/>
          <a:ea typeface="+mn-ea"/>
          <a:cs typeface="+mn-cs"/>
        </a:defRPr>
      </a:lvl3pPr>
      <a:lvl4pPr marL="1436977" algn="l" defTabSz="957984" rtl="0" eaLnBrk="1" latinLnBrk="0" hangingPunct="1">
        <a:defRPr sz="1900" kern="1200">
          <a:solidFill>
            <a:schemeClr val="tx1"/>
          </a:solidFill>
          <a:latin typeface="+mn-lt"/>
          <a:ea typeface="+mn-ea"/>
          <a:cs typeface="+mn-cs"/>
        </a:defRPr>
      </a:lvl4pPr>
      <a:lvl5pPr marL="1915969" algn="l" defTabSz="957984" rtl="0" eaLnBrk="1" latinLnBrk="0" hangingPunct="1">
        <a:defRPr sz="1900" kern="1200">
          <a:solidFill>
            <a:schemeClr val="tx1"/>
          </a:solidFill>
          <a:latin typeface="+mn-lt"/>
          <a:ea typeface="+mn-ea"/>
          <a:cs typeface="+mn-cs"/>
        </a:defRPr>
      </a:lvl5pPr>
      <a:lvl6pPr marL="2394962" algn="l" defTabSz="957984" rtl="0" eaLnBrk="1" latinLnBrk="0" hangingPunct="1">
        <a:defRPr sz="1900" kern="1200">
          <a:solidFill>
            <a:schemeClr val="tx1"/>
          </a:solidFill>
          <a:latin typeface="+mn-lt"/>
          <a:ea typeface="+mn-ea"/>
          <a:cs typeface="+mn-cs"/>
        </a:defRPr>
      </a:lvl6pPr>
      <a:lvl7pPr marL="2873953" algn="l" defTabSz="957984" rtl="0" eaLnBrk="1" latinLnBrk="0" hangingPunct="1">
        <a:defRPr sz="1900" kern="1200">
          <a:solidFill>
            <a:schemeClr val="tx1"/>
          </a:solidFill>
          <a:latin typeface="+mn-lt"/>
          <a:ea typeface="+mn-ea"/>
          <a:cs typeface="+mn-cs"/>
        </a:defRPr>
      </a:lvl7pPr>
      <a:lvl8pPr marL="3352947" algn="l" defTabSz="957984" rtl="0" eaLnBrk="1" latinLnBrk="0" hangingPunct="1">
        <a:defRPr sz="1900" kern="1200">
          <a:solidFill>
            <a:schemeClr val="tx1"/>
          </a:solidFill>
          <a:latin typeface="+mn-lt"/>
          <a:ea typeface="+mn-ea"/>
          <a:cs typeface="+mn-cs"/>
        </a:defRPr>
      </a:lvl8pPr>
      <a:lvl9pPr marL="3831939" algn="l" defTabSz="957984" rtl="0" eaLnBrk="1" latinLnBrk="0" hangingPunct="1">
        <a:defRPr sz="19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5"/>
            </p:custDataLst>
            <p:extLst/>
          </p:nvPr>
        </p:nvGraphicFramePr>
        <p:xfrm>
          <a:off x="1723" y="1593"/>
          <a:ext cx="1719" cy="1587"/>
        </p:xfrm>
        <a:graphic>
          <a:graphicData uri="http://schemas.openxmlformats.org/presentationml/2006/ole">
            <mc:AlternateContent xmlns:mc="http://schemas.openxmlformats.org/markup-compatibility/2006">
              <mc:Choice xmlns:v="urn:schemas-microsoft-com:vml" Requires="v">
                <p:oleObj spid="_x0000_s41182" name="think-cell Slide" r:id="rId6" imgW="270" imgH="270" progId="TCLayout.ActiveDocument.1">
                  <p:embed/>
                </p:oleObj>
              </mc:Choice>
              <mc:Fallback>
                <p:oleObj name="think-cell Slide" r:id="rId6" imgW="270" imgH="270" progId="TCLayout.ActiveDocument.1">
                  <p:embed/>
                  <p:pic>
                    <p:nvPicPr>
                      <p:cNvPr id="4" name="Object 3" hidden="1"/>
                      <p:cNvPicPr/>
                      <p:nvPr/>
                    </p:nvPicPr>
                    <p:blipFill>
                      <a:blip r:embed="rId7"/>
                      <a:stretch>
                        <a:fillRect/>
                      </a:stretch>
                    </p:blipFill>
                    <p:spPr>
                      <a:xfrm>
                        <a:off x="1723" y="1593"/>
                        <a:ext cx="1719" cy="1587"/>
                      </a:xfrm>
                      <a:prstGeom prst="rect">
                        <a:avLst/>
                      </a:prstGeom>
                    </p:spPr>
                  </p:pic>
                </p:oleObj>
              </mc:Fallback>
            </mc:AlternateContent>
          </a:graphicData>
        </a:graphic>
      </p:graphicFrame>
      <p:sp>
        <p:nvSpPr>
          <p:cNvPr id="15" name="TextBox 14"/>
          <p:cNvSpPr txBox="1"/>
          <p:nvPr/>
        </p:nvSpPr>
        <p:spPr>
          <a:xfrm>
            <a:off x="9360551" y="6596788"/>
            <a:ext cx="287228" cy="138531"/>
          </a:xfrm>
          <a:prstGeom prst="rect">
            <a:avLst/>
          </a:prstGeom>
          <a:noFill/>
          <a:ln w="6350">
            <a:noFill/>
            <a:miter lim="800000"/>
          </a:ln>
        </p:spPr>
        <p:txBody>
          <a:bodyPr wrap="none" lIns="0" tIns="0" rIns="0" bIns="0" rtlCol="0" anchor="b" anchorCtr="0">
            <a:noAutofit/>
          </a:bodyPr>
          <a:lstStyle/>
          <a:p>
            <a:pPr algn="r"/>
            <a:fld id="{6CE8C368-3382-4C28-AE75-DF7C05ACA19D}" type="slidenum">
              <a:rPr lang="en-US" sz="900">
                <a:solidFill>
                  <a:srgbClr val="ADABA1"/>
                </a:solidFill>
              </a:rPr>
              <a:pPr algn="r"/>
              <a:t>‹#›</a:t>
            </a:fld>
            <a:endParaRPr lang="en-US" sz="900" dirty="0">
              <a:solidFill>
                <a:srgbClr val="ADABA1"/>
              </a:solidFill>
            </a:endParaRPr>
          </a:p>
        </p:txBody>
      </p:sp>
      <p:sp>
        <p:nvSpPr>
          <p:cNvPr id="19" name="Rectangle 27"/>
          <p:cNvSpPr>
            <a:spLocks noGrp="1" noChangeArrowheads="1"/>
          </p:cNvSpPr>
          <p:nvPr>
            <p:ph type="dt" sz="half" idx="2"/>
          </p:nvPr>
        </p:nvSpPr>
        <p:spPr bwMode="auto">
          <a:xfrm>
            <a:off x="4704598" y="6505766"/>
            <a:ext cx="495221" cy="165138"/>
          </a:xfrm>
          <a:prstGeom prst="rect">
            <a:avLst/>
          </a:prstGeom>
          <a:noFill/>
          <a:ln>
            <a:noFill/>
          </a:ln>
          <a:effectLst/>
        </p:spPr>
        <p:txBody>
          <a:bodyPr vert="horz" wrap="square" lIns="95793" tIns="47896" rIns="95793" bIns="47896" numCol="1" anchor="t" anchorCtr="0" compatLnSpc="1">
            <a:prstTxWarp prst="textNoShape">
              <a:avLst/>
            </a:prstTxWarp>
          </a:bodyPr>
          <a:lstStyle>
            <a:lvl1pPr algn="ctr" eaLnBrk="0" hangingPunct="0">
              <a:spcBef>
                <a:spcPct val="20000"/>
              </a:spcBef>
              <a:buClr>
                <a:schemeClr val="accent1"/>
              </a:buClr>
              <a:buSzPct val="85000"/>
              <a:buFontTx/>
              <a:buChar char="-"/>
              <a:defRPr sz="800" b="0" smtClean="0">
                <a:solidFill>
                  <a:srgbClr val="937632"/>
                </a:solidFill>
              </a:defRPr>
            </a:lvl1pPr>
          </a:lstStyle>
          <a:p>
            <a:pPr>
              <a:defRPr/>
            </a:pPr>
            <a:r>
              <a:rPr lang="en-US" altLang="zh-CN"/>
              <a:t>- </a:t>
            </a:r>
            <a:fld id="{D196C2D1-191C-4448-BECC-17644327C254}" type="slidenum">
              <a:rPr lang="en-US" altLang="zh-CN"/>
              <a:pPr>
                <a:defRPr/>
              </a:pPr>
              <a:t>‹#›</a:t>
            </a:fld>
            <a:r>
              <a:rPr lang="en-US" altLang="zh-CN"/>
              <a:t> -</a:t>
            </a:r>
          </a:p>
        </p:txBody>
      </p:sp>
      <p:sp>
        <p:nvSpPr>
          <p:cNvPr id="2" name="矩形 1"/>
          <p:cNvSpPr/>
          <p:nvPr userDrawn="1"/>
        </p:nvSpPr>
        <p:spPr>
          <a:xfrm>
            <a:off x="2" y="304800"/>
            <a:ext cx="9904413" cy="532706"/>
          </a:xfrm>
          <a:prstGeom prst="rect">
            <a:avLst/>
          </a:prstGeom>
          <a:solidFill>
            <a:srgbClr val="9B1717"/>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endParaRPr lang="zh-CN" altLang="en-US" sz="1400" dirty="0" err="1" smtClean="0">
              <a:solidFill>
                <a:schemeClr val="bg1"/>
              </a:solidFill>
              <a:latin typeface="Arial" pitchFamily="34" charset="0"/>
              <a:cs typeface="Arial" pitchFamily="34" charset="0"/>
            </a:endParaRPr>
          </a:p>
        </p:txBody>
      </p:sp>
      <p:sp>
        <p:nvSpPr>
          <p:cNvPr id="11" name="矩形 10"/>
          <p:cNvSpPr/>
          <p:nvPr userDrawn="1"/>
        </p:nvSpPr>
        <p:spPr>
          <a:xfrm>
            <a:off x="3176" y="0"/>
            <a:ext cx="2932806" cy="304800"/>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r>
              <a:rPr lang="en-US" altLang="zh-CN" sz="1600" dirty="0" smtClean="0">
                <a:solidFill>
                  <a:schemeClr val="accent4"/>
                </a:solidFill>
                <a:latin typeface="Times New Roman" panose="02020603050405020304" pitchFamily="18" charset="0"/>
                <a:cs typeface="Times New Roman" panose="02020603050405020304" pitchFamily="18" charset="0"/>
              </a:rPr>
              <a:t>Introduction</a:t>
            </a:r>
            <a:endParaRPr lang="zh-CN" altLang="en-US" sz="1600" dirty="0" err="1" smtClean="0">
              <a:solidFill>
                <a:schemeClr val="accent4"/>
              </a:solidFill>
              <a:latin typeface="Times New Roman" panose="02020603050405020304" pitchFamily="18" charset="0"/>
              <a:cs typeface="Times New Roman" panose="02020603050405020304" pitchFamily="18" charset="0"/>
            </a:endParaRPr>
          </a:p>
        </p:txBody>
      </p:sp>
      <p:sp>
        <p:nvSpPr>
          <p:cNvPr id="12" name="矩形 11"/>
          <p:cNvSpPr/>
          <p:nvPr userDrawn="1"/>
        </p:nvSpPr>
        <p:spPr>
          <a:xfrm>
            <a:off x="2952170" y="-8911"/>
            <a:ext cx="2343891" cy="313711"/>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r>
              <a:rPr lang="en-US" altLang="zh-CN" sz="1600" dirty="0" smtClean="0">
                <a:solidFill>
                  <a:schemeClr val="bg1">
                    <a:lumMod val="50000"/>
                  </a:schemeClr>
                </a:solidFill>
                <a:latin typeface="Times New Roman" panose="02020603050405020304" pitchFamily="18" charset="0"/>
                <a:cs typeface="Times New Roman" panose="02020603050405020304" pitchFamily="18" charset="0"/>
              </a:rPr>
              <a:t>Hypothesis</a:t>
            </a:r>
            <a:endParaRPr lang="zh-CN" altLang="en-US" sz="1600" dirty="0" err="1" smtClean="0">
              <a:solidFill>
                <a:schemeClr val="bg1">
                  <a:lumMod val="50000"/>
                </a:schemeClr>
              </a:solidFill>
              <a:latin typeface="Times New Roman" panose="02020603050405020304" pitchFamily="18" charset="0"/>
              <a:cs typeface="Times New Roman" panose="02020603050405020304" pitchFamily="18" charset="0"/>
            </a:endParaRPr>
          </a:p>
        </p:txBody>
      </p:sp>
      <p:sp>
        <p:nvSpPr>
          <p:cNvPr id="13" name="矩形 12"/>
          <p:cNvSpPr/>
          <p:nvPr userDrawn="1"/>
        </p:nvSpPr>
        <p:spPr>
          <a:xfrm>
            <a:off x="5312247" y="3176"/>
            <a:ext cx="2520278" cy="303690"/>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73152" rIns="73152" bIns="73152" numCol="1" spcCol="0" rtlCol="0" fromWordArt="0" anchor="ctr" anchorCtr="0" forceAA="0" compatLnSpc="1">
            <a:prstTxWarp prst="textNoShape">
              <a:avLst/>
            </a:prstTxWarp>
            <a:noAutofit/>
          </a:bodyPr>
          <a:lstStyle>
            <a:defPPr>
              <a:defRPr lang="de-DE"/>
            </a:defPPr>
            <a:lvl1pPr marL="0" algn="l" defTabSz="957925" rtl="0" eaLnBrk="1" latinLnBrk="0" hangingPunct="1">
              <a:defRPr sz="1900" kern="1200">
                <a:solidFill>
                  <a:schemeClr val="lt1"/>
                </a:solidFill>
                <a:latin typeface="+mn-lt"/>
                <a:ea typeface="+mn-ea"/>
                <a:cs typeface="+mn-cs"/>
              </a:defRPr>
            </a:lvl1pPr>
            <a:lvl2pPr marL="478963" algn="l" defTabSz="957925" rtl="0" eaLnBrk="1" latinLnBrk="0" hangingPunct="1">
              <a:defRPr sz="1900" kern="1200">
                <a:solidFill>
                  <a:schemeClr val="lt1"/>
                </a:solidFill>
                <a:latin typeface="+mn-lt"/>
                <a:ea typeface="+mn-ea"/>
                <a:cs typeface="+mn-cs"/>
              </a:defRPr>
            </a:lvl2pPr>
            <a:lvl3pPr marL="957925" algn="l" defTabSz="957925" rtl="0" eaLnBrk="1" latinLnBrk="0" hangingPunct="1">
              <a:defRPr sz="1900" kern="1200">
                <a:solidFill>
                  <a:schemeClr val="lt1"/>
                </a:solidFill>
                <a:latin typeface="+mn-lt"/>
                <a:ea typeface="+mn-ea"/>
                <a:cs typeface="+mn-cs"/>
              </a:defRPr>
            </a:lvl3pPr>
            <a:lvl4pPr marL="1436888" algn="l" defTabSz="957925" rtl="0" eaLnBrk="1" latinLnBrk="0" hangingPunct="1">
              <a:defRPr sz="1900" kern="1200">
                <a:solidFill>
                  <a:schemeClr val="lt1"/>
                </a:solidFill>
                <a:latin typeface="+mn-lt"/>
                <a:ea typeface="+mn-ea"/>
                <a:cs typeface="+mn-cs"/>
              </a:defRPr>
            </a:lvl4pPr>
            <a:lvl5pPr marL="1915851" algn="l" defTabSz="957925" rtl="0" eaLnBrk="1" latinLnBrk="0" hangingPunct="1">
              <a:defRPr sz="1900" kern="1200">
                <a:solidFill>
                  <a:schemeClr val="lt1"/>
                </a:solidFill>
                <a:latin typeface="+mn-lt"/>
                <a:ea typeface="+mn-ea"/>
                <a:cs typeface="+mn-cs"/>
              </a:defRPr>
            </a:lvl5pPr>
            <a:lvl6pPr marL="2394814" algn="l" defTabSz="957925" rtl="0" eaLnBrk="1" latinLnBrk="0" hangingPunct="1">
              <a:defRPr sz="1900" kern="1200">
                <a:solidFill>
                  <a:schemeClr val="lt1"/>
                </a:solidFill>
                <a:latin typeface="+mn-lt"/>
                <a:ea typeface="+mn-ea"/>
                <a:cs typeface="+mn-cs"/>
              </a:defRPr>
            </a:lvl6pPr>
            <a:lvl7pPr marL="2873776" algn="l" defTabSz="957925" rtl="0" eaLnBrk="1" latinLnBrk="0" hangingPunct="1">
              <a:defRPr sz="1900" kern="1200">
                <a:solidFill>
                  <a:schemeClr val="lt1"/>
                </a:solidFill>
                <a:latin typeface="+mn-lt"/>
                <a:ea typeface="+mn-ea"/>
                <a:cs typeface="+mn-cs"/>
              </a:defRPr>
            </a:lvl7pPr>
            <a:lvl8pPr marL="3352739" algn="l" defTabSz="957925" rtl="0" eaLnBrk="1" latinLnBrk="0" hangingPunct="1">
              <a:defRPr sz="1900" kern="1200">
                <a:solidFill>
                  <a:schemeClr val="lt1"/>
                </a:solidFill>
                <a:latin typeface="+mn-lt"/>
                <a:ea typeface="+mn-ea"/>
                <a:cs typeface="+mn-cs"/>
              </a:defRPr>
            </a:lvl8pPr>
            <a:lvl9pPr marL="3831702" algn="l" defTabSz="957925" rtl="0" eaLnBrk="1" latinLnBrk="0" hangingPunct="1">
              <a:defRPr sz="1900" kern="1200">
                <a:solidFill>
                  <a:schemeClr val="lt1"/>
                </a:solidFill>
                <a:latin typeface="+mn-lt"/>
                <a:ea typeface="+mn-ea"/>
                <a:cs typeface="+mn-cs"/>
              </a:defRPr>
            </a:lvl9pPr>
          </a:lstStyle>
          <a:p>
            <a:pPr algn="ctr">
              <a:lnSpc>
                <a:spcPct val="90000"/>
              </a:lnSpc>
              <a:spcBef>
                <a:spcPts val="900"/>
              </a:spcBef>
            </a:pPr>
            <a:r>
              <a:rPr lang="en-US" altLang="zh-CN" sz="1600" dirty="0" smtClean="0">
                <a:solidFill>
                  <a:schemeClr val="accent4"/>
                </a:solidFill>
                <a:latin typeface="Times New Roman" panose="02020603050405020304" pitchFamily="18" charset="0"/>
                <a:cs typeface="Times New Roman" panose="02020603050405020304" pitchFamily="18" charset="0"/>
              </a:rPr>
              <a:t>Empirical</a:t>
            </a:r>
            <a:r>
              <a:rPr lang="en-US" altLang="zh-CN" sz="1600" baseline="0" dirty="0" smtClean="0">
                <a:solidFill>
                  <a:schemeClr val="accent4"/>
                </a:solidFill>
                <a:latin typeface="Times New Roman" panose="02020603050405020304" pitchFamily="18" charset="0"/>
                <a:cs typeface="Times New Roman" panose="02020603050405020304" pitchFamily="18" charset="0"/>
              </a:rPr>
              <a:t> Analysis</a:t>
            </a:r>
            <a:endParaRPr lang="en-US" altLang="zh-CN" sz="1600" dirty="0" smtClean="0">
              <a:solidFill>
                <a:schemeClr val="accent4"/>
              </a:solidFill>
              <a:latin typeface="Times New Roman" panose="02020603050405020304" pitchFamily="18" charset="0"/>
              <a:cs typeface="Times New Roman" panose="02020603050405020304" pitchFamily="18" charset="0"/>
            </a:endParaRPr>
          </a:p>
        </p:txBody>
      </p:sp>
      <p:sp>
        <p:nvSpPr>
          <p:cNvPr id="16" name="矩形 15"/>
          <p:cNvSpPr/>
          <p:nvPr userDrawn="1"/>
        </p:nvSpPr>
        <p:spPr>
          <a:xfrm>
            <a:off x="7848713" y="-8911"/>
            <a:ext cx="2055700" cy="313711"/>
          </a:xfrm>
          <a:prstGeom prst="rect">
            <a:avLst/>
          </a:prstGeom>
          <a:solidFill>
            <a:schemeClr val="accent3"/>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3152" tIns="73152" rIns="73152" bIns="73152" numCol="1" spcCol="0" rtlCol="0" fromWordArt="0" anchor="ctr" anchorCtr="0" forceAA="0" compatLnSpc="1">
            <a:prstTxWarp prst="textNoShape">
              <a:avLst/>
            </a:prstTxWarp>
            <a:noAutofit/>
          </a:bodyPr>
          <a:lstStyle>
            <a:defPPr>
              <a:defRPr lang="de-DE"/>
            </a:defPPr>
            <a:lvl1pPr marL="0" algn="l" defTabSz="957925" rtl="0" eaLnBrk="1" latinLnBrk="0" hangingPunct="1">
              <a:defRPr sz="1900" kern="1200">
                <a:solidFill>
                  <a:schemeClr val="lt1"/>
                </a:solidFill>
                <a:latin typeface="+mn-lt"/>
                <a:ea typeface="+mn-ea"/>
                <a:cs typeface="+mn-cs"/>
              </a:defRPr>
            </a:lvl1pPr>
            <a:lvl2pPr marL="478963" algn="l" defTabSz="957925" rtl="0" eaLnBrk="1" latinLnBrk="0" hangingPunct="1">
              <a:defRPr sz="1900" kern="1200">
                <a:solidFill>
                  <a:schemeClr val="lt1"/>
                </a:solidFill>
                <a:latin typeface="+mn-lt"/>
                <a:ea typeface="+mn-ea"/>
                <a:cs typeface="+mn-cs"/>
              </a:defRPr>
            </a:lvl2pPr>
            <a:lvl3pPr marL="957925" algn="l" defTabSz="957925" rtl="0" eaLnBrk="1" latinLnBrk="0" hangingPunct="1">
              <a:defRPr sz="1900" kern="1200">
                <a:solidFill>
                  <a:schemeClr val="lt1"/>
                </a:solidFill>
                <a:latin typeface="+mn-lt"/>
                <a:ea typeface="+mn-ea"/>
                <a:cs typeface="+mn-cs"/>
              </a:defRPr>
            </a:lvl3pPr>
            <a:lvl4pPr marL="1436888" algn="l" defTabSz="957925" rtl="0" eaLnBrk="1" latinLnBrk="0" hangingPunct="1">
              <a:defRPr sz="1900" kern="1200">
                <a:solidFill>
                  <a:schemeClr val="lt1"/>
                </a:solidFill>
                <a:latin typeface="+mn-lt"/>
                <a:ea typeface="+mn-ea"/>
                <a:cs typeface="+mn-cs"/>
              </a:defRPr>
            </a:lvl4pPr>
            <a:lvl5pPr marL="1915851" algn="l" defTabSz="957925" rtl="0" eaLnBrk="1" latinLnBrk="0" hangingPunct="1">
              <a:defRPr sz="1900" kern="1200">
                <a:solidFill>
                  <a:schemeClr val="lt1"/>
                </a:solidFill>
                <a:latin typeface="+mn-lt"/>
                <a:ea typeface="+mn-ea"/>
                <a:cs typeface="+mn-cs"/>
              </a:defRPr>
            </a:lvl5pPr>
            <a:lvl6pPr marL="2394814" algn="l" defTabSz="957925" rtl="0" eaLnBrk="1" latinLnBrk="0" hangingPunct="1">
              <a:defRPr sz="1900" kern="1200">
                <a:solidFill>
                  <a:schemeClr val="lt1"/>
                </a:solidFill>
                <a:latin typeface="+mn-lt"/>
                <a:ea typeface="+mn-ea"/>
                <a:cs typeface="+mn-cs"/>
              </a:defRPr>
            </a:lvl6pPr>
            <a:lvl7pPr marL="2873776" algn="l" defTabSz="957925" rtl="0" eaLnBrk="1" latinLnBrk="0" hangingPunct="1">
              <a:defRPr sz="1900" kern="1200">
                <a:solidFill>
                  <a:schemeClr val="lt1"/>
                </a:solidFill>
                <a:latin typeface="+mn-lt"/>
                <a:ea typeface="+mn-ea"/>
                <a:cs typeface="+mn-cs"/>
              </a:defRPr>
            </a:lvl7pPr>
            <a:lvl8pPr marL="3352739" algn="l" defTabSz="957925" rtl="0" eaLnBrk="1" latinLnBrk="0" hangingPunct="1">
              <a:defRPr sz="1900" kern="1200">
                <a:solidFill>
                  <a:schemeClr val="lt1"/>
                </a:solidFill>
                <a:latin typeface="+mn-lt"/>
                <a:ea typeface="+mn-ea"/>
                <a:cs typeface="+mn-cs"/>
              </a:defRPr>
            </a:lvl8pPr>
            <a:lvl9pPr marL="3831702" algn="l" defTabSz="957925" rtl="0" eaLnBrk="1" latinLnBrk="0" hangingPunct="1">
              <a:defRPr sz="1900" kern="1200">
                <a:solidFill>
                  <a:schemeClr val="lt1"/>
                </a:solidFill>
                <a:latin typeface="+mn-lt"/>
                <a:ea typeface="+mn-ea"/>
                <a:cs typeface="+mn-cs"/>
              </a:defRPr>
            </a:lvl9pPr>
          </a:lstStyle>
          <a:p>
            <a:pPr algn="ctr">
              <a:lnSpc>
                <a:spcPct val="90000"/>
              </a:lnSpc>
              <a:spcBef>
                <a:spcPts val="900"/>
              </a:spcBef>
            </a:pPr>
            <a:r>
              <a:rPr lang="en-US" altLang="zh-CN" sz="1600" dirty="0" smtClean="0">
                <a:solidFill>
                  <a:schemeClr val="bg2"/>
                </a:solidFill>
                <a:latin typeface="Times New Roman" panose="02020603050405020304" pitchFamily="18" charset="0"/>
                <a:cs typeface="Times New Roman" panose="02020603050405020304" pitchFamily="18" charset="0"/>
              </a:rPr>
              <a:t>Conclusions</a:t>
            </a:r>
          </a:p>
        </p:txBody>
      </p:sp>
    </p:spTree>
    <p:extLst>
      <p:ext uri="{BB962C8B-B14F-4D97-AF65-F5344CB8AC3E}">
        <p14:creationId xmlns:p14="http://schemas.microsoft.com/office/powerpoint/2010/main" val="3827873969"/>
      </p:ext>
    </p:extLst>
  </p:cSld>
  <p:clrMap bg1="lt1" tx1="dk1" bg2="lt2" tx2="dk2" accent1="accent1" accent2="accent2" accent3="accent3" accent4="accent4" accent5="accent5" accent6="accent6" hlink="hlink" folHlink="folHlink"/>
  <p:sldLayoutIdLst>
    <p:sldLayoutId id="2147483711" r:id="rId1"/>
    <p:sldLayoutId id="2147483712" r:id="rId2"/>
  </p:sldLayoutIdLst>
  <p:timing>
    <p:tnLst>
      <p:par>
        <p:cTn id="1" dur="indefinite" restart="never" nodeType="tmRoot"/>
      </p:par>
    </p:tnLst>
  </p:timing>
  <p:hf sldNum="0" hdr="0" ftr="0" dt="0"/>
  <p:txStyles>
    <p:titleStyle>
      <a:lvl1pPr marL="0" indent="0" algn="l" defTabSz="957984"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mj-ea"/>
          <a:cs typeface="Arial" pitchFamily="34" charset="0"/>
        </a:defRPr>
      </a:lvl1pPr>
    </p:titleStyle>
    <p:bodyStyle>
      <a:lvl1pPr marL="188580" indent="-188580" algn="l" defTabSz="957984" rtl="0" eaLnBrk="1" latinLnBrk="0" hangingPunct="1">
        <a:lnSpc>
          <a:spcPct val="90000"/>
        </a:lnSpc>
        <a:spcBef>
          <a:spcPts val="1467"/>
        </a:spcBef>
        <a:buClr>
          <a:schemeClr val="bg2"/>
        </a:buClr>
        <a:buSzPct val="100000"/>
        <a:buFont typeface="Arial" pitchFamily="34" charset="0"/>
        <a:buChar char="■"/>
        <a:defRPr sz="1700" kern="1200">
          <a:solidFill>
            <a:schemeClr val="tx1"/>
          </a:solidFill>
          <a:latin typeface="Palatino Linotype" panose="02040502050505030304" pitchFamily="18" charset="0"/>
          <a:ea typeface="+mn-ea"/>
          <a:cs typeface="Arial" pitchFamily="34" charset="0"/>
        </a:defRPr>
      </a:lvl1pPr>
      <a:lvl2pPr marL="325715" indent="-134119" algn="l" defTabSz="957984" rtl="0" eaLnBrk="1" latinLnBrk="0" hangingPunct="1">
        <a:lnSpc>
          <a:spcPct val="90000"/>
        </a:lnSpc>
        <a:spcBef>
          <a:spcPts val="943"/>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2pPr>
      <a:lvl3pPr marL="512937" indent="-188580" algn="l" defTabSz="957984" rtl="0" eaLnBrk="1" latinLnBrk="0" hangingPunct="1">
        <a:lnSpc>
          <a:spcPct val="90000"/>
        </a:lnSpc>
        <a:spcBef>
          <a:spcPts val="629"/>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3pPr>
      <a:lvl4pPr marL="663800" indent="-143698" algn="l" defTabSz="957984" rtl="0" eaLnBrk="1" latinLnBrk="0" hangingPunct="1">
        <a:lnSpc>
          <a:spcPct val="90000"/>
        </a:lnSpc>
        <a:spcBef>
          <a:spcPts val="210"/>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4pPr>
      <a:lvl5pPr marL="807121" indent="-143321" algn="l" defTabSz="957984" rtl="0" eaLnBrk="1" latinLnBrk="0" hangingPunct="1">
        <a:lnSpc>
          <a:spcPct val="90000"/>
        </a:lnSpc>
        <a:spcBef>
          <a:spcPts val="105"/>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5pPr>
      <a:lvl6pPr marL="2634458"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13451"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92442"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71435"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en-US"/>
      </a:defPPr>
      <a:lvl1pPr marL="0" algn="l" defTabSz="957984" rtl="0" eaLnBrk="1" latinLnBrk="0" hangingPunct="1">
        <a:defRPr sz="1900" kern="1200">
          <a:solidFill>
            <a:schemeClr val="tx1"/>
          </a:solidFill>
          <a:latin typeface="+mn-lt"/>
          <a:ea typeface="+mn-ea"/>
          <a:cs typeface="+mn-cs"/>
        </a:defRPr>
      </a:lvl1pPr>
      <a:lvl2pPr marL="478993" algn="l" defTabSz="957984" rtl="0" eaLnBrk="1" latinLnBrk="0" hangingPunct="1">
        <a:defRPr sz="1900" kern="1200">
          <a:solidFill>
            <a:schemeClr val="tx1"/>
          </a:solidFill>
          <a:latin typeface="+mn-lt"/>
          <a:ea typeface="+mn-ea"/>
          <a:cs typeface="+mn-cs"/>
        </a:defRPr>
      </a:lvl2pPr>
      <a:lvl3pPr marL="957984" algn="l" defTabSz="957984" rtl="0" eaLnBrk="1" latinLnBrk="0" hangingPunct="1">
        <a:defRPr sz="1900" kern="1200">
          <a:solidFill>
            <a:schemeClr val="tx1"/>
          </a:solidFill>
          <a:latin typeface="+mn-lt"/>
          <a:ea typeface="+mn-ea"/>
          <a:cs typeface="+mn-cs"/>
        </a:defRPr>
      </a:lvl3pPr>
      <a:lvl4pPr marL="1436977" algn="l" defTabSz="957984" rtl="0" eaLnBrk="1" latinLnBrk="0" hangingPunct="1">
        <a:defRPr sz="1900" kern="1200">
          <a:solidFill>
            <a:schemeClr val="tx1"/>
          </a:solidFill>
          <a:latin typeface="+mn-lt"/>
          <a:ea typeface="+mn-ea"/>
          <a:cs typeface="+mn-cs"/>
        </a:defRPr>
      </a:lvl4pPr>
      <a:lvl5pPr marL="1915969" algn="l" defTabSz="957984" rtl="0" eaLnBrk="1" latinLnBrk="0" hangingPunct="1">
        <a:defRPr sz="1900" kern="1200">
          <a:solidFill>
            <a:schemeClr val="tx1"/>
          </a:solidFill>
          <a:latin typeface="+mn-lt"/>
          <a:ea typeface="+mn-ea"/>
          <a:cs typeface="+mn-cs"/>
        </a:defRPr>
      </a:lvl5pPr>
      <a:lvl6pPr marL="2394962" algn="l" defTabSz="957984" rtl="0" eaLnBrk="1" latinLnBrk="0" hangingPunct="1">
        <a:defRPr sz="1900" kern="1200">
          <a:solidFill>
            <a:schemeClr val="tx1"/>
          </a:solidFill>
          <a:latin typeface="+mn-lt"/>
          <a:ea typeface="+mn-ea"/>
          <a:cs typeface="+mn-cs"/>
        </a:defRPr>
      </a:lvl6pPr>
      <a:lvl7pPr marL="2873953" algn="l" defTabSz="957984" rtl="0" eaLnBrk="1" latinLnBrk="0" hangingPunct="1">
        <a:defRPr sz="1900" kern="1200">
          <a:solidFill>
            <a:schemeClr val="tx1"/>
          </a:solidFill>
          <a:latin typeface="+mn-lt"/>
          <a:ea typeface="+mn-ea"/>
          <a:cs typeface="+mn-cs"/>
        </a:defRPr>
      </a:lvl7pPr>
      <a:lvl8pPr marL="3352947" algn="l" defTabSz="957984" rtl="0" eaLnBrk="1" latinLnBrk="0" hangingPunct="1">
        <a:defRPr sz="1900" kern="1200">
          <a:solidFill>
            <a:schemeClr val="tx1"/>
          </a:solidFill>
          <a:latin typeface="+mn-lt"/>
          <a:ea typeface="+mn-ea"/>
          <a:cs typeface="+mn-cs"/>
        </a:defRPr>
      </a:lvl8pPr>
      <a:lvl9pPr marL="3831939" algn="l" defTabSz="957984" rtl="0" eaLnBrk="1" latinLnBrk="0" hangingPunct="1">
        <a:defRPr sz="19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7"/>
            </p:custDataLst>
            <p:extLst/>
          </p:nvPr>
        </p:nvGraphicFramePr>
        <p:xfrm>
          <a:off x="1723" y="1593"/>
          <a:ext cx="1719" cy="1587"/>
        </p:xfrm>
        <a:graphic>
          <a:graphicData uri="http://schemas.openxmlformats.org/presentationml/2006/ole">
            <mc:AlternateContent xmlns:mc="http://schemas.openxmlformats.org/markup-compatibility/2006">
              <mc:Choice xmlns:v="urn:schemas-microsoft-com:vml" Requires="v">
                <p:oleObj spid="_x0000_s49282" name="think-cell Slide" r:id="rId8" imgW="270" imgH="270" progId="TCLayout.ActiveDocument.1">
                  <p:embed/>
                </p:oleObj>
              </mc:Choice>
              <mc:Fallback>
                <p:oleObj name="think-cell Slide" r:id="rId8" imgW="270" imgH="270" progId="TCLayout.ActiveDocument.1">
                  <p:embed/>
                  <p:pic>
                    <p:nvPicPr>
                      <p:cNvPr id="4" name="Object 3" hidden="1"/>
                      <p:cNvPicPr/>
                      <p:nvPr/>
                    </p:nvPicPr>
                    <p:blipFill>
                      <a:blip r:embed="rId9"/>
                      <a:stretch>
                        <a:fillRect/>
                      </a:stretch>
                    </p:blipFill>
                    <p:spPr>
                      <a:xfrm>
                        <a:off x="1723" y="1593"/>
                        <a:ext cx="1719" cy="1587"/>
                      </a:xfrm>
                      <a:prstGeom prst="rect">
                        <a:avLst/>
                      </a:prstGeom>
                    </p:spPr>
                  </p:pic>
                </p:oleObj>
              </mc:Fallback>
            </mc:AlternateContent>
          </a:graphicData>
        </a:graphic>
      </p:graphicFrame>
      <p:sp>
        <p:nvSpPr>
          <p:cNvPr id="15" name="TextBox 14"/>
          <p:cNvSpPr txBox="1"/>
          <p:nvPr/>
        </p:nvSpPr>
        <p:spPr>
          <a:xfrm>
            <a:off x="9360551" y="6596788"/>
            <a:ext cx="287228" cy="138531"/>
          </a:xfrm>
          <a:prstGeom prst="rect">
            <a:avLst/>
          </a:prstGeom>
          <a:noFill/>
          <a:ln w="6350">
            <a:noFill/>
            <a:miter lim="800000"/>
          </a:ln>
        </p:spPr>
        <p:txBody>
          <a:bodyPr wrap="none" lIns="0" tIns="0" rIns="0" bIns="0" rtlCol="0" anchor="b" anchorCtr="0">
            <a:noAutofit/>
          </a:bodyPr>
          <a:lstStyle/>
          <a:p>
            <a:pPr algn="r"/>
            <a:fld id="{6CE8C368-3382-4C28-AE75-DF7C05ACA19D}" type="slidenum">
              <a:rPr lang="en-US" sz="900">
                <a:solidFill>
                  <a:srgbClr val="ADABA1"/>
                </a:solidFill>
              </a:rPr>
              <a:pPr algn="r"/>
              <a:t>‹#›</a:t>
            </a:fld>
            <a:endParaRPr lang="en-US" sz="900" dirty="0">
              <a:solidFill>
                <a:srgbClr val="ADABA1"/>
              </a:solidFill>
            </a:endParaRPr>
          </a:p>
        </p:txBody>
      </p:sp>
      <p:sp>
        <p:nvSpPr>
          <p:cNvPr id="19" name="Rectangle 27"/>
          <p:cNvSpPr>
            <a:spLocks noGrp="1" noChangeArrowheads="1"/>
          </p:cNvSpPr>
          <p:nvPr>
            <p:ph type="dt" sz="half" idx="2"/>
          </p:nvPr>
        </p:nvSpPr>
        <p:spPr bwMode="auto">
          <a:xfrm>
            <a:off x="4704598" y="6505766"/>
            <a:ext cx="495221" cy="165138"/>
          </a:xfrm>
          <a:prstGeom prst="rect">
            <a:avLst/>
          </a:prstGeom>
          <a:noFill/>
          <a:ln>
            <a:noFill/>
          </a:ln>
          <a:effectLst/>
        </p:spPr>
        <p:txBody>
          <a:bodyPr vert="horz" wrap="square" lIns="95793" tIns="47896" rIns="95793" bIns="47896" numCol="1" anchor="t" anchorCtr="0" compatLnSpc="1">
            <a:prstTxWarp prst="textNoShape">
              <a:avLst/>
            </a:prstTxWarp>
          </a:bodyPr>
          <a:lstStyle>
            <a:lvl1pPr algn="ctr" eaLnBrk="0" hangingPunct="0">
              <a:spcBef>
                <a:spcPct val="20000"/>
              </a:spcBef>
              <a:buClr>
                <a:schemeClr val="accent1"/>
              </a:buClr>
              <a:buSzPct val="85000"/>
              <a:buFontTx/>
              <a:buChar char="-"/>
              <a:defRPr sz="800" b="0" smtClean="0">
                <a:solidFill>
                  <a:srgbClr val="937632"/>
                </a:solidFill>
              </a:defRPr>
            </a:lvl1pPr>
          </a:lstStyle>
          <a:p>
            <a:pPr>
              <a:defRPr/>
            </a:pPr>
            <a:r>
              <a:rPr lang="en-US" altLang="zh-CN"/>
              <a:t>- </a:t>
            </a:r>
            <a:fld id="{D196C2D1-191C-4448-BECC-17644327C254}" type="slidenum">
              <a:rPr lang="en-US" altLang="zh-CN"/>
              <a:pPr>
                <a:defRPr/>
              </a:pPr>
              <a:t>‹#›</a:t>
            </a:fld>
            <a:r>
              <a:rPr lang="en-US" altLang="zh-CN"/>
              <a:t> -</a:t>
            </a:r>
          </a:p>
        </p:txBody>
      </p:sp>
      <p:sp>
        <p:nvSpPr>
          <p:cNvPr id="2" name="矩形 1"/>
          <p:cNvSpPr/>
          <p:nvPr userDrawn="1"/>
        </p:nvSpPr>
        <p:spPr>
          <a:xfrm>
            <a:off x="0" y="6626"/>
            <a:ext cx="9904413" cy="532706"/>
          </a:xfrm>
          <a:prstGeom prst="rect">
            <a:avLst/>
          </a:prstGeom>
          <a:solidFill>
            <a:srgbClr val="9B1717"/>
          </a:solidFill>
          <a:ln w="6350" cap="flat">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lgn="ctr">
              <a:lnSpc>
                <a:spcPct val="90000"/>
              </a:lnSpc>
              <a:spcBef>
                <a:spcPts val="900"/>
              </a:spcBef>
            </a:pPr>
            <a:endParaRPr lang="zh-CN" altLang="en-US" sz="1400" dirty="0" err="1" smtClean="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960138848"/>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Lst>
  <p:timing>
    <p:tnLst>
      <p:par>
        <p:cTn id="1" dur="indefinite" restart="never" nodeType="tmRoot"/>
      </p:par>
    </p:tnLst>
  </p:timing>
  <p:hf sldNum="0" hdr="0" ftr="0" dt="0"/>
  <p:txStyles>
    <p:titleStyle>
      <a:lvl1pPr marL="0" indent="0" algn="l" defTabSz="957984"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mj-ea"/>
          <a:cs typeface="Arial" pitchFamily="34" charset="0"/>
        </a:defRPr>
      </a:lvl1pPr>
    </p:titleStyle>
    <p:bodyStyle>
      <a:lvl1pPr marL="188580" indent="-188580" algn="l" defTabSz="957984" rtl="0" eaLnBrk="1" latinLnBrk="0" hangingPunct="1">
        <a:lnSpc>
          <a:spcPct val="90000"/>
        </a:lnSpc>
        <a:spcBef>
          <a:spcPts val="1467"/>
        </a:spcBef>
        <a:buClr>
          <a:schemeClr val="bg2"/>
        </a:buClr>
        <a:buSzPct val="100000"/>
        <a:buFont typeface="Arial" pitchFamily="34" charset="0"/>
        <a:buChar char="■"/>
        <a:defRPr sz="1700" kern="1200">
          <a:solidFill>
            <a:schemeClr val="tx1"/>
          </a:solidFill>
          <a:latin typeface="Palatino Linotype" panose="02040502050505030304" pitchFamily="18" charset="0"/>
          <a:ea typeface="+mn-ea"/>
          <a:cs typeface="Arial" pitchFamily="34" charset="0"/>
        </a:defRPr>
      </a:lvl1pPr>
      <a:lvl2pPr marL="325715" indent="-134119" algn="l" defTabSz="957984" rtl="0" eaLnBrk="1" latinLnBrk="0" hangingPunct="1">
        <a:lnSpc>
          <a:spcPct val="90000"/>
        </a:lnSpc>
        <a:spcBef>
          <a:spcPts val="943"/>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2pPr>
      <a:lvl3pPr marL="512937" indent="-188580" algn="l" defTabSz="957984" rtl="0" eaLnBrk="1" latinLnBrk="0" hangingPunct="1">
        <a:lnSpc>
          <a:spcPct val="90000"/>
        </a:lnSpc>
        <a:spcBef>
          <a:spcPts val="629"/>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3pPr>
      <a:lvl4pPr marL="663800" indent="-143698" algn="l" defTabSz="957984" rtl="0" eaLnBrk="1" latinLnBrk="0" hangingPunct="1">
        <a:lnSpc>
          <a:spcPct val="90000"/>
        </a:lnSpc>
        <a:spcBef>
          <a:spcPts val="210"/>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4pPr>
      <a:lvl5pPr marL="807121" indent="-143321" algn="l" defTabSz="957984" rtl="0" eaLnBrk="1" latinLnBrk="0" hangingPunct="1">
        <a:lnSpc>
          <a:spcPct val="90000"/>
        </a:lnSpc>
        <a:spcBef>
          <a:spcPts val="105"/>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5pPr>
      <a:lvl6pPr marL="2634458"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13451"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92442"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71435"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9pPr>
    </p:bodyStyle>
    <p:otherStyle>
      <a:defPPr>
        <a:defRPr lang="en-US"/>
      </a:defPPr>
      <a:lvl1pPr marL="0" algn="l" defTabSz="957984" rtl="0" eaLnBrk="1" latinLnBrk="0" hangingPunct="1">
        <a:defRPr sz="1900" kern="1200">
          <a:solidFill>
            <a:schemeClr val="tx1"/>
          </a:solidFill>
          <a:latin typeface="+mn-lt"/>
          <a:ea typeface="+mn-ea"/>
          <a:cs typeface="+mn-cs"/>
        </a:defRPr>
      </a:lvl1pPr>
      <a:lvl2pPr marL="478993" algn="l" defTabSz="957984" rtl="0" eaLnBrk="1" latinLnBrk="0" hangingPunct="1">
        <a:defRPr sz="1900" kern="1200">
          <a:solidFill>
            <a:schemeClr val="tx1"/>
          </a:solidFill>
          <a:latin typeface="+mn-lt"/>
          <a:ea typeface="+mn-ea"/>
          <a:cs typeface="+mn-cs"/>
        </a:defRPr>
      </a:lvl2pPr>
      <a:lvl3pPr marL="957984" algn="l" defTabSz="957984" rtl="0" eaLnBrk="1" latinLnBrk="0" hangingPunct="1">
        <a:defRPr sz="1900" kern="1200">
          <a:solidFill>
            <a:schemeClr val="tx1"/>
          </a:solidFill>
          <a:latin typeface="+mn-lt"/>
          <a:ea typeface="+mn-ea"/>
          <a:cs typeface="+mn-cs"/>
        </a:defRPr>
      </a:lvl3pPr>
      <a:lvl4pPr marL="1436977" algn="l" defTabSz="957984" rtl="0" eaLnBrk="1" latinLnBrk="0" hangingPunct="1">
        <a:defRPr sz="1900" kern="1200">
          <a:solidFill>
            <a:schemeClr val="tx1"/>
          </a:solidFill>
          <a:latin typeface="+mn-lt"/>
          <a:ea typeface="+mn-ea"/>
          <a:cs typeface="+mn-cs"/>
        </a:defRPr>
      </a:lvl4pPr>
      <a:lvl5pPr marL="1915969" algn="l" defTabSz="957984" rtl="0" eaLnBrk="1" latinLnBrk="0" hangingPunct="1">
        <a:defRPr sz="1900" kern="1200">
          <a:solidFill>
            <a:schemeClr val="tx1"/>
          </a:solidFill>
          <a:latin typeface="+mn-lt"/>
          <a:ea typeface="+mn-ea"/>
          <a:cs typeface="+mn-cs"/>
        </a:defRPr>
      </a:lvl5pPr>
      <a:lvl6pPr marL="2394962" algn="l" defTabSz="957984" rtl="0" eaLnBrk="1" latinLnBrk="0" hangingPunct="1">
        <a:defRPr sz="1900" kern="1200">
          <a:solidFill>
            <a:schemeClr val="tx1"/>
          </a:solidFill>
          <a:latin typeface="+mn-lt"/>
          <a:ea typeface="+mn-ea"/>
          <a:cs typeface="+mn-cs"/>
        </a:defRPr>
      </a:lvl6pPr>
      <a:lvl7pPr marL="2873953" algn="l" defTabSz="957984" rtl="0" eaLnBrk="1" latinLnBrk="0" hangingPunct="1">
        <a:defRPr sz="1900" kern="1200">
          <a:solidFill>
            <a:schemeClr val="tx1"/>
          </a:solidFill>
          <a:latin typeface="+mn-lt"/>
          <a:ea typeface="+mn-ea"/>
          <a:cs typeface="+mn-cs"/>
        </a:defRPr>
      </a:lvl7pPr>
      <a:lvl8pPr marL="3352947" algn="l" defTabSz="957984" rtl="0" eaLnBrk="1" latinLnBrk="0" hangingPunct="1">
        <a:defRPr sz="1900" kern="1200">
          <a:solidFill>
            <a:schemeClr val="tx1"/>
          </a:solidFill>
          <a:latin typeface="+mn-lt"/>
          <a:ea typeface="+mn-ea"/>
          <a:cs typeface="+mn-cs"/>
        </a:defRPr>
      </a:lvl8pPr>
      <a:lvl9pPr marL="3831939" algn="l" defTabSz="957984"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3.xml"/><Relationship Id="rId1" Type="http://schemas.openxmlformats.org/officeDocument/2006/relationships/vmlDrawing" Target="../drawings/vmlDrawing22.vml"/><Relationship Id="rId5" Type="http://schemas.openxmlformats.org/officeDocument/2006/relationships/image" Target="../media/image2.emf"/><Relationship Id="rId4" Type="http://schemas.openxmlformats.org/officeDocument/2006/relationships/oleObject" Target="../embeddings/oleObject6.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vmlDrawing" Target="../drawings/vmlDrawing23.vml"/><Relationship Id="rId5" Type="http://schemas.openxmlformats.org/officeDocument/2006/relationships/image" Target="../media/image2.emf"/><Relationship Id="rId4"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12.emf"/><Relationship Id="rId5" Type="http://schemas.openxmlformats.org/officeDocument/2006/relationships/oleObject" Target="../embeddings/oleObject8.bin"/><Relationship Id="rId4" Type="http://schemas.openxmlformats.org/officeDocument/2006/relationships/image" Target="../media/image11.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image" Target="../media/image21.tmp"/><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image" Target="../media/image23.tmp"/><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image" Target="../media/image27.tmp"/><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image" Target="../media/image29.tmp"/><Relationship Id="rId1" Type="http://schemas.openxmlformats.org/officeDocument/2006/relationships/slideLayout" Target="../slideLayouts/slideLayout17.xml"/><Relationship Id="rId4" Type="http://schemas.openxmlformats.org/officeDocument/2006/relationships/image" Target="../media/image31.tmp"/></Relationships>
</file>

<file path=ppt/slides/_rels/slide59.xml.rels><?xml version="1.0" encoding="UTF-8" standalone="yes"?>
<Relationships xmlns="http://schemas.openxmlformats.org/package/2006/relationships"><Relationship Id="rId3" Type="http://schemas.openxmlformats.org/officeDocument/2006/relationships/image" Target="../media/image33.tmp"/><Relationship Id="rId2" Type="http://schemas.openxmlformats.org/officeDocument/2006/relationships/image" Target="../media/image32.tmp"/><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3" Type="http://schemas.openxmlformats.org/officeDocument/2006/relationships/image" Target="../media/image35.tmp"/><Relationship Id="rId2" Type="http://schemas.openxmlformats.org/officeDocument/2006/relationships/image" Target="../media/image34.tmp"/><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hidden="1"/>
          <p:cNvGraphicFramePr>
            <a:graphicFrameLocks noChangeAspect="1"/>
          </p:cNvGraphicFramePr>
          <p:nvPr>
            <p:custDataLst>
              <p:tags r:id="rId2"/>
            </p:custDataLst>
            <p:extLst>
              <p:ext uri="{D42A27DB-BD31-4B8C-83A1-F6EECF244321}">
                <p14:modId xmlns:p14="http://schemas.microsoft.com/office/powerpoint/2010/main" val="1537821750"/>
              </p:ext>
            </p:extLst>
          </p:nvPr>
        </p:nvGraphicFramePr>
        <p:xfrm>
          <a:off x="1590" y="1590"/>
          <a:ext cx="1587" cy="1587"/>
        </p:xfrm>
        <a:graphic>
          <a:graphicData uri="http://schemas.openxmlformats.org/presentationml/2006/ole">
            <mc:AlternateContent xmlns:mc="http://schemas.openxmlformats.org/markup-compatibility/2006">
              <mc:Choice xmlns:v="urn:schemas-microsoft-com:vml" Requires="v">
                <p:oleObj spid="_x0000_s7443" name="think-cell Slide" r:id="rId4" imgW="465" imgH="457" progId="TCLayout.ActiveDocument.1">
                  <p:embed/>
                </p:oleObj>
              </mc:Choice>
              <mc:Fallback>
                <p:oleObj name="think-cell Slide" r:id="rId4" imgW="465" imgH="457" progId="TCLayout.ActiveDocument.1">
                  <p:embed/>
                  <p:pic>
                    <p:nvPicPr>
                      <p:cNvPr id="0" name=""/>
                      <p:cNvPicPr/>
                      <p:nvPr/>
                    </p:nvPicPr>
                    <p:blipFill>
                      <a:blip r:embed="rId5"/>
                      <a:stretch>
                        <a:fillRect/>
                      </a:stretch>
                    </p:blipFill>
                    <p:spPr>
                      <a:xfrm>
                        <a:off x="1590" y="1590"/>
                        <a:ext cx="1587" cy="1587"/>
                      </a:xfrm>
                      <a:prstGeom prst="rect">
                        <a:avLst/>
                      </a:prstGeom>
                    </p:spPr>
                  </p:pic>
                </p:oleObj>
              </mc:Fallback>
            </mc:AlternateContent>
          </a:graphicData>
        </a:graphic>
      </p:graphicFrame>
      <p:sp>
        <p:nvSpPr>
          <p:cNvPr id="9" name="文本占位符 8"/>
          <p:cNvSpPr>
            <a:spLocks noGrp="1"/>
          </p:cNvSpPr>
          <p:nvPr>
            <p:ph type="body" sz="quarter" idx="16"/>
          </p:nvPr>
        </p:nvSpPr>
        <p:spPr>
          <a:xfrm>
            <a:off x="3800079" y="4797852"/>
            <a:ext cx="3564396" cy="1154162"/>
          </a:xfrm>
        </p:spPr>
        <p:txBody>
          <a:bodyPr/>
          <a:lstStyle/>
          <a:p>
            <a:pPr>
              <a:lnSpc>
                <a:spcPts val="3000"/>
              </a:lnSpc>
            </a:pPr>
            <a:r>
              <a:rPr lang="en-US" sz="2000" dirty="0">
                <a:latin typeface="Times New Roman" panose="02020603050405020304" pitchFamily="18" charset="0"/>
                <a:cs typeface="Times New Roman" panose="02020603050405020304" pitchFamily="18" charset="0"/>
              </a:rPr>
              <a:t>Name:    </a:t>
            </a:r>
            <a:r>
              <a:rPr lang="en-US" altLang="zh-CN" sz="2000" dirty="0" smtClean="0">
                <a:latin typeface="Times New Roman" panose="02020603050405020304" pitchFamily="18" charset="0"/>
                <a:cs typeface="Times New Roman" panose="02020603050405020304" pitchFamily="18" charset="0"/>
              </a:rPr>
              <a:t>Bo PANG   </a:t>
            </a:r>
            <a:r>
              <a:rPr lang="zh-CN" altLang="en-US" sz="2000" dirty="0" smtClean="0">
                <a:latin typeface="Times New Roman" panose="02020603050405020304" pitchFamily="18" charset="0"/>
                <a:cs typeface="Times New Roman" panose="02020603050405020304" pitchFamily="18" charset="0"/>
              </a:rPr>
              <a:t>庞博</a:t>
            </a:r>
            <a:endParaRPr lang="en-US" altLang="zh-CN" sz="2000" dirty="0">
              <a:latin typeface="宋体" panose="02010600030101010101" pitchFamily="2" charset="-122"/>
              <a:ea typeface="宋体" panose="02010600030101010101" pitchFamily="2" charset="-122"/>
              <a:cs typeface="Times New Roman" panose="02020603050405020304" pitchFamily="18" charset="0"/>
            </a:endParaRPr>
          </a:p>
          <a:p>
            <a:pPr>
              <a:lnSpc>
                <a:spcPts val="3000"/>
              </a:lnSpc>
            </a:pPr>
            <a:r>
              <a:rPr lang="en-US" sz="2000" dirty="0">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rPr>
              <a:t>ajor:    </a:t>
            </a:r>
            <a:r>
              <a:rPr lang="en-US" altLang="zh-CN" sz="2000" dirty="0" smtClean="0">
                <a:latin typeface="Times New Roman" panose="02020603050405020304" pitchFamily="18" charset="0"/>
                <a:cs typeface="Times New Roman" panose="02020603050405020304" pitchFamily="18" charset="0"/>
              </a:rPr>
              <a:t>Economics          </a:t>
            </a:r>
          </a:p>
          <a:p>
            <a:pPr>
              <a:lnSpc>
                <a:spcPts val="3000"/>
              </a:lnSpc>
            </a:pPr>
            <a:r>
              <a:rPr lang="en-US" altLang="zh-CN" sz="2000" dirty="0" smtClean="0">
                <a:latin typeface="Times New Roman" panose="02020603050405020304" pitchFamily="18" charset="0"/>
                <a:cs typeface="Times New Roman" panose="02020603050405020304" pitchFamily="18" charset="0"/>
              </a:rPr>
              <a:t>School:  Peking University</a:t>
            </a:r>
            <a:endParaRPr lang="en-US" altLang="zh-CN" sz="2000" dirty="0">
              <a:latin typeface="Times New Roman" panose="02020603050405020304" pitchFamily="18" charset="0"/>
              <a:cs typeface="Times New Roman" panose="02020603050405020304" pitchFamily="18" charset="0"/>
            </a:endParaRPr>
          </a:p>
          <a:p>
            <a:pPr>
              <a:lnSpc>
                <a:spcPts val="3000"/>
              </a:lnSpc>
            </a:pPr>
            <a:r>
              <a:rPr lang="en-US" sz="2000" dirty="0">
                <a:latin typeface="Times New Roman" panose="02020603050405020304" pitchFamily="18" charset="0"/>
                <a:cs typeface="Times New Roman" panose="02020603050405020304" pitchFamily="18" charset="0"/>
              </a:rPr>
              <a:t>Date:      </a:t>
            </a:r>
            <a:r>
              <a:rPr lang="en-US" sz="2000" dirty="0" smtClean="0">
                <a:latin typeface="Times New Roman" panose="02020603050405020304" pitchFamily="18" charset="0"/>
                <a:cs typeface="Times New Roman" panose="02020603050405020304" pitchFamily="18" charset="0"/>
              </a:rPr>
              <a:t>2023-05</a:t>
            </a:r>
            <a:endParaRPr lang="en-US" sz="2000" dirty="0">
              <a:latin typeface="Times New Roman" panose="02020603050405020304" pitchFamily="18" charset="0"/>
              <a:cs typeface="Times New Roman" panose="02020603050405020304" pitchFamily="18" charset="0"/>
            </a:endParaRPr>
          </a:p>
        </p:txBody>
      </p:sp>
      <p:sp>
        <p:nvSpPr>
          <p:cNvPr id="3" name="副标题 2">
            <a:extLst>
              <a:ext uri="{FF2B5EF4-FFF2-40B4-BE49-F238E27FC236}">
                <a16:creationId xmlns:a16="http://schemas.microsoft.com/office/drawing/2014/main" id="{D58463AA-4233-438A-9833-79ED7914084E}"/>
              </a:ext>
            </a:extLst>
          </p:cNvPr>
          <p:cNvSpPr>
            <a:spLocks noGrp="1"/>
          </p:cNvSpPr>
          <p:nvPr>
            <p:ph type="subTitle" idx="1"/>
          </p:nvPr>
        </p:nvSpPr>
        <p:spPr>
          <a:xfrm>
            <a:off x="-160362" y="3047173"/>
            <a:ext cx="10252624" cy="780214"/>
          </a:xfrm>
        </p:spPr>
        <p:txBody>
          <a:bodyPr/>
          <a:lstStyle/>
          <a:p>
            <a:pPr algn="ctr"/>
            <a:r>
              <a:rPr lang="en-US" altLang="zh-CN" sz="2400" b="0" dirty="0" smtClean="0">
                <a:latin typeface="Times New Roman" panose="02020603050405020304" pitchFamily="18" charset="0"/>
                <a:cs typeface="Times New Roman" panose="02020603050405020304" pitchFamily="18" charset="0"/>
              </a:rPr>
              <a:t>Review of previous research</a:t>
            </a:r>
            <a:endParaRPr lang="zh-CN" altLang="en-US" sz="2400" b="0" dirty="0">
              <a:latin typeface="Times New Roman" panose="02020603050405020304" pitchFamily="18" charset="0"/>
              <a:cs typeface="Times New Roman" panose="02020603050405020304" pitchFamily="18" charset="0"/>
            </a:endParaRPr>
          </a:p>
        </p:txBody>
      </p:sp>
      <p:sp>
        <p:nvSpPr>
          <p:cNvPr id="8" name="文本框 7"/>
          <p:cNvSpPr txBox="1"/>
          <p:nvPr/>
        </p:nvSpPr>
        <p:spPr>
          <a:xfrm>
            <a:off x="3007990" y="225438"/>
            <a:ext cx="6768752" cy="387798"/>
          </a:xfrm>
          <a:prstGeom prst="rect">
            <a:avLst/>
          </a:prstGeom>
          <a:noFill/>
          <a:ln w="6350" cap="flat">
            <a:noFill/>
            <a:miter lim="800000"/>
          </a:ln>
        </p:spPr>
        <p:txBody>
          <a:bodyPr wrap="square" lIns="0" tIns="0" rIns="0" bIns="0" rtlCol="0" anchor="t" anchorCtr="0">
            <a:spAutoFit/>
          </a:bodyPr>
          <a:lstStyle/>
          <a:p>
            <a:pPr>
              <a:lnSpc>
                <a:spcPct val="90000"/>
              </a:lnSpc>
              <a:spcBef>
                <a:spcPts val="600"/>
              </a:spcBef>
              <a:buClr>
                <a:schemeClr val="bg2"/>
              </a:buClr>
            </a:pPr>
            <a:r>
              <a:rPr lang="en-US" altLang="zh-CN" sz="2800" dirty="0" smtClean="0">
                <a:solidFill>
                  <a:schemeClr val="bg1"/>
                </a:solidFill>
                <a:latin typeface="Times New Roman" panose="02020603050405020304" pitchFamily="18" charset="0"/>
                <a:cs typeface="Times New Roman" panose="02020603050405020304" pitchFamily="18" charset="0"/>
              </a:rPr>
              <a:t>CUHK(SZ) Online Interview </a:t>
            </a:r>
            <a:r>
              <a:rPr lang="en-US" altLang="zh-CN" sz="2800" dirty="0">
                <a:solidFill>
                  <a:schemeClr val="bg1"/>
                </a:solidFill>
                <a:latin typeface="Times New Roman" panose="02020603050405020304" pitchFamily="18" charset="0"/>
                <a:cs typeface="Times New Roman" panose="02020603050405020304" pitchFamily="18" charset="0"/>
              </a:rPr>
              <a:t>Thesis Defense</a:t>
            </a:r>
            <a:endParaRPr lang="zh-CN" altLang="en-US" sz="2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124788"/>
      </p:ext>
    </p:extLst>
  </p:cSld>
  <p:clrMapOvr>
    <a:masterClrMapping/>
  </p:clrMapOvr>
  <mc:AlternateContent xmlns:mc="http://schemas.openxmlformats.org/markup-compatibility/2006" xmlns:p14="http://schemas.microsoft.com/office/powerpoint/2010/main">
    <mc:Choice Requires="p14">
      <p:transition spd="slow" p14:dur="2000" advTm="2318"/>
    </mc:Choice>
    <mc:Fallback xmlns="">
      <p:transition spd="slow" advTm="2318"/>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864657" y="2984396"/>
            <a:ext cx="9926405"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rgbClr val="C00000"/>
                </a:solidFill>
                <a:latin typeface="Times New Roman" panose="02020603050405020304" pitchFamily="18" charset="0"/>
                <a:ea typeface="等线" panose="02010600030101010101" pitchFamily="2" charset="-122"/>
              </a:rPr>
              <a:t>Ⅰ</a:t>
            </a:r>
            <a:r>
              <a:rPr lang="en-US" altLang="zh-CN" sz="1800" b="1" dirty="0">
                <a:solidFill>
                  <a:srgbClr val="C00000"/>
                </a:solidFill>
                <a:latin typeface="Times New Roman" panose="02020603050405020304" pitchFamily="18" charset="0"/>
                <a:ea typeface="等线" panose="02010600030101010101" pitchFamily="2" charset="-122"/>
              </a:rPr>
              <a:t>. </a:t>
            </a:r>
            <a:r>
              <a:rPr lang="en-US" altLang="zh-CN" sz="1800" b="1" dirty="0" smtClean="0">
                <a:solidFill>
                  <a:srgbClr val="C00000"/>
                </a:solidFill>
                <a:latin typeface="Times New Roman" panose="02020603050405020304" pitchFamily="18" charset="0"/>
                <a:ea typeface="等线" panose="02010600030101010101" pitchFamily="2" charset="-122"/>
              </a:rPr>
              <a:t>Analysis of convenience yield on cryptocurrency market</a:t>
            </a:r>
          </a:p>
          <a:p>
            <a:pPr marL="821884" lvl="1" indent="-342921">
              <a:lnSpc>
                <a:spcPts val="2800"/>
              </a:lnSpc>
              <a:buFont typeface="Wingdings" panose="05000000000000000000" pitchFamily="2" charset="2"/>
              <a:buChar char="Ø"/>
            </a:pPr>
            <a:r>
              <a:rPr lang="en-US" altLang="zh-CN" sz="1200" b="1" dirty="0" smtClean="0">
                <a:solidFill>
                  <a:srgbClr val="C00000"/>
                </a:solidFill>
                <a:latin typeface="Times New Roman" panose="02020603050405020304" pitchFamily="18" charset="0"/>
                <a:ea typeface="等线" panose="02010600030101010101" pitchFamily="2" charset="-122"/>
              </a:rPr>
              <a:t>(Finance) Market microstructure topic</a:t>
            </a:r>
          </a:p>
          <a:p>
            <a:pPr marL="342921" indent="-342921">
              <a:lnSpc>
                <a:spcPts val="2800"/>
              </a:lnSpc>
              <a:buFont typeface="Wingdings" panose="05000000000000000000" pitchFamily="2" charset="2"/>
              <a:buChar char="Ø"/>
            </a:pPr>
            <a:r>
              <a:rPr lang="en-US" altLang="zh-CN" sz="1800" b="1" dirty="0" smtClean="0">
                <a:solidFill>
                  <a:srgbClr val="C00000"/>
                </a:solidFill>
                <a:latin typeface="Times New Roman" panose="02020603050405020304" pitchFamily="18" charset="0"/>
                <a:ea typeface="等线" panose="02010600030101010101" pitchFamily="2" charset="-122"/>
              </a:rPr>
              <a:t>Ⅱ</a:t>
            </a:r>
            <a:r>
              <a:rPr lang="en-US" altLang="zh-CN" sz="1800" b="1" dirty="0">
                <a:solidFill>
                  <a:srgbClr val="C00000"/>
                </a:solidFill>
                <a:latin typeface="Times New Roman" panose="02020603050405020304" pitchFamily="18" charset="0"/>
                <a:ea typeface="等线" panose="02010600030101010101" pitchFamily="2" charset="-122"/>
              </a:rPr>
              <a:t>. </a:t>
            </a:r>
            <a:r>
              <a:rPr lang="en-US" altLang="zh-CN" sz="1800" b="1" dirty="0" smtClean="0">
                <a:solidFill>
                  <a:srgbClr val="C00000"/>
                </a:solidFill>
                <a:latin typeface="Times New Roman" panose="02020603050405020304" pitchFamily="18" charset="0"/>
                <a:ea typeface="等线" panose="02010600030101010101" pitchFamily="2" charset="-122"/>
              </a:rPr>
              <a:t>Empirical </a:t>
            </a:r>
            <a:r>
              <a:rPr lang="en-US" altLang="zh-CN" sz="1800" b="1" dirty="0">
                <a:solidFill>
                  <a:srgbClr val="C00000"/>
                </a:solidFill>
                <a:latin typeface="Times New Roman" panose="02020603050405020304" pitchFamily="18" charset="0"/>
                <a:ea typeface="等线" panose="02010600030101010101" pitchFamily="2" charset="-122"/>
              </a:rPr>
              <a:t>study on the herding effect and its causes of stock funds in </a:t>
            </a:r>
            <a:r>
              <a:rPr lang="en-US" altLang="zh-CN" sz="1800" b="1" dirty="0" smtClean="0">
                <a:solidFill>
                  <a:srgbClr val="C00000"/>
                </a:solidFill>
                <a:latin typeface="Times New Roman" panose="02020603050405020304" pitchFamily="18" charset="0"/>
                <a:ea typeface="等线" panose="02010600030101010101" pitchFamily="2" charset="-122"/>
              </a:rPr>
              <a:t>China</a:t>
            </a:r>
          </a:p>
          <a:p>
            <a:pPr marL="821884" lvl="1" indent="-342921">
              <a:lnSpc>
                <a:spcPts val="2800"/>
              </a:lnSpc>
              <a:buFont typeface="Wingdings" panose="05000000000000000000" pitchFamily="2" charset="2"/>
              <a:buChar char="Ø"/>
            </a:pPr>
            <a:r>
              <a:rPr lang="en-US" altLang="zh-CN" sz="1200" b="1" dirty="0">
                <a:solidFill>
                  <a:srgbClr val="C00000"/>
                </a:solidFill>
                <a:latin typeface="Times New Roman" panose="02020603050405020304" pitchFamily="18" charset="0"/>
                <a:ea typeface="等线" panose="02010600030101010101" pitchFamily="2" charset="-122"/>
              </a:rPr>
              <a:t>(Finance) </a:t>
            </a:r>
            <a:r>
              <a:rPr lang="en-US" altLang="zh-CN" sz="1200" b="1" dirty="0" smtClean="0">
                <a:solidFill>
                  <a:srgbClr val="C00000"/>
                </a:solidFill>
                <a:latin typeface="Times New Roman" panose="02020603050405020304" pitchFamily="18" charset="0"/>
                <a:ea typeface="等线" panose="02010600030101010101" pitchFamily="2" charset="-122"/>
              </a:rPr>
              <a:t>Behavior finance topic</a:t>
            </a:r>
          </a:p>
          <a:p>
            <a:pPr marL="342921" indent="-342921">
              <a:lnSpc>
                <a:spcPts val="2800"/>
              </a:lnSpc>
              <a:buFont typeface="Wingdings" panose="05000000000000000000" pitchFamily="2" charset="2"/>
              <a:buChar char="Ø"/>
            </a:pPr>
            <a:r>
              <a:rPr lang="en-US" altLang="zh-CN" sz="1800" b="1" dirty="0" smtClean="0">
                <a:solidFill>
                  <a:srgbClr val="C00000"/>
                </a:solidFill>
                <a:latin typeface="Times New Roman" panose="02020603050405020304" pitchFamily="18" charset="0"/>
                <a:ea typeface="等线" panose="02010600030101010101" pitchFamily="2" charset="-122"/>
              </a:rPr>
              <a:t>Ⅲ. Empirical asset pricing via machine learning in the Chinese Stock Market </a:t>
            </a:r>
          </a:p>
          <a:p>
            <a:pPr marL="821884" lvl="1" indent="-342921">
              <a:lnSpc>
                <a:spcPts val="2800"/>
              </a:lnSpc>
              <a:buFont typeface="Wingdings" panose="05000000000000000000" pitchFamily="2" charset="2"/>
              <a:buChar char="Ø"/>
            </a:pPr>
            <a:r>
              <a:rPr lang="en-US" altLang="zh-CN" sz="1200" b="1" dirty="0" smtClean="0">
                <a:solidFill>
                  <a:srgbClr val="C00000"/>
                </a:solidFill>
                <a:latin typeface="Times New Roman" panose="02020603050405020304" pitchFamily="18" charset="0"/>
                <a:ea typeface="等线" panose="02010600030101010101" pitchFamily="2" charset="-122"/>
              </a:rPr>
              <a:t>(Accounting) Financial Accounting and Data Science topic</a:t>
            </a:r>
          </a:p>
          <a:p>
            <a:pPr marL="342921" indent="-342921">
              <a:lnSpc>
                <a:spcPts val="2800"/>
              </a:lnSpc>
              <a:buFont typeface="Wingdings" panose="05000000000000000000" pitchFamily="2" charset="2"/>
              <a:buChar char="Ø"/>
            </a:pPr>
            <a:r>
              <a:rPr lang="en-US" altLang="zh-CN" sz="1800" b="1" dirty="0" smtClean="0">
                <a:latin typeface="Times New Roman" panose="02020603050405020304" pitchFamily="18" charset="0"/>
                <a:ea typeface="等线" panose="02010600030101010101" pitchFamily="2" charset="-122"/>
              </a:rPr>
              <a:t>IV</a:t>
            </a:r>
            <a:r>
              <a:rPr lang="en-US" altLang="zh-CN" sz="1800" b="1" dirty="0">
                <a:latin typeface="Times New Roman" panose="02020603050405020304" pitchFamily="18" charset="0"/>
                <a:ea typeface="等线" panose="02010600030101010101" pitchFamily="2" charset="-122"/>
              </a:rPr>
              <a:t>. Analysis of factors and changes affecting fund </a:t>
            </a:r>
            <a:r>
              <a:rPr lang="en-US" altLang="zh-CN" sz="1800" b="1" dirty="0" smtClean="0">
                <a:latin typeface="Times New Roman" panose="02020603050405020304" pitchFamily="18" charset="0"/>
                <a:ea typeface="等线" panose="02010600030101010101" pitchFamily="2" charset="-122"/>
              </a:rPr>
              <a:t>performance in PCA</a:t>
            </a:r>
          </a:p>
          <a:p>
            <a:pPr marL="821884" lvl="1" indent="-342921">
              <a:lnSpc>
                <a:spcPts val="2800"/>
              </a:lnSpc>
              <a:buFont typeface="Wingdings" panose="05000000000000000000" pitchFamily="2" charset="2"/>
              <a:buChar char="Ø"/>
            </a:pPr>
            <a:r>
              <a:rPr lang="en-US" altLang="zh-CN" sz="1200" b="1" dirty="0" smtClean="0">
                <a:latin typeface="Times New Roman" panose="02020603050405020304" pitchFamily="18" charset="0"/>
                <a:ea typeface="等线" panose="02010600030101010101" pitchFamily="2" charset="-122"/>
              </a:rPr>
              <a:t>(Statistics) </a:t>
            </a:r>
            <a:r>
              <a:rPr lang="en-US" altLang="zh-CN" sz="1200" b="1" dirty="0">
                <a:latin typeface="Times New Roman" panose="02020603050405020304" pitchFamily="18" charset="0"/>
                <a:ea typeface="等线" panose="02010600030101010101" pitchFamily="2" charset="-122"/>
              </a:rPr>
              <a:t>Applied </a:t>
            </a:r>
            <a:r>
              <a:rPr lang="en-US" altLang="zh-CN" sz="1200" b="1" dirty="0" smtClean="0">
                <a:latin typeface="Times New Roman" panose="02020603050405020304" pitchFamily="18" charset="0"/>
                <a:ea typeface="等线" panose="02010600030101010101" pitchFamily="2" charset="-122"/>
              </a:rPr>
              <a:t>Statistics topic   TBD</a:t>
            </a:r>
          </a:p>
          <a:p>
            <a:pPr marL="342921" indent="-342921">
              <a:lnSpc>
                <a:spcPts val="2800"/>
              </a:lnSpc>
              <a:buFont typeface="Wingdings" panose="05000000000000000000" pitchFamily="2" charset="2"/>
              <a:buChar char="Ø"/>
            </a:pPr>
            <a:r>
              <a:rPr lang="en-US" altLang="zh-CN" sz="1800" b="1" dirty="0" smtClean="0">
                <a:solidFill>
                  <a:srgbClr val="9B1717"/>
                </a:solidFill>
                <a:latin typeface="Times New Roman" panose="02020603050405020304" pitchFamily="18" charset="0"/>
                <a:ea typeface="等线" panose="02010600030101010101" pitchFamily="2" charset="-122"/>
              </a:rPr>
              <a:t>V</a:t>
            </a:r>
            <a:r>
              <a:rPr lang="en-US" altLang="zh-CN" sz="1800" b="1" dirty="0">
                <a:solidFill>
                  <a:srgbClr val="9B1717"/>
                </a:solidFill>
                <a:latin typeface="Times New Roman" panose="02020603050405020304" pitchFamily="18" charset="0"/>
                <a:ea typeface="等线" panose="02010600030101010101" pitchFamily="2" charset="-122"/>
              </a:rPr>
              <a:t>. </a:t>
            </a:r>
            <a:r>
              <a:rPr lang="en-US" altLang="zh-CN" sz="1800" b="1" dirty="0" smtClean="0">
                <a:solidFill>
                  <a:srgbClr val="9B1717"/>
                </a:solidFill>
                <a:latin typeface="Times New Roman" panose="02020603050405020304" pitchFamily="18" charset="0"/>
                <a:ea typeface="等线" panose="02010600030101010101" pitchFamily="2" charset="-122"/>
              </a:rPr>
              <a:t>Proposal on data assets</a:t>
            </a:r>
            <a:endParaRPr lang="en-US" altLang="zh-CN" sz="1800" b="1" dirty="0" smtClean="0">
              <a:solidFill>
                <a:srgbClr val="9B1717"/>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200" b="1" dirty="0">
                <a:solidFill>
                  <a:schemeClr val="bg2"/>
                </a:solidFill>
                <a:latin typeface="Times New Roman" panose="02020603050405020304" pitchFamily="18" charset="0"/>
                <a:ea typeface="等线" panose="02010600030101010101" pitchFamily="2" charset="-122"/>
              </a:rPr>
              <a:t>Research on the Relationship between Data Assets and Capital Market</a:t>
            </a:r>
          </a:p>
          <a:p>
            <a:pPr marL="821884" lvl="1" indent="-342921">
              <a:lnSpc>
                <a:spcPts val="2800"/>
              </a:lnSpc>
              <a:buFont typeface="Wingdings" panose="05000000000000000000" pitchFamily="2" charset="2"/>
              <a:buChar char="Ø"/>
            </a:pPr>
            <a:endParaRPr lang="en-US" altLang="zh-CN" sz="1200" b="1"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415702"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Roadmap</a:t>
            </a:r>
            <a:endParaRPr lang="en-US" altLang="zh-CN" sz="2400" dirty="0">
              <a:solidFill>
                <a:schemeClr val="bg1"/>
              </a:solidFill>
            </a:endParaRPr>
          </a:p>
        </p:txBody>
      </p:sp>
      <p:sp>
        <p:nvSpPr>
          <p:cNvPr id="4" name="副标题 2">
            <a:extLst>
              <a:ext uri="{FF2B5EF4-FFF2-40B4-BE49-F238E27FC236}">
                <a16:creationId xmlns:a16="http://schemas.microsoft.com/office/drawing/2014/main" id="{D58463AA-4233-438A-9833-79ED7914084E}"/>
              </a:ext>
            </a:extLst>
          </p:cNvPr>
          <p:cNvSpPr txBox="1">
            <a:spLocks/>
          </p:cNvSpPr>
          <p:nvPr/>
        </p:nvSpPr>
        <p:spPr>
          <a:xfrm>
            <a:off x="-338340" y="2594289"/>
            <a:ext cx="10252624" cy="780214"/>
          </a:xfrm>
          <a:prstGeom prst="rect">
            <a:avLst/>
          </a:prstGeom>
        </p:spPr>
        <p:txBody>
          <a:bodyPr/>
          <a:lstStyle>
            <a:lvl1pPr marL="188580" indent="-188580" algn="l" defTabSz="957984" rtl="0" eaLnBrk="1" latinLnBrk="0" hangingPunct="1">
              <a:lnSpc>
                <a:spcPct val="90000"/>
              </a:lnSpc>
              <a:spcBef>
                <a:spcPts val="1467"/>
              </a:spcBef>
              <a:buClr>
                <a:schemeClr val="bg2"/>
              </a:buClr>
              <a:buSzPct val="100000"/>
              <a:buFont typeface="Arial" pitchFamily="34" charset="0"/>
              <a:buChar char="■"/>
              <a:defRPr sz="1700" kern="1200">
                <a:solidFill>
                  <a:schemeClr val="tx1"/>
                </a:solidFill>
                <a:latin typeface="Palatino Linotype" panose="02040502050505030304" pitchFamily="18" charset="0"/>
                <a:ea typeface="+mn-ea"/>
                <a:cs typeface="Arial" pitchFamily="34" charset="0"/>
              </a:defRPr>
            </a:lvl1pPr>
            <a:lvl2pPr marL="325715" indent="-134119" algn="l" defTabSz="957984" rtl="0" eaLnBrk="1" latinLnBrk="0" hangingPunct="1">
              <a:lnSpc>
                <a:spcPct val="90000"/>
              </a:lnSpc>
              <a:spcBef>
                <a:spcPts val="943"/>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2pPr>
            <a:lvl3pPr marL="512937" indent="-188580" algn="l" defTabSz="957984" rtl="0" eaLnBrk="1" latinLnBrk="0" hangingPunct="1">
              <a:lnSpc>
                <a:spcPct val="90000"/>
              </a:lnSpc>
              <a:spcBef>
                <a:spcPts val="629"/>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3pPr>
            <a:lvl4pPr marL="663800" indent="-143698" algn="l" defTabSz="957984" rtl="0" eaLnBrk="1" latinLnBrk="0" hangingPunct="1">
              <a:lnSpc>
                <a:spcPct val="90000"/>
              </a:lnSpc>
              <a:spcBef>
                <a:spcPts val="210"/>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4pPr>
            <a:lvl5pPr marL="807121" indent="-143321" algn="l" defTabSz="957984" rtl="0" eaLnBrk="1" latinLnBrk="0" hangingPunct="1">
              <a:lnSpc>
                <a:spcPct val="90000"/>
              </a:lnSpc>
              <a:spcBef>
                <a:spcPts val="105"/>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5pPr>
            <a:lvl6pPr marL="2634458"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13451"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92442"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71435"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9pPr>
          </a:lstStyle>
          <a:p>
            <a:pPr marL="0" indent="0" algn="ctr" defTabSz="957925">
              <a:lnSpc>
                <a:spcPts val="2800"/>
              </a:lnSpc>
              <a:spcBef>
                <a:spcPct val="0"/>
              </a:spcBef>
              <a:buNone/>
            </a:pPr>
            <a:r>
              <a:rPr lang="en-US" altLang="zh-CN" sz="2400" b="1" dirty="0" smtClean="0">
                <a:solidFill>
                  <a:schemeClr val="bg2"/>
                </a:solidFill>
                <a:latin typeface="Times New Roman" panose="02020603050405020304" pitchFamily="18" charset="0"/>
                <a:ea typeface="等线" panose="02010600030101010101" pitchFamily="2" charset="-122"/>
              </a:rPr>
              <a:t>Papers</a:t>
            </a:r>
            <a:endParaRPr lang="zh-CN" altLang="en-US" sz="2400" b="1" dirty="0">
              <a:solidFill>
                <a:schemeClr val="bg2"/>
              </a:solidFill>
              <a:latin typeface="Times New Roman" panose="02020603050405020304" pitchFamily="18" charset="0"/>
              <a:ea typeface="等线" panose="02010600030101010101" pitchFamily="2" charset="-122"/>
            </a:endParaRPr>
          </a:p>
        </p:txBody>
      </p:sp>
      <p:sp>
        <p:nvSpPr>
          <p:cNvPr id="5" name="副标题 2">
            <a:extLst>
              <a:ext uri="{FF2B5EF4-FFF2-40B4-BE49-F238E27FC236}">
                <a16:creationId xmlns:a16="http://schemas.microsoft.com/office/drawing/2014/main" id="{D58463AA-4233-438A-9833-79ED7914084E}"/>
              </a:ext>
            </a:extLst>
          </p:cNvPr>
          <p:cNvSpPr txBox="1">
            <a:spLocks/>
          </p:cNvSpPr>
          <p:nvPr/>
        </p:nvSpPr>
        <p:spPr>
          <a:xfrm>
            <a:off x="-338340" y="820676"/>
            <a:ext cx="10252624" cy="526020"/>
          </a:xfrm>
          <a:prstGeom prst="rect">
            <a:avLst/>
          </a:prstGeom>
        </p:spPr>
        <p:txBody>
          <a:bodyPr/>
          <a:lstStyle>
            <a:lvl1pPr marL="188580" indent="-188580" algn="l" defTabSz="957984" rtl="0" eaLnBrk="1" latinLnBrk="0" hangingPunct="1">
              <a:lnSpc>
                <a:spcPct val="90000"/>
              </a:lnSpc>
              <a:spcBef>
                <a:spcPts val="1467"/>
              </a:spcBef>
              <a:buClr>
                <a:schemeClr val="bg2"/>
              </a:buClr>
              <a:buSzPct val="100000"/>
              <a:buFont typeface="Arial" pitchFamily="34" charset="0"/>
              <a:buChar char="■"/>
              <a:defRPr sz="1700" kern="1200">
                <a:solidFill>
                  <a:schemeClr val="tx1"/>
                </a:solidFill>
                <a:latin typeface="Palatino Linotype" panose="02040502050505030304" pitchFamily="18" charset="0"/>
                <a:ea typeface="+mn-ea"/>
                <a:cs typeface="Arial" pitchFamily="34" charset="0"/>
              </a:defRPr>
            </a:lvl1pPr>
            <a:lvl2pPr marL="325715" indent="-134119" algn="l" defTabSz="957984" rtl="0" eaLnBrk="1" latinLnBrk="0" hangingPunct="1">
              <a:lnSpc>
                <a:spcPct val="90000"/>
              </a:lnSpc>
              <a:spcBef>
                <a:spcPts val="943"/>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2pPr>
            <a:lvl3pPr marL="512937" indent="-188580" algn="l" defTabSz="957984" rtl="0" eaLnBrk="1" latinLnBrk="0" hangingPunct="1">
              <a:lnSpc>
                <a:spcPct val="90000"/>
              </a:lnSpc>
              <a:spcBef>
                <a:spcPts val="629"/>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3pPr>
            <a:lvl4pPr marL="663800" indent="-143698" algn="l" defTabSz="957984" rtl="0" eaLnBrk="1" latinLnBrk="0" hangingPunct="1">
              <a:lnSpc>
                <a:spcPct val="90000"/>
              </a:lnSpc>
              <a:spcBef>
                <a:spcPts val="210"/>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4pPr>
            <a:lvl5pPr marL="807121" indent="-143321" algn="l" defTabSz="957984" rtl="0" eaLnBrk="1" latinLnBrk="0" hangingPunct="1">
              <a:lnSpc>
                <a:spcPct val="90000"/>
              </a:lnSpc>
              <a:spcBef>
                <a:spcPts val="105"/>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5pPr>
            <a:lvl6pPr marL="2634458"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13451"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92442"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71435"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9pPr>
          </a:lstStyle>
          <a:p>
            <a:pPr marL="0" indent="0" algn="ctr" defTabSz="957925">
              <a:lnSpc>
                <a:spcPts val="2800"/>
              </a:lnSpc>
              <a:spcBef>
                <a:spcPct val="0"/>
              </a:spcBef>
              <a:buNone/>
            </a:pPr>
            <a:r>
              <a:rPr lang="en-US" altLang="zh-CN" sz="2400" b="1" dirty="0" smtClean="0">
                <a:solidFill>
                  <a:schemeClr val="bg2"/>
                </a:solidFill>
                <a:latin typeface="Times New Roman" panose="02020603050405020304" pitchFamily="18" charset="0"/>
                <a:ea typeface="等线" panose="02010600030101010101" pitchFamily="2" charset="-122"/>
              </a:rPr>
              <a:t>Education Background</a:t>
            </a:r>
            <a:endParaRPr lang="zh-CN" altLang="en-US" sz="2400" b="1" dirty="0">
              <a:solidFill>
                <a:schemeClr val="bg2"/>
              </a:solidFill>
              <a:latin typeface="Times New Roman" panose="02020603050405020304" pitchFamily="18" charset="0"/>
              <a:ea typeface="等线" panose="02010600030101010101" pitchFamily="2" charset="-122"/>
            </a:endParaRPr>
          </a:p>
        </p:txBody>
      </p:sp>
      <p:sp>
        <p:nvSpPr>
          <p:cNvPr id="2" name="文本框 1"/>
          <p:cNvSpPr txBox="1"/>
          <p:nvPr/>
        </p:nvSpPr>
        <p:spPr>
          <a:xfrm>
            <a:off x="1286844" y="1318511"/>
            <a:ext cx="7986973" cy="1117229"/>
          </a:xfrm>
          <a:prstGeom prst="rect">
            <a:avLst/>
          </a:prstGeom>
          <a:noFill/>
          <a:ln w="6350" cap="flat">
            <a:noFill/>
            <a:miter lim="800000"/>
          </a:ln>
        </p:spPr>
        <p:txBody>
          <a:bodyPr wrap="square" lIns="0" tIns="0" rIns="0" bIns="0" rtlCol="0" anchor="t" anchorCtr="0">
            <a:spAutoFit/>
          </a:bodyPr>
          <a:lstStyle/>
          <a:p>
            <a:pPr>
              <a:lnSpc>
                <a:spcPct val="90000"/>
              </a:lnSpc>
              <a:spcBef>
                <a:spcPts val="600"/>
              </a:spcBef>
              <a:buClr>
                <a:schemeClr val="bg2"/>
              </a:buClr>
            </a:pPr>
            <a:r>
              <a:rPr lang="en-US" altLang="zh-CN" sz="1600" b="1" dirty="0" smtClean="0">
                <a:latin typeface="Times New Roman" panose="02020603050405020304" pitchFamily="18" charset="0"/>
                <a:ea typeface="等线" panose="02010600030101010101" pitchFamily="2" charset="-122"/>
                <a:cs typeface="Arial" pitchFamily="34" charset="0"/>
              </a:rPr>
              <a:t>B.A. Economics		      Shanghai University of Finance and Economics</a:t>
            </a:r>
          </a:p>
          <a:p>
            <a:pPr>
              <a:lnSpc>
                <a:spcPct val="90000"/>
              </a:lnSpc>
              <a:spcBef>
                <a:spcPts val="600"/>
              </a:spcBef>
              <a:buClr>
                <a:schemeClr val="bg2"/>
              </a:buClr>
            </a:pPr>
            <a:r>
              <a:rPr lang="en-US" altLang="zh-CN" sz="1600" b="1" dirty="0" smtClean="0">
                <a:latin typeface="Times New Roman" panose="02020603050405020304" pitchFamily="18" charset="0"/>
                <a:ea typeface="等线" panose="02010600030101010101" pitchFamily="2" charset="-122"/>
                <a:cs typeface="Arial" pitchFamily="34" charset="0"/>
              </a:rPr>
              <a:t>B.S. Applied Mathematics	      </a:t>
            </a:r>
          </a:p>
          <a:p>
            <a:pPr>
              <a:lnSpc>
                <a:spcPct val="90000"/>
              </a:lnSpc>
              <a:spcBef>
                <a:spcPts val="600"/>
              </a:spcBef>
              <a:buClr>
                <a:schemeClr val="bg2"/>
              </a:buClr>
            </a:pPr>
            <a:r>
              <a:rPr lang="en-US" altLang="zh-CN" sz="1600" b="1" dirty="0" smtClean="0">
                <a:latin typeface="Times New Roman" panose="02020603050405020304" pitchFamily="18" charset="0"/>
                <a:ea typeface="等线" panose="02010600030101010101" pitchFamily="2" charset="-122"/>
                <a:cs typeface="Arial" pitchFamily="34" charset="0"/>
              </a:rPr>
              <a:t>M.A Economics,		      Peking University HSBC Business School</a:t>
            </a:r>
          </a:p>
          <a:p>
            <a:pPr>
              <a:lnSpc>
                <a:spcPct val="90000"/>
              </a:lnSpc>
              <a:spcBef>
                <a:spcPts val="600"/>
              </a:spcBef>
              <a:buClr>
                <a:schemeClr val="bg2"/>
              </a:buClr>
            </a:pPr>
            <a:r>
              <a:rPr lang="en-US" altLang="zh-CN" sz="1600" b="1" dirty="0" smtClean="0">
                <a:latin typeface="Times New Roman" panose="02020603050405020304" pitchFamily="18" charset="0"/>
                <a:ea typeface="等线" panose="02010600030101010101" pitchFamily="2" charset="-122"/>
                <a:cs typeface="Arial" pitchFamily="34" charset="0"/>
              </a:rPr>
              <a:t>M.S. Financial Engineering,       	      National University of Singapore</a:t>
            </a:r>
            <a:endParaRPr lang="zh-CN" altLang="en-US" sz="1600" b="1" dirty="0">
              <a:latin typeface="Times New Roman" panose="02020603050405020304" pitchFamily="18" charset="0"/>
              <a:ea typeface="等线" panose="02010600030101010101" pitchFamily="2" charset="-122"/>
              <a:cs typeface="Arial" pitchFamily="34" charset="0"/>
            </a:endParaRPr>
          </a:p>
        </p:txBody>
      </p:sp>
    </p:spTree>
    <p:extLst>
      <p:ext uri="{BB962C8B-B14F-4D97-AF65-F5344CB8AC3E}">
        <p14:creationId xmlns:p14="http://schemas.microsoft.com/office/powerpoint/2010/main" val="2360004165"/>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847750" y="2205658"/>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Ⅰ. Motivation</a:t>
            </a:r>
          </a:p>
          <a:p>
            <a:pPr>
              <a:lnSpc>
                <a:spcPts val="2800"/>
              </a:lnSpc>
            </a:pP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Ⅱ. Introduction</a:t>
            </a:r>
          </a:p>
          <a:p>
            <a:pPr>
              <a:lnSpc>
                <a:spcPts val="2800"/>
              </a:lnSpc>
            </a:pPr>
            <a:endParaRPr lang="en-US" altLang="zh-CN" sz="18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Ⅲ. Theoretical Framework</a:t>
            </a: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IV. Regression </a:t>
            </a:r>
            <a:r>
              <a:rPr lang="en-US" altLang="zh-CN" sz="1800" b="1" dirty="0" smtClean="0">
                <a:solidFill>
                  <a:schemeClr val="bg2"/>
                </a:solidFill>
                <a:latin typeface="Times New Roman" panose="02020603050405020304" pitchFamily="18" charset="0"/>
                <a:ea typeface="等线" panose="02010600030101010101" pitchFamily="2" charset="-122"/>
              </a:rPr>
              <a:t>Design</a:t>
            </a: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V. Regression Results</a:t>
            </a: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VI. Summary</a:t>
            </a: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415702"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Roadmap</a:t>
            </a:r>
            <a:endParaRPr lang="en-US" altLang="zh-CN" sz="2400" dirty="0">
              <a:solidFill>
                <a:schemeClr val="bg1"/>
              </a:solidFill>
            </a:endParaRPr>
          </a:p>
        </p:txBody>
      </p:sp>
      <p:sp>
        <p:nvSpPr>
          <p:cNvPr id="4" name="副标题 2">
            <a:extLst>
              <a:ext uri="{FF2B5EF4-FFF2-40B4-BE49-F238E27FC236}">
                <a16:creationId xmlns:a16="http://schemas.microsoft.com/office/drawing/2014/main" id="{D58463AA-4233-438A-9833-79ED7914084E}"/>
              </a:ext>
            </a:extLst>
          </p:cNvPr>
          <p:cNvSpPr txBox="1">
            <a:spLocks/>
          </p:cNvSpPr>
          <p:nvPr/>
        </p:nvSpPr>
        <p:spPr>
          <a:xfrm>
            <a:off x="-166910" y="1140402"/>
            <a:ext cx="10252624" cy="780214"/>
          </a:xfrm>
          <a:prstGeom prst="rect">
            <a:avLst/>
          </a:prstGeom>
        </p:spPr>
        <p:txBody>
          <a:bodyPr/>
          <a:lstStyle>
            <a:lvl1pPr marL="188580" indent="-188580" algn="l" defTabSz="957984" rtl="0" eaLnBrk="1" latinLnBrk="0" hangingPunct="1">
              <a:lnSpc>
                <a:spcPct val="90000"/>
              </a:lnSpc>
              <a:spcBef>
                <a:spcPts val="1467"/>
              </a:spcBef>
              <a:buClr>
                <a:schemeClr val="bg2"/>
              </a:buClr>
              <a:buSzPct val="100000"/>
              <a:buFont typeface="Arial" pitchFamily="34" charset="0"/>
              <a:buChar char="■"/>
              <a:defRPr sz="1700" kern="1200">
                <a:solidFill>
                  <a:schemeClr val="tx1"/>
                </a:solidFill>
                <a:latin typeface="Palatino Linotype" panose="02040502050505030304" pitchFamily="18" charset="0"/>
                <a:ea typeface="+mn-ea"/>
                <a:cs typeface="Arial" pitchFamily="34" charset="0"/>
              </a:defRPr>
            </a:lvl1pPr>
            <a:lvl2pPr marL="325715" indent="-134119" algn="l" defTabSz="957984" rtl="0" eaLnBrk="1" latinLnBrk="0" hangingPunct="1">
              <a:lnSpc>
                <a:spcPct val="90000"/>
              </a:lnSpc>
              <a:spcBef>
                <a:spcPts val="943"/>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2pPr>
            <a:lvl3pPr marL="512937" indent="-188580" algn="l" defTabSz="957984" rtl="0" eaLnBrk="1" latinLnBrk="0" hangingPunct="1">
              <a:lnSpc>
                <a:spcPct val="90000"/>
              </a:lnSpc>
              <a:spcBef>
                <a:spcPts val="629"/>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3pPr>
            <a:lvl4pPr marL="663800" indent="-143698" algn="l" defTabSz="957984" rtl="0" eaLnBrk="1" latinLnBrk="0" hangingPunct="1">
              <a:lnSpc>
                <a:spcPct val="90000"/>
              </a:lnSpc>
              <a:spcBef>
                <a:spcPts val="210"/>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4pPr>
            <a:lvl5pPr marL="807121" indent="-143321" algn="l" defTabSz="957984" rtl="0" eaLnBrk="1" latinLnBrk="0" hangingPunct="1">
              <a:lnSpc>
                <a:spcPct val="90000"/>
              </a:lnSpc>
              <a:spcBef>
                <a:spcPts val="105"/>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5pPr>
            <a:lvl6pPr marL="2634458"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13451"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92442"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71435"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9pPr>
          </a:lstStyle>
          <a:p>
            <a:pPr marL="0" indent="0" algn="ctr" defTabSz="957925">
              <a:lnSpc>
                <a:spcPts val="2800"/>
              </a:lnSpc>
              <a:spcBef>
                <a:spcPct val="0"/>
              </a:spcBef>
              <a:buNone/>
            </a:pPr>
            <a:r>
              <a:rPr lang="en-US" altLang="zh-CN" sz="2400" b="1" dirty="0" smtClean="0">
                <a:solidFill>
                  <a:schemeClr val="bg2"/>
                </a:solidFill>
                <a:latin typeface="Times New Roman" panose="02020603050405020304" pitchFamily="18" charset="0"/>
                <a:ea typeface="等线" panose="02010600030101010101" pitchFamily="2" charset="-122"/>
              </a:rPr>
              <a:t>Analysis </a:t>
            </a:r>
            <a:r>
              <a:rPr lang="en-US" altLang="zh-CN" sz="2400" b="1" dirty="0">
                <a:solidFill>
                  <a:schemeClr val="bg2"/>
                </a:solidFill>
                <a:latin typeface="Times New Roman" panose="02020603050405020304" pitchFamily="18" charset="0"/>
                <a:ea typeface="等线" panose="02010600030101010101" pitchFamily="2" charset="-122"/>
              </a:rPr>
              <a:t>of convenience yield on cryptocurrency market</a:t>
            </a:r>
          </a:p>
          <a:p>
            <a:pPr marL="0" indent="0" algn="ctr" defTabSz="957925">
              <a:lnSpc>
                <a:spcPts val="2800"/>
              </a:lnSpc>
              <a:spcBef>
                <a:spcPct val="0"/>
              </a:spcBef>
              <a:buNone/>
            </a:pPr>
            <a:r>
              <a:rPr lang="en-US" altLang="zh-CN" sz="2400" b="1" dirty="0" err="1">
                <a:solidFill>
                  <a:schemeClr val="bg2"/>
                </a:solidFill>
                <a:latin typeface="Times New Roman" panose="02020603050405020304" pitchFamily="18" charset="0"/>
                <a:ea typeface="等线" panose="02010600030101010101" pitchFamily="2" charset="-122"/>
              </a:rPr>
              <a:t>Jaehyuk</a:t>
            </a:r>
            <a:r>
              <a:rPr lang="en-US" altLang="zh-CN" sz="2400" b="1" dirty="0">
                <a:solidFill>
                  <a:schemeClr val="bg2"/>
                </a:solidFill>
                <a:latin typeface="Times New Roman" panose="02020603050405020304" pitchFamily="18" charset="0"/>
                <a:ea typeface="等线" panose="02010600030101010101" pitchFamily="2" charset="-122"/>
              </a:rPr>
              <a:t> Choi, Bo Pang</a:t>
            </a:r>
            <a:endParaRPr lang="zh-CN" altLang="en-US" sz="2400" b="1" dirty="0">
              <a:solidFill>
                <a:schemeClr val="bg2"/>
              </a:solidFill>
              <a:latin typeface="Times New Roman" panose="02020603050405020304" pitchFamily="18" charset="0"/>
              <a:ea typeface="等线" panose="02010600030101010101" pitchFamily="2" charset="-122"/>
            </a:endParaRPr>
          </a:p>
        </p:txBody>
      </p:sp>
    </p:spTree>
    <p:extLst>
      <p:ext uri="{BB962C8B-B14F-4D97-AF65-F5344CB8AC3E}">
        <p14:creationId xmlns:p14="http://schemas.microsoft.com/office/powerpoint/2010/main" val="3704132488"/>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415702" y="1045339"/>
            <a:ext cx="882098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Definition of convenience </a:t>
            </a:r>
            <a:r>
              <a:rPr lang="en-US" altLang="zh-CN" sz="1800" b="1" dirty="0" smtClean="0">
                <a:solidFill>
                  <a:schemeClr val="bg2"/>
                </a:solidFill>
                <a:latin typeface="Times New Roman" panose="02020603050405020304" pitchFamily="18" charset="0"/>
                <a:ea typeface="等线" panose="02010600030101010101" pitchFamily="2" charset="-122"/>
              </a:rPr>
              <a:t>yield</a:t>
            </a:r>
          </a:p>
          <a:p>
            <a:pPr marL="821884" lvl="1" indent="-342921">
              <a:lnSpc>
                <a:spcPts val="2800"/>
              </a:lnSpc>
              <a:buFont typeface="Wingdings" panose="05000000000000000000" pitchFamily="2" charset="2"/>
              <a:buChar char="Ø"/>
            </a:pPr>
            <a:r>
              <a:rPr lang="en-US" altLang="zh-CN" sz="1600" dirty="0" smtClean="0">
                <a:latin typeface="Times New Roman" panose="02020603050405020304" pitchFamily="18" charset="0"/>
                <a:ea typeface="等线" panose="02010600030101010101" pitchFamily="2" charset="-122"/>
              </a:rPr>
              <a:t>income </a:t>
            </a:r>
            <a:r>
              <a:rPr lang="en-US" altLang="zh-CN" sz="1600" dirty="0">
                <a:latin typeface="Times New Roman" panose="02020603050405020304" pitchFamily="18" charset="0"/>
                <a:ea typeface="等线" panose="02010600030101010101" pitchFamily="2" charset="-122"/>
              </a:rPr>
              <a:t>of </a:t>
            </a:r>
            <a:r>
              <a:rPr lang="en-US" altLang="zh-CN" sz="1600" dirty="0" smtClean="0">
                <a:latin typeface="Times New Roman" panose="02020603050405020304" pitchFamily="18" charset="0"/>
                <a:ea typeface="等线" panose="02010600030101010101" pitchFamily="2" charset="-122"/>
              </a:rPr>
              <a:t>holding </a:t>
            </a:r>
            <a:r>
              <a:rPr lang="en-US" altLang="zh-CN" sz="1600" b="1" dirty="0" smtClean="0">
                <a:latin typeface="Times New Roman" panose="02020603050405020304" pitchFamily="18" charset="0"/>
                <a:ea typeface="等线" panose="02010600030101010101" pitchFamily="2" charset="-122"/>
              </a:rPr>
              <a:t>spot </a:t>
            </a:r>
            <a:r>
              <a:rPr lang="en-US" altLang="zh-CN" sz="1600" dirty="0">
                <a:latin typeface="Times New Roman" panose="02020603050405020304" pitchFamily="18" charset="0"/>
                <a:ea typeface="等线" panose="02010600030101010101" pitchFamily="2" charset="-122"/>
              </a:rPr>
              <a:t>than futures. </a:t>
            </a:r>
            <a:r>
              <a:rPr lang="en-US" altLang="zh-CN" sz="1600" dirty="0" smtClean="0">
                <a:latin typeface="Times New Roman" panose="02020603050405020304" pitchFamily="18" charset="0"/>
                <a:ea typeface="等线" panose="02010600030101010101" pitchFamily="2" charset="-122"/>
              </a:rPr>
              <a:t>For example, the </a:t>
            </a:r>
            <a:r>
              <a:rPr lang="en-US" altLang="zh-CN" sz="1600" dirty="0">
                <a:latin typeface="Times New Roman" panose="02020603050405020304" pitchFamily="18" charset="0"/>
                <a:ea typeface="等线" panose="02010600030101010101" pitchFamily="2" charset="-122"/>
              </a:rPr>
              <a:t>utility or profit of </a:t>
            </a:r>
            <a:r>
              <a:rPr lang="en-US" altLang="zh-CN" sz="1600" dirty="0" smtClean="0">
                <a:latin typeface="Times New Roman" panose="02020603050405020304" pitchFamily="18" charset="0"/>
                <a:ea typeface="等线" panose="02010600030101010101" pitchFamily="2" charset="-122"/>
              </a:rPr>
              <a:t>usage</a:t>
            </a:r>
            <a:r>
              <a:rPr lang="en-US" altLang="zh-CN" sz="1600" dirty="0">
                <a:latin typeface="Times New Roman" panose="02020603050405020304" pitchFamily="18" charset="0"/>
                <a:ea typeface="等线" panose="02010600030101010101" pitchFamily="2" charset="-122"/>
              </a:rPr>
              <a:t>.</a:t>
            </a:r>
          </a:p>
          <a:p>
            <a:pPr marL="821884" lvl="1" indent="-342921">
              <a:lnSpc>
                <a:spcPts val="2800"/>
              </a:lnSpc>
              <a:buFont typeface="Wingdings" panose="05000000000000000000" pitchFamily="2" charset="2"/>
              <a:buChar char="Ø"/>
            </a:pPr>
            <a:r>
              <a:rPr lang="en-US" altLang="zh-CN" sz="1600" dirty="0" smtClean="0">
                <a:latin typeface="Times New Roman" panose="02020603050405020304" pitchFamily="18" charset="0"/>
                <a:ea typeface="等线" panose="02010600030101010101" pitchFamily="2" charset="-122"/>
              </a:rPr>
              <a:t>need to do the </a:t>
            </a:r>
            <a:r>
              <a:rPr lang="en-US" altLang="zh-CN" sz="1600" dirty="0">
                <a:latin typeface="Times New Roman" panose="02020603050405020304" pitchFamily="18" charset="0"/>
                <a:ea typeface="等线" panose="02010600030101010101" pitchFamily="2" charset="-122"/>
              </a:rPr>
              <a:t>adjustment of the carrying </a:t>
            </a:r>
            <a:r>
              <a:rPr lang="en-US" altLang="zh-CN" sz="1600" dirty="0" smtClean="0">
                <a:latin typeface="Times New Roman" panose="02020603050405020304" pitchFamily="18" charset="0"/>
                <a:ea typeface="等线" panose="02010600030101010101" pitchFamily="2" charset="-122"/>
              </a:rPr>
              <a:t>cost, and so on</a:t>
            </a:r>
          </a:p>
          <a:p>
            <a:pPr marL="821884" lvl="1" indent="-342921">
              <a:lnSpc>
                <a:spcPts val="2800"/>
              </a:lnSpc>
              <a:buFont typeface="Wingdings" panose="05000000000000000000" pitchFamily="2" charset="2"/>
              <a:buChar char="Ø"/>
            </a:pP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Definition of basis, a similar concept</a:t>
            </a:r>
          </a:p>
          <a:p>
            <a:pPr marL="821884" lvl="1" indent="-342921">
              <a:lnSpc>
                <a:spcPts val="2800"/>
              </a:lnSpc>
              <a:buFont typeface="Wingdings" panose="05000000000000000000" pitchFamily="2" charset="2"/>
              <a:buChar char="Ø"/>
            </a:pPr>
            <a:r>
              <a:rPr lang="en-US" altLang="zh-CN" sz="1600" dirty="0" smtClean="0">
                <a:latin typeface="Times New Roman" panose="02020603050405020304" pitchFamily="18" charset="0"/>
                <a:ea typeface="等线" panose="02010600030101010101" pitchFamily="2" charset="-122"/>
              </a:rPr>
              <a:t>difference </a:t>
            </a:r>
            <a:r>
              <a:rPr lang="en-US" altLang="zh-CN" sz="1600" dirty="0">
                <a:latin typeface="Times New Roman" panose="02020603050405020304" pitchFamily="18" charset="0"/>
                <a:ea typeface="等线" panose="02010600030101010101" pitchFamily="2" charset="-122"/>
              </a:rPr>
              <a:t>between the </a:t>
            </a:r>
            <a:r>
              <a:rPr lang="en-US" altLang="zh-CN" sz="1600" b="1" dirty="0">
                <a:latin typeface="Times New Roman" panose="02020603050405020304" pitchFamily="18" charset="0"/>
                <a:ea typeface="等线" panose="02010600030101010101" pitchFamily="2" charset="-122"/>
              </a:rPr>
              <a:t>spot price and </a:t>
            </a:r>
            <a:r>
              <a:rPr lang="en-US" altLang="zh-CN" sz="1600" b="1" dirty="0" smtClean="0">
                <a:latin typeface="Times New Roman" panose="02020603050405020304" pitchFamily="18" charset="0"/>
                <a:ea typeface="等线" panose="02010600030101010101" pitchFamily="2" charset="-122"/>
              </a:rPr>
              <a:t>future </a:t>
            </a:r>
            <a:r>
              <a:rPr lang="en-US" altLang="zh-CN" sz="1600" b="1" dirty="0">
                <a:latin typeface="Times New Roman" panose="02020603050405020304" pitchFamily="18" charset="0"/>
                <a:ea typeface="等线" panose="02010600030101010101" pitchFamily="2" charset="-122"/>
              </a:rPr>
              <a:t>price.</a:t>
            </a:r>
          </a:p>
          <a:p>
            <a:pPr marL="821884" lvl="1" indent="-342921">
              <a:lnSpc>
                <a:spcPts val="2800"/>
              </a:lnSpc>
              <a:buFont typeface="Wingdings" panose="05000000000000000000" pitchFamily="2" charset="2"/>
              <a:buChar char="Ø"/>
            </a:pPr>
            <a:r>
              <a:rPr lang="en-US" altLang="zh-CN" sz="1600" dirty="0" smtClean="0">
                <a:latin typeface="Times New Roman" panose="02020603050405020304" pitchFamily="18" charset="0"/>
                <a:ea typeface="等线" panose="02010600030101010101" pitchFamily="2" charset="-122"/>
              </a:rPr>
              <a:t>mainly </a:t>
            </a:r>
            <a:r>
              <a:rPr lang="en-US" altLang="zh-CN" sz="1600" dirty="0">
                <a:latin typeface="Times New Roman" panose="02020603050405020304" pitchFamily="18" charset="0"/>
                <a:ea typeface="等线" panose="02010600030101010101" pitchFamily="2" charset="-122"/>
              </a:rPr>
              <a:t>reflects the </a:t>
            </a:r>
            <a:r>
              <a:rPr lang="en-US" altLang="zh-CN" sz="1600" b="1" dirty="0">
                <a:latin typeface="Times New Roman" panose="02020603050405020304" pitchFamily="18" charset="0"/>
                <a:ea typeface="等线" panose="02010600030101010101" pitchFamily="2" charset="-122"/>
              </a:rPr>
              <a:t>transportation and holding costs </a:t>
            </a:r>
            <a:r>
              <a:rPr lang="en-US" altLang="zh-CN" sz="1600" dirty="0">
                <a:latin typeface="Times New Roman" panose="02020603050405020304" pitchFamily="18" charset="0"/>
                <a:ea typeface="等线" panose="02010600030101010101" pitchFamily="2" charset="-122"/>
              </a:rPr>
              <a:t>between the spot and futures markets</a:t>
            </a:r>
            <a:r>
              <a:rPr lang="en-US" altLang="zh-CN" sz="1600" b="1" dirty="0">
                <a:latin typeface="Times New Roman" panose="02020603050405020304" pitchFamily="18" charset="0"/>
                <a:ea typeface="等线" panose="02010600030101010101" pitchFamily="2" charset="-122"/>
              </a:rPr>
              <a:t>.</a:t>
            </a:r>
          </a:p>
          <a:p>
            <a:pPr>
              <a:lnSpc>
                <a:spcPts val="2800"/>
              </a:lnSpc>
            </a:pPr>
            <a:endParaRPr lang="en-US" altLang="zh-CN" sz="18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The relationship between convenience yield and basis</a:t>
            </a:r>
          </a:p>
          <a:p>
            <a:pPr marL="821884" lvl="1" indent="-342921">
              <a:lnSpc>
                <a:spcPts val="2800"/>
              </a:lnSpc>
              <a:buFont typeface="Wingdings" panose="05000000000000000000" pitchFamily="2" charset="2"/>
              <a:buChar char="Ø"/>
            </a:pPr>
            <a:r>
              <a:rPr lang="en-US" altLang="zh-CN" sz="1600" b="1" dirty="0">
                <a:latin typeface="Times New Roman" panose="02020603050405020304" pitchFamily="18" charset="0"/>
                <a:ea typeface="等线" panose="02010600030101010101" pitchFamily="2" charset="-122"/>
              </a:rPr>
              <a:t>convenience yield is a subjective concept </a:t>
            </a:r>
          </a:p>
          <a:p>
            <a:pPr marL="1300846" lvl="2" indent="-342921">
              <a:lnSpc>
                <a:spcPts val="2800"/>
              </a:lnSpc>
              <a:buFont typeface="Wingdings" panose="05000000000000000000" pitchFamily="2" charset="2"/>
              <a:buChar char="Ø"/>
            </a:pPr>
            <a:r>
              <a:rPr lang="en-US" altLang="zh-CN" sz="1600" dirty="0">
                <a:latin typeface="Times New Roman" panose="02020603050405020304" pitchFamily="18" charset="0"/>
                <a:ea typeface="等线" panose="02010600030101010101" pitchFamily="2" charset="-122"/>
              </a:rPr>
              <a:t>that exists but is inconvenient to directly observe, and it is necessary to find a visual indicator for it; </a:t>
            </a:r>
          </a:p>
          <a:p>
            <a:pPr marL="821884" lvl="1" indent="-342921">
              <a:lnSpc>
                <a:spcPts val="2800"/>
              </a:lnSpc>
              <a:buFont typeface="Wingdings" panose="05000000000000000000" pitchFamily="2" charset="2"/>
              <a:buChar char="Ø"/>
            </a:pPr>
            <a:r>
              <a:rPr lang="en-US" altLang="zh-CN" sz="1600" b="1" dirty="0" smtClean="0">
                <a:latin typeface="Times New Roman" panose="02020603050405020304" pitchFamily="18" charset="0"/>
                <a:ea typeface="等线" panose="02010600030101010101" pitchFamily="2" charset="-122"/>
              </a:rPr>
              <a:t>while </a:t>
            </a:r>
            <a:r>
              <a:rPr lang="en-US" altLang="zh-CN" sz="1600" b="1" dirty="0">
                <a:latin typeface="Times New Roman" panose="02020603050405020304" pitchFamily="18" charset="0"/>
                <a:ea typeface="等线" panose="02010600030101010101" pitchFamily="2" charset="-122"/>
              </a:rPr>
              <a:t>basis is a statistically observed concept </a:t>
            </a:r>
          </a:p>
          <a:p>
            <a:pPr marL="1300846" lvl="2" indent="-342921">
              <a:lnSpc>
                <a:spcPts val="2800"/>
              </a:lnSpc>
              <a:buFont typeface="Wingdings" panose="05000000000000000000" pitchFamily="2" charset="2"/>
              <a:buChar char="Ø"/>
            </a:pPr>
            <a:r>
              <a:rPr lang="en-US" altLang="zh-CN" sz="1600" dirty="0">
                <a:latin typeface="Times New Roman" panose="02020603050405020304" pitchFamily="18" charset="0"/>
                <a:ea typeface="等线" panose="02010600030101010101" pitchFamily="2" charset="-122"/>
              </a:rPr>
              <a:t>that is affected by many parties, it is necessary to find a qualitative reason for it.</a:t>
            </a: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5952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Ⅰ. Motivation</a:t>
            </a:r>
          </a:p>
        </p:txBody>
      </p:sp>
    </p:spTree>
    <p:extLst>
      <p:ext uri="{BB962C8B-B14F-4D97-AF65-F5344CB8AC3E}">
        <p14:creationId xmlns:p14="http://schemas.microsoft.com/office/powerpoint/2010/main" val="380187708"/>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60671" y="945518"/>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Research Background: A new world of </a:t>
            </a:r>
            <a:r>
              <a:rPr lang="en-US" altLang="zh-CN" sz="1800" b="1" i="1" dirty="0" smtClean="0">
                <a:solidFill>
                  <a:schemeClr val="bg2"/>
                </a:solidFill>
                <a:latin typeface="Times New Roman" panose="02020603050405020304" pitchFamily="18" charset="0"/>
                <a:ea typeface="等线" panose="02010600030101010101" pitchFamily="2" charset="-122"/>
              </a:rPr>
              <a:t>Decentralized</a:t>
            </a:r>
            <a:r>
              <a:rPr lang="en-US" altLang="zh-CN" sz="1800" b="1" dirty="0" smtClean="0">
                <a:solidFill>
                  <a:schemeClr val="bg2"/>
                </a:solidFill>
                <a:latin typeface="Times New Roman" panose="02020603050405020304" pitchFamily="18" charset="0"/>
                <a:ea typeface="等线" panose="02010600030101010101" pitchFamily="2" charset="-122"/>
              </a:rPr>
              <a:t> Finance and Economics</a:t>
            </a:r>
          </a:p>
          <a:p>
            <a:pPr marL="821884" lvl="1" indent="-342921">
              <a:lnSpc>
                <a:spcPts val="2800"/>
              </a:lnSpc>
              <a:buFont typeface="Wingdings" panose="05000000000000000000" pitchFamily="2" charset="2"/>
              <a:buChar char="Ø"/>
            </a:pPr>
            <a:r>
              <a:rPr lang="en-US" altLang="zh-CN" sz="1400" b="1" dirty="0" smtClean="0">
                <a:latin typeface="Times New Roman" panose="02020603050405020304" pitchFamily="18" charset="0"/>
                <a:ea typeface="等线" panose="02010600030101010101" pitchFamily="2" charset="-122"/>
              </a:rPr>
              <a:t>unique</a:t>
            </a:r>
            <a:r>
              <a:rPr lang="en-US" altLang="zh-CN" sz="1400" dirty="0" smtClean="0">
                <a:latin typeface="Times New Roman" panose="02020603050405020304" pitchFamily="18" charset="0"/>
                <a:ea typeface="等线" panose="02010600030101010101" pitchFamily="2" charset="-122"/>
              </a:rPr>
              <a:t> finance and derivatives markets which develop rapidly and attract academic attention</a:t>
            </a:r>
          </a:p>
          <a:p>
            <a:pPr marL="821884" lvl="1" indent="-342921">
              <a:lnSpc>
                <a:spcPts val="2800"/>
              </a:lnSpc>
              <a:buFont typeface="Wingdings" panose="05000000000000000000" pitchFamily="2" charset="2"/>
              <a:buChar char="Ø"/>
            </a:pPr>
            <a:r>
              <a:rPr lang="en-US" altLang="zh-CN" sz="1400" b="1" dirty="0" smtClean="0">
                <a:latin typeface="Times New Roman" panose="02020603050405020304" pitchFamily="18" charset="0"/>
                <a:ea typeface="等线" panose="02010600030101010101" pitchFamily="2" charset="-122"/>
              </a:rPr>
              <a:t>difficulty </a:t>
            </a:r>
            <a:r>
              <a:rPr lang="en-US" altLang="zh-CN" sz="1400" b="1" dirty="0">
                <a:latin typeface="Times New Roman" panose="02020603050405020304" pitchFamily="18" charset="0"/>
                <a:ea typeface="等线" panose="02010600030101010101" pitchFamily="2" charset="-122"/>
              </a:rPr>
              <a:t>in valuing </a:t>
            </a:r>
            <a:r>
              <a:rPr lang="en-US" altLang="zh-CN" sz="1400" dirty="0">
                <a:latin typeface="Times New Roman" panose="02020603050405020304" pitchFamily="18" charset="0"/>
                <a:ea typeface="等线" panose="02010600030101010101" pitchFamily="2" charset="-122"/>
              </a:rPr>
              <a:t>the underlying assets (i.e. cryptocurrencies), </a:t>
            </a:r>
          </a:p>
          <a:p>
            <a:pPr lvl="1">
              <a:lnSpc>
                <a:spcPts val="2800"/>
              </a:lnSpc>
            </a:pPr>
            <a:r>
              <a:rPr lang="en-US" altLang="zh-CN" sz="1400" dirty="0">
                <a:latin typeface="Times New Roman" panose="02020603050405020304" pitchFamily="18" charset="0"/>
                <a:ea typeface="等线" panose="02010600030101010101" pitchFamily="2" charset="-122"/>
              </a:rPr>
              <a:t>	</a:t>
            </a:r>
            <a:r>
              <a:rPr lang="en-US" altLang="zh-CN" sz="1400" dirty="0" smtClean="0">
                <a:latin typeface="Times New Roman" panose="02020603050405020304" pitchFamily="18" charset="0"/>
                <a:ea typeface="等线" panose="02010600030101010101" pitchFamily="2" charset="-122"/>
              </a:rPr>
              <a:t>high </a:t>
            </a:r>
            <a:r>
              <a:rPr lang="en-US" altLang="zh-CN" sz="1400" b="1" dirty="0">
                <a:latin typeface="Times New Roman" panose="02020603050405020304" pitchFamily="18" charset="0"/>
                <a:ea typeface="等线" panose="02010600030101010101" pitchFamily="2" charset="-122"/>
              </a:rPr>
              <a:t>moral hazard </a:t>
            </a:r>
            <a:r>
              <a:rPr lang="en-US" altLang="zh-CN" sz="1400" dirty="0">
                <a:latin typeface="Times New Roman" panose="02020603050405020304" pitchFamily="18" charset="0"/>
                <a:ea typeface="等线" panose="02010600030101010101" pitchFamily="2" charset="-122"/>
              </a:rPr>
              <a:t>among the large number of exchanges </a:t>
            </a:r>
            <a:r>
              <a:rPr lang="en-US" altLang="zh-CN" sz="1400" b="1" dirty="0">
                <a:latin typeface="Times New Roman" panose="02020603050405020304" pitchFamily="18" charset="0"/>
                <a:ea typeface="等线" panose="02010600030101010101" pitchFamily="2" charset="-122"/>
              </a:rPr>
              <a:t>without supervision</a:t>
            </a:r>
            <a:r>
              <a:rPr lang="en-US" altLang="zh-CN" sz="1400" dirty="0">
                <a:latin typeface="Times New Roman" panose="02020603050405020304" pitchFamily="18" charset="0"/>
                <a:ea typeface="等线" panose="02010600030101010101" pitchFamily="2" charset="-122"/>
              </a:rPr>
              <a:t>, </a:t>
            </a:r>
          </a:p>
          <a:p>
            <a:pPr lvl="1">
              <a:lnSpc>
                <a:spcPts val="2800"/>
              </a:lnSpc>
            </a:pPr>
            <a:r>
              <a:rPr lang="en-US" altLang="zh-CN" sz="1400" dirty="0">
                <a:latin typeface="Times New Roman" panose="02020603050405020304" pitchFamily="18" charset="0"/>
                <a:ea typeface="等线" panose="02010600030101010101" pitchFamily="2" charset="-122"/>
              </a:rPr>
              <a:t>	widespread adoption of </a:t>
            </a:r>
            <a:r>
              <a:rPr lang="en-US" altLang="zh-CN" sz="1400" b="1" dirty="0">
                <a:latin typeface="Times New Roman" panose="02020603050405020304" pitchFamily="18" charset="0"/>
                <a:ea typeface="等线" panose="02010600030101010101" pitchFamily="2" charset="-122"/>
              </a:rPr>
              <a:t>perpetual </a:t>
            </a:r>
            <a:r>
              <a:rPr lang="en-US" altLang="zh-CN" sz="1400" b="1" dirty="0" smtClean="0">
                <a:latin typeface="Times New Roman" panose="02020603050405020304" pitchFamily="18" charset="0"/>
                <a:ea typeface="等线" panose="02010600030101010101" pitchFamily="2" charset="-122"/>
              </a:rPr>
              <a:t>swaps (</a:t>
            </a:r>
            <a:r>
              <a:rPr lang="en-US" altLang="zh-CN" sz="1400" b="1" i="1" dirty="0" smtClean="0">
                <a:latin typeface="Times New Roman" panose="02020603050405020304" pitchFamily="18" charset="0"/>
                <a:ea typeface="等线" panose="02010600030101010101" pitchFamily="2" charset="-122"/>
              </a:rPr>
              <a:t>Without Due Date and Execution</a:t>
            </a:r>
            <a:r>
              <a:rPr lang="en-US" altLang="zh-CN" sz="1400" b="1" dirty="0" smtClean="0">
                <a:latin typeface="Times New Roman" panose="02020603050405020304" pitchFamily="18" charset="0"/>
                <a:ea typeface="等线" panose="02010600030101010101" pitchFamily="2" charset="-122"/>
              </a:rPr>
              <a:t>) </a:t>
            </a:r>
            <a:r>
              <a:rPr lang="en-US" altLang="zh-CN" sz="1400" dirty="0">
                <a:latin typeface="Times New Roman" panose="02020603050405020304" pitchFamily="18" charset="0"/>
                <a:ea typeface="等线" panose="02010600030101010101" pitchFamily="2" charset="-122"/>
              </a:rPr>
              <a:t>in the derivatives market.</a:t>
            </a:r>
          </a:p>
          <a:p>
            <a:pPr marL="821884" lvl="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Propose : Why cryptocurrency has interest rate?</a:t>
            </a:r>
            <a:endParaRPr lang="en-US" altLang="zh-CN" sz="1800" b="1" dirty="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Its </a:t>
            </a:r>
            <a:r>
              <a:rPr lang="en-US" altLang="zh-CN" sz="1400" dirty="0">
                <a:latin typeface="Times New Roman" panose="02020603050405020304" pitchFamily="18" charset="0"/>
                <a:ea typeface="等线" panose="02010600030101010101" pitchFamily="2" charset="-122"/>
              </a:rPr>
              <a:t>underlying </a:t>
            </a:r>
            <a:r>
              <a:rPr lang="en-US" altLang="zh-CN" sz="1400" dirty="0" smtClean="0">
                <a:latin typeface="Times New Roman" panose="02020603050405020304" pitchFamily="18" charset="0"/>
                <a:ea typeface="等线" panose="02010600030101010101" pitchFamily="2" charset="-122"/>
              </a:rPr>
              <a:t>asset is </a:t>
            </a:r>
            <a:r>
              <a:rPr lang="en-US" altLang="zh-CN" sz="1400" dirty="0">
                <a:latin typeface="Times New Roman" panose="02020603050405020304" pitchFamily="18" charset="0"/>
                <a:ea typeface="等线" panose="02010600030101010101" pitchFamily="2" charset="-122"/>
              </a:rPr>
              <a:t>considered to have </a:t>
            </a:r>
            <a:r>
              <a:rPr lang="en-US" altLang="zh-CN" sz="1400" b="1" dirty="0" smtClean="0">
                <a:latin typeface="Times New Roman" panose="02020603050405020304" pitchFamily="18" charset="0"/>
                <a:ea typeface="等线" panose="02010600030101010101" pitchFamily="2" charset="-122"/>
              </a:rPr>
              <a:t>no use value</a:t>
            </a:r>
            <a:r>
              <a:rPr lang="en-US" altLang="zh-CN" sz="1400" dirty="0" smtClean="0">
                <a:latin typeface="Times New Roman" panose="02020603050405020304" pitchFamily="18" charset="0"/>
                <a:ea typeface="等线" panose="02010600030101010101" pitchFamily="2" charset="-122"/>
              </a:rPr>
              <a:t>, hence </a:t>
            </a:r>
            <a:r>
              <a:rPr lang="en-US" altLang="zh-CN" sz="1400" b="1" dirty="0" smtClean="0">
                <a:latin typeface="Times New Roman" panose="02020603050405020304" pitchFamily="18" charset="0"/>
                <a:ea typeface="等线" panose="02010600030101010101" pitchFamily="2" charset="-122"/>
              </a:rPr>
              <a:t>no interest rate</a:t>
            </a:r>
          </a:p>
          <a:p>
            <a:pPr marL="821884" lvl="1" indent="-342921">
              <a:lnSpc>
                <a:spcPts val="2800"/>
              </a:lnSpc>
              <a:buFont typeface="Wingdings" panose="05000000000000000000" pitchFamily="2" charset="2"/>
              <a:buChar char="Ø"/>
            </a:pPr>
            <a:r>
              <a:rPr lang="en-US" altLang="zh-CN" sz="1400" b="1" dirty="0" err="1" smtClean="0">
                <a:latin typeface="Times New Roman" panose="02020603050405020304" pitchFamily="18" charset="0"/>
                <a:ea typeface="等线" panose="02010600030101010101" pitchFamily="2" charset="-122"/>
              </a:rPr>
              <a:t>DeFi</a:t>
            </a:r>
            <a:r>
              <a:rPr lang="en-US" altLang="zh-CN" sz="1400" dirty="0" smtClean="0">
                <a:latin typeface="Times New Roman" panose="02020603050405020304" pitchFamily="18" charset="0"/>
                <a:ea typeface="等线" panose="02010600030101010101" pitchFamily="2" charset="-122"/>
              </a:rPr>
              <a:t> and new products has made it useful, with its interest recognized by the market</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We </a:t>
            </a:r>
            <a:r>
              <a:rPr lang="en-US" altLang="zh-CN" sz="1400" dirty="0">
                <a:latin typeface="Times New Roman" panose="02020603050405020304" pitchFamily="18" charset="0"/>
                <a:ea typeface="等线" panose="02010600030101010101" pitchFamily="2" charset="-122"/>
              </a:rPr>
              <a:t>can </a:t>
            </a:r>
            <a:r>
              <a:rPr lang="en-US" altLang="zh-CN" sz="1400" b="1" dirty="0">
                <a:latin typeface="Times New Roman" panose="02020603050405020304" pitchFamily="18" charset="0"/>
                <a:ea typeface="等线" panose="02010600030101010101" pitchFamily="2" charset="-122"/>
              </a:rPr>
              <a:t>quantify</a:t>
            </a:r>
            <a:r>
              <a:rPr lang="en-US" altLang="zh-CN" sz="1400" dirty="0">
                <a:latin typeface="Times New Roman" panose="02020603050405020304" pitchFamily="18" charset="0"/>
                <a:ea typeface="等线" panose="02010600030101010101" pitchFamily="2" charset="-122"/>
              </a:rPr>
              <a:t> this phenomenon in terms of </a:t>
            </a:r>
            <a:r>
              <a:rPr lang="en-US" altLang="zh-CN" sz="1400" b="1" dirty="0">
                <a:latin typeface="Times New Roman" panose="02020603050405020304" pitchFamily="18" charset="0"/>
                <a:ea typeface="等线" panose="02010600030101010101" pitchFamily="2" charset="-122"/>
              </a:rPr>
              <a:t>convenience </a:t>
            </a:r>
            <a:r>
              <a:rPr lang="en-US" altLang="zh-CN" sz="1400" b="1" dirty="0" smtClean="0">
                <a:latin typeface="Times New Roman" panose="02020603050405020304" pitchFamily="18" charset="0"/>
                <a:ea typeface="等线" panose="02010600030101010101" pitchFamily="2" charset="-122"/>
              </a:rPr>
              <a:t>yield</a:t>
            </a:r>
            <a:r>
              <a:rPr lang="en-US" altLang="zh-CN" sz="1400" dirty="0" smtClean="0">
                <a:latin typeface="Times New Roman" panose="02020603050405020304" pitchFamily="18" charset="0"/>
                <a:ea typeface="等线" panose="02010600030101010101" pitchFamily="2" charset="-122"/>
              </a:rPr>
              <a:t>, and figure out its relationship with market.</a:t>
            </a:r>
          </a:p>
          <a:p>
            <a:pPr>
              <a:lnSpc>
                <a:spcPts val="2800"/>
              </a:lnSpc>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Why I choose this topic? – Fill in the Gap: </a:t>
            </a:r>
            <a:r>
              <a:rPr lang="en-US" altLang="zh-CN" sz="1800" b="1" dirty="0">
                <a:solidFill>
                  <a:schemeClr val="bg2"/>
                </a:solidFill>
                <a:latin typeface="Times New Roman" panose="02020603050405020304" pitchFamily="18" charset="0"/>
                <a:ea typeface="等线" panose="02010600030101010101" pitchFamily="2" charset="-122"/>
              </a:rPr>
              <a:t>new markets</a:t>
            </a:r>
            <a:r>
              <a:rPr lang="en-US" altLang="zh-CN" sz="1800" b="1" dirty="0" smtClean="0">
                <a:solidFill>
                  <a:schemeClr val="bg2"/>
                </a:solidFill>
                <a:latin typeface="Times New Roman" panose="02020603050405020304" pitchFamily="18" charset="0"/>
                <a:ea typeface="等线" panose="02010600030101010101" pitchFamily="2" charset="-122"/>
              </a:rPr>
              <a:t>, product, </a:t>
            </a:r>
            <a:r>
              <a:rPr lang="en-US" altLang="zh-CN" sz="1800" b="1" dirty="0">
                <a:solidFill>
                  <a:schemeClr val="bg2"/>
                </a:solidFill>
                <a:latin typeface="Times New Roman" panose="02020603050405020304" pitchFamily="18" charset="0"/>
                <a:ea typeface="等线" panose="02010600030101010101" pitchFamily="2" charset="-122"/>
              </a:rPr>
              <a:t>data </a:t>
            </a:r>
            <a:r>
              <a:rPr lang="en-US" altLang="zh-CN" sz="1800" b="1" dirty="0" smtClean="0">
                <a:solidFill>
                  <a:schemeClr val="bg2"/>
                </a:solidFill>
                <a:latin typeface="Times New Roman" panose="02020603050405020304" pitchFamily="18" charset="0"/>
                <a:ea typeface="等线" panose="02010600030101010101" pitchFamily="2" charset="-122"/>
              </a:rPr>
              <a:t>and </a:t>
            </a:r>
            <a:r>
              <a:rPr lang="en-US" altLang="zh-CN" sz="1800" b="1" dirty="0">
                <a:solidFill>
                  <a:schemeClr val="bg2"/>
                </a:solidFill>
                <a:latin typeface="Times New Roman" panose="02020603050405020304" pitchFamily="18" charset="0"/>
                <a:ea typeface="等线" panose="02010600030101010101" pitchFamily="2" charset="-122"/>
              </a:rPr>
              <a:t>perspectives</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Related </a:t>
            </a:r>
            <a:r>
              <a:rPr lang="en-US" altLang="zh-CN" sz="1400" dirty="0">
                <a:latin typeface="Times New Roman" panose="02020603050405020304" pitchFamily="18" charset="0"/>
                <a:ea typeface="等线" panose="02010600030101010101" pitchFamily="2" charset="-122"/>
              </a:rPr>
              <a:t>economic and financial theories </a:t>
            </a:r>
            <a:r>
              <a:rPr lang="en-US" altLang="zh-CN" sz="1400" b="1" dirty="0">
                <a:latin typeface="Times New Roman" panose="02020603050405020304" pitchFamily="18" charset="0"/>
                <a:ea typeface="等线" panose="02010600030101010101" pitchFamily="2" charset="-122"/>
              </a:rPr>
              <a:t>cannot explain directly </a:t>
            </a:r>
            <a:r>
              <a:rPr lang="en-US" altLang="zh-CN" sz="1400" dirty="0">
                <a:latin typeface="Times New Roman" panose="02020603050405020304" pitchFamily="18" charset="0"/>
                <a:ea typeface="等线" panose="02010600030101010101" pitchFamily="2" charset="-122"/>
              </a:rPr>
              <a:t>some phenomena very well: </a:t>
            </a:r>
            <a:r>
              <a:rPr lang="en-US" altLang="zh-CN" sz="1400" b="1" dirty="0">
                <a:latin typeface="Times New Roman" panose="02020603050405020304" pitchFamily="18" charset="0"/>
                <a:ea typeface="等线" panose="02010600030101010101" pitchFamily="2" charset="-122"/>
              </a:rPr>
              <a:t>full of controversy</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Meaningful </a:t>
            </a:r>
            <a:r>
              <a:rPr lang="en-US" altLang="zh-CN" sz="1400" dirty="0">
                <a:latin typeface="Times New Roman" panose="02020603050405020304" pitchFamily="18" charset="0"/>
                <a:ea typeface="等线" panose="02010600030101010101" pitchFamily="2" charset="-122"/>
              </a:rPr>
              <a:t>to </a:t>
            </a:r>
            <a:r>
              <a:rPr lang="en-US" altLang="zh-CN" sz="1400" i="1" dirty="0">
                <a:latin typeface="Times New Roman" panose="02020603050405020304" pitchFamily="18" charset="0"/>
                <a:ea typeface="等线" panose="02010600030101010101" pitchFamily="2" charset="-122"/>
              </a:rPr>
              <a:t>policy </a:t>
            </a:r>
            <a:r>
              <a:rPr lang="en-US" altLang="zh-CN" sz="1400" i="1" dirty="0" smtClean="0">
                <a:latin typeface="Times New Roman" panose="02020603050405020304" pitchFamily="18" charset="0"/>
                <a:ea typeface="等线" panose="02010600030101010101" pitchFamily="2" charset="-122"/>
              </a:rPr>
              <a:t>makers</a:t>
            </a:r>
            <a:r>
              <a:rPr lang="en-US" altLang="zh-CN" sz="1400" dirty="0" smtClean="0">
                <a:latin typeface="Times New Roman" panose="02020603050405020304" pitchFamily="18" charset="0"/>
                <a:ea typeface="等线" panose="02010600030101010101" pitchFamily="2" charset="-122"/>
              </a:rPr>
              <a:t>: </a:t>
            </a:r>
            <a:r>
              <a:rPr lang="en-US" altLang="zh-CN" sz="1400" dirty="0">
                <a:latin typeface="Times New Roman" panose="02020603050405020304" pitchFamily="18" charset="0"/>
                <a:ea typeface="等线" panose="02010600030101010101" pitchFamily="2" charset="-122"/>
              </a:rPr>
              <a:t>How to Define the Bitcoin </a:t>
            </a:r>
            <a:r>
              <a:rPr lang="en-US" altLang="zh-CN" sz="1400" dirty="0" smtClean="0">
                <a:latin typeface="Times New Roman" panose="02020603050405020304" pitchFamily="18" charset="0"/>
                <a:ea typeface="等线" panose="02010600030101010101" pitchFamily="2" charset="-122"/>
              </a:rPr>
              <a:t>Market via its Microstructure</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Meaningful to </a:t>
            </a:r>
            <a:r>
              <a:rPr lang="en-US" altLang="zh-CN" sz="1400" i="1" dirty="0">
                <a:latin typeface="Times New Roman" panose="02020603050405020304" pitchFamily="18" charset="0"/>
                <a:ea typeface="等线" panose="02010600030101010101" pitchFamily="2" charset="-122"/>
              </a:rPr>
              <a:t>investors</a:t>
            </a:r>
            <a:r>
              <a:rPr lang="en-US" altLang="zh-CN" sz="1400" dirty="0">
                <a:latin typeface="Times New Roman" panose="02020603050405020304" pitchFamily="18" charset="0"/>
                <a:ea typeface="等线" panose="02010600030101010101" pitchFamily="2" charset="-122"/>
              </a:rPr>
              <a:t>: Discover how the market works and </a:t>
            </a:r>
            <a:r>
              <a:rPr lang="en-US" altLang="zh-CN" sz="1400" dirty="0" smtClean="0">
                <a:latin typeface="Times New Roman" panose="02020603050405020304" pitchFamily="18" charset="0"/>
                <a:ea typeface="等线" panose="02010600030101010101" pitchFamily="2" charset="-122"/>
              </a:rPr>
              <a:t>arbitrage </a:t>
            </a:r>
            <a:r>
              <a:rPr lang="en-US" altLang="zh-CN" sz="1400" dirty="0">
                <a:latin typeface="Times New Roman" panose="02020603050405020304" pitchFamily="18" charset="0"/>
                <a:ea typeface="等线" panose="02010600030101010101" pitchFamily="2" charset="-122"/>
              </a:rPr>
              <a:t>trading opportunities</a:t>
            </a:r>
            <a:endParaRPr lang="en-US" altLang="zh-CN" sz="1400" dirty="0" smtClean="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400" dirty="0">
              <a:latin typeface="Times New Roman" panose="02020603050405020304" pitchFamily="18" charset="0"/>
              <a:ea typeface="等线" panose="02010600030101010101" pitchFamily="2" charset="-122"/>
            </a:endParaRPr>
          </a:p>
          <a:p>
            <a:pPr>
              <a:lnSpc>
                <a:spcPts val="2800"/>
              </a:lnSpc>
            </a:pPr>
            <a:endParaRPr lang="en-US" altLang="zh-CN" sz="1400" dirty="0">
              <a:latin typeface="Times New Roman" panose="02020603050405020304" pitchFamily="18" charset="0"/>
              <a:ea typeface="等线" panose="02010600030101010101" pitchFamily="2" charset="-122"/>
              <a:cs typeface="+mn-cs"/>
            </a:endParaRPr>
          </a:p>
          <a:p>
            <a:pPr marL="821884" lvl="1" indent="-342921">
              <a:lnSpc>
                <a:spcPts val="2800"/>
              </a:lnSpc>
              <a:buFont typeface="Wingdings" panose="05000000000000000000" pitchFamily="2" charset="2"/>
              <a:buChar char="Ø"/>
            </a:pP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4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a:lnSpc>
                <a:spcPts val="2800"/>
              </a:lnSpc>
            </a:pPr>
            <a:endParaRPr lang="en-US" altLang="zh-CN" sz="1800" dirty="0">
              <a:solidFill>
                <a:schemeClr val="bg2"/>
              </a:solidFill>
              <a:latin typeface="Times New Roman" panose="02020603050405020304" pitchFamily="18" charset="0"/>
              <a:ea typeface="等线" panose="02010600030101010101" pitchFamily="2" charset="-122"/>
            </a:endParaRPr>
          </a:p>
          <a:p>
            <a:pPr>
              <a:lnSpc>
                <a:spcPts val="2800"/>
              </a:lnSpc>
            </a:pPr>
            <a:r>
              <a:rPr lang="en-US" altLang="zh-CN" sz="1800" dirty="0" smtClean="0">
                <a:solidFill>
                  <a:schemeClr val="bg2"/>
                </a:solidFill>
                <a:latin typeface="Times New Roman" panose="02020603050405020304" pitchFamily="18" charset="0"/>
                <a:ea typeface="等线" panose="02010600030101010101" pitchFamily="2" charset="-122"/>
              </a:rPr>
              <a:t> </a:t>
            </a:r>
          </a:p>
          <a:p>
            <a:pPr>
              <a:lnSpc>
                <a:spcPts val="2800"/>
              </a:lnSpc>
            </a:pPr>
            <a:endParaRPr lang="en-US" altLang="zh-CN" sz="1800"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360671" y="410427"/>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Ⅰ. </a:t>
            </a:r>
            <a:r>
              <a:rPr lang="en-US" altLang="zh-CN" sz="2400" dirty="0" smtClean="0">
                <a:solidFill>
                  <a:schemeClr val="bg1"/>
                </a:solidFill>
              </a:rPr>
              <a:t>Motivation</a:t>
            </a:r>
            <a:endParaRPr lang="en-US" sz="2400" dirty="0">
              <a:solidFill>
                <a:schemeClr val="bg1"/>
              </a:solidFill>
            </a:endParaRPr>
          </a:p>
        </p:txBody>
      </p:sp>
    </p:spTree>
    <p:extLst>
      <p:ext uri="{BB962C8B-B14F-4D97-AF65-F5344CB8AC3E}">
        <p14:creationId xmlns:p14="http://schemas.microsoft.com/office/powerpoint/2010/main" val="1321952960"/>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536303" y="1068581"/>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Cryptocurrency </a:t>
            </a:r>
            <a:r>
              <a:rPr lang="en-US" altLang="zh-CN" sz="1800" b="1" dirty="0">
                <a:solidFill>
                  <a:schemeClr val="bg2"/>
                </a:solidFill>
                <a:latin typeface="Times New Roman" panose="02020603050405020304" pitchFamily="18" charset="0"/>
                <a:ea typeface="等线" panose="02010600030101010101" pitchFamily="2" charset="-122"/>
              </a:rPr>
              <a:t>market </a:t>
            </a:r>
            <a:r>
              <a:rPr lang="en-US" altLang="zh-CN" sz="1800" b="1" dirty="0" smtClean="0">
                <a:solidFill>
                  <a:schemeClr val="bg2"/>
                </a:solidFill>
                <a:latin typeface="Times New Roman" panose="02020603050405020304" pitchFamily="18" charset="0"/>
                <a:ea typeface="等线" panose="02010600030101010101" pitchFamily="2" charset="-122"/>
              </a:rPr>
              <a:t>participants (microstructure) in case study/interviewing</a:t>
            </a: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a:lnSpc>
                <a:spcPts val="2800"/>
              </a:lnSpc>
            </a:pPr>
            <a:endParaRPr lang="en-US" altLang="zh-CN" sz="1800" dirty="0">
              <a:solidFill>
                <a:schemeClr val="bg2"/>
              </a:solidFill>
              <a:latin typeface="Times New Roman" panose="02020603050405020304" pitchFamily="18" charset="0"/>
              <a:ea typeface="等线" panose="02010600030101010101" pitchFamily="2" charset="-122"/>
            </a:endParaRPr>
          </a:p>
          <a:p>
            <a:pPr>
              <a:lnSpc>
                <a:spcPts val="2800"/>
              </a:lnSpc>
            </a:pPr>
            <a:r>
              <a:rPr lang="en-US" altLang="zh-CN" sz="1800" dirty="0" smtClean="0">
                <a:solidFill>
                  <a:schemeClr val="bg2"/>
                </a:solidFill>
                <a:latin typeface="Times New Roman" panose="02020603050405020304" pitchFamily="18" charset="0"/>
                <a:ea typeface="等线" panose="02010600030101010101" pitchFamily="2" charset="-122"/>
              </a:rPr>
              <a:t> </a:t>
            </a:r>
          </a:p>
          <a:p>
            <a:pPr>
              <a:lnSpc>
                <a:spcPts val="2800"/>
              </a:lnSpc>
            </a:pPr>
            <a:endParaRPr lang="en-US" altLang="zh-CN" sz="1800" dirty="0" smtClean="0">
              <a:solidFill>
                <a:schemeClr val="bg2"/>
              </a:solidFill>
              <a:latin typeface="Times New Roman" panose="02020603050405020304" pitchFamily="18" charset="0"/>
              <a:ea typeface="等线" panose="02010600030101010101" pitchFamily="2" charset="-122"/>
            </a:endParaRPr>
          </a:p>
          <a:p>
            <a:pPr>
              <a:lnSpc>
                <a:spcPts val="2800"/>
              </a:lnSpc>
            </a:pPr>
            <a:endParaRPr lang="en-US" altLang="zh-CN" sz="1800" dirty="0" smtClean="0">
              <a:solidFill>
                <a:schemeClr val="bg2"/>
              </a:solidFill>
              <a:latin typeface="Times New Roman" panose="02020603050405020304" pitchFamily="18" charset="0"/>
              <a:ea typeface="等线" panose="02010600030101010101" pitchFamily="2" charset="-122"/>
            </a:endParaRPr>
          </a:p>
          <a:p>
            <a:pPr>
              <a:lnSpc>
                <a:spcPts val="2800"/>
              </a:lnSpc>
            </a:pPr>
            <a:r>
              <a:rPr lang="en-US" altLang="zh-CN" sz="2000" b="1" dirty="0">
                <a:solidFill>
                  <a:schemeClr val="bg2"/>
                </a:solidFill>
                <a:latin typeface="Times New Roman" panose="02020603050405020304" pitchFamily="18" charset="0"/>
                <a:ea typeface="等线" panose="02010600030101010101" pitchFamily="2" charset="-122"/>
                <a:cs typeface="+mn-cs"/>
              </a:rPr>
              <a:t>Transaction Mechanism: </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external reasons </a:t>
            </a:r>
            <a:r>
              <a:rPr lang="en-US" altLang="zh-CN" sz="1400" dirty="0" smtClean="0">
                <a:latin typeface="Times New Roman" panose="02020603050405020304" pitchFamily="18" charset="0"/>
                <a:ea typeface="等线" panose="02010600030101010101" pitchFamily="2" charset="-122"/>
              </a:rPr>
              <a:t>inside mkt</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expectations of participants in the market </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the transactions of participants </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the flow of money</a:t>
            </a:r>
            <a:r>
              <a:rPr lang="zh-CN" altLang="en-US" sz="1400" dirty="0">
                <a:latin typeface="Times New Roman" panose="02020603050405020304" pitchFamily="18" charset="0"/>
                <a:ea typeface="等线" panose="02010600030101010101" pitchFamily="2" charset="-122"/>
              </a:rPr>
              <a:t> </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prices change</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data that bring analysis clues of convenient yield</a:t>
            </a: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Ⅱ. </a:t>
            </a:r>
            <a:r>
              <a:rPr lang="en-US" altLang="zh-CN" sz="2400" dirty="0" smtClean="0">
                <a:solidFill>
                  <a:schemeClr val="bg1"/>
                </a:solidFill>
              </a:rPr>
              <a:t>I</a:t>
            </a:r>
            <a:r>
              <a:rPr lang="en-US" sz="2400" dirty="0" smtClean="0">
                <a:solidFill>
                  <a:schemeClr val="bg1"/>
                </a:solidFill>
              </a:rPr>
              <a:t>ntroduction</a:t>
            </a:r>
            <a:endParaRPr lang="en-US" sz="2400" dirty="0">
              <a:solidFill>
                <a:schemeClr val="bg1"/>
              </a:solidFill>
            </a:endParaRPr>
          </a:p>
        </p:txBody>
      </p:sp>
      <p:pic>
        <p:nvPicPr>
          <p:cNvPr id="4" name="图片 3"/>
          <p:cNvPicPr/>
          <p:nvPr/>
        </p:nvPicPr>
        <p:blipFill rotWithShape="1">
          <a:blip r:embed="rId2" cstate="print">
            <a:extLst>
              <a:ext uri="{28A0092B-C50C-407E-A947-70E740481C1C}">
                <a14:useLocalDpi xmlns:a14="http://schemas.microsoft.com/office/drawing/2010/main" val="0"/>
              </a:ext>
            </a:extLst>
          </a:blip>
          <a:srcRect r="1357" b="74766"/>
          <a:stretch/>
        </p:blipFill>
        <p:spPr>
          <a:xfrm>
            <a:off x="615303" y="1674090"/>
            <a:ext cx="7848872" cy="972108"/>
          </a:xfrm>
          <a:prstGeom prst="rect">
            <a:avLst/>
          </a:prstGeom>
        </p:spPr>
      </p:pic>
      <p:sp>
        <p:nvSpPr>
          <p:cNvPr id="2" name="矩形 1"/>
          <p:cNvSpPr/>
          <p:nvPr/>
        </p:nvSpPr>
        <p:spPr>
          <a:xfrm>
            <a:off x="4880198" y="3141762"/>
            <a:ext cx="4593345" cy="2605842"/>
          </a:xfrm>
          <a:prstGeom prst="rect">
            <a:avLst/>
          </a:prstGeom>
        </p:spPr>
        <p:txBody>
          <a:bodyPr wrap="square">
            <a:spAutoFit/>
          </a:bodyPr>
          <a:lstStyle/>
          <a:p>
            <a:pPr>
              <a:lnSpc>
                <a:spcPts val="2800"/>
              </a:lnSpc>
            </a:pPr>
            <a:r>
              <a:rPr lang="en-US" altLang="zh-CN" sz="2000" b="1" dirty="0">
                <a:solidFill>
                  <a:schemeClr val="bg2"/>
                </a:solidFill>
                <a:latin typeface="Times New Roman" panose="02020603050405020304" pitchFamily="18" charset="0"/>
                <a:ea typeface="等线" panose="02010600030101010101" pitchFamily="2" charset="-122"/>
              </a:rPr>
              <a:t>Cryptocurrency </a:t>
            </a:r>
            <a:r>
              <a:rPr lang="en-US" altLang="zh-CN" sz="2000" b="1" dirty="0" smtClean="0">
                <a:solidFill>
                  <a:schemeClr val="bg2"/>
                </a:solidFill>
                <a:latin typeface="Times New Roman" panose="02020603050405020304" pitchFamily="18" charset="0"/>
                <a:ea typeface="等线" panose="02010600030101010101" pitchFamily="2" charset="-122"/>
              </a:rPr>
              <a:t>Exchange (Key Player)</a:t>
            </a:r>
            <a:endParaRPr lang="en-US" altLang="zh-CN" sz="2000" dirty="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Unregulated.</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spontaneously </a:t>
            </a:r>
            <a:r>
              <a:rPr lang="en-US" altLang="zh-CN" sz="1400" dirty="0" smtClean="0">
                <a:latin typeface="Times New Roman" panose="02020603050405020304" pitchFamily="18" charset="0"/>
                <a:ea typeface="等线" panose="02010600030101010101" pitchFamily="2" charset="-122"/>
              </a:rPr>
              <a:t>doing all the business of </a:t>
            </a:r>
            <a:r>
              <a:rPr lang="en-US" altLang="zh-CN" sz="1400" dirty="0">
                <a:latin typeface="Times New Roman" panose="02020603050405020304" pitchFamily="18" charset="0"/>
                <a:ea typeface="等线" panose="02010600030101010101" pitchFamily="2" charset="-122"/>
              </a:rPr>
              <a:t>the upstream and </a:t>
            </a:r>
            <a:r>
              <a:rPr lang="en-US" altLang="zh-CN" sz="1400" dirty="0" smtClean="0">
                <a:latin typeface="Times New Roman" panose="02020603050405020304" pitchFamily="18" charset="0"/>
                <a:ea typeface="等线" panose="02010600030101010101" pitchFamily="2" charset="-122"/>
              </a:rPr>
              <a:t>downstream.</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most </a:t>
            </a:r>
            <a:r>
              <a:rPr lang="en-US" altLang="zh-CN" sz="1400" dirty="0" smtClean="0">
                <a:latin typeface="Times New Roman" panose="02020603050405020304" pitchFamily="18" charset="0"/>
                <a:ea typeface="等线" panose="02010600030101010101" pitchFamily="2" charset="-122"/>
              </a:rPr>
              <a:t>profitable inside the industry</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resulting in all kinds of strange </a:t>
            </a:r>
            <a:r>
              <a:rPr lang="en-US" altLang="zh-CN" sz="1400" dirty="0" smtClean="0">
                <a:latin typeface="Times New Roman" panose="02020603050405020304" pitchFamily="18" charset="0"/>
                <a:ea typeface="等线" panose="02010600030101010101" pitchFamily="2" charset="-122"/>
              </a:rPr>
              <a:t>innovations inside industry, for example, </a:t>
            </a:r>
            <a:r>
              <a:rPr lang="en-US" altLang="zh-CN" sz="1400" b="1" dirty="0" smtClean="0">
                <a:latin typeface="Times New Roman" panose="02020603050405020304" pitchFamily="18" charset="0"/>
                <a:ea typeface="等线" panose="02010600030101010101" pitchFamily="2" charset="-122"/>
              </a:rPr>
              <a:t>perpetual swap</a:t>
            </a:r>
            <a:r>
              <a:rPr lang="en-US" altLang="zh-CN" sz="1400" dirty="0" smtClean="0">
                <a:latin typeface="Times New Roman" panose="02020603050405020304" pitchFamily="18" charset="0"/>
                <a:ea typeface="等线" panose="02010600030101010101" pitchFamily="2" charset="-122"/>
              </a:rPr>
              <a:t>.</a:t>
            </a:r>
            <a:endParaRPr lang="en-US" altLang="zh-CN" sz="1400" dirty="0">
              <a:latin typeface="Times New Roman" panose="02020603050405020304" pitchFamily="18" charset="0"/>
              <a:ea typeface="等线" panose="02010600030101010101" pitchFamily="2" charset="-122"/>
            </a:endParaRPr>
          </a:p>
        </p:txBody>
      </p:sp>
    </p:spTree>
    <p:extLst>
      <p:ext uri="{BB962C8B-B14F-4D97-AF65-F5344CB8AC3E}">
        <p14:creationId xmlns:p14="http://schemas.microsoft.com/office/powerpoint/2010/main" val="1097675966"/>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60671" y="1053530"/>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First</a:t>
            </a:r>
            <a:r>
              <a:rPr lang="en-US" altLang="zh-CN" sz="1800" b="1" dirty="0">
                <a:solidFill>
                  <a:schemeClr val="bg2"/>
                </a:solidFill>
                <a:latin typeface="Times New Roman" panose="02020603050405020304" pitchFamily="18" charset="0"/>
                <a:ea typeface="等线" panose="02010600030101010101" pitchFamily="2" charset="-122"/>
              </a:rPr>
              <a:t>, we adopted a novel topic selection. </a:t>
            </a: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study </a:t>
            </a:r>
            <a:r>
              <a:rPr lang="en-US" altLang="zh-CN" sz="1400" dirty="0">
                <a:latin typeface="Times New Roman" panose="02020603050405020304" pitchFamily="18" charset="0"/>
                <a:ea typeface="等线" panose="02010600030101010101" pitchFamily="2" charset="-122"/>
              </a:rPr>
              <a:t>the cryptocurrency market makeup</a:t>
            </a:r>
            <a:endParaRPr lang="en-US" altLang="zh-CN" sz="1400" dirty="0" smtClean="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develop </a:t>
            </a:r>
            <a:r>
              <a:rPr lang="en-US" altLang="zh-CN" sz="1400" dirty="0">
                <a:latin typeface="Times New Roman" panose="02020603050405020304" pitchFamily="18" charset="0"/>
                <a:ea typeface="等线" panose="02010600030101010101" pitchFamily="2" charset="-122"/>
              </a:rPr>
              <a:t>a theoretical </a:t>
            </a:r>
            <a:r>
              <a:rPr lang="en-US" altLang="zh-CN" sz="1400" dirty="0" smtClean="0">
                <a:latin typeface="Times New Roman" panose="02020603050405020304" pitchFamily="18" charset="0"/>
                <a:ea typeface="等线" panose="02010600030101010101" pitchFamily="2" charset="-122"/>
              </a:rPr>
              <a:t>model </a:t>
            </a:r>
            <a:r>
              <a:rPr lang="en-US" altLang="zh-CN" sz="1400" dirty="0">
                <a:latin typeface="Times New Roman" panose="02020603050405020304" pitchFamily="18" charset="0"/>
                <a:ea typeface="等线" panose="02010600030101010101" pitchFamily="2" charset="-122"/>
              </a:rPr>
              <a:t>of perpetual swap </a:t>
            </a:r>
            <a:endParaRPr lang="en-US" altLang="zh-CN" sz="1400" dirty="0" smtClean="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explain the makeup of convenience yield this </a:t>
            </a:r>
            <a:r>
              <a:rPr lang="en-US" altLang="zh-CN" sz="1400" dirty="0" smtClean="0">
                <a:latin typeface="Times New Roman" panose="02020603050405020304" pitchFamily="18" charset="0"/>
                <a:ea typeface="等线" panose="02010600030101010101" pitchFamily="2" charset="-122"/>
              </a:rPr>
              <a:t>market</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put </a:t>
            </a:r>
            <a:r>
              <a:rPr lang="en-US" altLang="zh-CN" sz="1400" dirty="0">
                <a:latin typeface="Times New Roman" panose="02020603050405020304" pitchFamily="18" charset="0"/>
                <a:ea typeface="等线" panose="02010600030101010101" pitchFamily="2" charset="-122"/>
              </a:rPr>
              <a:t>forward reasonable assumptions and inferences</a:t>
            </a:r>
            <a:r>
              <a:rPr lang="en-US" altLang="zh-CN" sz="1400" dirty="0" smtClean="0">
                <a:latin typeface="Times New Roman" panose="02020603050405020304" pitchFamily="18" charset="0"/>
                <a:ea typeface="等线" panose="02010600030101010101" pitchFamily="2" charset="-122"/>
              </a:rPr>
              <a:t>.</a:t>
            </a:r>
          </a:p>
          <a:p>
            <a:pPr marL="821884" lvl="1" indent="-342921">
              <a:lnSpc>
                <a:spcPts val="2800"/>
              </a:lnSpc>
              <a:buFont typeface="Wingdings" panose="05000000000000000000" pitchFamily="2" charset="2"/>
              <a:buChar char="Ø"/>
            </a:pPr>
            <a:endParaRPr lang="en-US" altLang="zh-CN" sz="1200" b="1"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Second, we employed new </a:t>
            </a:r>
            <a:r>
              <a:rPr lang="en-US" altLang="zh-CN" sz="1800" b="1" dirty="0" smtClean="0">
                <a:solidFill>
                  <a:schemeClr val="bg2"/>
                </a:solidFill>
                <a:latin typeface="Times New Roman" panose="02020603050405020304" pitchFamily="18" charset="0"/>
                <a:ea typeface="等线" panose="02010600030101010101" pitchFamily="2" charset="-122"/>
              </a:rPr>
              <a:t>data and methodology. </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16 </a:t>
            </a:r>
            <a:r>
              <a:rPr lang="en-US" altLang="zh-CN" sz="1400" dirty="0">
                <a:latin typeface="Times New Roman" panose="02020603050405020304" pitchFamily="18" charset="0"/>
                <a:ea typeface="等线" panose="02010600030101010101" pitchFamily="2" charset="-122"/>
              </a:rPr>
              <a:t>major cryptocurrencies </a:t>
            </a:r>
            <a:endParaRPr lang="en-US" altLang="zh-CN" sz="1400" dirty="0" smtClean="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b="1" dirty="0" smtClean="0">
                <a:latin typeface="Times New Roman" panose="02020603050405020304" pitchFamily="18" charset="0"/>
                <a:ea typeface="等线" panose="02010600030101010101" pitchFamily="2" charset="-122"/>
              </a:rPr>
              <a:t>minute</a:t>
            </a:r>
            <a:r>
              <a:rPr lang="en-US" altLang="zh-CN" sz="1400" dirty="0" smtClean="0">
                <a:latin typeface="Times New Roman" panose="02020603050405020304" pitchFamily="18" charset="0"/>
                <a:ea typeface="等线" panose="02010600030101010101" pitchFamily="2" charset="-122"/>
              </a:rPr>
              <a:t> </a:t>
            </a:r>
            <a:r>
              <a:rPr lang="en-US" altLang="zh-CN" sz="1400" dirty="0">
                <a:latin typeface="Times New Roman" panose="02020603050405020304" pitchFamily="18" charset="0"/>
                <a:ea typeface="等线" panose="02010600030101010101" pitchFamily="2" charset="-122"/>
              </a:rPr>
              <a:t>frequency data from </a:t>
            </a:r>
            <a:r>
              <a:rPr lang="en-US" altLang="zh-CN" sz="1400" dirty="0" err="1" smtClean="0">
                <a:latin typeface="Times New Roman" panose="02020603050405020304" pitchFamily="18" charset="0"/>
                <a:ea typeface="等线" panose="02010600030101010101" pitchFamily="2" charset="-122"/>
              </a:rPr>
              <a:t>Binance</a:t>
            </a:r>
            <a:r>
              <a:rPr lang="en-US" altLang="zh-CN" sz="1400" dirty="0" smtClean="0">
                <a:latin typeface="Times New Roman" panose="02020603050405020304" pitchFamily="18" charset="0"/>
                <a:ea typeface="等线" panose="02010600030101010101" pitchFamily="2" charset="-122"/>
              </a:rPr>
              <a:t> Exchange </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unique </a:t>
            </a:r>
            <a:r>
              <a:rPr lang="en-US" altLang="zh-CN" sz="1400" dirty="0">
                <a:latin typeface="Times New Roman" panose="02020603050405020304" pitchFamily="18" charset="0"/>
                <a:ea typeface="等线" panose="02010600030101010101" pitchFamily="2" charset="-122"/>
              </a:rPr>
              <a:t>independent variable data with weekly </a:t>
            </a:r>
            <a:r>
              <a:rPr lang="en-US" altLang="zh-CN" sz="1400" dirty="0" smtClean="0">
                <a:latin typeface="Times New Roman" panose="02020603050405020304" pitchFamily="18" charset="0"/>
                <a:ea typeface="等线" panose="02010600030101010101" pitchFamily="2" charset="-122"/>
              </a:rPr>
              <a:t>frequency.</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models of </a:t>
            </a:r>
            <a:r>
              <a:rPr lang="en-US" altLang="zh-CN" sz="1400" dirty="0" smtClean="0">
                <a:latin typeface="Times New Roman" panose="02020603050405020304" pitchFamily="18" charset="0"/>
                <a:ea typeface="等线" panose="02010600030101010101" pitchFamily="2" charset="-122"/>
              </a:rPr>
              <a:t>reflexivity for systemic explanation</a:t>
            </a:r>
          </a:p>
          <a:p>
            <a:pPr marL="821884" lvl="1" indent="-342921">
              <a:lnSpc>
                <a:spcPts val="2800"/>
              </a:lnSpc>
              <a:buFont typeface="Wingdings" panose="05000000000000000000" pitchFamily="2" charset="2"/>
              <a:buChar char="Ø"/>
            </a:pPr>
            <a:endParaRPr lang="en-US" altLang="zh-CN" sz="1200" b="1"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Finally, we added an important “5.19” breaking point.</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compare parameters before and after “5.19” </a:t>
            </a:r>
            <a:r>
              <a:rPr lang="en-US" altLang="zh-CN" sz="1400" dirty="0" smtClean="0">
                <a:latin typeface="Times New Roman" panose="02020603050405020304" pitchFamily="18" charset="0"/>
                <a:ea typeface="等线" panose="02010600030101010101" pitchFamily="2" charset="-122"/>
                <a:sym typeface="Wingdings" panose="05000000000000000000" pitchFamily="2" charset="2"/>
              </a:rPr>
              <a:t></a:t>
            </a:r>
            <a:r>
              <a:rPr lang="en-US" altLang="zh-CN" sz="1400" dirty="0" smtClean="0">
                <a:latin typeface="Times New Roman" panose="02020603050405020304" pitchFamily="18" charset="0"/>
                <a:ea typeface="等线" panose="02010600030101010101" pitchFamily="2" charset="-122"/>
              </a:rPr>
              <a:t> use RD in </a:t>
            </a:r>
            <a:r>
              <a:rPr lang="en-US" altLang="zh-CN" sz="1400" dirty="0">
                <a:latin typeface="Times New Roman" panose="02020603050405020304" pitchFamily="18" charset="0"/>
                <a:ea typeface="等线" panose="02010600030101010101" pitchFamily="2" charset="-122"/>
              </a:rPr>
              <a:t>the </a:t>
            </a:r>
            <a:r>
              <a:rPr lang="en-US" altLang="zh-CN" sz="1400" dirty="0" smtClean="0">
                <a:latin typeface="Times New Roman" panose="02020603050405020304" pitchFamily="18" charset="0"/>
                <a:ea typeface="等线" panose="02010600030101010101" pitchFamily="2" charset="-122"/>
              </a:rPr>
              <a:t>regression</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case </a:t>
            </a:r>
            <a:r>
              <a:rPr lang="en-US" altLang="zh-CN" sz="1400" dirty="0">
                <a:latin typeface="Times New Roman" panose="02020603050405020304" pitchFamily="18" charset="0"/>
                <a:ea typeface="等线" panose="02010600030101010101" pitchFamily="2" charset="-122"/>
              </a:rPr>
              <a:t>analysis </a:t>
            </a:r>
            <a:r>
              <a:rPr lang="en-US" altLang="zh-CN" sz="1400" dirty="0" smtClean="0">
                <a:latin typeface="Times New Roman" panose="02020603050405020304" pitchFamily="18" charset="0"/>
                <a:ea typeface="等线" panose="02010600030101010101" pitchFamily="2" charset="-122"/>
              </a:rPr>
              <a:t>method: </a:t>
            </a:r>
            <a:r>
              <a:rPr lang="en-US" altLang="zh-CN" sz="1400" i="1" dirty="0" smtClean="0">
                <a:latin typeface="Times New Roman" panose="02020603050405020304" pitchFamily="18" charset="0"/>
                <a:ea typeface="等线" panose="02010600030101010101" pitchFamily="2" charset="-122"/>
              </a:rPr>
              <a:t>market </a:t>
            </a:r>
            <a:r>
              <a:rPr lang="en-US" altLang="zh-CN" sz="1400" i="1" dirty="0">
                <a:latin typeface="Times New Roman" panose="02020603050405020304" pitchFamily="18" charset="0"/>
                <a:ea typeface="等线" panose="02010600030101010101" pitchFamily="2" charset="-122"/>
              </a:rPr>
              <a:t>microstructure and </a:t>
            </a:r>
            <a:r>
              <a:rPr lang="en-US" altLang="zh-CN" sz="1400" i="1" dirty="0" smtClean="0">
                <a:latin typeface="Times New Roman" panose="02020603050405020304" pitchFamily="18" charset="0"/>
                <a:ea typeface="等线" panose="02010600030101010101" pitchFamily="2" charset="-122"/>
              </a:rPr>
              <a:t>intelligence analysis</a:t>
            </a:r>
            <a:endParaRPr lang="en-US" altLang="zh-CN" sz="2000" i="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Ⅱ</a:t>
            </a:r>
            <a:r>
              <a:rPr lang="en-US" altLang="zh-CN" sz="2400" dirty="0" smtClean="0">
                <a:solidFill>
                  <a:schemeClr val="bg1"/>
                </a:solidFill>
              </a:rPr>
              <a:t>. Contribution</a:t>
            </a:r>
            <a:endParaRPr lang="en-US" sz="2400" dirty="0">
              <a:solidFill>
                <a:schemeClr val="bg1"/>
              </a:solidFill>
            </a:endParaRPr>
          </a:p>
        </p:txBody>
      </p:sp>
      <p:sp>
        <p:nvSpPr>
          <p:cNvPr id="4" name="文本框 3"/>
          <p:cNvSpPr txBox="1"/>
          <p:nvPr/>
        </p:nvSpPr>
        <p:spPr>
          <a:xfrm>
            <a:off x="5528270" y="1056410"/>
            <a:ext cx="3672408" cy="1836204"/>
          </a:xfrm>
          <a:prstGeom prst="rect">
            <a:avLst/>
          </a:prstGeom>
          <a:noFill/>
          <a:ln w="6350" cap="flat">
            <a:noFill/>
            <a:miter lim="800000"/>
          </a:ln>
        </p:spPr>
        <p:txBody>
          <a:bodyPr wrap="square" lIns="0" tIns="0" rIns="0" bIns="0" rtlCol="0" anchor="t" anchorCtr="0">
            <a:spAutoFit/>
          </a:bodyPr>
          <a:lstStyle/>
          <a:p>
            <a:pPr>
              <a:lnSpc>
                <a:spcPct val="90000"/>
              </a:lnSpc>
              <a:spcBef>
                <a:spcPts val="600"/>
              </a:spcBef>
              <a:buClr>
                <a:schemeClr val="bg2"/>
              </a:buClr>
            </a:pPr>
            <a:endParaRPr lang="zh-CN" altLang="en-US" sz="1400" dirty="0" smtClean="0">
              <a:latin typeface="Arial" pitchFamily="34" charset="0"/>
              <a:cs typeface="Arial" pitchFamily="34" charset="0"/>
            </a:endParaRPr>
          </a:p>
        </p:txBody>
      </p:sp>
      <p:pic>
        <p:nvPicPr>
          <p:cNvPr id="5" name="图片 4"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6362" y="3007246"/>
            <a:ext cx="2627387" cy="2113180"/>
          </a:xfrm>
          <a:prstGeom prst="rect">
            <a:avLst/>
          </a:prstGeom>
        </p:spPr>
      </p:pic>
      <p:pic>
        <p:nvPicPr>
          <p:cNvPr id="6" name="图片 5"/>
          <p:cNvPicPr>
            <a:picLocks noChangeAspect="1"/>
          </p:cNvPicPr>
          <p:nvPr/>
        </p:nvPicPr>
        <p:blipFill>
          <a:blip r:embed="rId3"/>
          <a:stretch>
            <a:fillRect/>
          </a:stretch>
        </p:blipFill>
        <p:spPr>
          <a:xfrm>
            <a:off x="6176342" y="1036521"/>
            <a:ext cx="3276364" cy="1811144"/>
          </a:xfrm>
          <a:prstGeom prst="rect">
            <a:avLst/>
          </a:prstGeom>
        </p:spPr>
      </p:pic>
    </p:spTree>
    <p:extLst>
      <p:ext uri="{BB962C8B-B14F-4D97-AF65-F5344CB8AC3E}">
        <p14:creationId xmlns:p14="http://schemas.microsoft.com/office/powerpoint/2010/main" val="2596737962"/>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595722" y="1053530"/>
            <a:ext cx="8964996"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Source of convenience </a:t>
            </a:r>
            <a:r>
              <a:rPr lang="en-US" altLang="zh-CN" sz="1800" b="1" dirty="0" smtClean="0">
                <a:solidFill>
                  <a:schemeClr val="bg2"/>
                </a:solidFill>
                <a:latin typeface="Times New Roman" panose="02020603050405020304" pitchFamily="18" charset="0"/>
                <a:ea typeface="等线" panose="02010600030101010101" pitchFamily="2" charset="-122"/>
              </a:rPr>
              <a:t>yield (normal commodity):</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the </a:t>
            </a:r>
            <a:r>
              <a:rPr lang="en-US" altLang="zh-CN" sz="1400" dirty="0">
                <a:latin typeface="Times New Roman" panose="02020603050405020304" pitchFamily="18" charset="0"/>
                <a:ea typeface="等线" panose="02010600030101010101" pitchFamily="2" charset="-122"/>
              </a:rPr>
              <a:t>cash flow obtained by the resource owner from the temporary </a:t>
            </a:r>
            <a:r>
              <a:rPr lang="en-US" altLang="zh-CN" sz="1400" b="1" dirty="0">
                <a:latin typeface="Times New Roman" panose="02020603050405020304" pitchFamily="18" charset="0"/>
                <a:ea typeface="等线" panose="02010600030101010101" pitchFamily="2" charset="-122"/>
              </a:rPr>
              <a:t>price </a:t>
            </a:r>
            <a:r>
              <a:rPr lang="en-US" altLang="zh-CN" sz="1400" b="1" dirty="0" smtClean="0">
                <a:latin typeface="Times New Roman" panose="02020603050405020304" pitchFamily="18" charset="0"/>
                <a:ea typeface="等线" panose="02010600030101010101" pitchFamily="2" charset="-122"/>
              </a:rPr>
              <a:t>increase </a:t>
            </a:r>
            <a:r>
              <a:rPr lang="en-US" altLang="zh-CN" sz="1400" dirty="0" smtClean="0">
                <a:latin typeface="Times New Roman" panose="02020603050405020304" pitchFamily="18" charset="0"/>
                <a:ea typeface="等线" panose="02010600030101010101" pitchFamily="2" charset="-122"/>
              </a:rPr>
              <a:t>-&gt; investment value</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the income or utility </a:t>
            </a:r>
            <a:r>
              <a:rPr lang="en-US" altLang="zh-CN" sz="1400" dirty="0">
                <a:latin typeface="Times New Roman" panose="02020603050405020304" pitchFamily="18" charset="0"/>
                <a:ea typeface="等线" panose="02010600030101010101" pitchFamily="2" charset="-122"/>
              </a:rPr>
              <a:t>generated by the </a:t>
            </a:r>
            <a:r>
              <a:rPr lang="en-US" altLang="zh-CN" sz="1400" b="1" dirty="0">
                <a:latin typeface="Times New Roman" panose="02020603050405020304" pitchFamily="18" charset="0"/>
                <a:ea typeface="等线" panose="02010600030101010101" pitchFamily="2" charset="-122"/>
              </a:rPr>
              <a:t>ability applicable </a:t>
            </a:r>
            <a:r>
              <a:rPr lang="en-US" altLang="zh-CN" sz="1400" dirty="0">
                <a:latin typeface="Times New Roman" panose="02020603050405020304" pitchFamily="18" charset="0"/>
                <a:ea typeface="等线" panose="02010600030101010101" pitchFamily="2" charset="-122"/>
              </a:rPr>
              <a:t>to production </a:t>
            </a:r>
            <a:r>
              <a:rPr lang="en-US" altLang="zh-CN" sz="1400" dirty="0" smtClean="0">
                <a:latin typeface="Times New Roman" panose="02020603050405020304" pitchFamily="18" charset="0"/>
                <a:ea typeface="等线" panose="02010600030101010101" pitchFamily="2" charset="-122"/>
              </a:rPr>
              <a:t>activities -&gt; usage value.</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m</a:t>
            </a:r>
            <a:r>
              <a:rPr lang="en-US" altLang="zh-CN" sz="1400" dirty="0" smtClean="0">
                <a:latin typeface="Times New Roman" panose="02020603050405020304" pitchFamily="18" charset="0"/>
                <a:ea typeface="等线" panose="02010600030101010101" pitchFamily="2" charset="-122"/>
              </a:rPr>
              <a:t>inus the cost of holding-spot</a:t>
            </a:r>
            <a:r>
              <a:rPr lang="en-US" altLang="zh-CN" sz="1400" dirty="0">
                <a:latin typeface="Times New Roman" panose="02020603050405020304" pitchFamily="18" charset="0"/>
                <a:ea typeface="等线" panose="02010600030101010101" pitchFamily="2" charset="-122"/>
              </a:rPr>
              <a:t>: </a:t>
            </a:r>
            <a:r>
              <a:rPr lang="en-US" altLang="zh-CN" sz="1400" dirty="0" smtClean="0">
                <a:latin typeface="Times New Roman" panose="02020603050405020304" pitchFamily="18" charset="0"/>
                <a:ea typeface="等线" panose="02010600030101010101" pitchFamily="2" charset="-122"/>
              </a:rPr>
              <a:t>transportation, </a:t>
            </a:r>
            <a:r>
              <a:rPr lang="en-US" altLang="zh-CN" sz="1400" dirty="0">
                <a:latin typeface="Times New Roman" panose="02020603050405020304" pitchFamily="18" charset="0"/>
                <a:ea typeface="等线" panose="02010600030101010101" pitchFamily="2" charset="-122"/>
              </a:rPr>
              <a:t>quality </a:t>
            </a:r>
            <a:r>
              <a:rPr lang="en-US" altLang="zh-CN" sz="1400" dirty="0" smtClean="0">
                <a:latin typeface="Times New Roman" panose="02020603050405020304" pitchFamily="18" charset="0"/>
                <a:ea typeface="等线" panose="02010600030101010101" pitchFamily="2" charset="-122"/>
              </a:rPr>
              <a:t>inspection, </a:t>
            </a:r>
            <a:r>
              <a:rPr lang="en-US" altLang="zh-CN" sz="1400" dirty="0">
                <a:latin typeface="Times New Roman" panose="02020603050405020304" pitchFamily="18" charset="0"/>
                <a:ea typeface="等线" panose="02010600030101010101" pitchFamily="2" charset="-122"/>
              </a:rPr>
              <a:t>warehousing </a:t>
            </a:r>
            <a:r>
              <a:rPr lang="en-US" altLang="zh-CN" sz="1400" dirty="0" smtClean="0">
                <a:latin typeface="Times New Roman" panose="02020603050405020304" pitchFamily="18" charset="0"/>
                <a:ea typeface="等线" panose="02010600030101010101" pitchFamily="2" charset="-122"/>
              </a:rPr>
              <a:t>storage, issuing </a:t>
            </a:r>
            <a:r>
              <a:rPr lang="en-US" altLang="zh-CN" sz="1400" dirty="0">
                <a:latin typeface="Times New Roman" panose="02020603050405020304" pitchFamily="18" charset="0"/>
                <a:ea typeface="等线" panose="02010600030101010101" pitchFamily="2" charset="-122"/>
              </a:rPr>
              <a:t>invoices</a:t>
            </a:r>
            <a:endParaRPr lang="en-US" altLang="zh-CN" sz="14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Source of convenience yield </a:t>
            </a:r>
            <a:r>
              <a:rPr lang="en-US" altLang="zh-CN" sz="1800" b="1" dirty="0" smtClean="0">
                <a:solidFill>
                  <a:schemeClr val="bg2"/>
                </a:solidFill>
                <a:latin typeface="Times New Roman" panose="02020603050405020304" pitchFamily="18" charset="0"/>
                <a:ea typeface="等线" panose="02010600030101010101" pitchFamily="2" charset="-122"/>
              </a:rPr>
              <a:t>(cryptocurrency, respectively):</a:t>
            </a:r>
            <a:endParaRPr lang="en-US" altLang="zh-CN" sz="1800" b="1" dirty="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a:t>
            </a:r>
            <a:r>
              <a:rPr lang="en-US" altLang="zh-CN" sz="1400" dirty="0">
                <a:latin typeface="Times New Roman" panose="02020603050405020304" pitchFamily="18" charset="0"/>
                <a:ea typeface="等线" panose="02010600030101010101" pitchFamily="2" charset="-122"/>
              </a:rPr>
              <a:t>N</a:t>
            </a:r>
            <a:r>
              <a:rPr lang="en-US" altLang="zh-CN" sz="1400" dirty="0" smtClean="0">
                <a:latin typeface="Times New Roman" panose="02020603050405020304" pitchFamily="18" charset="0"/>
                <a:ea typeface="等线" panose="02010600030101010101" pitchFamily="2" charset="-122"/>
              </a:rPr>
              <a:t>ormally </a:t>
            </a:r>
            <a:r>
              <a:rPr lang="en-US" altLang="zh-CN" sz="1400" b="1" dirty="0" smtClean="0">
                <a:latin typeface="Times New Roman" panose="02020603050405020304" pitchFamily="18" charset="0"/>
                <a:ea typeface="等线" panose="02010600030101010101" pitchFamily="2" charset="-122"/>
              </a:rPr>
              <a:t>NO investment value</a:t>
            </a:r>
            <a:r>
              <a:rPr lang="en-US" altLang="zh-CN" sz="1400" dirty="0" smtClean="0">
                <a:latin typeface="Times New Roman" panose="02020603050405020304" pitchFamily="18" charset="0"/>
                <a:ea typeface="等线" panose="02010600030101010101" pitchFamily="2" charset="-122"/>
              </a:rPr>
              <a:t>, due to the perpetual contract</a:t>
            </a:r>
          </a:p>
          <a:p>
            <a:pPr marL="821884" lvl="1" indent="-342921">
              <a:lnSpc>
                <a:spcPts val="2800"/>
              </a:lnSpc>
              <a:buFont typeface="Wingdings" panose="05000000000000000000" pitchFamily="2" charset="2"/>
              <a:buChar char="Ø"/>
            </a:pPr>
            <a:r>
              <a:rPr lang="en-US" altLang="zh-CN" sz="1400" b="1" dirty="0" smtClean="0">
                <a:latin typeface="Times New Roman" panose="02020603050405020304" pitchFamily="18" charset="0"/>
                <a:ea typeface="等线" panose="02010600030101010101" pitchFamily="2" charset="-122"/>
              </a:rPr>
              <a:t>mining </a:t>
            </a:r>
            <a:r>
              <a:rPr lang="en-US" altLang="zh-CN" sz="1400" b="1" dirty="0">
                <a:latin typeface="Times New Roman" panose="02020603050405020304" pitchFamily="18" charset="0"/>
                <a:ea typeface="等线" panose="02010600030101010101" pitchFamily="2" charset="-122"/>
              </a:rPr>
              <a:t>revenue</a:t>
            </a:r>
            <a:r>
              <a:rPr lang="en-US" altLang="zh-CN" sz="1400" dirty="0">
                <a:latin typeface="Times New Roman" panose="02020603050405020304" pitchFamily="18" charset="0"/>
                <a:ea typeface="等线" panose="02010600030101010101" pitchFamily="2" charset="-122"/>
              </a:rPr>
              <a:t>: POS (Proof of Stake)-like mechanism</a:t>
            </a:r>
          </a:p>
          <a:p>
            <a:pPr marL="821884" lvl="1" indent="-342921">
              <a:lnSpc>
                <a:spcPts val="2800"/>
              </a:lnSpc>
              <a:buFont typeface="Wingdings" panose="05000000000000000000" pitchFamily="2" charset="2"/>
              <a:buChar char="Ø"/>
            </a:pPr>
            <a:r>
              <a:rPr lang="en-US" altLang="zh-CN" sz="1400" b="1" dirty="0" smtClean="0">
                <a:latin typeface="Times New Roman" panose="02020603050405020304" pitchFamily="18" charset="0"/>
                <a:ea typeface="等线" panose="02010600030101010101" pitchFamily="2" charset="-122"/>
              </a:rPr>
              <a:t>market-making </a:t>
            </a:r>
            <a:r>
              <a:rPr lang="en-US" altLang="zh-CN" sz="1400" dirty="0">
                <a:latin typeface="Times New Roman" panose="02020603050405020304" pitchFamily="18" charset="0"/>
                <a:ea typeface="等线" panose="02010600030101010101" pitchFamily="2" charset="-122"/>
              </a:rPr>
              <a:t>(or trading) revenue: provide liquidity for their financial market transactions</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some </a:t>
            </a:r>
            <a:r>
              <a:rPr lang="en-US" altLang="zh-CN" sz="1400" b="1" i="1" dirty="0">
                <a:latin typeface="Times New Roman" panose="02020603050405020304" pitchFamily="18" charset="0"/>
                <a:ea typeface="等线" panose="02010600030101010101" pitchFamily="2" charset="-122"/>
              </a:rPr>
              <a:t>illegal </a:t>
            </a:r>
            <a:r>
              <a:rPr lang="en-US" altLang="zh-CN" sz="1400" b="1" i="1" dirty="0" smtClean="0">
                <a:latin typeface="Times New Roman" panose="02020603050405020304" pitchFamily="18" charset="0"/>
                <a:ea typeface="等线" panose="02010600030101010101" pitchFamily="2" charset="-122"/>
              </a:rPr>
              <a:t>transactions (actual usage cases)</a:t>
            </a:r>
            <a:r>
              <a:rPr lang="en-US" altLang="zh-CN" sz="1400" dirty="0" smtClean="0">
                <a:latin typeface="Times New Roman" panose="02020603050405020304" pitchFamily="18" charset="0"/>
                <a:ea typeface="等线" panose="02010600030101010101" pitchFamily="2" charset="-122"/>
              </a:rPr>
              <a:t> </a:t>
            </a:r>
            <a:r>
              <a:rPr lang="en-US" altLang="zh-CN" sz="1400" dirty="0">
                <a:latin typeface="Times New Roman" panose="02020603050405020304" pitchFamily="18" charset="0"/>
                <a:ea typeface="等线" panose="02010600030101010101" pitchFamily="2" charset="-122"/>
              </a:rPr>
              <a:t>or behaviors will require cryptocurrencies as their medium, such as pornography, gambling, drug money laundering, etc.</a:t>
            </a: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Ⅲ. Theoretical </a:t>
            </a:r>
            <a:r>
              <a:rPr lang="en-US" altLang="zh-CN" sz="2400" dirty="0">
                <a:solidFill>
                  <a:schemeClr val="bg1"/>
                </a:solidFill>
              </a:rPr>
              <a:t>Framework</a:t>
            </a:r>
            <a:endParaRPr lang="en-US" sz="2400" dirty="0">
              <a:solidFill>
                <a:schemeClr val="bg1"/>
              </a:solidFill>
            </a:endParaRPr>
          </a:p>
        </p:txBody>
      </p:sp>
    </p:spTree>
    <p:extLst>
      <p:ext uri="{BB962C8B-B14F-4D97-AF65-F5344CB8AC3E}">
        <p14:creationId xmlns:p14="http://schemas.microsoft.com/office/powerpoint/2010/main" val="3341780767"/>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43209" y="909514"/>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Mathematical model:</a:t>
                </a:r>
                <a:endParaRPr lang="en-US" altLang="zh-CN" sz="1800" dirty="0">
                  <a:solidFill>
                    <a:schemeClr val="bg2"/>
                  </a:solidFill>
                  <a:latin typeface="Times New Roman" panose="02020603050405020304" pitchFamily="18" charset="0"/>
                  <a:ea typeface="等线" panose="02010600030101010101" pitchFamily="2" charset="-122"/>
                </a:endParaRPr>
              </a:p>
              <a:p>
                <a:pPr lvl="1">
                  <a:lnSpc>
                    <a:spcPts val="2800"/>
                  </a:lnSpc>
                </a:pPr>
                <a:r>
                  <a:rPr lang="en-US" altLang="zh-CN" sz="1400" dirty="0" smtClean="0">
                    <a:latin typeface="Times New Roman" panose="02020603050405020304" pitchFamily="18" charset="0"/>
                    <a:ea typeface="等线" panose="02010600030101010101" pitchFamily="2" charset="-122"/>
                  </a:rPr>
                  <a:t>Assumption:</a:t>
                </a:r>
              </a:p>
              <a:p>
                <a:pPr marL="821884" lvl="1" indent="-342921">
                  <a:lnSpc>
                    <a:spcPts val="2800"/>
                  </a:lnSpc>
                  <a:buFont typeface="Wingdings" panose="05000000000000000000" pitchFamily="2" charset="2"/>
                  <a:buChar char="Ø"/>
                </a:pPr>
                <a:r>
                  <a:rPr lang="en-US" altLang="zh-CN" sz="1400" b="1" dirty="0" smtClean="0">
                    <a:latin typeface="Times New Roman" panose="02020603050405020304" pitchFamily="18" charset="0"/>
                    <a:ea typeface="等线" panose="02010600030101010101" pitchFamily="2" charset="-122"/>
                  </a:rPr>
                  <a:t>U - </a:t>
                </a:r>
                <a:r>
                  <a:rPr lang="en-US" altLang="zh-CN" sz="1400" dirty="0" smtClean="0">
                    <a:latin typeface="Times New Roman" panose="02020603050405020304" pitchFamily="18" charset="0"/>
                    <a:ea typeface="等线" panose="02010600030101010101" pitchFamily="2" charset="-122"/>
                  </a:rPr>
                  <a:t>the </a:t>
                </a:r>
                <a:r>
                  <a:rPr lang="en-US" altLang="zh-CN" sz="1400" dirty="0">
                    <a:latin typeface="Times New Roman" panose="02020603050405020304" pitchFamily="18" charset="0"/>
                    <a:ea typeface="等线" panose="02010600030101010101" pitchFamily="2" charset="-122"/>
                  </a:rPr>
                  <a:t>cost of holding the </a:t>
                </a:r>
                <a:r>
                  <a:rPr lang="en-US" altLang="zh-CN" sz="1400" dirty="0" smtClean="0">
                    <a:latin typeface="Times New Roman" panose="02020603050405020304" pitchFamily="18" charset="0"/>
                    <a:ea typeface="等线" panose="02010600030101010101" pitchFamily="2" charset="-122"/>
                  </a:rPr>
                  <a:t>spot, </a:t>
                </a:r>
                <a:r>
                  <a:rPr lang="en-US" altLang="zh-CN" sz="1400" dirty="0">
                    <a:latin typeface="Times New Roman" panose="02020603050405020304" pitchFamily="18" charset="0"/>
                    <a:ea typeface="等线" panose="02010600030101010101" pitchFamily="2" charset="-122"/>
                  </a:rPr>
                  <a:t>and the present value is known to </a:t>
                </a:r>
                <a:r>
                  <a:rPr lang="en-US" altLang="zh-CN" sz="1400" dirty="0" smtClean="0">
                    <a:latin typeface="Times New Roman" panose="02020603050405020304" pitchFamily="18" charset="0"/>
                    <a:ea typeface="等线" panose="02010600030101010101" pitchFamily="2" charset="-122"/>
                  </a:rPr>
                  <a:t>be, </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b="1" dirty="0" smtClean="0">
                    <a:latin typeface="Times New Roman" panose="02020603050405020304" pitchFamily="18" charset="0"/>
                    <a:ea typeface="等线" panose="02010600030101010101" pitchFamily="2" charset="-122"/>
                  </a:rPr>
                  <a:t>V </a:t>
                </a:r>
                <a:r>
                  <a:rPr lang="en-US" altLang="zh-CN" sz="1400" dirty="0" smtClean="0">
                    <a:latin typeface="Times New Roman" panose="02020603050405020304" pitchFamily="18" charset="0"/>
                    <a:ea typeface="等线" panose="02010600030101010101" pitchFamily="2" charset="-122"/>
                  </a:rPr>
                  <a:t>- the </a:t>
                </a:r>
                <a:r>
                  <a:rPr lang="en-US" altLang="zh-CN" sz="1400" dirty="0">
                    <a:latin typeface="Times New Roman" panose="02020603050405020304" pitchFamily="18" charset="0"/>
                    <a:ea typeface="等线" panose="02010600030101010101" pitchFamily="2" charset="-122"/>
                  </a:rPr>
                  <a:t>convenience rate of return of the commodity is y, and the return of the </a:t>
                </a:r>
                <a:r>
                  <a:rPr lang="en-US" altLang="zh-CN" sz="1400" dirty="0" smtClean="0">
                    <a:latin typeface="Times New Roman" panose="02020603050405020304" pitchFamily="18" charset="0"/>
                    <a:ea typeface="等线" panose="02010600030101010101" pitchFamily="2" charset="-122"/>
                  </a:rPr>
                  <a:t>commodity</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risk </a:t>
                </a:r>
                <a:r>
                  <a:rPr lang="en-US" altLang="zh-CN" sz="1400" dirty="0">
                    <a:latin typeface="Times New Roman" panose="02020603050405020304" pitchFamily="18" charset="0"/>
                    <a:ea typeface="等线" panose="02010600030101010101" pitchFamily="2" charset="-122"/>
                  </a:rPr>
                  <a:t>neutral market participants </a:t>
                </a:r>
              </a:p>
              <a:p>
                <a:pPr>
                  <a:lnSpc>
                    <a:spcPts val="2800"/>
                  </a:lnSpc>
                </a:pPr>
                <a:endParaRPr lang="en-US" altLang="zh-CN" sz="1600" dirty="0" smtClean="0">
                  <a:latin typeface="Times New Roman" panose="02020603050405020304" pitchFamily="18" charset="0"/>
                  <a:ea typeface="等线" panose="02010600030101010101" pitchFamily="2" charset="-122"/>
                </a:endParaRPr>
              </a:p>
              <a:p>
                <a:pPr>
                  <a:lnSpc>
                    <a:spcPts val="2800"/>
                  </a:lnSpc>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m:rPr>
                              <m:sty m:val="p"/>
                            </m:rPr>
                            <a:rPr lang="en-US" altLang="zh-CN" sz="2400">
                              <a:latin typeface="Cambria Math" panose="02040503050406030204" pitchFamily="18" charset="0"/>
                            </a:rPr>
                            <m:t>F</m:t>
                          </m:r>
                        </m:e>
                        <m:sub>
                          <m:r>
                            <a:rPr lang="en-US" altLang="zh-CN" sz="2400" i="1">
                              <a:latin typeface="Cambria Math" panose="02040503050406030204" pitchFamily="18" charset="0"/>
                            </a:rPr>
                            <m:t>0</m:t>
                          </m:r>
                        </m:sub>
                      </m:sSub>
                      <m:r>
                        <a:rPr lang="en-US" altLang="zh-CN" sz="2400">
                          <a:latin typeface="Cambria Math" panose="02040503050406030204" pitchFamily="18" charset="0"/>
                        </a:rPr>
                        <m:t>+</m:t>
                      </m:r>
                      <m:r>
                        <m:rPr>
                          <m:sty m:val="p"/>
                        </m:rPr>
                        <a:rPr lang="en-US" altLang="zh-CN" sz="2400">
                          <a:latin typeface="Cambria Math" panose="02040503050406030204" pitchFamily="18" charset="0"/>
                        </a:rPr>
                        <m:t>V</m:t>
                      </m:r>
                      <m:r>
                        <a:rPr lang="en-US" altLang="zh-CN" sz="2400">
                          <a:latin typeface="Cambria Math" panose="02040503050406030204" pitchFamily="18" charset="0"/>
                        </a:rPr>
                        <m:t> =</m:t>
                      </m:r>
                      <m:sSub>
                        <m:sSubPr>
                          <m:ctrlPr>
                            <a:rPr lang="zh-CN" altLang="zh-CN" sz="2400" i="1">
                              <a:latin typeface="Cambria Math" panose="02040503050406030204" pitchFamily="18" charset="0"/>
                            </a:rPr>
                          </m:ctrlPr>
                        </m:sSubPr>
                        <m:e>
                          <m:r>
                            <m:rPr>
                              <m:sty m:val="p"/>
                            </m:rPr>
                            <a:rPr lang="en-US" altLang="zh-CN" sz="2400">
                              <a:latin typeface="Cambria Math" panose="02040503050406030204" pitchFamily="18" charset="0"/>
                            </a:rPr>
                            <m:t>F</m:t>
                          </m:r>
                        </m:e>
                        <m:sub>
                          <m:r>
                            <a:rPr lang="en-US" altLang="zh-CN" sz="2400" i="1">
                              <a:latin typeface="Cambria Math" panose="02040503050406030204" pitchFamily="18" charset="0"/>
                            </a:rPr>
                            <m:t>0</m:t>
                          </m:r>
                        </m:sub>
                      </m:sSub>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𝑒</m:t>
                          </m:r>
                        </m:e>
                        <m:sup>
                          <m:r>
                            <m:rPr>
                              <m:sty m:val="p"/>
                            </m:rPr>
                            <a:rPr lang="en-US" altLang="zh-CN" sz="2400">
                              <a:latin typeface="Cambria Math" panose="02040503050406030204" pitchFamily="18" charset="0"/>
                            </a:rPr>
                            <m:t>yT</m:t>
                          </m:r>
                        </m:sup>
                      </m:sSup>
                      <m:r>
                        <a:rPr lang="en-US" altLang="zh-CN" sz="2400" b="0" i="0" smtClean="0">
                          <a:latin typeface="Cambria Math" panose="02040503050406030204" pitchFamily="18" charset="0"/>
                        </a:rPr>
                        <m:t>=</m:t>
                      </m:r>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m:rPr>
                              <m:sty m:val="p"/>
                            </m:rPr>
                            <a:rPr lang="en-US" altLang="zh-CN" sz="2400">
                              <a:latin typeface="Cambria Math" panose="02040503050406030204" pitchFamily="18" charset="0"/>
                            </a:rPr>
                            <m:t>S</m:t>
                          </m:r>
                        </m:e>
                        <m:sub>
                          <m:r>
                            <a:rPr lang="en-US" altLang="zh-CN" sz="2400" i="1">
                              <a:latin typeface="Cambria Math" panose="02040503050406030204" pitchFamily="18" charset="0"/>
                            </a:rPr>
                            <m:t>0</m:t>
                          </m:r>
                        </m:sub>
                      </m:sSub>
                      <m:r>
                        <a:rPr lang="en-US" altLang="zh-CN" sz="2400">
                          <a:latin typeface="Cambria Math" panose="02040503050406030204" pitchFamily="18" charset="0"/>
                        </a:rPr>
                        <m:t>+</m:t>
                      </m:r>
                      <m:r>
                        <m:rPr>
                          <m:sty m:val="p"/>
                        </m:rPr>
                        <a:rPr lang="en-US" altLang="zh-CN" sz="2400">
                          <a:latin typeface="Cambria Math" panose="02040503050406030204" pitchFamily="18" charset="0"/>
                        </a:rPr>
                        <m:t>U</m:t>
                      </m:r>
                      <m:r>
                        <a:rPr lang="en-US" altLang="zh-CN" sz="2400">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𝑒</m:t>
                          </m:r>
                        </m:e>
                        <m:sup>
                          <m:r>
                            <m:rPr>
                              <m:sty m:val="p"/>
                            </m:rPr>
                            <a:rPr lang="en-US" altLang="zh-CN" sz="2400" b="0" i="0" smtClean="0">
                              <a:latin typeface="Cambria Math" panose="02040503050406030204" pitchFamily="18" charset="0"/>
                            </a:rPr>
                            <m:t>r</m:t>
                          </m:r>
                          <m:r>
                            <m:rPr>
                              <m:sty m:val="p"/>
                            </m:rPr>
                            <a:rPr lang="en-US" altLang="zh-CN" sz="2400">
                              <a:latin typeface="Cambria Math" panose="02040503050406030204" pitchFamily="18" charset="0"/>
                            </a:rPr>
                            <m:t>T</m:t>
                          </m:r>
                        </m:sup>
                      </m:sSup>
                      <m:r>
                        <a:rPr lang="en-US" altLang="zh-CN" sz="2400">
                          <a:latin typeface="Cambria Math" panose="02040503050406030204" pitchFamily="18" charset="0"/>
                        </a:rPr>
                        <m:t>=</m:t>
                      </m:r>
                      <m:sSub>
                        <m:sSubPr>
                          <m:ctrlPr>
                            <a:rPr lang="zh-CN" altLang="zh-CN" sz="2400" i="1">
                              <a:latin typeface="Cambria Math" panose="02040503050406030204" pitchFamily="18" charset="0"/>
                            </a:rPr>
                          </m:ctrlPr>
                        </m:sSubPr>
                        <m:e>
                          <m:r>
                            <m:rPr>
                              <m:sty m:val="p"/>
                            </m:rPr>
                            <a:rPr lang="en-US" altLang="zh-CN" sz="2400">
                              <a:latin typeface="Cambria Math" panose="02040503050406030204" pitchFamily="18" charset="0"/>
                            </a:rPr>
                            <m:t>S</m:t>
                          </m:r>
                        </m:e>
                        <m:sub>
                          <m:r>
                            <a:rPr lang="en-US" altLang="zh-CN" sz="2400" i="1">
                              <a:latin typeface="Cambria Math" panose="02040503050406030204" pitchFamily="18" charset="0"/>
                            </a:rPr>
                            <m:t>0</m:t>
                          </m:r>
                        </m:sub>
                      </m:sSub>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b="0" i="1" smtClean="0">
                              <a:latin typeface="Cambria Math" panose="02040503050406030204" pitchFamily="18" charset="0"/>
                            </a:rPr>
                            <m:t>(</m:t>
                          </m:r>
                          <m:r>
                            <m:rPr>
                              <m:sty m:val="p"/>
                            </m:rPr>
                            <a:rPr lang="en-US" altLang="zh-CN" sz="2400">
                              <a:latin typeface="Cambria Math" panose="02040503050406030204" pitchFamily="18" charset="0"/>
                            </a:rPr>
                            <m:t>r</m:t>
                          </m:r>
                          <m:r>
                            <a:rPr lang="en-US" altLang="zh-CN" sz="2400" b="0" i="0" smtClean="0">
                              <a:latin typeface="Cambria Math" panose="02040503050406030204" pitchFamily="18" charset="0"/>
                            </a:rPr>
                            <m:t>+</m:t>
                          </m:r>
                          <m:r>
                            <m:rPr>
                              <m:sty m:val="p"/>
                            </m:rPr>
                            <a:rPr lang="en-US" altLang="zh-CN" sz="2400" b="0" i="0" smtClean="0">
                              <a:latin typeface="Cambria Math" panose="02040503050406030204" pitchFamily="18" charset="0"/>
                            </a:rPr>
                            <m:t>u</m:t>
                          </m:r>
                          <m:r>
                            <a:rPr lang="en-US" altLang="zh-CN" sz="2400" b="0" i="0" smtClean="0">
                              <a:latin typeface="Cambria Math" panose="02040503050406030204" pitchFamily="18" charset="0"/>
                            </a:rPr>
                            <m:t>)</m:t>
                          </m:r>
                          <m:r>
                            <m:rPr>
                              <m:sty m:val="p"/>
                            </m:rPr>
                            <a:rPr lang="en-US" altLang="zh-CN" sz="2400">
                              <a:latin typeface="Cambria Math" panose="02040503050406030204" pitchFamily="18" charset="0"/>
                            </a:rPr>
                            <m:t>T</m:t>
                          </m:r>
                        </m:sup>
                      </m:sSup>
                    </m:oMath>
                  </m:oMathPara>
                </a14:m>
                <a:endParaRPr lang="zh-CN" altLang="zh-CN" sz="2400" dirty="0"/>
              </a:p>
              <a:p>
                <a:pPr>
                  <a:lnSpc>
                    <a:spcPts val="2800"/>
                  </a:lnSpc>
                </a:pPr>
                <a:endParaRPr lang="en-US" altLang="zh-CN" sz="1600" b="1" dirty="0" smtClean="0">
                  <a:latin typeface="Times New Roman" panose="02020603050405020304" pitchFamily="18" charset="0"/>
                  <a:ea typeface="等线" panose="02010600030101010101" pitchFamily="2" charset="-122"/>
                </a:endParaRPr>
              </a:p>
              <a:p>
                <a:pPr>
                  <a:lnSpc>
                    <a:spcPts val="2800"/>
                  </a:lnSpc>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m:rPr>
                              <m:sty m:val="p"/>
                            </m:rPr>
                            <a:rPr lang="en-US" altLang="zh-CN" sz="2400">
                              <a:latin typeface="Cambria Math" panose="02040503050406030204" pitchFamily="18" charset="0"/>
                            </a:rPr>
                            <m:t>F</m:t>
                          </m:r>
                        </m:e>
                        <m:sub>
                          <m:r>
                            <a:rPr lang="en-US" altLang="zh-CN" sz="2400" i="1">
                              <a:latin typeface="Cambria Math" panose="02040503050406030204" pitchFamily="18" charset="0"/>
                            </a:rPr>
                            <m:t>0</m:t>
                          </m:r>
                        </m:sub>
                      </m:sSub>
                      <m:r>
                        <a:rPr lang="en-US" altLang="zh-CN" sz="2400">
                          <a:latin typeface="Cambria Math" panose="02040503050406030204" pitchFamily="18" charset="0"/>
                        </a:rPr>
                        <m:t> = </m:t>
                      </m:r>
                      <m:sSub>
                        <m:sSubPr>
                          <m:ctrlPr>
                            <a:rPr lang="zh-CN" altLang="zh-CN" sz="2400" i="1">
                              <a:latin typeface="Cambria Math" panose="02040503050406030204" pitchFamily="18" charset="0"/>
                            </a:rPr>
                          </m:ctrlPr>
                        </m:sSubPr>
                        <m:e>
                          <m:r>
                            <m:rPr>
                              <m:sty m:val="p"/>
                            </m:rPr>
                            <a:rPr lang="en-US" altLang="zh-CN" sz="2400">
                              <a:latin typeface="Cambria Math" panose="02040503050406030204" pitchFamily="18" charset="0"/>
                            </a:rPr>
                            <m:t>S</m:t>
                          </m:r>
                        </m:e>
                        <m:sub>
                          <m:r>
                            <a:rPr lang="en-US" altLang="zh-CN" sz="2400" i="1">
                              <a:latin typeface="Cambria Math" panose="02040503050406030204" pitchFamily="18" charset="0"/>
                            </a:rPr>
                            <m:t>0</m:t>
                          </m:r>
                        </m:sub>
                      </m:sSub>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a:latin typeface="Cambria Math" panose="02040503050406030204" pitchFamily="18" charset="0"/>
                            </a:rPr>
                            <m:t>(</m:t>
                          </m:r>
                          <m:r>
                            <m:rPr>
                              <m:sty m:val="p"/>
                            </m:rPr>
                            <a:rPr lang="en-US" altLang="zh-CN" sz="2400">
                              <a:latin typeface="Cambria Math" panose="02040503050406030204" pitchFamily="18" charset="0"/>
                            </a:rPr>
                            <m:t>r</m:t>
                          </m:r>
                          <m:r>
                            <a:rPr lang="en-US" altLang="zh-CN" sz="2400">
                              <a:latin typeface="Cambria Math" panose="02040503050406030204" pitchFamily="18" charset="0"/>
                            </a:rPr>
                            <m:t>+</m:t>
                          </m:r>
                          <m:r>
                            <m:rPr>
                              <m:sty m:val="p"/>
                            </m:rPr>
                            <a:rPr lang="en-US" altLang="zh-CN" sz="2400">
                              <a:latin typeface="Cambria Math" panose="02040503050406030204" pitchFamily="18" charset="0"/>
                            </a:rPr>
                            <m:t>u</m:t>
                          </m:r>
                          <m:r>
                            <a:rPr lang="en-US" altLang="zh-CN" sz="2400" i="1">
                              <a:latin typeface="Cambria Math" panose="02040503050406030204" pitchFamily="18" charset="0"/>
                            </a:rPr>
                            <m:t>−</m:t>
                          </m:r>
                          <m:r>
                            <m:rPr>
                              <m:sty m:val="p"/>
                            </m:rPr>
                            <a:rPr lang="en-US" altLang="zh-CN" sz="2400">
                              <a:latin typeface="Cambria Math" panose="02040503050406030204" pitchFamily="18" charset="0"/>
                            </a:rPr>
                            <m:t>y</m:t>
                          </m:r>
                          <m:r>
                            <a:rPr lang="en-US" altLang="zh-CN" sz="2400">
                              <a:latin typeface="Cambria Math" panose="02040503050406030204" pitchFamily="18" charset="0"/>
                            </a:rPr>
                            <m:t>)</m:t>
                          </m:r>
                          <m:r>
                            <m:rPr>
                              <m:sty m:val="p"/>
                            </m:rPr>
                            <a:rPr lang="en-US" altLang="zh-CN" sz="2400">
                              <a:latin typeface="Cambria Math" panose="02040503050406030204" pitchFamily="18" charset="0"/>
                            </a:rPr>
                            <m:t>T</m:t>
                          </m:r>
                        </m:sup>
                      </m:sSup>
                    </m:oMath>
                  </m:oMathPara>
                </a14:m>
                <a:endParaRPr lang="zh-CN" altLang="zh-CN" dirty="0"/>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in </a:t>
                </a:r>
                <a:r>
                  <a:rPr lang="en-US" altLang="zh-CN" sz="1400" dirty="0">
                    <a:latin typeface="Times New Roman" panose="02020603050405020304" pitchFamily="18" charset="0"/>
                    <a:ea typeface="等线" panose="02010600030101010101" pitchFamily="2" charset="-122"/>
                  </a:rPr>
                  <a:t>cryptocurrency perpetual swap, </a:t>
                </a:r>
                <a:r>
                  <a:rPr lang="en-US" altLang="zh-CN" sz="1400" b="1" dirty="0">
                    <a:latin typeface="Times New Roman" panose="02020603050405020304" pitchFamily="18" charset="0"/>
                    <a:ea typeface="等线" panose="02010600030101010101" pitchFamily="2" charset="-122"/>
                  </a:rPr>
                  <a:t>T</a:t>
                </a:r>
                <a:r>
                  <a:rPr lang="zh-CN" altLang="en-US" sz="1400" b="1" dirty="0">
                    <a:latin typeface="Times New Roman" panose="02020603050405020304" pitchFamily="18" charset="0"/>
                    <a:ea typeface="等线" panose="02010600030101010101" pitchFamily="2" charset="-122"/>
                  </a:rPr>
                  <a:t>→∞</a:t>
                </a:r>
                <a:r>
                  <a:rPr lang="en-US" altLang="zh-CN" sz="1400" b="1" dirty="0">
                    <a:latin typeface="Times New Roman" panose="02020603050405020304" pitchFamily="18" charset="0"/>
                    <a:ea typeface="等线" panose="02010600030101010101" pitchFamily="2" charset="-122"/>
                  </a:rPr>
                  <a:t>, u=0</a:t>
                </a:r>
                <a:r>
                  <a:rPr lang="en-US" altLang="zh-CN" sz="1400" dirty="0">
                    <a:latin typeface="Times New Roman" panose="02020603050405020304" pitchFamily="18" charset="0"/>
                    <a:ea typeface="等线" panose="02010600030101010101" pitchFamily="2" charset="-122"/>
                  </a:rPr>
                  <a:t>. </a:t>
                </a:r>
                <a:r>
                  <a:rPr lang="en-US" altLang="zh-CN" sz="1400" dirty="0" smtClean="0">
                    <a:latin typeface="Times New Roman" panose="02020603050405020304" pitchFamily="18" charset="0"/>
                    <a:ea typeface="等线" panose="02010600030101010101" pitchFamily="2" charset="-122"/>
                  </a:rPr>
                  <a:t> Shiller </a:t>
                </a:r>
                <a:r>
                  <a:rPr lang="en-US" altLang="zh-CN" sz="1400" dirty="0">
                    <a:latin typeface="Times New Roman" panose="02020603050405020304" pitchFamily="18" charset="0"/>
                    <a:ea typeface="等线" panose="02010600030101010101" pitchFamily="2" charset="-122"/>
                  </a:rPr>
                  <a:t>(1993) took the lead in defining perpetual swap contracts</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t</a:t>
                </a:r>
                <a:r>
                  <a:rPr lang="en-US" altLang="zh-CN" sz="1400" dirty="0" smtClean="0">
                    <a:latin typeface="Times New Roman" panose="02020603050405020304" pitchFamily="18" charset="0"/>
                    <a:ea typeface="等线" panose="02010600030101010101" pitchFamily="2" charset="-122"/>
                  </a:rPr>
                  <a:t>his </a:t>
                </a:r>
                <a:r>
                  <a:rPr lang="en-US" altLang="zh-CN" sz="1400" dirty="0">
                    <a:latin typeface="Times New Roman" panose="02020603050405020304" pitchFamily="18" charset="0"/>
                    <a:ea typeface="等线" panose="02010600030101010101" pitchFamily="2" charset="-122"/>
                  </a:rPr>
                  <a:t>means that fluctuations in convenience yields will be immediately reflected in the </a:t>
                </a:r>
                <a:r>
                  <a:rPr lang="en-US" altLang="zh-CN" sz="1400" dirty="0" smtClean="0">
                    <a:latin typeface="Times New Roman" panose="02020603050405020304" pitchFamily="18" charset="0"/>
                    <a:ea typeface="等线" panose="02010600030101010101" pitchFamily="2" charset="-122"/>
                  </a:rPr>
                  <a:t>basis</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led </a:t>
                </a:r>
                <a:r>
                  <a:rPr lang="en-US" altLang="zh-CN" sz="1400" dirty="0">
                    <a:latin typeface="Times New Roman" panose="02020603050405020304" pitchFamily="18" charset="0"/>
                    <a:ea typeface="等线" panose="02010600030101010101" pitchFamily="2" charset="-122"/>
                  </a:rPr>
                  <a:t>to </a:t>
                </a:r>
                <a:r>
                  <a:rPr lang="en-US" altLang="zh-CN" sz="1400" b="1" dirty="0">
                    <a:latin typeface="Times New Roman" panose="02020603050405020304" pitchFamily="18" charset="0"/>
                    <a:ea typeface="等线" panose="02010600030101010101" pitchFamily="2" charset="-122"/>
                  </a:rPr>
                  <a:t>large market </a:t>
                </a:r>
                <a:r>
                  <a:rPr lang="en-US" altLang="zh-CN" sz="1400" b="1" dirty="0" smtClean="0">
                    <a:latin typeface="Times New Roman" panose="02020603050405020304" pitchFamily="18" charset="0"/>
                    <a:ea typeface="等线" panose="02010600030101010101" pitchFamily="2" charset="-122"/>
                  </a:rPr>
                  <a:t>swings </a:t>
                </a:r>
                <a:r>
                  <a:rPr lang="en-US" altLang="zh-CN" sz="1400" dirty="0" smtClean="0">
                    <a:latin typeface="Times New Roman" panose="02020603050405020304" pitchFamily="18" charset="0"/>
                    <a:ea typeface="等线" panose="02010600030101010101" pitchFamily="2" charset="-122"/>
                  </a:rPr>
                  <a:t>if market belief broke down </a:t>
                </a:r>
                <a:endParaRPr lang="en-US" altLang="zh-CN" sz="14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Convenience </a:t>
                </a:r>
                <a:r>
                  <a:rPr lang="en-US" altLang="zh-CN" sz="1800" b="1" dirty="0" smtClean="0">
                    <a:solidFill>
                      <a:schemeClr val="bg2"/>
                    </a:solidFill>
                    <a:latin typeface="Times New Roman" panose="02020603050405020304" pitchFamily="18" charset="0"/>
                    <a:ea typeface="等线" panose="02010600030101010101" pitchFamily="2" charset="-122"/>
                  </a:rPr>
                  <a:t>yield rate indicator : y  (Kim, 2022)</a:t>
                </a:r>
              </a:p>
              <a:p>
                <a:pPr marL="821884" lvl="1" indent="-342921">
                  <a:lnSpc>
                    <a:spcPts val="2800"/>
                  </a:lnSpc>
                  <a:buFont typeface="Wingdings" panose="05000000000000000000" pitchFamily="2" charset="2"/>
                  <a:buChar char="Ø"/>
                </a:pPr>
                <a:r>
                  <a:rPr lang="en-US" altLang="zh-CN" sz="1200" dirty="0" smtClean="0">
                    <a:latin typeface="Times New Roman" panose="02020603050405020304" pitchFamily="18" charset="0"/>
                    <a:ea typeface="等线" panose="02010600030101010101" pitchFamily="2" charset="-122"/>
                  </a:rPr>
                  <a:t>F – Future Price,  S – Spot Price, F&gt;S in most time at our dataset.      </a:t>
                </a:r>
                <a:r>
                  <a:rPr lang="en-US" altLang="zh-CN" sz="1200" dirty="0">
                    <a:latin typeface="Times New Roman" panose="02020603050405020304" pitchFamily="18" charset="0"/>
                    <a:ea typeface="等线" panose="02010600030101010101" pitchFamily="2" charset="-122"/>
                  </a:rPr>
                  <a:t>e</a:t>
                </a:r>
                <a:r>
                  <a:rPr lang="en-US" altLang="zh-CN" sz="1200" dirty="0" smtClean="0">
                    <a:latin typeface="Times New Roman" panose="02020603050405020304" pitchFamily="18" charset="0"/>
                    <a:ea typeface="等线" panose="02010600030101010101" pitchFamily="2" charset="-122"/>
                  </a:rPr>
                  <a:t> – Funding Rate to Prevent Arbitrager, could be negative </a:t>
                </a:r>
                <a:endParaRPr lang="en-US" altLang="zh-CN" sz="1200" b="1" dirty="0">
                  <a:solidFill>
                    <a:schemeClr val="bg2"/>
                  </a:solidFill>
                  <a:latin typeface="Times New Roman" panose="02020603050405020304" pitchFamily="18" charset="0"/>
                  <a:ea typeface="等线" panose="02010600030101010101" pitchFamily="2" charset="-122"/>
                </a:endParaRPr>
              </a:p>
              <a:p>
                <a:pPr/>
                <a14:m>
                  <m:oMathPara xmlns:m="http://schemas.openxmlformats.org/officeDocument/2006/math">
                    <m:oMathParaPr>
                      <m:jc m:val="centerGroup"/>
                    </m:oMathParaPr>
                    <m:oMath xmlns:m="http://schemas.openxmlformats.org/officeDocument/2006/math">
                      <m:r>
                        <m:rPr>
                          <m:sty m:val="p"/>
                        </m:rPr>
                        <a:rPr lang="en-US" altLang="zh-CN" sz="2800">
                          <a:latin typeface="Cambria Math" panose="02040503050406030204" pitchFamily="18" charset="0"/>
                        </a:rPr>
                        <m:t>y</m:t>
                      </m:r>
                      <m:r>
                        <a:rPr lang="en-US" altLang="zh-CN" sz="2800">
                          <a:latin typeface="Cambria Math" panose="02040503050406030204" pitchFamily="18" charset="0"/>
                        </a:rPr>
                        <m:t> = </m:t>
                      </m:r>
                      <m:f>
                        <m:fPr>
                          <m:ctrlPr>
                            <a:rPr lang="zh-CN" altLang="zh-CN" sz="2800" i="1">
                              <a:latin typeface="Cambria Math" panose="02040503050406030204" pitchFamily="18" charset="0"/>
                            </a:rPr>
                          </m:ctrlPr>
                        </m:fPr>
                        <m:num>
                          <m:r>
                            <m:rPr>
                              <m:sty m:val="p"/>
                            </m:rPr>
                            <a:rPr lang="en-US" altLang="zh-CN" sz="2800">
                              <a:latin typeface="Cambria Math" panose="02040503050406030204" pitchFamily="18" charset="0"/>
                            </a:rPr>
                            <m:t>F</m:t>
                          </m:r>
                          <m:r>
                            <a:rPr lang="en-US" altLang="zh-CN" sz="2800" i="1">
                              <a:latin typeface="Cambria Math" panose="02040503050406030204" pitchFamily="18" charset="0"/>
                            </a:rPr>
                            <m:t>−</m:t>
                          </m:r>
                          <m:r>
                            <m:rPr>
                              <m:sty m:val="p"/>
                            </m:rPr>
                            <a:rPr lang="en-US" altLang="zh-CN" sz="2800">
                              <a:latin typeface="Cambria Math" panose="02040503050406030204" pitchFamily="18" charset="0"/>
                            </a:rPr>
                            <m:t>S</m:t>
                          </m:r>
                        </m:num>
                        <m:den>
                          <m:r>
                            <a:rPr lang="en-US" altLang="zh-CN" sz="2800" i="1">
                              <a:latin typeface="Cambria Math" panose="02040503050406030204" pitchFamily="18" charset="0"/>
                            </a:rPr>
                            <m:t>𝑆</m:t>
                          </m:r>
                        </m:den>
                      </m:f>
                      <m:r>
                        <a:rPr lang="en-US" altLang="zh-CN" sz="2800">
                          <a:latin typeface="Cambria Math" panose="02040503050406030204" pitchFamily="18" charset="0"/>
                        </a:rPr>
                        <m:t> – </m:t>
                      </m:r>
                      <m:r>
                        <m:rPr>
                          <m:sty m:val="p"/>
                        </m:rPr>
                        <a:rPr lang="en-US" altLang="zh-CN" sz="2800">
                          <a:latin typeface="Cambria Math" panose="02040503050406030204" pitchFamily="18" charset="0"/>
                        </a:rPr>
                        <m:t>e</m:t>
                      </m:r>
                    </m:oMath>
                  </m:oMathPara>
                </a14:m>
                <a:endParaRPr lang="zh-CN" altLang="zh-CN" sz="2800" dirty="0"/>
              </a:p>
              <a:p>
                <a:pPr>
                  <a:lnSpc>
                    <a:spcPts val="2800"/>
                  </a:lnSpc>
                </a:pPr>
                <a:endParaRPr lang="en-US" altLang="zh-CN" sz="1800" b="1" dirty="0">
                  <a:latin typeface="Times New Roman" panose="02020603050405020304" pitchFamily="18" charset="0"/>
                  <a:ea typeface="等线" panose="02010600030101010101" pitchFamily="2" charset="-122"/>
                </a:endParaRPr>
              </a:p>
            </p:txBody>
          </p:sp>
        </mc:Choice>
        <mc:Fallback xmlns="">
          <p:sp>
            <p:nvSpPr>
              <p:cNvPr id="24" name="标题 1">
                <a:extLst>
                  <a:ext uri="{FF2B5EF4-FFF2-40B4-BE49-F238E27FC236}">
                    <a16:creationId xmlns:a16="http://schemas.microsoft.com/office/drawing/2014/main" id="{A3C71D49-1CFF-4704-AE93-7F736EAECB98}"/>
                  </a:ext>
                </a:extLst>
              </p:cNvPr>
              <p:cNvSpPr txBox="1">
                <a:spLocks noRot="1" noChangeAspect="1" noMove="1" noResize="1" noEditPoints="1" noAdjustHandles="1" noChangeArrowheads="1" noChangeShapeType="1" noTextEdit="1"/>
              </p:cNvSpPr>
              <p:nvPr/>
            </p:nvSpPr>
            <p:spPr bwMode="auto">
              <a:xfrm>
                <a:off x="343209" y="909514"/>
                <a:ext cx="9368110" cy="1327252"/>
              </a:xfrm>
              <a:prstGeom prst="rect">
                <a:avLst/>
              </a:prstGeom>
              <a:blipFill>
                <a:blip r:embed="rId2"/>
                <a:stretch>
                  <a:fillRect l="-1366" t="-2294" b="-330734"/>
                </a:stretch>
              </a:blipFill>
              <a:ln w="9525">
                <a:noFill/>
                <a:miter lim="800000"/>
                <a:headEnd/>
                <a:tailEnd/>
              </a:ln>
            </p:spPr>
            <p:txBody>
              <a:bodyPr/>
              <a:lstStyle/>
              <a:p>
                <a:r>
                  <a:rPr lang="zh-CN" altLang="en-US">
                    <a:noFill/>
                  </a:rPr>
                  <a:t> </a:t>
                </a:r>
              </a:p>
            </p:txBody>
          </p:sp>
        </mc:Fallback>
      </mc:AlternateContent>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Ⅲ. Theoretical </a:t>
            </a:r>
            <a:r>
              <a:rPr lang="en-US" altLang="zh-CN" sz="2400" dirty="0">
                <a:solidFill>
                  <a:schemeClr val="bg1"/>
                </a:solidFill>
              </a:rPr>
              <a:t>Framework</a:t>
            </a:r>
            <a:endParaRPr lang="en-US" sz="2400" dirty="0">
              <a:solidFill>
                <a:schemeClr val="bg1"/>
              </a:solidFill>
            </a:endParaRPr>
          </a:p>
        </p:txBody>
      </p:sp>
    </p:spTree>
    <p:extLst>
      <p:ext uri="{BB962C8B-B14F-4D97-AF65-F5344CB8AC3E}">
        <p14:creationId xmlns:p14="http://schemas.microsoft.com/office/powerpoint/2010/main" val="619704797"/>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294086" y="998323"/>
            <a:ext cx="3799447"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Currency used for analysis</a:t>
            </a:r>
            <a:r>
              <a:rPr lang="en-US" altLang="zh-CN" sz="1800" b="1" dirty="0" smtClean="0">
                <a:solidFill>
                  <a:schemeClr val="bg2"/>
                </a:solidFill>
                <a:latin typeface="Times New Roman" panose="02020603050405020304" pitchFamily="18" charset="0"/>
                <a:ea typeface="等线" panose="02010600030101010101" pitchFamily="2" charset="-122"/>
              </a:rPr>
              <a:t>:</a:t>
            </a:r>
            <a:endParaRPr lang="en-US" altLang="zh-CN" sz="1800" dirty="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r</a:t>
            </a:r>
            <a:r>
              <a:rPr lang="en-US" altLang="zh-CN" sz="1400" dirty="0" smtClean="0">
                <a:latin typeface="Times New Roman" panose="02020603050405020304" pitchFamily="18" charset="0"/>
                <a:ea typeface="等线" panose="02010600030101010101" pitchFamily="2" charset="-122"/>
              </a:rPr>
              <a:t>elative large market-cap and stable price</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long time and ranks </a:t>
            </a:r>
            <a:r>
              <a:rPr lang="en-US" altLang="zh-CN" sz="1400" dirty="0" smtClean="0">
                <a:latin typeface="Times New Roman" panose="02020603050405020304" pitchFamily="18" charset="0"/>
                <a:ea typeface="等线" panose="02010600030101010101" pitchFamily="2" charset="-122"/>
              </a:rPr>
              <a:t>high</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listed on </a:t>
            </a:r>
            <a:r>
              <a:rPr lang="en-US" altLang="zh-CN" sz="1400" dirty="0" smtClean="0">
                <a:latin typeface="Times New Roman" panose="02020603050405020304" pitchFamily="18" charset="0"/>
                <a:ea typeface="等线" panose="02010600030101010101" pitchFamily="2" charset="-122"/>
              </a:rPr>
              <a:t>exchanges</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good data </a:t>
            </a:r>
            <a:r>
              <a:rPr lang="en-US" altLang="zh-CN" sz="1400" dirty="0" smtClean="0">
                <a:latin typeface="Times New Roman" panose="02020603050405020304" pitchFamily="18" charset="0"/>
                <a:ea typeface="等线" panose="02010600030101010101" pitchFamily="2" charset="-122"/>
              </a:rPr>
              <a:t>availability</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h</a:t>
            </a:r>
            <a:r>
              <a:rPr lang="en-US" altLang="zh-CN" sz="1400" dirty="0" smtClean="0">
                <a:latin typeface="Times New Roman" panose="02020603050405020304" pitchFamily="18" charset="0"/>
                <a:ea typeface="等线" panose="02010600030101010101" pitchFamily="2" charset="-122"/>
              </a:rPr>
              <a:t>igh reputation</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Some intrinsic-value</a:t>
            </a:r>
          </a:p>
          <a:p>
            <a:pPr marL="821884" lvl="1" indent="-342921">
              <a:lnSpc>
                <a:spcPts val="2800"/>
              </a:lnSpc>
              <a:buFont typeface="Wingdings" panose="05000000000000000000" pitchFamily="2" charset="2"/>
              <a:buChar char="Ø"/>
            </a:pPr>
            <a:endParaRPr lang="en-US" altLang="zh-CN" sz="1400"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Ⅳ. Regression </a:t>
            </a:r>
            <a:r>
              <a:rPr lang="en-US" altLang="zh-CN" sz="2400" dirty="0" smtClean="0">
                <a:solidFill>
                  <a:schemeClr val="bg1"/>
                </a:solidFill>
              </a:rPr>
              <a:t>Data</a:t>
            </a:r>
            <a:endParaRPr lang="en-US" altLang="zh-CN" sz="2400" dirty="0">
              <a:solidFill>
                <a:schemeClr val="bg1"/>
              </a:solidFill>
            </a:endParaRPr>
          </a:p>
        </p:txBody>
      </p:sp>
      <p:pic>
        <p:nvPicPr>
          <p:cNvPr id="3" name="图片 2"/>
          <p:cNvPicPr>
            <a:picLocks noChangeAspect="1"/>
          </p:cNvPicPr>
          <p:nvPr/>
        </p:nvPicPr>
        <p:blipFill>
          <a:blip r:embed="rId2"/>
          <a:stretch>
            <a:fillRect/>
          </a:stretch>
        </p:blipFill>
        <p:spPr>
          <a:xfrm>
            <a:off x="3404034" y="1814729"/>
            <a:ext cx="6156684" cy="4536504"/>
          </a:xfrm>
          <a:prstGeom prst="rect">
            <a:avLst/>
          </a:prstGeom>
        </p:spPr>
      </p:pic>
      <p:sp>
        <p:nvSpPr>
          <p:cNvPr id="2" name="文本框 1"/>
          <p:cNvSpPr txBox="1"/>
          <p:nvPr/>
        </p:nvSpPr>
        <p:spPr>
          <a:xfrm>
            <a:off x="3692066" y="6310114"/>
            <a:ext cx="5112568" cy="193899"/>
          </a:xfrm>
          <a:prstGeom prst="rect">
            <a:avLst/>
          </a:prstGeom>
          <a:noFill/>
          <a:ln w="6350" cap="flat">
            <a:noFill/>
            <a:miter lim="800000"/>
          </a:ln>
        </p:spPr>
        <p:txBody>
          <a:bodyPr wrap="square" lIns="0" tIns="0" rIns="0" bIns="0" rtlCol="0" anchor="t" anchorCtr="0">
            <a:spAutoFit/>
          </a:bodyPr>
          <a:lstStyle/>
          <a:p>
            <a:pPr>
              <a:lnSpc>
                <a:spcPct val="90000"/>
              </a:lnSpc>
              <a:spcBef>
                <a:spcPts val="600"/>
              </a:spcBef>
              <a:buClr>
                <a:schemeClr val="bg2"/>
              </a:buClr>
            </a:pPr>
            <a:r>
              <a:rPr lang="en-US" altLang="zh-CN" sz="1400" dirty="0" smtClean="0">
                <a:latin typeface="Times New Roman" panose="02020603050405020304" pitchFamily="18" charset="0"/>
                <a:cs typeface="Times New Roman" panose="02020603050405020304" pitchFamily="18" charset="0"/>
              </a:rPr>
              <a:t>Table : Basic Information for top tie cryptocurrencies </a:t>
            </a:r>
            <a:r>
              <a:rPr lang="en-US" altLang="zh-CN" sz="1400" dirty="0">
                <a:latin typeface="Times New Roman" panose="02020603050405020304" pitchFamily="18" charset="0"/>
                <a:cs typeface="Times New Roman" panose="02020603050405020304" pitchFamily="18" charset="0"/>
              </a:rPr>
              <a:t>a</a:t>
            </a:r>
            <a:r>
              <a:rPr lang="en-US" altLang="zh-CN" sz="1400" dirty="0" smtClean="0">
                <a:latin typeface="Times New Roman" panose="02020603050405020304" pitchFamily="18" charset="0"/>
                <a:cs typeface="Times New Roman" panose="02020603050405020304" pitchFamily="18" charset="0"/>
              </a:rPr>
              <a:t>t May 16, 2022</a:t>
            </a:r>
            <a:endParaRPr lang="zh-CN" altLang="en-US" sz="1400" dirty="0" smtClean="0">
              <a:latin typeface="Times New Roman" panose="02020603050405020304" pitchFamily="18" charset="0"/>
              <a:cs typeface="Times New Roman" panose="02020603050405020304" pitchFamily="18" charset="0"/>
            </a:endParaRPr>
          </a:p>
        </p:txBody>
      </p:sp>
      <p:sp>
        <p:nvSpPr>
          <p:cNvPr id="6" name="标题 1">
            <a:extLst>
              <a:ext uri="{FF2B5EF4-FFF2-40B4-BE49-F238E27FC236}">
                <a16:creationId xmlns:a16="http://schemas.microsoft.com/office/drawing/2014/main" id="{A3C71D49-1CFF-4704-AE93-7F736EAECB98}"/>
              </a:ext>
            </a:extLst>
          </p:cNvPr>
          <p:cNvSpPr txBox="1">
            <a:spLocks/>
          </p:cNvSpPr>
          <p:nvPr/>
        </p:nvSpPr>
        <p:spPr bwMode="auto">
          <a:xfrm>
            <a:off x="275785" y="3690746"/>
            <a:ext cx="3134907"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Time Period:</a:t>
            </a:r>
            <a:endParaRPr lang="en-US" altLang="zh-CN" sz="1800" dirty="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b="1" dirty="0">
                <a:latin typeface="Times New Roman" panose="02020603050405020304" pitchFamily="18" charset="0"/>
                <a:ea typeface="等线" panose="02010600030101010101" pitchFamily="2" charset="-122"/>
              </a:rPr>
              <a:t>2</a:t>
            </a:r>
            <a:r>
              <a:rPr lang="en-US" altLang="zh-CN" sz="1400" dirty="0" smtClean="0">
                <a:latin typeface="Times New Roman" panose="02020603050405020304" pitchFamily="18" charset="0"/>
                <a:ea typeface="等线" panose="02010600030101010101" pitchFamily="2" charset="-122"/>
              </a:rPr>
              <a:t> </a:t>
            </a:r>
            <a:r>
              <a:rPr lang="en-US" altLang="zh-CN" sz="1400" b="1" dirty="0" smtClean="0">
                <a:latin typeface="Times New Roman" panose="02020603050405020304" pitchFamily="18" charset="0"/>
                <a:ea typeface="等线" panose="02010600030101010101" pitchFamily="2" charset="-122"/>
              </a:rPr>
              <a:t>years  minute level tick data</a:t>
            </a:r>
          </a:p>
          <a:p>
            <a:pPr marL="821884" lvl="1" indent="-342921">
              <a:lnSpc>
                <a:spcPts val="2800"/>
              </a:lnSpc>
              <a:buFont typeface="Wingdings" panose="05000000000000000000" pitchFamily="2" charset="2"/>
              <a:buChar char="Ø"/>
            </a:pPr>
            <a:r>
              <a:rPr lang="en-US" altLang="zh-CN" sz="1400" dirty="0" err="1" smtClean="0">
                <a:latin typeface="Times New Roman" panose="02020603050405020304" pitchFamily="18" charset="0"/>
                <a:ea typeface="等线" panose="02010600030101010101" pitchFamily="2" charset="-122"/>
              </a:rPr>
              <a:t>Aggregrate</a:t>
            </a:r>
            <a:r>
              <a:rPr lang="en-US" altLang="zh-CN" sz="1400" dirty="0" smtClean="0">
                <a:latin typeface="Times New Roman" panose="02020603050405020304" pitchFamily="18" charset="0"/>
                <a:ea typeface="等线" panose="02010600030101010101" pitchFamily="2" charset="-122"/>
              </a:rPr>
              <a:t> as hour-level when regression for robustness</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400" dirty="0" smtClean="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400" dirty="0">
              <a:latin typeface="Times New Roman" panose="02020603050405020304" pitchFamily="18" charset="0"/>
              <a:ea typeface="等线" panose="02010600030101010101" pitchFamily="2" charset="-122"/>
            </a:endParaRPr>
          </a:p>
        </p:txBody>
      </p:sp>
      <p:sp>
        <p:nvSpPr>
          <p:cNvPr id="8" name="标题 1">
            <a:extLst>
              <a:ext uri="{FF2B5EF4-FFF2-40B4-BE49-F238E27FC236}">
                <a16:creationId xmlns:a16="http://schemas.microsoft.com/office/drawing/2014/main" id="{A3C71D49-1CFF-4704-AE93-7F736EAECB98}"/>
              </a:ext>
            </a:extLst>
          </p:cNvPr>
          <p:cNvSpPr txBox="1">
            <a:spLocks/>
          </p:cNvSpPr>
          <p:nvPr/>
        </p:nvSpPr>
        <p:spPr bwMode="auto">
          <a:xfrm>
            <a:off x="269126" y="5228207"/>
            <a:ext cx="3134907"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Other Influencer:</a:t>
            </a:r>
            <a:endParaRPr lang="en-US" altLang="zh-CN" sz="1800" dirty="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Hourly or Weekly</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Due to availability</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400" dirty="0" smtClean="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400" dirty="0">
              <a:latin typeface="Times New Roman" panose="02020603050405020304" pitchFamily="18" charset="0"/>
              <a:ea typeface="等线" panose="02010600030101010101" pitchFamily="2" charset="-122"/>
            </a:endParaRPr>
          </a:p>
        </p:txBody>
      </p:sp>
    </p:spTree>
    <p:extLst>
      <p:ext uri="{BB962C8B-B14F-4D97-AF65-F5344CB8AC3E}">
        <p14:creationId xmlns:p14="http://schemas.microsoft.com/office/powerpoint/2010/main" val="3148003442"/>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275785" y="913813"/>
            <a:ext cx="4100357" cy="22971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Descriptive </a:t>
            </a:r>
            <a:r>
              <a:rPr lang="en-US" altLang="zh-CN" sz="1800" b="1" dirty="0">
                <a:solidFill>
                  <a:schemeClr val="bg2"/>
                </a:solidFill>
                <a:latin typeface="Times New Roman" panose="02020603050405020304" pitchFamily="18" charset="0"/>
                <a:ea typeface="等线" panose="02010600030101010101" pitchFamily="2" charset="-122"/>
              </a:rPr>
              <a:t>statistics on the convenience yield of different </a:t>
            </a:r>
            <a:r>
              <a:rPr lang="en-US" altLang="zh-CN" sz="1800" b="1" dirty="0" smtClean="0">
                <a:solidFill>
                  <a:schemeClr val="bg2"/>
                </a:solidFill>
                <a:latin typeface="Times New Roman" panose="02020603050405020304" pitchFamily="18" charset="0"/>
                <a:ea typeface="等线" panose="02010600030101010101" pitchFamily="2" charset="-122"/>
              </a:rPr>
              <a:t>cryptocurrencies </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1. robust and significantly different from white noise</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2. high kurtosis and a </a:t>
            </a:r>
            <a:r>
              <a:rPr lang="en-US" altLang="zh-CN" sz="1400" dirty="0" smtClean="0">
                <a:latin typeface="Times New Roman" panose="02020603050405020304" pitchFamily="18" charset="0"/>
                <a:ea typeface="等线" panose="02010600030101010101" pitchFamily="2" charset="-122"/>
              </a:rPr>
              <a:t>strong fat-tailed </a:t>
            </a:r>
            <a:r>
              <a:rPr lang="en-US" altLang="zh-CN" sz="1400" dirty="0">
                <a:latin typeface="Times New Roman" panose="02020603050405020304" pitchFamily="18" charset="0"/>
                <a:ea typeface="等线" panose="02010600030101010101" pitchFamily="2" charset="-122"/>
              </a:rPr>
              <a:t>distribution</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3. </a:t>
            </a:r>
            <a:r>
              <a:rPr lang="en-US" altLang="zh-CN" sz="1400" b="1" dirty="0" smtClean="0">
                <a:latin typeface="Times New Roman" panose="02020603050405020304" pitchFamily="18" charset="0"/>
                <a:ea typeface="等线" panose="02010600030101010101" pitchFamily="2" charset="-122"/>
              </a:rPr>
              <a:t>biased </a:t>
            </a:r>
            <a:r>
              <a:rPr lang="en-US" altLang="zh-CN" sz="1400" b="1" dirty="0">
                <a:latin typeface="Times New Roman" panose="02020603050405020304" pitchFamily="18" charset="0"/>
                <a:ea typeface="等线" panose="02010600030101010101" pitchFamily="2" charset="-122"/>
              </a:rPr>
              <a:t>significantly </a:t>
            </a:r>
            <a:r>
              <a:rPr lang="en-US" altLang="zh-CN" sz="1400" b="1" dirty="0" smtClean="0">
                <a:latin typeface="Times New Roman" panose="02020603050405020304" pitchFamily="18" charset="0"/>
                <a:ea typeface="等线" panose="02010600030101010101" pitchFamily="2" charset="-122"/>
              </a:rPr>
              <a:t>at </a:t>
            </a:r>
            <a:r>
              <a:rPr lang="en-US" altLang="zh-CN" sz="1400" b="1" dirty="0">
                <a:latin typeface="Times New Roman" panose="02020603050405020304" pitchFamily="18" charset="0"/>
                <a:ea typeface="等线" panose="02010600030101010101" pitchFamily="2" charset="-122"/>
              </a:rPr>
              <a:t>"</a:t>
            </a:r>
            <a:r>
              <a:rPr lang="en-US" altLang="zh-CN" sz="1400" b="1" dirty="0" smtClean="0">
                <a:latin typeface="Times New Roman" panose="02020603050405020304" pitchFamily="18" charset="0"/>
                <a:ea typeface="等线" panose="02010600030101010101" pitchFamily="2" charset="-122"/>
              </a:rPr>
              <a:t>5.19“ crisis </a:t>
            </a:r>
            <a:endParaRPr lang="en-US" altLang="zh-CN" sz="1400" b="1"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4. Hurst&lt;0.5, mean </a:t>
            </a:r>
            <a:r>
              <a:rPr lang="en-US" altLang="zh-CN" sz="1400" dirty="0" smtClean="0">
                <a:latin typeface="Times New Roman" panose="02020603050405020304" pitchFamily="18" charset="0"/>
                <a:ea typeface="等线" panose="02010600030101010101" pitchFamily="2" charset="-122"/>
              </a:rPr>
              <a:t>reversion</a:t>
            </a:r>
          </a:p>
          <a:p>
            <a:pPr marL="821884" lvl="1" indent="-342921">
              <a:lnSpc>
                <a:spcPts val="2800"/>
              </a:lnSpc>
              <a:buFont typeface="Wingdings" panose="05000000000000000000" pitchFamily="2" charset="2"/>
              <a:buChar char="Ø"/>
            </a:pPr>
            <a:r>
              <a:rPr lang="en-US" altLang="zh-CN" sz="1400" b="1" i="1" dirty="0" smtClean="0">
                <a:latin typeface="Times New Roman" panose="02020603050405020304" pitchFamily="18" charset="0"/>
                <a:ea typeface="等线" panose="02010600030101010101" pitchFamily="2" charset="-122"/>
              </a:rPr>
              <a:t>Our measure is of great quality</a:t>
            </a:r>
            <a:endParaRPr lang="en-US" altLang="zh-CN" sz="1400" b="1" i="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IV</a:t>
            </a:r>
            <a:r>
              <a:rPr lang="en-US" altLang="zh-CN" sz="2400" dirty="0">
                <a:solidFill>
                  <a:schemeClr val="bg1"/>
                </a:solidFill>
              </a:rPr>
              <a:t>. </a:t>
            </a:r>
            <a:r>
              <a:rPr lang="en-US" altLang="zh-CN" sz="2400" dirty="0" smtClean="0">
                <a:solidFill>
                  <a:schemeClr val="bg1"/>
                </a:solidFill>
              </a:rPr>
              <a:t>Regression Data</a:t>
            </a:r>
            <a:endParaRPr lang="en-US" sz="2400" dirty="0">
              <a:solidFill>
                <a:schemeClr val="bg1"/>
              </a:solidFill>
            </a:endParaRPr>
          </a:p>
        </p:txBody>
      </p:sp>
      <p:pic>
        <p:nvPicPr>
          <p:cNvPr id="3" name="图片 2"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1375" y="1241593"/>
            <a:ext cx="4456428" cy="3161664"/>
          </a:xfrm>
          <a:prstGeom prst="rect">
            <a:avLst/>
          </a:prstGeom>
        </p:spPr>
      </p:pic>
      <p:sp>
        <p:nvSpPr>
          <p:cNvPr id="6" name="标题 1">
            <a:extLst>
              <a:ext uri="{FF2B5EF4-FFF2-40B4-BE49-F238E27FC236}">
                <a16:creationId xmlns:a16="http://schemas.microsoft.com/office/drawing/2014/main" id="{A3C71D49-1CFF-4704-AE93-7F736EAECB98}"/>
              </a:ext>
            </a:extLst>
          </p:cNvPr>
          <p:cNvSpPr txBox="1">
            <a:spLocks/>
          </p:cNvSpPr>
          <p:nvPr/>
        </p:nvSpPr>
        <p:spPr bwMode="auto">
          <a:xfrm>
            <a:off x="374375" y="4856736"/>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Two-side Granger test:</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We get significant results within ten lags.</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The spot market and the futures market are two-way Granger correlated and endogenous systems. </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good evidence for reflective </a:t>
            </a:r>
            <a:r>
              <a:rPr lang="en-US" altLang="zh-CN" sz="1400" dirty="0" smtClean="0">
                <a:latin typeface="Times New Roman" panose="02020603050405020304" pitchFamily="18" charset="0"/>
                <a:ea typeface="等线" panose="02010600030101010101" pitchFamily="2" charset="-122"/>
              </a:rPr>
              <a:t>system model we used here.</a:t>
            </a:r>
            <a:endParaRPr lang="en-US" altLang="zh-CN" sz="1400" dirty="0">
              <a:latin typeface="Times New Roman" panose="02020603050405020304" pitchFamily="18" charset="0"/>
              <a:ea typeface="等线" panose="02010600030101010101" pitchFamily="2"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1527749980"/>
              </p:ext>
            </p:extLst>
          </p:nvPr>
        </p:nvGraphicFramePr>
        <p:xfrm>
          <a:off x="8690450" y="1294297"/>
          <a:ext cx="736600" cy="3108960"/>
        </p:xfrm>
        <a:graphic>
          <a:graphicData uri="http://schemas.openxmlformats.org/drawingml/2006/table">
            <a:tbl>
              <a:tblPr>
                <a:tableStyleId>{5C22544A-7EE6-4342-B048-85BDC9FD1C3A}</a:tableStyleId>
              </a:tblPr>
              <a:tblGrid>
                <a:gridCol w="406400">
                  <a:extLst>
                    <a:ext uri="{9D8B030D-6E8A-4147-A177-3AD203B41FA5}">
                      <a16:colId xmlns:a16="http://schemas.microsoft.com/office/drawing/2014/main" val="1120365147"/>
                    </a:ext>
                  </a:extLst>
                </a:gridCol>
                <a:gridCol w="330200">
                  <a:extLst>
                    <a:ext uri="{9D8B030D-6E8A-4147-A177-3AD203B41FA5}">
                      <a16:colId xmlns:a16="http://schemas.microsoft.com/office/drawing/2014/main" val="1732582677"/>
                    </a:ext>
                  </a:extLst>
                </a:gridCol>
              </a:tblGrid>
              <a:tr h="182880">
                <a:tc>
                  <a:txBody>
                    <a:bodyPr/>
                    <a:lstStyle/>
                    <a:p>
                      <a:pPr algn="l" rtl="0" fontAlgn="ctr"/>
                      <a:r>
                        <a:rPr lang="en-US" sz="600" u="none" strike="noStrike" dirty="0">
                          <a:effectLst/>
                        </a:rPr>
                        <a:t>mean</a:t>
                      </a:r>
                      <a:endParaRPr lang="en-US" sz="60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sz="600" u="none" strike="noStrike" dirty="0">
                          <a:effectLst/>
                        </a:rPr>
                        <a:t>P(t &gt; 0)</a:t>
                      </a:r>
                      <a:endParaRPr lang="en-US" sz="60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3266014"/>
                  </a:ext>
                </a:extLst>
              </a:tr>
              <a:tr h="182880">
                <a:tc>
                  <a:txBody>
                    <a:bodyPr/>
                    <a:lstStyle/>
                    <a:p>
                      <a:pPr algn="l" rtl="0" fontAlgn="ctr"/>
                      <a:r>
                        <a:rPr lang="en-US" sz="600" u="none" strike="noStrike" dirty="0">
                          <a:effectLst/>
                        </a:rPr>
                        <a:t>5.84E-05</a:t>
                      </a:r>
                      <a:endParaRPr lang="en-US"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a:effectLst/>
                        </a:rPr>
                        <a:t>0</a:t>
                      </a:r>
                      <a:endParaRPr lang="en-US" altLang="zh-CN" sz="60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2088250"/>
                  </a:ext>
                </a:extLst>
              </a:tr>
              <a:tr h="182880">
                <a:tc>
                  <a:txBody>
                    <a:bodyPr/>
                    <a:lstStyle/>
                    <a:p>
                      <a:pPr algn="l" rtl="0" fontAlgn="ctr"/>
                      <a:r>
                        <a:rPr lang="en-US" sz="600" u="none" strike="noStrike" dirty="0">
                          <a:effectLst/>
                        </a:rPr>
                        <a:t>4.29E-05</a:t>
                      </a:r>
                      <a:endParaRPr lang="en-US"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effectLst/>
                        </a:rPr>
                        <a:t>0</a:t>
                      </a:r>
                      <a:endParaRPr lang="en-US" altLang="zh-CN"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0128070"/>
                  </a:ext>
                </a:extLst>
              </a:tr>
              <a:tr h="182880">
                <a:tc>
                  <a:txBody>
                    <a:bodyPr/>
                    <a:lstStyle/>
                    <a:p>
                      <a:pPr algn="l" rtl="0" fontAlgn="ctr"/>
                      <a:r>
                        <a:rPr lang="en-US" sz="600" u="none" strike="noStrike" dirty="0">
                          <a:effectLst/>
                        </a:rPr>
                        <a:t>3.81E-06</a:t>
                      </a:r>
                      <a:endParaRPr lang="en-US"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effectLst/>
                        </a:rPr>
                        <a:t>0</a:t>
                      </a:r>
                      <a:endParaRPr lang="en-US" altLang="zh-CN"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0673741"/>
                  </a:ext>
                </a:extLst>
              </a:tr>
              <a:tr h="182880">
                <a:tc>
                  <a:txBody>
                    <a:bodyPr/>
                    <a:lstStyle/>
                    <a:p>
                      <a:pPr algn="l" rtl="0" fontAlgn="ctr"/>
                      <a:r>
                        <a:rPr lang="en-US" sz="600" u="none" strike="noStrike" dirty="0">
                          <a:effectLst/>
                        </a:rPr>
                        <a:t>6.39E-05</a:t>
                      </a:r>
                      <a:endParaRPr lang="en-US"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effectLst/>
                        </a:rPr>
                        <a:t>0</a:t>
                      </a:r>
                      <a:endParaRPr lang="en-US" altLang="zh-CN"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6427768"/>
                  </a:ext>
                </a:extLst>
              </a:tr>
              <a:tr h="182880">
                <a:tc>
                  <a:txBody>
                    <a:bodyPr/>
                    <a:lstStyle/>
                    <a:p>
                      <a:pPr algn="l" rtl="0" fontAlgn="ctr"/>
                      <a:r>
                        <a:rPr lang="en-US" sz="600" u="none" strike="noStrike" dirty="0">
                          <a:effectLst/>
                        </a:rPr>
                        <a:t>6.31E-05</a:t>
                      </a:r>
                      <a:endParaRPr lang="en-US"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effectLst/>
                        </a:rPr>
                        <a:t>0</a:t>
                      </a:r>
                      <a:endParaRPr lang="en-US" altLang="zh-CN"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7408039"/>
                  </a:ext>
                </a:extLst>
              </a:tr>
              <a:tr h="182880">
                <a:tc>
                  <a:txBody>
                    <a:bodyPr/>
                    <a:lstStyle/>
                    <a:p>
                      <a:pPr algn="l" rtl="0" fontAlgn="ctr"/>
                      <a:r>
                        <a:rPr lang="en-US" sz="600" u="none" strike="noStrike" dirty="0">
                          <a:effectLst/>
                        </a:rPr>
                        <a:t>6.73E-06</a:t>
                      </a:r>
                      <a:endParaRPr lang="en-US"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effectLst/>
                        </a:rPr>
                        <a:t>0</a:t>
                      </a:r>
                      <a:endParaRPr lang="en-US" altLang="zh-CN"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2441956"/>
                  </a:ext>
                </a:extLst>
              </a:tr>
              <a:tr h="182880">
                <a:tc>
                  <a:txBody>
                    <a:bodyPr/>
                    <a:lstStyle/>
                    <a:p>
                      <a:pPr algn="l" rtl="0" fontAlgn="ctr"/>
                      <a:r>
                        <a:rPr lang="en-US" sz="600" u="none" strike="noStrike" dirty="0">
                          <a:effectLst/>
                        </a:rPr>
                        <a:t>2.68E-05</a:t>
                      </a:r>
                      <a:endParaRPr lang="en-US"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effectLst/>
                        </a:rPr>
                        <a:t>0</a:t>
                      </a:r>
                      <a:endParaRPr lang="en-US" altLang="zh-CN"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5153392"/>
                  </a:ext>
                </a:extLst>
              </a:tr>
              <a:tr h="182880">
                <a:tc>
                  <a:txBody>
                    <a:bodyPr/>
                    <a:lstStyle/>
                    <a:p>
                      <a:pPr algn="l" rtl="0" fontAlgn="ctr"/>
                      <a:r>
                        <a:rPr lang="en-US" sz="600" u="none" strike="noStrike" dirty="0">
                          <a:effectLst/>
                        </a:rPr>
                        <a:t>2.95E-05</a:t>
                      </a:r>
                      <a:endParaRPr lang="en-US"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effectLst/>
                        </a:rPr>
                        <a:t>0</a:t>
                      </a:r>
                      <a:endParaRPr lang="en-US" altLang="zh-CN"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5860819"/>
                  </a:ext>
                </a:extLst>
              </a:tr>
              <a:tr h="182880">
                <a:tc>
                  <a:txBody>
                    <a:bodyPr/>
                    <a:lstStyle/>
                    <a:p>
                      <a:pPr algn="l" rtl="0" fontAlgn="ctr"/>
                      <a:r>
                        <a:rPr lang="en-US" sz="600" u="none" strike="noStrike" dirty="0">
                          <a:effectLst/>
                        </a:rPr>
                        <a:t>4.47E-05</a:t>
                      </a:r>
                      <a:endParaRPr lang="en-US"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effectLst/>
                        </a:rPr>
                        <a:t>0</a:t>
                      </a:r>
                      <a:endParaRPr lang="en-US" altLang="zh-CN"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8657166"/>
                  </a:ext>
                </a:extLst>
              </a:tr>
              <a:tr h="182880">
                <a:tc>
                  <a:txBody>
                    <a:bodyPr/>
                    <a:lstStyle/>
                    <a:p>
                      <a:pPr algn="l" rtl="0" fontAlgn="ctr"/>
                      <a:r>
                        <a:rPr lang="en-US" sz="600" u="none" strike="noStrike" dirty="0">
                          <a:solidFill>
                            <a:srgbClr val="FF0000"/>
                          </a:solidFill>
                          <a:effectLst/>
                        </a:rPr>
                        <a:t>-2.56E-05</a:t>
                      </a:r>
                      <a:endParaRPr lang="en-US" sz="600" b="0" i="0" u="none" strike="noStrike" dirty="0">
                        <a:solidFill>
                          <a:srgbClr val="FF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solidFill>
                            <a:srgbClr val="FF0000"/>
                          </a:solidFill>
                          <a:effectLst/>
                        </a:rPr>
                        <a:t>1</a:t>
                      </a:r>
                      <a:endParaRPr lang="en-US" altLang="zh-CN" sz="600" b="0" i="0" u="none" strike="noStrike" dirty="0">
                        <a:solidFill>
                          <a:srgbClr val="FF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0678753"/>
                  </a:ext>
                </a:extLst>
              </a:tr>
              <a:tr h="182880">
                <a:tc>
                  <a:txBody>
                    <a:bodyPr/>
                    <a:lstStyle/>
                    <a:p>
                      <a:pPr algn="l" rtl="0" fontAlgn="ctr"/>
                      <a:r>
                        <a:rPr lang="en-US" altLang="zh-CN" sz="600" u="none" strike="noStrike" dirty="0">
                          <a:solidFill>
                            <a:srgbClr val="FF0000"/>
                          </a:solidFill>
                          <a:effectLst/>
                        </a:rPr>
                        <a:t>-0.000716</a:t>
                      </a:r>
                      <a:endParaRPr lang="en-US" altLang="zh-CN" sz="600" b="0" i="0" u="none" strike="noStrike" dirty="0">
                        <a:solidFill>
                          <a:srgbClr val="FF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solidFill>
                            <a:srgbClr val="FF0000"/>
                          </a:solidFill>
                          <a:effectLst/>
                        </a:rPr>
                        <a:t>1</a:t>
                      </a:r>
                      <a:endParaRPr lang="en-US" altLang="zh-CN" sz="600" b="0" i="0" u="none" strike="noStrike" dirty="0">
                        <a:solidFill>
                          <a:srgbClr val="FF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9038657"/>
                  </a:ext>
                </a:extLst>
              </a:tr>
              <a:tr h="182880">
                <a:tc>
                  <a:txBody>
                    <a:bodyPr/>
                    <a:lstStyle/>
                    <a:p>
                      <a:pPr algn="l" rtl="0" fontAlgn="ctr"/>
                      <a:r>
                        <a:rPr lang="en-US" sz="600" u="none" strike="noStrike" dirty="0">
                          <a:solidFill>
                            <a:srgbClr val="FF0000"/>
                          </a:solidFill>
                          <a:effectLst/>
                        </a:rPr>
                        <a:t>-6.97E-05</a:t>
                      </a:r>
                      <a:endParaRPr lang="en-US" sz="600" b="0" i="0" u="none" strike="noStrike" dirty="0">
                        <a:solidFill>
                          <a:srgbClr val="FF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solidFill>
                            <a:srgbClr val="FF0000"/>
                          </a:solidFill>
                          <a:effectLst/>
                        </a:rPr>
                        <a:t>1</a:t>
                      </a:r>
                      <a:endParaRPr lang="en-US" altLang="zh-CN" sz="600" b="0" i="0" u="none" strike="noStrike" dirty="0">
                        <a:solidFill>
                          <a:srgbClr val="FF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26919"/>
                  </a:ext>
                </a:extLst>
              </a:tr>
              <a:tr h="182880">
                <a:tc>
                  <a:txBody>
                    <a:bodyPr/>
                    <a:lstStyle/>
                    <a:p>
                      <a:pPr algn="l" rtl="0" fontAlgn="ctr"/>
                      <a:r>
                        <a:rPr lang="en-US" sz="600" u="none" strike="noStrike" dirty="0">
                          <a:effectLst/>
                        </a:rPr>
                        <a:t>7.62E-05</a:t>
                      </a:r>
                      <a:endParaRPr lang="en-US"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effectLst/>
                        </a:rPr>
                        <a:t>0</a:t>
                      </a:r>
                      <a:endParaRPr lang="en-US" altLang="zh-CN"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2860078"/>
                  </a:ext>
                </a:extLst>
              </a:tr>
              <a:tr h="182880">
                <a:tc>
                  <a:txBody>
                    <a:bodyPr/>
                    <a:lstStyle/>
                    <a:p>
                      <a:pPr algn="l" rtl="0" fontAlgn="ctr"/>
                      <a:r>
                        <a:rPr lang="en-US" sz="600" u="none" strike="noStrike" dirty="0">
                          <a:solidFill>
                            <a:srgbClr val="FF0000"/>
                          </a:solidFill>
                          <a:effectLst/>
                        </a:rPr>
                        <a:t>-7.71E-05</a:t>
                      </a:r>
                      <a:endParaRPr lang="en-US" sz="600" b="0" i="0" u="none" strike="noStrike" dirty="0">
                        <a:solidFill>
                          <a:srgbClr val="FF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solidFill>
                            <a:srgbClr val="FF0000"/>
                          </a:solidFill>
                          <a:effectLst/>
                        </a:rPr>
                        <a:t>0</a:t>
                      </a:r>
                      <a:endParaRPr lang="en-US" altLang="zh-CN" sz="600" b="0" i="0" u="none" strike="noStrike" dirty="0">
                        <a:solidFill>
                          <a:srgbClr val="FF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7529468"/>
                  </a:ext>
                </a:extLst>
              </a:tr>
              <a:tr h="182880">
                <a:tc>
                  <a:txBody>
                    <a:bodyPr/>
                    <a:lstStyle/>
                    <a:p>
                      <a:pPr algn="l" rtl="0" fontAlgn="ctr"/>
                      <a:r>
                        <a:rPr lang="en-US" sz="600" u="none" strike="noStrike" dirty="0">
                          <a:effectLst/>
                        </a:rPr>
                        <a:t>4.69E-05</a:t>
                      </a:r>
                      <a:endParaRPr lang="en-US"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effectLst/>
                        </a:rPr>
                        <a:t>0</a:t>
                      </a:r>
                      <a:endParaRPr lang="en-US" altLang="zh-CN"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2237117"/>
                  </a:ext>
                </a:extLst>
              </a:tr>
              <a:tr h="182880">
                <a:tc>
                  <a:txBody>
                    <a:bodyPr/>
                    <a:lstStyle/>
                    <a:p>
                      <a:pPr algn="l" rtl="0" fontAlgn="ctr"/>
                      <a:r>
                        <a:rPr lang="en-US" sz="600" u="none" strike="noStrike" dirty="0">
                          <a:effectLst/>
                        </a:rPr>
                        <a:t>9.01E-05</a:t>
                      </a:r>
                      <a:endParaRPr lang="en-US"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fontAlgn="ctr"/>
                      <a:r>
                        <a:rPr lang="en-US" altLang="zh-CN" sz="600" u="none" strike="noStrike" dirty="0">
                          <a:effectLst/>
                        </a:rPr>
                        <a:t>0</a:t>
                      </a:r>
                      <a:endParaRPr lang="en-US" altLang="zh-CN" sz="60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460714"/>
                  </a:ext>
                </a:extLst>
              </a:tr>
            </a:tbl>
          </a:graphicData>
        </a:graphic>
      </p:graphicFrame>
    </p:spTree>
    <p:extLst>
      <p:ext uri="{BB962C8B-B14F-4D97-AF65-F5344CB8AC3E}">
        <p14:creationId xmlns:p14="http://schemas.microsoft.com/office/powerpoint/2010/main" val="2858712952"/>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287584" y="909514"/>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Which factors influence </a:t>
                </a:r>
                <a:r>
                  <a:rPr lang="en-US" altLang="zh-CN" sz="1800" b="1" dirty="0" smtClean="0">
                    <a:solidFill>
                      <a:schemeClr val="bg2"/>
                    </a:solidFill>
                    <a:latin typeface="Times New Roman" panose="02020603050405020304" pitchFamily="18" charset="0"/>
                    <a:ea typeface="等线" panose="02010600030101010101" pitchFamily="2" charset="-122"/>
                  </a:rPr>
                  <a:t>convenience yield?</a:t>
                </a:r>
              </a:p>
              <a:p>
                <a:pPr marL="821884" lvl="1" indent="-342921">
                  <a:lnSpc>
                    <a:spcPts val="2800"/>
                  </a:lnSpc>
                  <a:buFont typeface="Wingdings" panose="05000000000000000000" pitchFamily="2" charset="2"/>
                  <a:buChar char="Ø"/>
                </a:pPr>
                <a:r>
                  <a:rPr lang="en-US" altLang="zh-CN" sz="1400" dirty="0" err="1">
                    <a:latin typeface="Times New Roman" panose="02020603050405020304" pitchFamily="18" charset="0"/>
                    <a:ea typeface="等线" panose="02010600030101010101" pitchFamily="2" charset="-122"/>
                  </a:rPr>
                  <a:t>Hausman</a:t>
                </a:r>
                <a:r>
                  <a:rPr lang="en-US" altLang="zh-CN" sz="1400" dirty="0">
                    <a:latin typeface="Times New Roman" panose="02020603050405020304" pitchFamily="18" charset="0"/>
                    <a:ea typeface="等线" panose="02010600030101010101" pitchFamily="2" charset="-122"/>
                  </a:rPr>
                  <a:t> test </a:t>
                </a:r>
                <a:r>
                  <a:rPr lang="zh-CN" altLang="en-US" sz="1400" dirty="0">
                    <a:latin typeface="Times New Roman" panose="02020603050405020304" pitchFamily="18" charset="0"/>
                    <a:ea typeface="等线" panose="02010600030101010101" pitchFamily="2" charset="-122"/>
                  </a:rPr>
                  <a:t>→</a:t>
                </a:r>
                <a:r>
                  <a:rPr lang="en-US" altLang="zh-CN" sz="1400" dirty="0">
                    <a:latin typeface="Times New Roman" panose="02020603050405020304" pitchFamily="18" charset="0"/>
                    <a:ea typeface="等线" panose="02010600030101010101" pitchFamily="2" charset="-122"/>
                  </a:rPr>
                  <a:t> a fixed-effect model for panel data</a:t>
                </a:r>
              </a:p>
              <a:p>
                <a:pPr>
                  <a:lnSpc>
                    <a:spcPts val="2800"/>
                  </a:lnSpc>
                </a:pPr>
                <a14:m>
                  <m:oMathPara xmlns:m="http://schemas.openxmlformats.org/officeDocument/2006/math">
                    <m:oMathParaPr>
                      <m:jc m:val="centerGroup"/>
                    </m:oMathParaPr>
                    <m:oMath xmlns:m="http://schemas.openxmlformats.org/officeDocument/2006/math">
                      <m:sSub>
                        <m:sSubPr>
                          <m:ctrlPr>
                            <a:rPr lang="zh-CN" altLang="zh-CN" sz="1800" i="1">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𝜋</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𝑖𝑡</m:t>
                          </m:r>
                        </m:sub>
                      </m:sSub>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𝛼</m:t>
                      </m:r>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800" b="1" i="1">
                              <a:effectLst/>
                              <a:latin typeface="Cambria Math" panose="02040503050406030204" pitchFamily="18" charset="0"/>
                              <a:ea typeface="Cambria Math" panose="02040503050406030204" pitchFamily="18" charset="0"/>
                            </a:rPr>
                          </m:ctrlPr>
                        </m:sSubSupPr>
                        <m:e>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𝒊𝒕</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𝟏</m:t>
                          </m:r>
                        </m:sub>
                        <m:sup>
                          <m:r>
                            <a:rPr lang="en-US" altLang="zh-CN" sz="1800" b="1"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𝛽</m:t>
                      </m:r>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800" i="1" smtClean="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𝐷</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𝑖𝑡</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𝛾</m:t>
                      </m:r>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800"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𝜇</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sub>
                      </m:sSub>
                      <m:r>
                        <a:rPr lang="en-US" altLang="zh-CN" sz="18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800"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𝜖</m:t>
                          </m:r>
                        </m:e>
                        <m:sub>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𝑖𝑡</m:t>
                          </m:r>
                        </m:sub>
                      </m:sSub>
                    </m:oMath>
                  </m:oMathPara>
                </a14:m>
                <a:endParaRPr lang="en-US" altLang="zh-CN" sz="1800" b="1" dirty="0" smtClean="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14:m>
                  <m:oMath xmlns:m="http://schemas.openxmlformats.org/officeDocument/2006/math">
                    <m:sSub>
                      <m:sSubPr>
                        <m:ctrlPr>
                          <a:rPr lang="zh-CN" altLang="zh-CN" sz="1400" i="1">
                            <a:latin typeface="Cambria Math" panose="02040503050406030204" pitchFamily="18" charset="0"/>
                            <a:ea typeface="等线" panose="02010600030101010101" pitchFamily="2" charset="-122"/>
                          </a:rPr>
                        </m:ctrlPr>
                      </m:sSubPr>
                      <m:e>
                        <m:r>
                          <a:rPr lang="en-US" altLang="zh-CN" sz="1400">
                            <a:latin typeface="Cambria Math" panose="02040503050406030204" pitchFamily="18" charset="0"/>
                            <a:ea typeface="等线" panose="02010600030101010101" pitchFamily="2" charset="-122"/>
                          </a:rPr>
                          <m:t>𝜋</m:t>
                        </m:r>
                      </m:e>
                      <m:sub>
                        <m:r>
                          <a:rPr lang="en-US" altLang="zh-CN" sz="1400">
                            <a:latin typeface="Cambria Math" panose="02040503050406030204" pitchFamily="18" charset="0"/>
                            <a:ea typeface="等线" panose="02010600030101010101" pitchFamily="2" charset="-122"/>
                          </a:rPr>
                          <m:t>𝑖𝑡</m:t>
                        </m:r>
                      </m:sub>
                    </m:sSub>
                  </m:oMath>
                </a14:m>
                <a:r>
                  <a:rPr lang="en-US" altLang="zh-CN" sz="1400" dirty="0">
                    <a:latin typeface="Times New Roman" panose="02020603050405020304" pitchFamily="18" charset="0"/>
                    <a:ea typeface="等线" panose="02010600030101010101" pitchFamily="2" charset="-122"/>
                  </a:rPr>
                  <a:t> : convenience yield</a:t>
                </a:r>
              </a:p>
              <a:p>
                <a:pPr marL="821884" lvl="1" indent="-342921">
                  <a:lnSpc>
                    <a:spcPts val="2800"/>
                  </a:lnSpc>
                  <a:buFont typeface="Wingdings" panose="05000000000000000000" pitchFamily="2" charset="2"/>
                  <a:buChar char="Ø"/>
                </a:pPr>
                <a14:m>
                  <m:oMath xmlns:m="http://schemas.openxmlformats.org/officeDocument/2006/math">
                    <m:sSubSup>
                      <m:sSubSupPr>
                        <m:ctrlPr>
                          <a:rPr lang="zh-CN" altLang="zh-CN" sz="1400" b="1" i="1">
                            <a:latin typeface="Cambria Math" panose="02040503050406030204" pitchFamily="18" charset="0"/>
                            <a:ea typeface="等线" panose="02010600030101010101" pitchFamily="2" charset="-122"/>
                          </a:rPr>
                        </m:ctrlPr>
                      </m:sSubSupPr>
                      <m:e>
                        <m:r>
                          <a:rPr lang="en-US" altLang="zh-CN" sz="1400" b="1" i="1">
                            <a:latin typeface="Cambria Math" panose="02040503050406030204" pitchFamily="18" charset="0"/>
                            <a:ea typeface="等线" panose="02010600030101010101" pitchFamily="2" charset="-122"/>
                          </a:rPr>
                          <m:t>𝑿</m:t>
                        </m:r>
                      </m:e>
                      <m:sub>
                        <m:r>
                          <a:rPr lang="en-US" altLang="zh-CN" sz="1400" b="1" i="1">
                            <a:latin typeface="Cambria Math" panose="02040503050406030204" pitchFamily="18" charset="0"/>
                            <a:ea typeface="等线" panose="02010600030101010101" pitchFamily="2" charset="-122"/>
                          </a:rPr>
                          <m:t>𝐢𝐭</m:t>
                        </m:r>
                        <m:r>
                          <a:rPr lang="en-US" altLang="zh-CN" sz="1400" b="1">
                            <a:latin typeface="Cambria Math" panose="02040503050406030204" pitchFamily="18" charset="0"/>
                            <a:ea typeface="等线" panose="02010600030101010101" pitchFamily="2" charset="-122"/>
                          </a:rPr>
                          <m:t>−</m:t>
                        </m:r>
                        <m:r>
                          <a:rPr lang="en-US" altLang="zh-CN" sz="1400" b="1" i="1">
                            <a:latin typeface="Cambria Math" panose="02040503050406030204" pitchFamily="18" charset="0"/>
                            <a:ea typeface="等线" panose="02010600030101010101" pitchFamily="2" charset="-122"/>
                          </a:rPr>
                          <m:t>𝟏</m:t>
                        </m:r>
                      </m:sub>
                      <m:sup>
                        <m:r>
                          <a:rPr lang="en-US" altLang="zh-CN" sz="1400" b="1">
                            <a:latin typeface="Cambria Math" panose="02040503050406030204" pitchFamily="18" charset="0"/>
                            <a:ea typeface="等线" panose="02010600030101010101" pitchFamily="2" charset="-122"/>
                          </a:rPr>
                          <m:t>′</m:t>
                        </m:r>
                      </m:sup>
                    </m:sSubSup>
                  </m:oMath>
                </a14:m>
                <a:r>
                  <a:rPr lang="en-US" altLang="zh-CN" sz="1400" dirty="0">
                    <a:latin typeface="Times New Roman" panose="02020603050405020304" pitchFamily="18" charset="0"/>
                    <a:ea typeface="等线" panose="02010600030101010101" pitchFamily="2" charset="-122"/>
                  </a:rPr>
                  <a:t>: </a:t>
                </a:r>
                <a:r>
                  <a:rPr lang="en-US" altLang="zh-CN" sz="1400" b="1" dirty="0">
                    <a:latin typeface="Times New Roman" panose="02020603050405020304" pitchFamily="18" charset="0"/>
                    <a:ea typeface="等线" panose="02010600030101010101" pitchFamily="2" charset="-122"/>
                  </a:rPr>
                  <a:t>influencing factor </a:t>
                </a:r>
                <a:r>
                  <a:rPr lang="en-US" altLang="zh-CN" sz="1400" dirty="0" smtClean="0">
                    <a:latin typeface="Times New Roman" panose="02020603050405020304" pitchFamily="18" charset="0"/>
                    <a:ea typeface="等线" panose="02010600030101010101" pitchFamily="2" charset="-122"/>
                  </a:rPr>
                  <a:t>vector, with </a:t>
                </a:r>
                <a:r>
                  <a:rPr lang="en-US" altLang="zh-CN" sz="1400" b="1" dirty="0" smtClean="0">
                    <a:latin typeface="Times New Roman" panose="02020603050405020304" pitchFamily="18" charset="0"/>
                    <a:ea typeface="等线" panose="02010600030101010101" pitchFamily="2" charset="-122"/>
                  </a:rPr>
                  <a:t>time lag </a:t>
                </a:r>
                <a:r>
                  <a:rPr lang="en-US" altLang="zh-CN" sz="1400" dirty="0" smtClean="0">
                    <a:latin typeface="Times New Roman" panose="02020603050405020304" pitchFamily="18" charset="0"/>
                    <a:ea typeface="等线" panose="02010600030101010101" pitchFamily="2" charset="-122"/>
                  </a:rPr>
                  <a:t>to test causal effect</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14:m>
                  <m:oMath xmlns:m="http://schemas.openxmlformats.org/officeDocument/2006/math">
                    <m:sSubSup>
                      <m:sSubSupPr>
                        <m:ctrlPr>
                          <a:rPr lang="zh-CN" altLang="zh-CN" sz="1400" i="1">
                            <a:latin typeface="Cambria Math" panose="02040503050406030204" pitchFamily="18" charset="0"/>
                            <a:ea typeface="等线" panose="02010600030101010101" pitchFamily="2" charset="-122"/>
                          </a:rPr>
                        </m:ctrlPr>
                      </m:sSubSupPr>
                      <m:e>
                        <m:r>
                          <a:rPr lang="en-US" altLang="zh-CN" sz="1400">
                            <a:latin typeface="Cambria Math" panose="02040503050406030204" pitchFamily="18" charset="0"/>
                            <a:ea typeface="等线" panose="02010600030101010101" pitchFamily="2" charset="-122"/>
                          </a:rPr>
                          <m:t>𝐷</m:t>
                        </m:r>
                      </m:e>
                      <m:sub>
                        <m:r>
                          <a:rPr lang="en-US" altLang="zh-CN" sz="1400">
                            <a:latin typeface="Cambria Math" panose="02040503050406030204" pitchFamily="18" charset="0"/>
                            <a:ea typeface="等线" panose="02010600030101010101" pitchFamily="2" charset="-122"/>
                          </a:rPr>
                          <m:t>𝑖𝑡</m:t>
                        </m:r>
                        <m:r>
                          <a:rPr lang="en-US" altLang="zh-CN" sz="1400">
                            <a:latin typeface="Cambria Math" panose="02040503050406030204" pitchFamily="18" charset="0"/>
                            <a:ea typeface="等线" panose="02010600030101010101" pitchFamily="2" charset="-122"/>
                          </a:rPr>
                          <m:t>−1</m:t>
                        </m:r>
                      </m:sub>
                      <m:sup>
                        <m:r>
                          <a:rPr lang="en-US" altLang="zh-CN" sz="1400">
                            <a:latin typeface="Cambria Math" panose="02040503050406030204" pitchFamily="18" charset="0"/>
                            <a:ea typeface="等线" panose="02010600030101010101" pitchFamily="2" charset="-122"/>
                          </a:rPr>
                          <m:t>′</m:t>
                        </m:r>
                      </m:sup>
                    </m:sSubSup>
                  </m:oMath>
                </a14:m>
                <a:r>
                  <a:rPr lang="en-US" altLang="zh-CN" sz="1400" dirty="0" smtClean="0">
                    <a:latin typeface="Times New Roman" panose="02020603050405020304" pitchFamily="18" charset="0"/>
                    <a:ea typeface="等线" panose="02010600030101010101" pitchFamily="2" charset="-122"/>
                  </a:rPr>
                  <a:t>' : dummy </a:t>
                </a:r>
                <a:r>
                  <a:rPr lang="en-US" altLang="zh-CN" sz="1400" dirty="0">
                    <a:latin typeface="Times New Roman" panose="02020603050405020304" pitchFamily="18" charset="0"/>
                    <a:ea typeface="等线" panose="02010600030101010101" pitchFamily="2" charset="-122"/>
                  </a:rPr>
                  <a:t>variable of the model we added, including fixed effect</a:t>
                </a:r>
              </a:p>
              <a:p>
                <a:pPr>
                  <a:lnSpc>
                    <a:spcPts val="2800"/>
                  </a:lnSpc>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How convenience yield affect the </a:t>
                </a:r>
                <a:r>
                  <a:rPr lang="en-US" altLang="zh-CN" sz="1800" b="1" dirty="0" smtClean="0">
                    <a:solidFill>
                      <a:schemeClr val="bg2"/>
                    </a:solidFill>
                    <a:latin typeface="Times New Roman" panose="02020603050405020304" pitchFamily="18" charset="0"/>
                    <a:ea typeface="等线" panose="02010600030101010101" pitchFamily="2" charset="-122"/>
                  </a:rPr>
                  <a:t>market</a:t>
                </a:r>
                <a:r>
                  <a:rPr lang="en-US" altLang="zh-CN" sz="1800" b="1" dirty="0">
                    <a:solidFill>
                      <a:schemeClr val="bg2"/>
                    </a:solidFill>
                    <a:latin typeface="Times New Roman" panose="02020603050405020304" pitchFamily="18" charset="0"/>
                    <a:ea typeface="等线" panose="02010600030101010101" pitchFamily="2" charset="-122"/>
                  </a:rPr>
                  <a:t>?</a:t>
                </a:r>
                <a:endParaRPr lang="en-US" altLang="zh-CN" sz="1800" b="1" dirty="0" smtClean="0">
                  <a:solidFill>
                    <a:schemeClr val="bg2"/>
                  </a:solidFill>
                  <a:latin typeface="Times New Roman" panose="02020603050405020304" pitchFamily="18" charset="0"/>
                  <a:ea typeface="等线" panose="02010600030101010101" pitchFamily="2" charset="-122"/>
                </a:endParaRPr>
              </a:p>
              <a:p>
                <a:pPr indent="304800" algn="just">
                  <a:lnSpc>
                    <a:spcPts val="2000"/>
                  </a:lnSpc>
                  <a:spcAft>
                    <a:spcPts val="0"/>
                  </a:spcAft>
                </a:pPr>
                <a14:m>
                  <m:oMathPara xmlns:m="http://schemas.openxmlformats.org/officeDocument/2006/math">
                    <m:oMathParaPr>
                      <m:jc m:val="centerGroup"/>
                    </m:oMathParaPr>
                    <m:oMath xmlns:m="http://schemas.openxmlformats.org/officeDocument/2006/math">
                      <m:sSub>
                        <m:sSubPr>
                          <m:ctrlPr>
                            <a:rPr lang="zh-CN" altLang="zh-CN" sz="1800" i="1" kern="100">
                              <a:latin typeface="Cambria Math" panose="02040503050406030204" pitchFamily="18" charset="0"/>
                              <a:ea typeface="Cambria Math" panose="02040503050406030204" pitchFamily="18" charset="0"/>
                            </a:rPr>
                          </m:ctrlPr>
                        </m:sSubPr>
                        <m:e>
                          <m:r>
                            <a:rPr lang="en-US" altLang="zh-CN" sz="1800" i="1" kern="100">
                              <a:latin typeface="Cambria Math" panose="02040503050406030204" pitchFamily="18" charset="0"/>
                              <a:ea typeface="宋体" panose="02010600030101010101" pitchFamily="2" charset="-122"/>
                            </a:rPr>
                            <m:t>𝑦</m:t>
                          </m:r>
                        </m:e>
                        <m:sub>
                          <m:r>
                            <a:rPr lang="en-US" altLang="zh-CN" sz="1800" i="1" kern="100">
                              <a:latin typeface="Cambria Math" panose="02040503050406030204" pitchFamily="18" charset="0"/>
                              <a:ea typeface="宋体" panose="02010600030101010101" pitchFamily="2" charset="-122"/>
                            </a:rPr>
                            <m:t>𝑖𝑡</m:t>
                          </m:r>
                        </m:sub>
                      </m:sSub>
                      <m:r>
                        <a:rPr lang="en-US" altLang="zh-CN" sz="1800" kern="100">
                          <a:latin typeface="Cambria Math" panose="02040503050406030204" pitchFamily="18" charset="0"/>
                          <a:ea typeface="宋体" panose="02010600030101010101" pitchFamily="2" charset="-122"/>
                        </a:rPr>
                        <m:t>=</m:t>
                      </m:r>
                      <m:r>
                        <a:rPr lang="en-US" altLang="zh-CN" sz="1800" i="1" kern="100">
                          <a:latin typeface="Cambria Math" panose="02040503050406030204" pitchFamily="18" charset="0"/>
                          <a:ea typeface="宋体" panose="02010600030101010101" pitchFamily="2" charset="-122"/>
                        </a:rPr>
                        <m:t>𝛼</m:t>
                      </m:r>
                      <m:r>
                        <a:rPr lang="en-US" altLang="zh-CN" sz="1800" kern="100">
                          <a:latin typeface="Cambria Math" panose="02040503050406030204" pitchFamily="18" charset="0"/>
                          <a:ea typeface="宋体" panose="02010600030101010101" pitchFamily="2" charset="-122"/>
                        </a:rPr>
                        <m:t>+</m:t>
                      </m:r>
                      <m:sSub>
                        <m:sSubPr>
                          <m:ctrlPr>
                            <a:rPr lang="zh-CN" altLang="zh-CN" sz="1800" b="1" i="1" kern="100">
                              <a:latin typeface="Cambria Math" panose="02040503050406030204" pitchFamily="18" charset="0"/>
                              <a:ea typeface="Cambria Math" panose="02040503050406030204" pitchFamily="18" charset="0"/>
                            </a:rPr>
                          </m:ctrlPr>
                        </m:sSubPr>
                        <m:e>
                          <m:r>
                            <a:rPr lang="en-US" altLang="zh-CN" sz="1800" b="1" i="1" kern="100">
                              <a:latin typeface="Cambria Math" panose="02040503050406030204" pitchFamily="18" charset="0"/>
                              <a:ea typeface="宋体" panose="02010600030101010101" pitchFamily="2" charset="-122"/>
                            </a:rPr>
                            <m:t>𝝅</m:t>
                          </m:r>
                        </m:e>
                        <m:sub>
                          <m:r>
                            <a:rPr lang="en-US" altLang="zh-CN" sz="1800" b="1" i="1" kern="100">
                              <a:latin typeface="Cambria Math" panose="02040503050406030204" pitchFamily="18" charset="0"/>
                              <a:ea typeface="宋体" panose="02010600030101010101" pitchFamily="2" charset="-122"/>
                            </a:rPr>
                            <m:t>𝒊𝒕</m:t>
                          </m:r>
                          <m:r>
                            <a:rPr lang="en-US" altLang="zh-CN" sz="1800" b="1" i="1" kern="100">
                              <a:latin typeface="Cambria Math" panose="02040503050406030204" pitchFamily="18" charset="0"/>
                              <a:ea typeface="宋体" panose="02010600030101010101" pitchFamily="2" charset="-122"/>
                            </a:rPr>
                            <m:t>−</m:t>
                          </m:r>
                          <m:r>
                            <a:rPr lang="en-US" altLang="zh-CN" sz="1800" b="1" i="1" kern="100">
                              <a:latin typeface="Cambria Math" panose="02040503050406030204" pitchFamily="18" charset="0"/>
                              <a:ea typeface="宋体" panose="02010600030101010101" pitchFamily="2" charset="-122"/>
                            </a:rPr>
                            <m:t>𝟏</m:t>
                          </m:r>
                        </m:sub>
                      </m:sSub>
                      <m:r>
                        <a:rPr lang="en-US" altLang="zh-CN" sz="1800" i="1" kern="100">
                          <a:latin typeface="Cambria Math" panose="02040503050406030204" pitchFamily="18" charset="0"/>
                          <a:ea typeface="宋体" panose="02010600030101010101" pitchFamily="2" charset="-122"/>
                        </a:rPr>
                        <m:t>𝛽</m:t>
                      </m:r>
                      <m:r>
                        <a:rPr lang="en-US" altLang="zh-CN" sz="1800" kern="100">
                          <a:latin typeface="Cambria Math" panose="02040503050406030204" pitchFamily="18" charset="0"/>
                          <a:ea typeface="宋体" panose="02010600030101010101" pitchFamily="2" charset="-122"/>
                        </a:rPr>
                        <m:t>+</m:t>
                      </m:r>
                      <m:sSubSup>
                        <m:sSubSupPr>
                          <m:ctrlPr>
                            <a:rPr lang="zh-CN" altLang="zh-CN" sz="1800" i="1" kern="100" smtClean="0">
                              <a:latin typeface="Cambria Math" panose="02040503050406030204" pitchFamily="18" charset="0"/>
                              <a:ea typeface="Cambria Math" panose="02040503050406030204" pitchFamily="18" charset="0"/>
                            </a:rPr>
                          </m:ctrlPr>
                        </m:sSubSupPr>
                        <m:e>
                          <m:r>
                            <a:rPr lang="en-US" altLang="zh-CN" sz="1800" i="1" kern="100">
                              <a:latin typeface="Cambria Math" panose="02040503050406030204" pitchFamily="18" charset="0"/>
                              <a:ea typeface="宋体" panose="02010600030101010101" pitchFamily="2" charset="-122"/>
                            </a:rPr>
                            <m:t>𝑋</m:t>
                          </m:r>
                        </m:e>
                        <m:sub>
                          <m:r>
                            <a:rPr lang="en-US" altLang="zh-CN" sz="1800" i="1" kern="100">
                              <a:latin typeface="Cambria Math" panose="02040503050406030204" pitchFamily="18" charset="0"/>
                              <a:ea typeface="宋体" panose="02010600030101010101" pitchFamily="2" charset="-122"/>
                            </a:rPr>
                            <m:t>𝑖𝑡</m:t>
                          </m:r>
                          <m:r>
                            <a:rPr lang="en-US" altLang="zh-CN" sz="1800" i="1" kern="100">
                              <a:latin typeface="Cambria Math" panose="02040503050406030204" pitchFamily="18" charset="0"/>
                              <a:ea typeface="宋体" panose="02010600030101010101" pitchFamily="2" charset="-122"/>
                            </a:rPr>
                            <m:t>−</m:t>
                          </m:r>
                          <m:r>
                            <a:rPr lang="en-US" altLang="zh-CN" sz="1800" kern="100">
                              <a:latin typeface="Cambria Math" panose="02040503050406030204" pitchFamily="18" charset="0"/>
                              <a:ea typeface="宋体" panose="02010600030101010101" pitchFamily="2" charset="-122"/>
                            </a:rPr>
                            <m:t>1</m:t>
                          </m:r>
                        </m:sub>
                        <m:sup>
                          <m:r>
                            <a:rPr lang="en-US" altLang="zh-CN" sz="1800" i="1" kern="100">
                              <a:latin typeface="Cambria Math" panose="02040503050406030204" pitchFamily="18" charset="0"/>
                              <a:ea typeface="宋体" panose="02010600030101010101" pitchFamily="2" charset="-122"/>
                            </a:rPr>
                            <m:t>′</m:t>
                          </m:r>
                        </m:sup>
                      </m:sSubSup>
                      <m:r>
                        <a:rPr lang="en-US" altLang="zh-CN" sz="1800" i="1" kern="100">
                          <a:latin typeface="Cambria Math" panose="02040503050406030204" pitchFamily="18" charset="0"/>
                          <a:ea typeface="宋体" panose="02010600030101010101" pitchFamily="2" charset="-122"/>
                        </a:rPr>
                        <m:t>𝜃</m:t>
                      </m:r>
                      <m:r>
                        <a:rPr lang="en-US" altLang="zh-CN" sz="1800" kern="100">
                          <a:latin typeface="Cambria Math" panose="02040503050406030204" pitchFamily="18" charset="0"/>
                          <a:ea typeface="宋体" panose="02010600030101010101" pitchFamily="2" charset="-122"/>
                        </a:rPr>
                        <m:t>+</m:t>
                      </m:r>
                      <m:sSubSup>
                        <m:sSubSupPr>
                          <m:ctrlPr>
                            <a:rPr lang="zh-CN" altLang="zh-CN" sz="1800" i="1" kern="100">
                              <a:latin typeface="Cambria Math" panose="02040503050406030204" pitchFamily="18" charset="0"/>
                              <a:ea typeface="Cambria Math" panose="02040503050406030204" pitchFamily="18" charset="0"/>
                            </a:rPr>
                          </m:ctrlPr>
                        </m:sSubSupPr>
                        <m:e>
                          <m:r>
                            <a:rPr lang="en-US" altLang="zh-CN" sz="1800" i="1" kern="100">
                              <a:latin typeface="Cambria Math" panose="02040503050406030204" pitchFamily="18" charset="0"/>
                              <a:ea typeface="宋体" panose="02010600030101010101" pitchFamily="2" charset="-122"/>
                            </a:rPr>
                            <m:t>𝐷</m:t>
                          </m:r>
                        </m:e>
                        <m:sub>
                          <m:r>
                            <a:rPr lang="en-US" altLang="zh-CN" sz="1800" i="1" kern="100">
                              <a:latin typeface="Cambria Math" panose="02040503050406030204" pitchFamily="18" charset="0"/>
                              <a:ea typeface="宋体" panose="02010600030101010101" pitchFamily="2" charset="-122"/>
                            </a:rPr>
                            <m:t>𝑖𝑡</m:t>
                          </m:r>
                          <m:r>
                            <a:rPr lang="en-US" altLang="zh-CN" sz="1800" i="1" kern="100">
                              <a:latin typeface="Cambria Math" panose="02040503050406030204" pitchFamily="18" charset="0"/>
                              <a:ea typeface="宋体" panose="02010600030101010101" pitchFamily="2" charset="-122"/>
                            </a:rPr>
                            <m:t>−</m:t>
                          </m:r>
                          <m:r>
                            <a:rPr lang="en-US" altLang="zh-CN" sz="1800" kern="100">
                              <a:latin typeface="Cambria Math" panose="02040503050406030204" pitchFamily="18" charset="0"/>
                              <a:ea typeface="宋体" panose="02010600030101010101" pitchFamily="2" charset="-122"/>
                            </a:rPr>
                            <m:t>1</m:t>
                          </m:r>
                        </m:sub>
                        <m:sup>
                          <m:r>
                            <a:rPr lang="en-US" altLang="zh-CN" sz="1800" i="1" kern="100">
                              <a:latin typeface="Cambria Math" panose="02040503050406030204" pitchFamily="18" charset="0"/>
                              <a:ea typeface="宋体" panose="02010600030101010101" pitchFamily="2" charset="-122"/>
                            </a:rPr>
                            <m:t>′</m:t>
                          </m:r>
                        </m:sup>
                      </m:sSubSup>
                      <m:r>
                        <a:rPr lang="en-US" altLang="zh-CN" sz="1800" i="1" kern="100">
                          <a:latin typeface="Cambria Math" panose="02040503050406030204" pitchFamily="18" charset="0"/>
                          <a:ea typeface="宋体" panose="02010600030101010101" pitchFamily="2" charset="-122"/>
                        </a:rPr>
                        <m:t>𝛾</m:t>
                      </m:r>
                      <m:r>
                        <a:rPr lang="en-US" altLang="zh-CN" sz="1800" kern="100">
                          <a:latin typeface="Cambria Math" panose="02040503050406030204" pitchFamily="18" charset="0"/>
                          <a:ea typeface="宋体" panose="02010600030101010101" pitchFamily="2" charset="-122"/>
                        </a:rPr>
                        <m:t>+</m:t>
                      </m:r>
                      <m:sSub>
                        <m:sSubPr>
                          <m:ctrlPr>
                            <a:rPr lang="zh-CN" altLang="zh-CN" sz="1800" i="1" kern="100">
                              <a:latin typeface="Cambria Math" panose="02040503050406030204" pitchFamily="18" charset="0"/>
                              <a:ea typeface="Cambria Math" panose="02040503050406030204" pitchFamily="18" charset="0"/>
                            </a:rPr>
                          </m:ctrlPr>
                        </m:sSubPr>
                        <m:e>
                          <m:r>
                            <a:rPr lang="en-US" altLang="zh-CN" sz="1800" i="1" kern="100">
                              <a:latin typeface="Cambria Math" panose="02040503050406030204" pitchFamily="18" charset="0"/>
                              <a:ea typeface="宋体" panose="02010600030101010101" pitchFamily="2" charset="-122"/>
                            </a:rPr>
                            <m:t>𝜇</m:t>
                          </m:r>
                        </m:e>
                        <m:sub>
                          <m:r>
                            <a:rPr lang="en-US" altLang="zh-CN" sz="1800" i="1" kern="100">
                              <a:latin typeface="Cambria Math" panose="02040503050406030204" pitchFamily="18" charset="0"/>
                              <a:ea typeface="宋体" panose="02010600030101010101" pitchFamily="2" charset="-122"/>
                            </a:rPr>
                            <m:t>𝑖</m:t>
                          </m:r>
                        </m:sub>
                      </m:sSub>
                      <m:r>
                        <a:rPr lang="en-US" altLang="zh-CN" sz="1800" kern="100">
                          <a:latin typeface="Cambria Math" panose="02040503050406030204" pitchFamily="18" charset="0"/>
                          <a:ea typeface="宋体" panose="02010600030101010101" pitchFamily="2" charset="-122"/>
                        </a:rPr>
                        <m:t>+</m:t>
                      </m:r>
                      <m:sSub>
                        <m:sSubPr>
                          <m:ctrlPr>
                            <a:rPr lang="zh-CN" altLang="zh-CN" sz="1800" i="1" kern="100">
                              <a:latin typeface="Cambria Math" panose="02040503050406030204" pitchFamily="18" charset="0"/>
                              <a:ea typeface="Cambria Math" panose="02040503050406030204" pitchFamily="18" charset="0"/>
                            </a:rPr>
                          </m:ctrlPr>
                        </m:sSubPr>
                        <m:e>
                          <m:r>
                            <a:rPr lang="en-US" altLang="zh-CN" sz="1800" i="1" kern="100">
                              <a:latin typeface="Cambria Math" panose="02040503050406030204" pitchFamily="18" charset="0"/>
                              <a:ea typeface="宋体" panose="02010600030101010101" pitchFamily="2" charset="-122"/>
                            </a:rPr>
                            <m:t>𝜖</m:t>
                          </m:r>
                        </m:e>
                        <m:sub>
                          <m:r>
                            <a:rPr lang="en-US" altLang="zh-CN" sz="1800" i="1" kern="100">
                              <a:latin typeface="Cambria Math" panose="02040503050406030204" pitchFamily="18" charset="0"/>
                              <a:ea typeface="宋体" panose="02010600030101010101" pitchFamily="2" charset="-122"/>
                            </a:rPr>
                            <m:t>𝑖𝑡</m:t>
                          </m:r>
                        </m:sub>
                      </m:sSub>
                    </m:oMath>
                  </m:oMathPara>
                </a14:m>
                <a:endParaRPr lang="zh-CN" altLang="zh-CN" sz="1800" kern="100" dirty="0">
                  <a:latin typeface="Times New Roman" panose="02020603050405020304" pitchFamily="18" charset="0"/>
                  <a:ea typeface="Times New Roman" panose="02020603050405020304" pitchFamily="18" charset="0"/>
                </a:endParaRPr>
              </a:p>
              <a:p>
                <a:pPr marL="821884" lvl="1" indent="-342921">
                  <a:lnSpc>
                    <a:spcPts val="2800"/>
                  </a:lnSpc>
                  <a:buFont typeface="Wingdings" panose="05000000000000000000" pitchFamily="2" charset="2"/>
                  <a:buChar char="Ø"/>
                </a:pPr>
                <a14:m>
                  <m:oMath xmlns:m="http://schemas.openxmlformats.org/officeDocument/2006/math">
                    <m:sSub>
                      <m:sSubPr>
                        <m:ctrlPr>
                          <a:rPr lang="zh-CN" altLang="zh-CN" sz="1400" i="1">
                            <a:latin typeface="Cambria Math" panose="02040503050406030204" pitchFamily="18" charset="0"/>
                            <a:ea typeface="等线" panose="02010600030101010101" pitchFamily="2" charset="-122"/>
                          </a:rPr>
                        </m:ctrlPr>
                      </m:sSubPr>
                      <m:e>
                        <m:r>
                          <a:rPr lang="en-US" altLang="zh-CN" sz="1400">
                            <a:latin typeface="Cambria Math" panose="02040503050406030204" pitchFamily="18" charset="0"/>
                            <a:ea typeface="等线" panose="02010600030101010101" pitchFamily="2" charset="-122"/>
                          </a:rPr>
                          <m:t>𝑦</m:t>
                        </m:r>
                      </m:e>
                      <m:sub>
                        <m:r>
                          <a:rPr lang="en-US" altLang="zh-CN" sz="1400">
                            <a:latin typeface="Cambria Math" panose="02040503050406030204" pitchFamily="18" charset="0"/>
                            <a:ea typeface="等线" panose="02010600030101010101" pitchFamily="2" charset="-122"/>
                          </a:rPr>
                          <m:t>𝑖𝑡</m:t>
                        </m:r>
                      </m:sub>
                    </m:sSub>
                  </m:oMath>
                </a14:m>
                <a:r>
                  <a:rPr lang="en-US" altLang="zh-CN" sz="1400" dirty="0">
                    <a:latin typeface="Times New Roman" panose="02020603050405020304" pitchFamily="18" charset="0"/>
                    <a:ea typeface="等线" panose="02010600030101010101" pitchFamily="2" charset="-122"/>
                  </a:rPr>
                  <a:t> : market characteristics - </a:t>
                </a:r>
                <a:r>
                  <a:rPr lang="en-US" altLang="zh-CN" sz="1400" b="1" dirty="0">
                    <a:latin typeface="Times New Roman" panose="02020603050405020304" pitchFamily="18" charset="0"/>
                    <a:ea typeface="等线" panose="02010600030101010101" pitchFamily="2" charset="-122"/>
                  </a:rPr>
                  <a:t>price, volatility and </a:t>
                </a:r>
                <a:r>
                  <a:rPr lang="en-US" altLang="zh-CN" sz="1400" b="1" dirty="0" smtClean="0">
                    <a:latin typeface="Times New Roman" panose="02020603050405020304" pitchFamily="18" charset="0"/>
                    <a:ea typeface="等线" panose="02010600030101010101" pitchFamily="2" charset="-122"/>
                  </a:rPr>
                  <a:t>volume</a:t>
                </a:r>
                <a:r>
                  <a:rPr lang="en-US" altLang="zh-CN" sz="1400" dirty="0">
                    <a:latin typeface="Times New Roman" panose="02020603050405020304" pitchFamily="18" charset="0"/>
                    <a:ea typeface="等线" panose="02010600030101010101" pitchFamily="2" charset="-122"/>
                  </a:rPr>
                  <a:t>. </a:t>
                </a:r>
              </a:p>
              <a:p>
                <a:pPr marL="821884" lvl="1" indent="-342921">
                  <a:lnSpc>
                    <a:spcPts val="2800"/>
                  </a:lnSpc>
                  <a:buFont typeface="Wingdings" panose="05000000000000000000" pitchFamily="2" charset="2"/>
                  <a:buChar char="Ø"/>
                </a:pPr>
                <a14:m>
                  <m:oMath xmlns:m="http://schemas.openxmlformats.org/officeDocument/2006/math">
                    <m:r>
                      <a:rPr lang="en-US" altLang="zh-CN" sz="1400">
                        <a:latin typeface="Cambria Math" panose="02040503050406030204" pitchFamily="18" charset="0"/>
                        <a:ea typeface="等线" panose="02010600030101010101" pitchFamily="2" charset="-122"/>
                      </a:rPr>
                      <m:t>𝛽</m:t>
                    </m:r>
                  </m:oMath>
                </a14:m>
                <a:r>
                  <a:rPr lang="en-US" altLang="zh-CN" sz="1400" dirty="0">
                    <a:latin typeface="Times New Roman" panose="02020603050405020304" pitchFamily="18" charset="0"/>
                    <a:ea typeface="等线" panose="02010600030101010101" pitchFamily="2" charset="-122"/>
                  </a:rPr>
                  <a:t> : core concern</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θ and γ : will help us find some reasons when assumptions are wrong</a:t>
                </a: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Outlier “5.19” crisis?</a:t>
                </a:r>
                <a:endParaRPr lang="en-US" altLang="zh-CN" sz="1800" b="1" dirty="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Our regression will additionally report the results </a:t>
                </a:r>
                <a:r>
                  <a:rPr lang="en-US" altLang="zh-CN" sz="1400" b="1" dirty="0">
                    <a:latin typeface="Times New Roman" panose="02020603050405020304" pitchFamily="18" charset="0"/>
                    <a:ea typeface="等线" panose="02010600030101010101" pitchFamily="2" charset="-122"/>
                  </a:rPr>
                  <a:t>before and after the crisis </a:t>
                </a:r>
                <a:r>
                  <a:rPr lang="en-US" altLang="zh-CN" sz="1400" dirty="0">
                    <a:latin typeface="Times New Roman" panose="02020603050405020304" pitchFamily="18" charset="0"/>
                    <a:ea typeface="等线" panose="02010600030101010101" pitchFamily="2" charset="-122"/>
                  </a:rPr>
                  <a:t>due to obvious breakpoints and different </a:t>
                </a:r>
                <a:r>
                  <a:rPr lang="en-US" altLang="zh-CN" sz="1400" dirty="0" smtClean="0">
                    <a:latin typeface="Times New Roman" panose="02020603050405020304" pitchFamily="18" charset="0"/>
                    <a:ea typeface="等线" panose="02010600030101010101" pitchFamily="2" charset="-122"/>
                  </a:rPr>
                  <a:t>trends mentioned before, also </a:t>
                </a:r>
                <a:r>
                  <a:rPr lang="en-US" altLang="zh-CN" sz="1400" dirty="0">
                    <a:latin typeface="Times New Roman" panose="02020603050405020304" pitchFamily="18" charset="0"/>
                    <a:ea typeface="等线" panose="02010600030101010101" pitchFamily="2" charset="-122"/>
                  </a:rPr>
                  <a:t>use </a:t>
                </a:r>
                <a:r>
                  <a:rPr lang="en-US" altLang="zh-CN" sz="1400" dirty="0" smtClean="0">
                    <a:latin typeface="Times New Roman" panose="02020603050405020304" pitchFamily="18" charset="0"/>
                    <a:ea typeface="等线" panose="02010600030101010101" pitchFamily="2" charset="-122"/>
                  </a:rPr>
                  <a:t>regression </a:t>
                </a:r>
                <a:r>
                  <a:rPr lang="en-US" altLang="zh-CN" sz="1400" dirty="0">
                    <a:latin typeface="Times New Roman" panose="02020603050405020304" pitchFamily="18" charset="0"/>
                    <a:ea typeface="等线" panose="02010600030101010101" pitchFamily="2" charset="-122"/>
                  </a:rPr>
                  <a:t>discontinuity </a:t>
                </a:r>
                <a:r>
                  <a:rPr lang="en-US" altLang="zh-CN" sz="1400" dirty="0" smtClean="0">
                    <a:latin typeface="Times New Roman" panose="02020603050405020304" pitchFamily="18" charset="0"/>
                    <a:ea typeface="等线" panose="02010600030101010101" pitchFamily="2" charset="-122"/>
                  </a:rPr>
                  <a:t>design (</a:t>
                </a:r>
                <a:r>
                  <a:rPr lang="en-US" altLang="zh-CN" sz="1400" b="1" dirty="0" smtClean="0">
                    <a:latin typeface="Times New Roman" panose="02020603050405020304" pitchFamily="18" charset="0"/>
                    <a:ea typeface="等线" panose="02010600030101010101" pitchFamily="2" charset="-122"/>
                  </a:rPr>
                  <a:t>RDD)</a:t>
                </a:r>
                <a:r>
                  <a:rPr lang="en-US" altLang="zh-CN" sz="1400" dirty="0" smtClean="0">
                    <a:latin typeface="Times New Roman" panose="02020603050405020304" pitchFamily="18" charset="0"/>
                    <a:ea typeface="等线" panose="02010600030101010101" pitchFamily="2" charset="-122"/>
                  </a:rPr>
                  <a:t> method for robust check.</a:t>
                </a:r>
                <a:endParaRPr lang="en-US" altLang="zh-CN" sz="1400" dirty="0">
                  <a:latin typeface="Times New Roman" panose="02020603050405020304" pitchFamily="18" charset="0"/>
                  <a:ea typeface="等线" panose="02010600030101010101" pitchFamily="2" charset="-122"/>
                </a:endParaRPr>
              </a:p>
            </p:txBody>
          </p:sp>
        </mc:Choice>
        <mc:Fallback xmlns="">
          <p:sp>
            <p:nvSpPr>
              <p:cNvPr id="24" name="标题 1">
                <a:extLst>
                  <a:ext uri="{FF2B5EF4-FFF2-40B4-BE49-F238E27FC236}">
                    <a16:creationId xmlns:a16="http://schemas.microsoft.com/office/drawing/2014/main" id="{A3C71D49-1CFF-4704-AE93-7F736EAECB98}"/>
                  </a:ext>
                </a:extLst>
              </p:cNvPr>
              <p:cNvSpPr txBox="1">
                <a:spLocks noRot="1" noChangeAspect="1" noMove="1" noResize="1" noEditPoints="1" noAdjustHandles="1" noChangeArrowheads="1" noChangeShapeType="1" noTextEdit="1"/>
              </p:cNvSpPr>
              <p:nvPr/>
            </p:nvSpPr>
            <p:spPr bwMode="auto">
              <a:xfrm>
                <a:off x="287584" y="909514"/>
                <a:ext cx="9368110" cy="1327252"/>
              </a:xfrm>
              <a:prstGeom prst="rect">
                <a:avLst/>
              </a:prstGeom>
              <a:blipFill>
                <a:blip r:embed="rId2"/>
                <a:stretch>
                  <a:fillRect l="-1366" t="-2294" r="-195" b="-325229"/>
                </a:stretch>
              </a:blipFill>
              <a:ln w="9525">
                <a:noFill/>
                <a:miter lim="800000"/>
                <a:headEnd/>
                <a:tailEnd/>
              </a:ln>
            </p:spPr>
            <p:txBody>
              <a:bodyPr/>
              <a:lstStyle/>
              <a:p>
                <a:r>
                  <a:rPr lang="zh-CN" altLang="en-US">
                    <a:noFill/>
                  </a:rPr>
                  <a:t> </a:t>
                </a:r>
              </a:p>
            </p:txBody>
          </p:sp>
        </mc:Fallback>
      </mc:AlternateContent>
      <p:sp>
        <p:nvSpPr>
          <p:cNvPr id="10" name="标题 1"/>
          <p:cNvSpPr txBox="1">
            <a:spLocks/>
          </p:cNvSpPr>
          <p:nvPr/>
        </p:nvSpPr>
        <p:spPr bwMode="auto">
          <a:xfrm>
            <a:off x="287584" y="409715"/>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Ⅳ. </a:t>
            </a:r>
            <a:r>
              <a:rPr lang="en-US" altLang="zh-CN" sz="2400" dirty="0" smtClean="0">
                <a:solidFill>
                  <a:schemeClr val="bg1"/>
                </a:solidFill>
              </a:rPr>
              <a:t>Regression Models</a:t>
            </a:r>
            <a:endParaRPr lang="en-US" sz="2400" dirty="0">
              <a:solidFill>
                <a:schemeClr val="bg1"/>
              </a:solidFill>
            </a:endParaRPr>
          </a:p>
        </p:txBody>
      </p:sp>
    </p:spTree>
    <p:extLst>
      <p:ext uri="{BB962C8B-B14F-4D97-AF65-F5344CB8AC3E}">
        <p14:creationId xmlns:p14="http://schemas.microsoft.com/office/powerpoint/2010/main" val="4147361338"/>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451705" y="1053530"/>
            <a:ext cx="9277075"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a:lnSpc>
                <a:spcPts val="2800"/>
              </a:lnSpc>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D</a:t>
            </a:r>
            <a:r>
              <a:rPr lang="en-US" altLang="zh-CN" sz="1800" b="1" dirty="0" smtClean="0">
                <a:solidFill>
                  <a:schemeClr val="bg2"/>
                </a:solidFill>
                <a:latin typeface="Times New Roman" panose="02020603050405020304" pitchFamily="18" charset="0"/>
                <a:ea typeface="等线" panose="02010600030101010101" pitchFamily="2" charset="-122"/>
              </a:rPr>
              <a:t>iagram of casual relationship </a:t>
            </a:r>
            <a:r>
              <a:rPr lang="en-US" altLang="zh-CN" sz="1800" b="1" dirty="0" smtClean="0">
                <a:solidFill>
                  <a:schemeClr val="bg2"/>
                </a:solidFill>
                <a:latin typeface="Times New Roman" panose="02020603050405020304" pitchFamily="18" charset="0"/>
                <a:ea typeface="等线" panose="02010600030101010101" pitchFamily="2" charset="-122"/>
              </a:rPr>
              <a:t>in complex system control theory </a:t>
            </a:r>
            <a:r>
              <a:rPr lang="en-US" altLang="zh-CN" sz="1800" b="1" dirty="0" smtClean="0">
                <a:solidFill>
                  <a:schemeClr val="bg2"/>
                </a:solidFill>
                <a:latin typeface="Times New Roman" panose="02020603050405020304" pitchFamily="18" charset="0"/>
                <a:ea typeface="等线" panose="02010600030101010101" pitchFamily="2" charset="-122"/>
              </a:rPr>
              <a:t>(Li, 2010,MIS) </a:t>
            </a: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L</a:t>
            </a:r>
            <a:r>
              <a:rPr lang="en-US" altLang="zh-CN" sz="1400" dirty="0" smtClean="0">
                <a:latin typeface="Times New Roman" panose="02020603050405020304" pitchFamily="18" charset="0"/>
                <a:ea typeface="等线" panose="02010600030101010101" pitchFamily="2" charset="-122"/>
              </a:rPr>
              <a:t>eft is </a:t>
            </a:r>
            <a:r>
              <a:rPr lang="en-US" altLang="zh-CN" sz="1400" dirty="0">
                <a:latin typeface="Times New Roman" panose="02020603050405020304" pitchFamily="18" charset="0"/>
                <a:ea typeface="等线" panose="02010600030101010101" pitchFamily="2" charset="-122"/>
              </a:rPr>
              <a:t>the </a:t>
            </a:r>
            <a:r>
              <a:rPr lang="en-US" altLang="zh-CN" sz="1400" b="1" dirty="0">
                <a:latin typeface="Times New Roman" panose="02020603050405020304" pitchFamily="18" charset="0"/>
                <a:ea typeface="等线" panose="02010600030101010101" pitchFamily="2" charset="-122"/>
              </a:rPr>
              <a:t>source of convenience </a:t>
            </a:r>
            <a:r>
              <a:rPr lang="en-US" altLang="zh-CN" sz="1400" b="1" dirty="0" smtClean="0">
                <a:latin typeface="Times New Roman" panose="02020603050405020304" pitchFamily="18" charset="0"/>
                <a:ea typeface="等线" panose="02010600030101010101" pitchFamily="2" charset="-122"/>
              </a:rPr>
              <a:t>yield </a:t>
            </a:r>
            <a:r>
              <a:rPr lang="en-US" altLang="zh-CN" sz="1400" dirty="0" smtClean="0">
                <a:latin typeface="Times New Roman" panose="02020603050405020304" pitchFamily="18" charset="0"/>
                <a:ea typeface="等线" panose="02010600030101010101" pitchFamily="2" charset="-122"/>
              </a:rPr>
              <a:t>from industry research</a:t>
            </a:r>
            <a:r>
              <a:rPr lang="en-US" altLang="zh-CN" sz="1400" b="1" dirty="0" smtClean="0">
                <a:latin typeface="Times New Roman" panose="02020603050405020304" pitchFamily="18" charset="0"/>
                <a:ea typeface="等线" panose="02010600030101010101" pitchFamily="2" charset="-122"/>
              </a:rPr>
              <a:t>.           </a:t>
            </a:r>
            <a:endParaRPr lang="en-US" altLang="zh-CN" sz="1400" b="1"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Right represents how</a:t>
            </a:r>
            <a:r>
              <a:rPr lang="en-US" altLang="zh-CN" sz="1400" b="1" dirty="0" smtClean="0">
                <a:latin typeface="Times New Roman" panose="02020603050405020304" pitchFamily="18" charset="0"/>
                <a:ea typeface="等线" panose="02010600030101010101" pitchFamily="2" charset="-122"/>
              </a:rPr>
              <a:t> </a:t>
            </a:r>
            <a:r>
              <a:rPr lang="en-US" altLang="zh-CN" sz="1400" b="1" dirty="0">
                <a:latin typeface="Times New Roman" panose="02020603050405020304" pitchFamily="18" charset="0"/>
                <a:ea typeface="等线" panose="02010600030101010101" pitchFamily="2" charset="-122"/>
              </a:rPr>
              <a:t>traders' expectations </a:t>
            </a:r>
            <a:r>
              <a:rPr lang="en-US" altLang="zh-CN" sz="1400" dirty="0">
                <a:latin typeface="Times New Roman" panose="02020603050405020304" pitchFamily="18" charset="0"/>
                <a:ea typeface="等线" panose="02010600030101010101" pitchFamily="2" charset="-122"/>
              </a:rPr>
              <a:t>of convenience yield </a:t>
            </a:r>
            <a:r>
              <a:rPr lang="en-US" altLang="zh-CN" sz="1400" dirty="0" smtClean="0">
                <a:latin typeface="Times New Roman" panose="02020603050405020304" pitchFamily="18" charset="0"/>
                <a:ea typeface="等线" panose="02010600030101010101" pitchFamily="2" charset="-122"/>
              </a:rPr>
              <a:t>affect </a:t>
            </a:r>
            <a:r>
              <a:rPr lang="en-US" altLang="zh-CN" sz="1400" dirty="0">
                <a:latin typeface="Times New Roman" panose="02020603050405020304" pitchFamily="18" charset="0"/>
                <a:ea typeface="等线" panose="02010600030101010101" pitchFamily="2" charset="-122"/>
              </a:rPr>
              <a:t>the market</a:t>
            </a:r>
            <a:r>
              <a:rPr lang="en-US" altLang="zh-CN" sz="1400" dirty="0" smtClean="0">
                <a:latin typeface="Times New Roman" panose="02020603050405020304" pitchFamily="18" charset="0"/>
                <a:ea typeface="等线" panose="02010600030101010101" pitchFamily="2" charset="-122"/>
              </a:rPr>
              <a:t>.</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No direct database or even IV variables, very hard to verify that complex network.</a:t>
            </a:r>
            <a:endParaRPr lang="en-US" altLang="zh-CN" sz="1800"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I refer to the graph hypothesis research methodology as commonly used in </a:t>
            </a:r>
            <a:r>
              <a:rPr lang="en-US" altLang="zh-CN" sz="1800" b="1" dirty="0" smtClean="0">
                <a:solidFill>
                  <a:schemeClr val="bg2"/>
                </a:solidFill>
                <a:latin typeface="Times New Roman" panose="02020603050405020304" pitchFamily="18" charset="0"/>
                <a:ea typeface="等线" panose="02010600030101010101" pitchFamily="2" charset="-122"/>
              </a:rPr>
              <a:t>ISOR </a:t>
            </a:r>
            <a:r>
              <a:rPr lang="en-US" altLang="zh-CN" sz="1800" b="1" dirty="0" smtClean="0">
                <a:solidFill>
                  <a:schemeClr val="bg2"/>
                </a:solidFill>
                <a:latin typeface="Times New Roman" panose="02020603050405020304" pitchFamily="18" charset="0"/>
                <a:ea typeface="等线" panose="02010600030101010101" pitchFamily="2" charset="-122"/>
              </a:rPr>
              <a:t>paper</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Assuming that our system is established, according to </a:t>
            </a:r>
            <a:r>
              <a:rPr lang="en-US" altLang="zh-CN" sz="1400" b="1" dirty="0" smtClean="0">
                <a:latin typeface="Times New Roman" panose="02020603050405020304" pitchFamily="18" charset="0"/>
                <a:ea typeface="等线" panose="02010600030101010101" pitchFamily="2" charset="-122"/>
              </a:rPr>
              <a:t>logic deduction</a:t>
            </a:r>
            <a:r>
              <a:rPr lang="en-US" altLang="zh-CN" sz="1400" dirty="0" smtClean="0">
                <a:latin typeface="Times New Roman" panose="02020603050405020304" pitchFamily="18" charset="0"/>
                <a:ea typeface="等线" panose="02010600030101010101" pitchFamily="2" charset="-122"/>
              </a:rPr>
              <a:t>, we will have many </a:t>
            </a:r>
            <a:r>
              <a:rPr lang="en-US" altLang="zh-CN" sz="1400" b="1" dirty="0" smtClean="0">
                <a:latin typeface="Times New Roman" panose="02020603050405020304" pitchFamily="18" charset="0"/>
                <a:ea typeface="等线" panose="02010600030101010101" pitchFamily="2" charset="-122"/>
              </a:rPr>
              <a:t>subsequent results </a:t>
            </a:r>
            <a:r>
              <a:rPr lang="en-US" altLang="zh-CN" sz="1400" dirty="0" smtClean="0">
                <a:latin typeface="Times New Roman" panose="02020603050405020304" pitchFamily="18" charset="0"/>
                <a:ea typeface="等线" panose="02010600030101010101" pitchFamily="2" charset="-122"/>
              </a:rPr>
              <a:t>and information that can be observed, in econometrics.</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Try my best to create some link between what I have and what I want.</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If all our evidence </a:t>
            </a:r>
            <a:r>
              <a:rPr lang="en-US" altLang="zh-CN" sz="1400" dirty="0" smtClean="0">
                <a:latin typeface="Times New Roman" panose="02020603050405020304" pitchFamily="18" charset="0"/>
                <a:ea typeface="等线" panose="02010600030101010101" pitchFamily="2" charset="-122"/>
              </a:rPr>
              <a:t>support the assumption, </a:t>
            </a:r>
            <a:r>
              <a:rPr lang="en-US" altLang="zh-CN" sz="1400" dirty="0">
                <a:latin typeface="Times New Roman" panose="02020603050405020304" pitchFamily="18" charset="0"/>
                <a:ea typeface="等线" panose="02010600030101010101" pitchFamily="2" charset="-122"/>
              </a:rPr>
              <a:t>it means that we can only believe the original model to a large extent.</a:t>
            </a:r>
            <a:endParaRPr lang="en-US" altLang="zh-CN" sz="1400" dirty="0" smtClean="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200" dirty="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400" dirty="0" smtClean="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400" dirty="0">
              <a:latin typeface="Times New Roman" panose="02020603050405020304" pitchFamily="18" charset="0"/>
              <a:ea typeface="等线" panose="02010600030101010101" pitchFamily="2" charset="-122"/>
            </a:endParaRPr>
          </a:p>
          <a:p>
            <a:pPr>
              <a:lnSpc>
                <a:spcPts val="2800"/>
              </a:lnSpc>
            </a:pPr>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IV. Hypothesis of transmission mechanism we want to verify</a:t>
            </a:r>
            <a:r>
              <a:rPr lang="zh-CN" altLang="en-US" sz="2400" dirty="0" smtClean="0">
                <a:solidFill>
                  <a:schemeClr val="bg1"/>
                </a:solidFill>
              </a:rPr>
              <a:t>：</a:t>
            </a:r>
            <a:endParaRPr lang="en-US" sz="2400" dirty="0">
              <a:solidFill>
                <a:schemeClr val="bg1"/>
              </a:solidFill>
            </a:endParaRPr>
          </a:p>
        </p:txBody>
      </p:sp>
      <p:pic>
        <p:nvPicPr>
          <p:cNvPr id="4" name="图片 3" descr="反身性理论"/>
          <p:cNvPicPr/>
          <p:nvPr/>
        </p:nvPicPr>
        <p:blipFill>
          <a:blip r:embed="rId2">
            <a:extLst>
              <a:ext uri="{28A0092B-C50C-407E-A947-70E740481C1C}">
                <a14:useLocalDpi xmlns:a14="http://schemas.microsoft.com/office/drawing/2010/main" val="0"/>
              </a:ext>
            </a:extLst>
          </a:blip>
          <a:srcRect/>
          <a:stretch>
            <a:fillRect/>
          </a:stretch>
        </p:blipFill>
        <p:spPr bwMode="auto">
          <a:xfrm>
            <a:off x="1423814" y="1053531"/>
            <a:ext cx="6493270" cy="2052228"/>
          </a:xfrm>
          <a:prstGeom prst="rect">
            <a:avLst/>
          </a:prstGeom>
          <a:noFill/>
          <a:ln>
            <a:noFill/>
          </a:ln>
        </p:spPr>
      </p:pic>
      <p:cxnSp>
        <p:nvCxnSpPr>
          <p:cNvPr id="3" name="直接连接符 2"/>
          <p:cNvCxnSpPr/>
          <p:nvPr/>
        </p:nvCxnSpPr>
        <p:spPr>
          <a:xfrm>
            <a:off x="5272030" y="890747"/>
            <a:ext cx="0" cy="2034991"/>
          </a:xfrm>
          <a:prstGeom prst="line">
            <a:avLst/>
          </a:prstGeom>
          <a:ln w="38100">
            <a:solidFill>
              <a:srgbClr val="FF0000"/>
            </a:solidFill>
            <a:prstDash val="sysDash"/>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75637891"/>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43694" y="814769"/>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Which factors influence </a:t>
            </a:r>
            <a:r>
              <a:rPr lang="en-US" altLang="zh-CN" sz="1800" b="1" dirty="0">
                <a:solidFill>
                  <a:schemeClr val="bg2"/>
                </a:solidFill>
                <a:latin typeface="Times New Roman" panose="02020603050405020304" pitchFamily="18" charset="0"/>
                <a:ea typeface="等线" panose="02010600030101010101" pitchFamily="2" charset="-122"/>
              </a:rPr>
              <a:t>convenience </a:t>
            </a:r>
            <a:r>
              <a:rPr lang="en-US" altLang="zh-CN" sz="1800" b="1" dirty="0" smtClean="0">
                <a:solidFill>
                  <a:schemeClr val="bg2"/>
                </a:solidFill>
                <a:latin typeface="Times New Roman" panose="02020603050405020304" pitchFamily="18" charset="0"/>
                <a:ea typeface="等线" panose="02010600030101010101" pitchFamily="2" charset="-122"/>
              </a:rPr>
              <a:t>yield?  A series of Hypothesis</a:t>
            </a:r>
            <a:endParaRPr lang="en-US" altLang="zh-CN" sz="1800" dirty="0">
              <a:solidFill>
                <a:schemeClr val="bg2"/>
              </a:solidFill>
              <a:latin typeface="Times New Roman" panose="02020603050405020304" pitchFamily="18" charset="0"/>
              <a:ea typeface="等线" panose="02010600030101010101" pitchFamily="2" charset="-122"/>
            </a:endParaRPr>
          </a:p>
          <a:p>
            <a:pPr marL="285750" indent="-285750">
              <a:lnSpc>
                <a:spcPts val="2800"/>
              </a:lnSpc>
              <a:buFont typeface="Wingdings" panose="05000000000000000000" pitchFamily="2" charset="2"/>
              <a:buChar char="Ø"/>
            </a:pPr>
            <a:r>
              <a:rPr lang="en-US" altLang="zh-CN" sz="1400" b="1" dirty="0" smtClean="0">
                <a:latin typeface="Times New Roman" panose="02020603050405020304" pitchFamily="18" charset="0"/>
                <a:ea typeface="等线" panose="02010600030101010101" pitchFamily="2" charset="-122"/>
              </a:rPr>
              <a:t>Market quotation conditions Influence</a:t>
            </a:r>
          </a:p>
          <a:p>
            <a:pPr lvl="1">
              <a:lnSpc>
                <a:spcPts val="2800"/>
              </a:lnSpc>
            </a:pPr>
            <a:r>
              <a:rPr lang="en-US" altLang="zh-CN" sz="1200" dirty="0" smtClean="0">
                <a:latin typeface="Times New Roman" panose="02020603050405020304" pitchFamily="18" charset="0"/>
                <a:ea typeface="等线" panose="02010600030101010101" pitchFamily="2" charset="-122"/>
              </a:rPr>
              <a:t>For </a:t>
            </a:r>
            <a:r>
              <a:rPr lang="en-US" altLang="zh-CN" sz="1200" b="1" dirty="0" smtClean="0">
                <a:latin typeface="Times New Roman" panose="02020603050405020304" pitchFamily="18" charset="0"/>
                <a:ea typeface="等线" panose="02010600030101010101" pitchFamily="2" charset="-122"/>
              </a:rPr>
              <a:t>market making</a:t>
            </a:r>
            <a:r>
              <a:rPr lang="en-US" altLang="zh-CN" sz="1200" dirty="0" smtClean="0">
                <a:latin typeface="Times New Roman" panose="02020603050405020304" pitchFamily="18" charset="0"/>
                <a:ea typeface="等线" panose="02010600030101010101" pitchFamily="2" charset="-122"/>
              </a:rPr>
              <a:t>, volume</a:t>
            </a:r>
            <a:r>
              <a:rPr lang="en-US" altLang="zh-CN" sz="1200" dirty="0" smtClean="0">
                <a:latin typeface="Times New Roman" panose="02020603050405020304" pitchFamily="18" charset="0"/>
                <a:ea typeface="等线" panose="02010600030101010101" pitchFamily="2" charset="-122"/>
              </a:rPr>
              <a:t>, turnover </a:t>
            </a:r>
            <a:r>
              <a:rPr lang="en-US" altLang="zh-CN" sz="1200" dirty="0" smtClean="0">
                <a:latin typeface="Times New Roman" panose="02020603050405020304" pitchFamily="18" charset="0"/>
                <a:ea typeface="等线" panose="02010600030101010101" pitchFamily="2" charset="-122"/>
              </a:rPr>
              <a:t>will increase the benefits and open interest will reduce the risk, hence </a:t>
            </a:r>
            <a:r>
              <a:rPr lang="zh-CN" altLang="en-US" sz="1200" dirty="0" smtClean="0">
                <a:latin typeface="Times New Roman" panose="02020603050405020304" pitchFamily="18" charset="0"/>
                <a:ea typeface="等线" panose="02010600030101010101" pitchFamily="2" charset="-122"/>
              </a:rPr>
              <a:t>∝</a:t>
            </a:r>
            <a:r>
              <a:rPr lang="en-US" altLang="zh-CN" sz="1200" dirty="0" smtClean="0">
                <a:latin typeface="Times New Roman" panose="02020603050405020304" pitchFamily="18" charset="0"/>
                <a:ea typeface="等线" panose="02010600030101010101" pitchFamily="2" charset="-122"/>
              </a:rPr>
              <a:t> convenience yield</a:t>
            </a:r>
          </a:p>
          <a:p>
            <a:pPr lvl="1">
              <a:lnSpc>
                <a:spcPts val="2800"/>
              </a:lnSpc>
            </a:pPr>
            <a:r>
              <a:rPr lang="en-US" altLang="zh-CN" sz="1200" dirty="0" smtClean="0">
                <a:latin typeface="Times New Roman" panose="02020603050405020304" pitchFamily="18" charset="0"/>
                <a:ea typeface="等线" panose="02010600030101010101" pitchFamily="2" charset="-122"/>
              </a:rPr>
              <a:t>Volatility will </a:t>
            </a:r>
            <a:r>
              <a:rPr lang="en-US" altLang="zh-CN" sz="1200" dirty="0">
                <a:latin typeface="Times New Roman" panose="02020603050405020304" pitchFamily="18" charset="0"/>
                <a:ea typeface="等线" panose="02010600030101010101" pitchFamily="2" charset="-122"/>
              </a:rPr>
              <a:t>increase </a:t>
            </a:r>
            <a:r>
              <a:rPr lang="en-US" altLang="zh-CN" sz="1200" b="1" i="1" dirty="0">
                <a:latin typeface="Times New Roman" panose="02020603050405020304" pitchFamily="18" charset="0"/>
                <a:ea typeface="等线" panose="02010600030101010101" pitchFamily="2" charset="-122"/>
              </a:rPr>
              <a:t>the cost of market making</a:t>
            </a:r>
            <a:r>
              <a:rPr lang="en-US" altLang="zh-CN" sz="1200" dirty="0">
                <a:latin typeface="Times New Roman" panose="02020603050405020304" pitchFamily="18" charset="0"/>
                <a:ea typeface="等线" panose="02010600030101010101" pitchFamily="2" charset="-122"/>
              </a:rPr>
              <a:t>, hence </a:t>
            </a:r>
            <a:r>
              <a:rPr lang="zh-CN" altLang="en-US" sz="1200" dirty="0">
                <a:latin typeface="Times New Roman" panose="02020603050405020304" pitchFamily="18" charset="0"/>
                <a:ea typeface="等线" panose="02010600030101010101" pitchFamily="2" charset="-122"/>
              </a:rPr>
              <a:t>∝</a:t>
            </a:r>
            <a:r>
              <a:rPr lang="en-US" altLang="zh-CN" sz="1200" dirty="0">
                <a:latin typeface="Times New Roman" panose="02020603050405020304" pitchFamily="18" charset="0"/>
                <a:ea typeface="等线" panose="02010600030101010101" pitchFamily="2" charset="-122"/>
              </a:rPr>
              <a:t> - convenience </a:t>
            </a:r>
            <a:r>
              <a:rPr lang="en-US" altLang="zh-CN" sz="1200" dirty="0" smtClean="0">
                <a:latin typeface="Times New Roman" panose="02020603050405020304" pitchFamily="18" charset="0"/>
                <a:ea typeface="等线" panose="02010600030101010101" pitchFamily="2" charset="-122"/>
              </a:rPr>
              <a:t>yield</a:t>
            </a:r>
            <a:endParaRPr lang="en-US" altLang="zh-CN" sz="1200" dirty="0">
              <a:latin typeface="Times New Roman" panose="02020603050405020304" pitchFamily="18" charset="0"/>
              <a:ea typeface="等线" panose="02010600030101010101" pitchFamily="2" charset="-122"/>
            </a:endParaRPr>
          </a:p>
          <a:p>
            <a:pPr marL="285750" indent="-285750">
              <a:lnSpc>
                <a:spcPts val="2800"/>
              </a:lnSpc>
              <a:buFont typeface="Wingdings" panose="05000000000000000000" pitchFamily="2" charset="2"/>
              <a:buChar char="Ø"/>
            </a:pPr>
            <a:r>
              <a:rPr lang="en-US" altLang="zh-CN" sz="1400" b="1" dirty="0" smtClean="0">
                <a:latin typeface="Times New Roman" panose="02020603050405020304" pitchFamily="18" charset="0"/>
                <a:ea typeface="等线" panose="02010600030101010101" pitchFamily="2" charset="-122"/>
              </a:rPr>
              <a:t>Cryptocurrency basic information Influence</a:t>
            </a:r>
          </a:p>
          <a:p>
            <a:pPr lvl="1">
              <a:lnSpc>
                <a:spcPts val="2800"/>
              </a:lnSpc>
            </a:pPr>
            <a:r>
              <a:rPr lang="en-US" altLang="zh-CN" sz="1200" dirty="0" smtClean="0">
                <a:latin typeface="Times New Roman" panose="02020603050405020304" pitchFamily="18" charset="0"/>
                <a:ea typeface="等线" panose="02010600030101010101" pitchFamily="2" charset="-122"/>
              </a:rPr>
              <a:t>top-ranked </a:t>
            </a:r>
            <a:r>
              <a:rPr lang="en-US" altLang="zh-CN" sz="1200" dirty="0">
                <a:latin typeface="Times New Roman" panose="02020603050405020304" pitchFamily="18" charset="0"/>
                <a:ea typeface="等线" panose="02010600030101010101" pitchFamily="2" charset="-122"/>
              </a:rPr>
              <a:t>mainstream currencies </a:t>
            </a:r>
            <a:r>
              <a:rPr lang="en-US" altLang="zh-CN" sz="1200" b="1" i="1" dirty="0" smtClean="0">
                <a:latin typeface="Times New Roman" panose="02020603050405020304" pitchFamily="18" charset="0"/>
                <a:ea typeface="等线" panose="02010600030101010101" pitchFamily="2" charset="-122"/>
              </a:rPr>
              <a:t>more mining and investment value </a:t>
            </a:r>
            <a:r>
              <a:rPr lang="zh-CN" altLang="en-US" sz="1200" dirty="0"/>
              <a:t>∝</a:t>
            </a:r>
            <a:r>
              <a:rPr lang="en-US" altLang="zh-CN" sz="1200" dirty="0">
                <a:latin typeface="Times New Roman" panose="02020603050405020304" pitchFamily="18" charset="0"/>
                <a:ea typeface="等线" panose="02010600030101010101" pitchFamily="2" charset="-122"/>
              </a:rPr>
              <a:t> convenience yield</a:t>
            </a:r>
            <a:endParaRPr lang="en-US" altLang="zh-CN" sz="1200" dirty="0" smtClean="0">
              <a:latin typeface="Times New Roman" panose="02020603050405020304" pitchFamily="18" charset="0"/>
              <a:ea typeface="等线" panose="02010600030101010101" pitchFamily="2" charset="-122"/>
            </a:endParaRPr>
          </a:p>
          <a:p>
            <a:pPr marL="285750" indent="-285750">
              <a:lnSpc>
                <a:spcPts val="2800"/>
              </a:lnSpc>
              <a:buFont typeface="Wingdings" panose="05000000000000000000" pitchFamily="2" charset="2"/>
              <a:buChar char="Ø"/>
            </a:pPr>
            <a:r>
              <a:rPr lang="en-US" altLang="zh-CN" sz="1400" b="1" dirty="0" smtClean="0">
                <a:latin typeface="Times New Roman" panose="02020603050405020304" pitchFamily="18" charset="0"/>
                <a:ea typeface="等线" panose="02010600030101010101" pitchFamily="2" charset="-122"/>
              </a:rPr>
              <a:t>Market hot topic Influence</a:t>
            </a:r>
          </a:p>
          <a:p>
            <a:pPr lvl="1">
              <a:lnSpc>
                <a:spcPts val="2800"/>
              </a:lnSpc>
            </a:pPr>
            <a:r>
              <a:rPr lang="en-US" altLang="zh-CN" sz="1200" dirty="0" smtClean="0">
                <a:latin typeface="Times New Roman" panose="02020603050405020304" pitchFamily="18" charset="0"/>
                <a:ea typeface="等线" panose="02010600030101010101" pitchFamily="2" charset="-122"/>
              </a:rPr>
              <a:t>Higher market popularity will increase </a:t>
            </a:r>
            <a:r>
              <a:rPr lang="en-US" altLang="zh-CN" sz="1200" b="1" i="1" dirty="0" smtClean="0">
                <a:latin typeface="Times New Roman" panose="02020603050405020304" pitchFamily="18" charset="0"/>
                <a:ea typeface="等线" panose="02010600030101010101" pitchFamily="2" charset="-122"/>
              </a:rPr>
              <a:t>the investment and mining income</a:t>
            </a:r>
            <a:r>
              <a:rPr lang="zh-CN" altLang="en-US" sz="1200" b="1" i="1" dirty="0" smtClean="0"/>
              <a:t> </a:t>
            </a:r>
            <a:r>
              <a:rPr lang="zh-CN" altLang="en-US" sz="1200" dirty="0" smtClean="0"/>
              <a:t>∝</a:t>
            </a:r>
            <a:r>
              <a:rPr lang="en-US" altLang="zh-CN" sz="1200" dirty="0" smtClean="0">
                <a:latin typeface="Times New Roman" panose="02020603050405020304" pitchFamily="18" charset="0"/>
                <a:ea typeface="等线" panose="02010600030101010101" pitchFamily="2" charset="-122"/>
              </a:rPr>
              <a:t> convenience yield.</a:t>
            </a:r>
          </a:p>
          <a:p>
            <a:pPr marL="285750" indent="-285750">
              <a:lnSpc>
                <a:spcPts val="2800"/>
              </a:lnSpc>
              <a:buFont typeface="Wingdings" panose="05000000000000000000" pitchFamily="2" charset="2"/>
              <a:buChar char="Ø"/>
            </a:pPr>
            <a:r>
              <a:rPr lang="en-US" altLang="zh-CN" sz="1400" b="1" dirty="0" smtClean="0">
                <a:latin typeface="Times New Roman" panose="02020603050405020304" pitchFamily="18" charset="0"/>
                <a:ea typeface="等线" panose="02010600030101010101" pitchFamily="2" charset="-122"/>
              </a:rPr>
              <a:t>Holder's portrait Influence</a:t>
            </a:r>
          </a:p>
          <a:p>
            <a:pPr lvl="1">
              <a:lnSpc>
                <a:spcPts val="2800"/>
              </a:lnSpc>
            </a:pPr>
            <a:r>
              <a:rPr lang="en-US" altLang="zh-CN" sz="1200" dirty="0" smtClean="0">
                <a:latin typeface="Times New Roman" panose="02020603050405020304" pitchFamily="18" charset="0"/>
                <a:ea typeface="等线" panose="02010600030101010101" pitchFamily="2" charset="-122"/>
              </a:rPr>
              <a:t>More </a:t>
            </a:r>
            <a:r>
              <a:rPr lang="en-US" altLang="zh-CN" sz="1200" dirty="0">
                <a:latin typeface="Times New Roman" panose="02020603050405020304" pitchFamily="18" charset="0"/>
                <a:ea typeface="等线" panose="02010600030101010101" pitchFamily="2" charset="-122"/>
              </a:rPr>
              <a:t>institutional participants is </a:t>
            </a:r>
            <a:r>
              <a:rPr lang="en-US" altLang="zh-CN" sz="1200" b="1" i="1" dirty="0" smtClean="0">
                <a:latin typeface="Times New Roman" panose="02020603050405020304" pitchFamily="18" charset="0"/>
                <a:ea typeface="等线" panose="02010600030101010101" pitchFamily="2" charset="-122"/>
              </a:rPr>
              <a:t>a symbol of capture all good characteristics before</a:t>
            </a:r>
            <a:r>
              <a:rPr lang="en-US" altLang="zh-CN" sz="1200" dirty="0" smtClean="0">
                <a:latin typeface="Times New Roman" panose="02020603050405020304" pitchFamily="18" charset="0"/>
                <a:ea typeface="等线" panose="02010600030101010101" pitchFamily="2" charset="-122"/>
              </a:rPr>
              <a:t>.   </a:t>
            </a:r>
            <a:r>
              <a:rPr lang="zh-CN" altLang="en-US" sz="1200" dirty="0" smtClean="0">
                <a:latin typeface="Times New Roman" panose="02020603050405020304" pitchFamily="18" charset="0"/>
                <a:ea typeface="等线" panose="02010600030101010101" pitchFamily="2" charset="-122"/>
              </a:rPr>
              <a:t>∝ </a:t>
            </a:r>
            <a:r>
              <a:rPr lang="en-US" altLang="zh-CN" sz="1200" dirty="0" smtClean="0">
                <a:latin typeface="Times New Roman" panose="02020603050405020304" pitchFamily="18" charset="0"/>
                <a:ea typeface="等线" panose="02010600030101010101" pitchFamily="2" charset="-122"/>
              </a:rPr>
              <a:t>convenient </a:t>
            </a:r>
            <a:r>
              <a:rPr lang="en-US" altLang="zh-CN" sz="1200" dirty="0">
                <a:latin typeface="Times New Roman" panose="02020603050405020304" pitchFamily="18" charset="0"/>
                <a:ea typeface="等线" panose="02010600030101010101" pitchFamily="2" charset="-122"/>
              </a:rPr>
              <a:t>yield </a:t>
            </a: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Ⅳ. Hypothesis</a:t>
            </a:r>
            <a:endParaRPr lang="en-US" sz="2400" dirty="0">
              <a:solidFill>
                <a:schemeClr val="bg1"/>
              </a:solidFill>
            </a:endParaRPr>
          </a:p>
        </p:txBody>
      </p:sp>
      <p:sp>
        <p:nvSpPr>
          <p:cNvPr id="4" name="标题 1">
            <a:extLst>
              <a:ext uri="{FF2B5EF4-FFF2-40B4-BE49-F238E27FC236}">
                <a16:creationId xmlns:a16="http://schemas.microsoft.com/office/drawing/2014/main" id="{A3C71D49-1CFF-4704-AE93-7F736EAECB98}"/>
              </a:ext>
            </a:extLst>
          </p:cNvPr>
          <p:cNvSpPr txBox="1">
            <a:spLocks/>
          </p:cNvSpPr>
          <p:nvPr/>
        </p:nvSpPr>
        <p:spPr bwMode="auto">
          <a:xfrm>
            <a:off x="275785" y="5157986"/>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How convenience yield affect the market? </a:t>
            </a:r>
            <a:r>
              <a:rPr lang="en-US" altLang="zh-CN" sz="1800" b="1" dirty="0">
                <a:solidFill>
                  <a:schemeClr val="bg2"/>
                </a:solidFill>
                <a:latin typeface="Times New Roman" panose="02020603050405020304" pitchFamily="18" charset="0"/>
                <a:ea typeface="等线" panose="02010600030101010101" pitchFamily="2" charset="-122"/>
              </a:rPr>
              <a:t>	</a:t>
            </a:r>
            <a:r>
              <a:rPr lang="en-US" altLang="zh-CN" sz="1800" b="1" dirty="0" smtClean="0">
                <a:solidFill>
                  <a:schemeClr val="bg2"/>
                </a:solidFill>
                <a:latin typeface="Times New Roman" panose="02020603050405020304" pitchFamily="18" charset="0"/>
                <a:ea typeface="等线" panose="02010600030101010101" pitchFamily="2" charset="-122"/>
              </a:rPr>
              <a:t>	</a:t>
            </a:r>
            <a:r>
              <a:rPr lang="en-US" altLang="zh-CN" sz="1800" b="1" dirty="0" smtClean="0">
                <a:solidFill>
                  <a:srgbClr val="FF00FF"/>
                </a:solidFill>
                <a:latin typeface="Times New Roman" panose="02020603050405020304" pitchFamily="18" charset="0"/>
                <a:ea typeface="等线" panose="02010600030101010101" pitchFamily="2" charset="-122"/>
              </a:rPr>
              <a:t>causal relationship question</a:t>
            </a:r>
            <a:endParaRPr lang="en-US" altLang="zh-CN" sz="1800" dirty="0" smtClean="0">
              <a:solidFill>
                <a:srgbClr val="FF00FF"/>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b="1" dirty="0">
                <a:latin typeface="Times New Roman" panose="02020603050405020304" pitchFamily="18" charset="0"/>
                <a:ea typeface="等线" panose="02010600030101010101" pitchFamily="2" charset="-122"/>
              </a:rPr>
              <a:t>Increase </a:t>
            </a:r>
            <a:r>
              <a:rPr lang="en-US" altLang="zh-CN" sz="1400" b="1" dirty="0" smtClean="0">
                <a:latin typeface="Times New Roman" panose="02020603050405020304" pitchFamily="18" charset="0"/>
                <a:ea typeface="等线" panose="02010600030101010101" pitchFamily="2" charset="-122"/>
              </a:rPr>
              <a:t>Price, volume: </a:t>
            </a:r>
            <a:r>
              <a:rPr lang="en-US" altLang="zh-CN" sz="1400" dirty="0" smtClean="0">
                <a:latin typeface="Times New Roman" panose="02020603050405020304" pitchFamily="18" charset="0"/>
                <a:ea typeface="等线" panose="02010600030101010101" pitchFamily="2" charset="-122"/>
              </a:rPr>
              <a:t>Similar to good news to traditional stock market</a:t>
            </a:r>
          </a:p>
          <a:p>
            <a:pPr marL="821884" lvl="1" indent="-342921">
              <a:lnSpc>
                <a:spcPts val="2800"/>
              </a:lnSpc>
              <a:buFont typeface="Wingdings" panose="05000000000000000000" pitchFamily="2" charset="2"/>
              <a:buChar char="Ø"/>
            </a:pPr>
            <a:r>
              <a:rPr lang="en-US" altLang="zh-CN" sz="1400" b="1" dirty="0" smtClean="0">
                <a:latin typeface="Times New Roman" panose="02020603050405020304" pitchFamily="18" charset="0"/>
                <a:ea typeface="等线" panose="02010600030101010101" pitchFamily="2" charset="-122"/>
              </a:rPr>
              <a:t>Not clear for Volatility: </a:t>
            </a:r>
            <a:r>
              <a:rPr lang="en-US" altLang="zh-CN" sz="1400" i="1" dirty="0" smtClean="0">
                <a:latin typeface="Times New Roman" panose="02020603050405020304" pitchFamily="18" charset="0"/>
                <a:ea typeface="等线" panose="02010600030101010101" pitchFamily="2" charset="-122"/>
              </a:rPr>
              <a:t>Spot </a:t>
            </a:r>
            <a:r>
              <a:rPr lang="en-US" altLang="zh-CN" sz="1400" i="1" dirty="0">
                <a:latin typeface="Times New Roman" panose="02020603050405020304" pitchFamily="18" charset="0"/>
                <a:ea typeface="等线" panose="02010600030101010101" pitchFamily="2" charset="-122"/>
              </a:rPr>
              <a:t>buyers place larger additional orders, increasing volume, offsetting volatility from rising prices - making its impact on market volatility difficult to measure</a:t>
            </a:r>
            <a:endParaRPr lang="en-US" altLang="zh-CN" sz="1600" b="1" i="1" dirty="0" smtClean="0">
              <a:solidFill>
                <a:schemeClr val="bg2"/>
              </a:solidFill>
              <a:latin typeface="Times New Roman" panose="02020603050405020304" pitchFamily="18" charset="0"/>
              <a:ea typeface="等线" panose="02010600030101010101" pitchFamily="2" charset="-122"/>
            </a:endParaRPr>
          </a:p>
          <a:p>
            <a:pPr>
              <a:lnSpc>
                <a:spcPts val="2800"/>
              </a:lnSpc>
            </a:pPr>
            <a:endParaRPr lang="en-US" altLang="zh-CN" sz="1600" b="1" dirty="0">
              <a:solidFill>
                <a:schemeClr val="bg2"/>
              </a:solidFill>
              <a:latin typeface="Times New Roman" panose="02020603050405020304" pitchFamily="18" charset="0"/>
              <a:ea typeface="等线" panose="02010600030101010101" pitchFamily="2" charset="-122"/>
            </a:endParaRPr>
          </a:p>
          <a:p>
            <a:pPr lvl="1"/>
            <a:endParaRPr lang="en-US" altLang="zh-CN" sz="1400" dirty="0" smtClean="0">
              <a:latin typeface="Times New Roman" panose="02020603050405020304" pitchFamily="18" charset="0"/>
              <a:ea typeface="等线" panose="02010600030101010101" pitchFamily="2" charset="-122"/>
            </a:endParaRPr>
          </a:p>
          <a:p>
            <a:pPr lvl="1"/>
            <a:endParaRPr lang="en-US" altLang="zh-CN" sz="1400" dirty="0">
              <a:latin typeface="Times New Roman" panose="02020603050405020304" pitchFamily="18" charset="0"/>
              <a:ea typeface="等线" panose="02010600030101010101" pitchFamily="2" charset="-122"/>
            </a:endParaRPr>
          </a:p>
        </p:txBody>
      </p:sp>
      <p:sp>
        <p:nvSpPr>
          <p:cNvPr id="2" name="矩形 1"/>
          <p:cNvSpPr/>
          <p:nvPr/>
        </p:nvSpPr>
        <p:spPr>
          <a:xfrm>
            <a:off x="273792" y="4293890"/>
            <a:ext cx="8242810" cy="810478"/>
          </a:xfrm>
          <a:prstGeom prst="rect">
            <a:avLst/>
          </a:prstGeom>
        </p:spPr>
        <p:txBody>
          <a:bodyPr wrap="square">
            <a:spAutoFit/>
          </a:bodyPr>
          <a:lstStyle/>
          <a:p>
            <a:pPr marL="285750" indent="-285750">
              <a:lnSpc>
                <a:spcPts val="2800"/>
              </a:lnSpc>
              <a:buFont typeface="Wingdings" panose="05000000000000000000" pitchFamily="2" charset="2"/>
              <a:buChar char="Ø"/>
            </a:pPr>
            <a:r>
              <a:rPr lang="en-US" altLang="zh-CN" sz="1400" b="1" dirty="0">
                <a:latin typeface="Times New Roman" panose="02020603050405020304" pitchFamily="18" charset="0"/>
                <a:ea typeface="等线" panose="02010600030101010101" pitchFamily="2" charset="-122"/>
              </a:rPr>
              <a:t>Time Influence (Control)</a:t>
            </a:r>
          </a:p>
          <a:p>
            <a:pPr lvl="1">
              <a:lnSpc>
                <a:spcPts val="2800"/>
              </a:lnSpc>
            </a:pPr>
            <a:r>
              <a:rPr lang="en-US" altLang="zh-CN" sz="1200" dirty="0" smtClean="0">
                <a:latin typeface="Times New Roman" panose="02020603050405020304" pitchFamily="18" charset="0"/>
                <a:ea typeface="等线" panose="02010600030101010101" pitchFamily="2" charset="-122"/>
              </a:rPr>
              <a:t>Working </a:t>
            </a:r>
            <a:r>
              <a:rPr lang="en-US" altLang="zh-CN" sz="1200" dirty="0">
                <a:latin typeface="Times New Roman" panose="02020603050405020304" pitchFamily="18" charset="0"/>
                <a:ea typeface="等线" panose="02010600030101010101" pitchFamily="2" charset="-122"/>
              </a:rPr>
              <a:t>days (especially </a:t>
            </a:r>
            <a:r>
              <a:rPr lang="en-US" altLang="zh-CN" sz="1200" dirty="0" err="1">
                <a:latin typeface="Times New Roman" panose="02020603050405020304" pitchFamily="18" charset="0"/>
                <a:ea typeface="等线" panose="02010600030101010101" pitchFamily="2" charset="-122"/>
              </a:rPr>
              <a:t>Wednesday&amp;Thursday</a:t>
            </a:r>
            <a:r>
              <a:rPr lang="en-US" altLang="zh-CN" sz="1200" dirty="0">
                <a:latin typeface="Times New Roman" panose="02020603050405020304" pitchFamily="18" charset="0"/>
                <a:ea typeface="等线" panose="02010600030101010101" pitchFamily="2" charset="-122"/>
              </a:rPr>
              <a:t>) and working hours (GMT +8 10:00-16:00</a:t>
            </a:r>
            <a:r>
              <a:rPr lang="en-US" altLang="zh-CN" sz="1200" dirty="0" smtClean="0">
                <a:latin typeface="Times New Roman" panose="02020603050405020304" pitchFamily="18" charset="0"/>
                <a:ea typeface="等线" panose="02010600030101010101" pitchFamily="2" charset="-122"/>
              </a:rPr>
              <a:t>)</a:t>
            </a:r>
            <a:endParaRPr lang="en-US" altLang="zh-CN" sz="1200" dirty="0">
              <a:latin typeface="Times New Roman" panose="02020603050405020304" pitchFamily="18" charset="0"/>
              <a:ea typeface="等线" panose="02010600030101010101" pitchFamily="2" charset="-122"/>
            </a:endParaRPr>
          </a:p>
        </p:txBody>
      </p:sp>
    </p:spTree>
    <p:extLst>
      <p:ext uri="{BB962C8B-B14F-4D97-AF65-F5344CB8AC3E}">
        <p14:creationId xmlns:p14="http://schemas.microsoft.com/office/powerpoint/2010/main" val="1598752175"/>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60671" y="1053530"/>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Core research </a:t>
            </a:r>
            <a:r>
              <a:rPr lang="en-US" altLang="zh-CN" sz="1800" b="1" dirty="0" smtClean="0">
                <a:solidFill>
                  <a:schemeClr val="bg2"/>
                </a:solidFill>
                <a:latin typeface="Times New Roman" panose="02020603050405020304" pitchFamily="18" charset="0"/>
                <a:ea typeface="等线" panose="02010600030101010101" pitchFamily="2" charset="-122"/>
              </a:rPr>
              <a:t>questions </a:t>
            </a:r>
            <a:r>
              <a:rPr lang="en-US" altLang="zh-CN" sz="1800" b="1" dirty="0">
                <a:solidFill>
                  <a:schemeClr val="bg2"/>
                </a:solidFill>
                <a:latin typeface="Times New Roman" panose="02020603050405020304" pitchFamily="18" charset="0"/>
                <a:ea typeface="等线" panose="02010600030101010101" pitchFamily="2" charset="-122"/>
              </a:rPr>
              <a:t>and models of reflexivity:</a:t>
            </a:r>
            <a:endParaRPr lang="en-US" altLang="zh-CN" sz="1800" dirty="0">
              <a:solidFill>
                <a:schemeClr val="bg2"/>
              </a:solidFill>
              <a:latin typeface="Times New Roman" panose="02020603050405020304" pitchFamily="18" charset="0"/>
              <a:ea typeface="等线" panose="02010600030101010101" pitchFamily="2" charset="-122"/>
            </a:endParaRPr>
          </a:p>
          <a:p>
            <a:pPr>
              <a:lnSpc>
                <a:spcPts val="2800"/>
              </a:lnSpc>
            </a:pPr>
            <a:endParaRPr lang="en-US" altLang="zh-CN" sz="1800" dirty="0">
              <a:latin typeface="Times New Roman" panose="02020603050405020304" pitchFamily="18" charset="0"/>
              <a:ea typeface="等线" panose="02010600030101010101" pitchFamily="2" charset="-122"/>
            </a:endParaRPr>
          </a:p>
          <a:p>
            <a:pPr>
              <a:lnSpc>
                <a:spcPts val="2800"/>
              </a:lnSpc>
            </a:pPr>
            <a:endParaRPr lang="en-US" altLang="zh-CN" sz="1800" dirty="0" smtClean="0">
              <a:latin typeface="Times New Roman" panose="02020603050405020304" pitchFamily="18" charset="0"/>
              <a:ea typeface="等线" panose="02010600030101010101" pitchFamily="2" charset="-122"/>
            </a:endParaRPr>
          </a:p>
          <a:p>
            <a:pPr>
              <a:lnSpc>
                <a:spcPts val="2800"/>
              </a:lnSpc>
            </a:pPr>
            <a:endParaRPr lang="en-US" altLang="zh-CN" sz="1800" dirty="0">
              <a:latin typeface="Times New Roman" panose="02020603050405020304" pitchFamily="18" charset="0"/>
              <a:ea typeface="等线" panose="02010600030101010101" pitchFamily="2" charset="-122"/>
            </a:endParaRPr>
          </a:p>
          <a:p>
            <a:pPr>
              <a:lnSpc>
                <a:spcPts val="2800"/>
              </a:lnSpc>
            </a:pPr>
            <a:endParaRPr lang="en-US" altLang="zh-CN" sz="1800" dirty="0" smtClean="0">
              <a:latin typeface="Times New Roman" panose="02020603050405020304" pitchFamily="18" charset="0"/>
              <a:ea typeface="等线" panose="02010600030101010101" pitchFamily="2" charset="-122"/>
            </a:endParaRPr>
          </a:p>
          <a:p>
            <a:pPr>
              <a:lnSpc>
                <a:spcPts val="2800"/>
              </a:lnSpc>
            </a:pPr>
            <a:endParaRPr lang="en-US" altLang="zh-CN" sz="1800" dirty="0">
              <a:latin typeface="Times New Roman" panose="02020603050405020304" pitchFamily="18" charset="0"/>
              <a:ea typeface="等线" panose="02010600030101010101" pitchFamily="2" charset="-122"/>
            </a:endParaRPr>
          </a:p>
          <a:p>
            <a:pPr>
              <a:lnSpc>
                <a:spcPts val="2800"/>
              </a:lnSpc>
            </a:pPr>
            <a:endParaRPr lang="en-US" altLang="zh-CN" sz="1800" dirty="0" smtClean="0">
              <a:latin typeface="Times New Roman" panose="02020603050405020304" pitchFamily="18" charset="0"/>
              <a:ea typeface="等线" panose="02010600030101010101" pitchFamily="2" charset="-122"/>
            </a:endParaRPr>
          </a:p>
          <a:p>
            <a:pPr>
              <a:lnSpc>
                <a:spcPts val="2800"/>
              </a:lnSpc>
            </a:pPr>
            <a:endParaRPr lang="en-US" altLang="zh-CN" sz="1800" dirty="0">
              <a:latin typeface="Times New Roman" panose="02020603050405020304" pitchFamily="18" charset="0"/>
              <a:ea typeface="等线" panose="02010600030101010101" pitchFamily="2" charset="-122"/>
            </a:endParaRPr>
          </a:p>
          <a:p>
            <a:pPr>
              <a:lnSpc>
                <a:spcPts val="2800"/>
              </a:lnSpc>
            </a:pPr>
            <a:endParaRPr lang="en-US" altLang="zh-CN" sz="1800" dirty="0" smtClean="0">
              <a:latin typeface="Times New Roman" panose="02020603050405020304" pitchFamily="18" charset="0"/>
              <a:ea typeface="等线" panose="02010600030101010101" pitchFamily="2" charset="-122"/>
            </a:endParaRPr>
          </a:p>
          <a:p>
            <a:pPr>
              <a:lnSpc>
                <a:spcPts val="2800"/>
              </a:lnSpc>
            </a:pPr>
            <a:endParaRPr lang="en-US" altLang="zh-CN" sz="1800" dirty="0">
              <a:latin typeface="Times New Roman" panose="02020603050405020304" pitchFamily="18" charset="0"/>
              <a:ea typeface="等线" panose="02010600030101010101" pitchFamily="2" charset="-122"/>
            </a:endParaRPr>
          </a:p>
          <a:p>
            <a:pPr>
              <a:lnSpc>
                <a:spcPts val="2800"/>
              </a:lnSpc>
            </a:pPr>
            <a:endParaRPr lang="en-US" altLang="zh-CN" sz="1800" dirty="0" smtClean="0">
              <a:latin typeface="Times New Roman" panose="02020603050405020304" pitchFamily="18" charset="0"/>
              <a:ea typeface="等线" panose="02010600030101010101" pitchFamily="2" charset="-122"/>
            </a:endParaRPr>
          </a:p>
          <a:p>
            <a:pPr>
              <a:lnSpc>
                <a:spcPts val="2800"/>
              </a:lnSpc>
            </a:pPr>
            <a:endParaRPr lang="en-US" altLang="zh-CN" sz="1800" dirty="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Ⅳ. Empirical Framework</a:t>
            </a:r>
            <a:endParaRPr lang="en-US" sz="2400" dirty="0">
              <a:solidFill>
                <a:schemeClr val="bg1"/>
              </a:solidFill>
            </a:endParaRPr>
          </a:p>
        </p:txBody>
      </p:sp>
      <p:graphicFrame>
        <p:nvGraphicFramePr>
          <p:cNvPr id="4" name="表格 3"/>
          <p:cNvGraphicFramePr>
            <a:graphicFrameLocks noGrp="1"/>
          </p:cNvGraphicFramePr>
          <p:nvPr>
            <p:extLst>
              <p:ext uri="{D42A27DB-BD31-4B8C-83A1-F6EECF244321}">
                <p14:modId xmlns:p14="http://schemas.microsoft.com/office/powerpoint/2010/main" val="2690054593"/>
              </p:ext>
            </p:extLst>
          </p:nvPr>
        </p:nvGraphicFramePr>
        <p:xfrm>
          <a:off x="360672" y="1521582"/>
          <a:ext cx="9128040" cy="4437108"/>
        </p:xfrm>
        <a:graphic>
          <a:graphicData uri="http://schemas.openxmlformats.org/drawingml/2006/table">
            <a:tbl>
              <a:tblPr firstRow="1" firstCol="1" bandRow="1"/>
              <a:tblGrid>
                <a:gridCol w="1053236">
                  <a:extLst>
                    <a:ext uri="{9D8B030D-6E8A-4147-A177-3AD203B41FA5}">
                      <a16:colId xmlns:a16="http://schemas.microsoft.com/office/drawing/2014/main" val="2046638092"/>
                    </a:ext>
                  </a:extLst>
                </a:gridCol>
                <a:gridCol w="2145480">
                  <a:extLst>
                    <a:ext uri="{9D8B030D-6E8A-4147-A177-3AD203B41FA5}">
                      <a16:colId xmlns:a16="http://schemas.microsoft.com/office/drawing/2014/main" val="762046678"/>
                    </a:ext>
                  </a:extLst>
                </a:gridCol>
                <a:gridCol w="5929324">
                  <a:extLst>
                    <a:ext uri="{9D8B030D-6E8A-4147-A177-3AD203B41FA5}">
                      <a16:colId xmlns:a16="http://schemas.microsoft.com/office/drawing/2014/main" val="2149868546"/>
                    </a:ext>
                  </a:extLst>
                </a:gridCol>
              </a:tblGrid>
              <a:tr h="248739">
                <a:tc>
                  <a:txBody>
                    <a:bodyPr/>
                    <a:lstStyle/>
                    <a:p>
                      <a:pPr indent="127000" algn="just">
                        <a:lnSpc>
                          <a:spcPts val="2000"/>
                        </a:lnSpc>
                        <a:spcAft>
                          <a:spcPts val="0"/>
                        </a:spcAft>
                      </a:pPr>
                      <a:r>
                        <a:rPr lang="en-US" sz="11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Key problem</a:t>
                      </a:r>
                      <a:endParaRPr lang="zh-CN" sz="11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Common influencing factors</a:t>
                      </a:r>
                      <a:endParaRPr lang="zh-CN" sz="11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Guessing Observable </a:t>
                      </a:r>
                      <a:r>
                        <a:rPr lang="en-US" sz="1100" b="1" kern="100" dirty="0" smtClea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Variables (Has passed through non-Multi-Collinearity treatment)</a:t>
                      </a:r>
                      <a:endParaRPr lang="zh-CN" sz="11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0068491"/>
                  </a:ext>
                </a:extLst>
              </a:tr>
              <a:tr h="248739">
                <a:tc rowSpan="6">
                  <a:txBody>
                    <a:bodyPr/>
                    <a:lstStyle/>
                    <a:p>
                      <a:pPr indent="127000" algn="just">
                        <a:lnSpc>
                          <a:spcPts val="2000"/>
                        </a:lnSpc>
                        <a:spcAft>
                          <a:spcPts val="0"/>
                        </a:spcAft>
                      </a:pPr>
                      <a:r>
                        <a:rPr lang="en-US" sz="12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What affects convenience yield</a:t>
                      </a:r>
                      <a:endParaRPr lang="zh-CN" sz="12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indent="279400" algn="just">
                        <a:lnSpc>
                          <a:spcPts val="2000"/>
                        </a:lnSpc>
                        <a:spcAft>
                          <a:spcPts val="0"/>
                        </a:spcAft>
                      </a:pPr>
                      <a:r>
                        <a:rPr lang="en-US" sz="1100"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zh-CN" sz="1100"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Market influence mechanism</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Spot and futures market volume/number of trades, turnover, volatility, open interest</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1596259"/>
                  </a:ext>
                </a:extLst>
              </a:tr>
              <a:tr h="373108">
                <a:tc vMerge="1">
                  <a:txBody>
                    <a:bodyPr/>
                    <a:lstStyle/>
                    <a:p>
                      <a:endParaRPr lang="zh-CN" altLang="en-US"/>
                    </a:p>
                  </a:txBody>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time-effect mechanism</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Divide the working day of seven days a week, and divide it into three working time periods in one day</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2450807"/>
                  </a:ext>
                </a:extLst>
              </a:tr>
              <a:tr h="497477">
                <a:tc vMerge="1">
                  <a:txBody>
                    <a:bodyPr/>
                    <a:lstStyle/>
                    <a:p>
                      <a:endParaRPr lang="zh-CN" altLang="en-US"/>
                    </a:p>
                  </a:txBody>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Currency Basic Information Influence Mechanism</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Fixed effects of different currencies, correlation with the broader market (BTC), simple statistics and graphs of other basic information</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3229618"/>
                  </a:ext>
                </a:extLst>
              </a:tr>
              <a:tr h="124369">
                <a:tc vMerge="1">
                  <a:txBody>
                    <a:bodyPr/>
                    <a:lstStyle/>
                    <a:p>
                      <a:endParaRPr lang="zh-CN" altLang="en-US"/>
                    </a:p>
                  </a:txBody>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Origin of autoregressive effect</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Time series indicator</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9260581"/>
                  </a:ext>
                </a:extLst>
              </a:tr>
              <a:tr h="248739">
                <a:tc vMerge="1">
                  <a:txBody>
                    <a:bodyPr/>
                    <a:lstStyle/>
                    <a:p>
                      <a:endParaRPr lang="zh-CN" altLang="en-US"/>
                    </a:p>
                  </a:txBody>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Market Heat Influence Mechanism</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Telegram sentiment indicator, total addresses held</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9238856"/>
                  </a:ext>
                </a:extLst>
              </a:tr>
              <a:tr h="486299">
                <a:tc vMerge="1">
                  <a:txBody>
                    <a:bodyPr/>
                    <a:lstStyle/>
                    <a:p>
                      <a:endParaRPr lang="zh-CN" altLang="en-US"/>
                    </a:p>
                  </a:txBody>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Holder Portrait Influence Mechanism</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Data on the number of holders classified according to the length of holding time, the amount of assets, whether they are </a:t>
                      </a:r>
                      <a:r>
                        <a:rPr lang="en-US" sz="1100" kern="100" dirty="0" smtClean="0">
                          <a:effectLst/>
                          <a:latin typeface="Times New Roman" panose="02020603050405020304" pitchFamily="18" charset="0"/>
                          <a:ea typeface="Times New Roman" panose="02020603050405020304" pitchFamily="18" charset="0"/>
                          <a:cs typeface="Times New Roman" panose="02020603050405020304" pitchFamily="18" charset="0"/>
                        </a:rPr>
                        <a:t>Dealer, </a:t>
                      </a: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and the holding concentration index of the currency</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48410060"/>
                  </a:ext>
                </a:extLst>
              </a:tr>
              <a:tr h="497477">
                <a:tc rowSpan="3">
                  <a:txBody>
                    <a:bodyPr/>
                    <a:lstStyle/>
                    <a:p>
                      <a:pPr indent="127000" algn="just">
                        <a:lnSpc>
                          <a:spcPts val="2000"/>
                        </a:lnSpc>
                        <a:spcAft>
                          <a:spcPts val="0"/>
                        </a:spcAft>
                      </a:pPr>
                      <a:r>
                        <a:rPr lang="en-US" sz="12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How convenience yields affect the market</a:t>
                      </a:r>
                      <a:endParaRPr lang="zh-CN" sz="12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indent="279400" algn="just">
                        <a:lnSpc>
                          <a:spcPts val="2000"/>
                        </a:lnSpc>
                        <a:spcAft>
                          <a:spcPts val="0"/>
                        </a:spcAft>
                      </a:pPr>
                      <a:r>
                        <a:rPr lang="en-US" sz="1100"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zh-CN" sz="1100"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Transmission Mechanisms Affecting Prices</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Take the market price of the next period and explore the underlying transmission mechanism by controlling for other variables</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4595472"/>
                  </a:ext>
                </a:extLst>
              </a:tr>
              <a:tr h="497477">
                <a:tc vMerge="1">
                  <a:txBody>
                    <a:bodyPr/>
                    <a:lstStyle/>
                    <a:p>
                      <a:endParaRPr lang="zh-CN" altLang="en-US"/>
                    </a:p>
                  </a:txBody>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Transmission Mechanisms Affecting Transaction Activity</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Take the market volume of the next period and explore the underlying transmission mechanism by controlling for other variables</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9614032"/>
                  </a:ext>
                </a:extLst>
              </a:tr>
              <a:tr h="497477">
                <a:tc vMerge="1">
                  <a:txBody>
                    <a:bodyPr/>
                    <a:lstStyle/>
                    <a:p>
                      <a:endParaRPr lang="zh-CN" altLang="en-US"/>
                    </a:p>
                  </a:txBody>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Transmission Mechanisms Affecting Market Risk</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Take the market volatility of the next period and explore the underlying transmission mechanism by controlling for other variables</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35163208"/>
                  </a:ext>
                </a:extLst>
              </a:tr>
              <a:tr h="497477">
                <a:tc>
                  <a:txBody>
                    <a:bodyPr/>
                    <a:lstStyle/>
                    <a:p>
                      <a:pPr indent="127000" algn="just">
                        <a:lnSpc>
                          <a:spcPts val="2000"/>
                        </a:lnSpc>
                        <a:spcAft>
                          <a:spcPts val="0"/>
                        </a:spcAft>
                      </a:pPr>
                      <a:r>
                        <a:rPr lang="en-US" sz="1200" b="1" kern="100" dirty="0" smtClea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Convenience yield </a:t>
                      </a:r>
                      <a:r>
                        <a:rPr lang="en-US" sz="12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in </a:t>
                      </a:r>
                      <a:r>
                        <a:rPr lang="en-US" sz="1200" b="1" kern="100" dirty="0" smtClean="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crisis</a:t>
                      </a:r>
                      <a:endParaRPr lang="zh-CN" sz="1200" b="1" kern="1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The Crisis Theory of Convenience Yield</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Collect textual information and conduct case studies on market microstructure</a:t>
                      </a:r>
                      <a:endParaRPr lang="zh-CN" sz="11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3580" marR="33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6110285"/>
                  </a:ext>
                </a:extLst>
              </a:tr>
            </a:tbl>
          </a:graphicData>
        </a:graphic>
      </p:graphicFrame>
    </p:spTree>
    <p:extLst>
      <p:ext uri="{BB962C8B-B14F-4D97-AF65-F5344CB8AC3E}">
        <p14:creationId xmlns:p14="http://schemas.microsoft.com/office/powerpoint/2010/main" val="3384803746"/>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79698" y="1035230"/>
            <a:ext cx="4227389" cy="46014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Convenience yield influencers (hourly frequency</a:t>
            </a:r>
            <a:r>
              <a:rPr lang="en-US" altLang="zh-CN" sz="1800" b="1" dirty="0" smtClean="0">
                <a:solidFill>
                  <a:schemeClr val="bg2"/>
                </a:solidFill>
                <a:latin typeface="Times New Roman" panose="02020603050405020304" pitchFamily="18" charset="0"/>
                <a:ea typeface="等线" panose="02010600030101010101" pitchFamily="2" charset="-122"/>
              </a:rPr>
              <a:t>)</a:t>
            </a:r>
          </a:p>
          <a:p>
            <a:pPr>
              <a:lnSpc>
                <a:spcPts val="2800"/>
              </a:lnSpc>
            </a:pPr>
            <a:endParaRPr lang="en-US" altLang="zh-CN" sz="1400" i="1" dirty="0" smtClean="0">
              <a:latin typeface="Times New Roman" panose="02020603050405020304" pitchFamily="18" charset="0"/>
              <a:ea typeface="等线" panose="02010600030101010101" pitchFamily="2" charset="-122"/>
            </a:endParaRPr>
          </a:p>
          <a:p>
            <a:pPr marL="342900" indent="-342900">
              <a:lnSpc>
                <a:spcPts val="2800"/>
              </a:lnSpc>
              <a:buAutoNum type="arabicPeriod"/>
            </a:pPr>
            <a:r>
              <a:rPr lang="en-US" altLang="zh-CN" sz="1400" dirty="0" smtClean="0">
                <a:solidFill>
                  <a:srgbClr val="FF00FF"/>
                </a:solidFill>
                <a:latin typeface="Times New Roman" panose="02020603050405020304" pitchFamily="18" charset="0"/>
                <a:ea typeface="等线" panose="02010600030101010101" pitchFamily="2" charset="-122"/>
              </a:rPr>
              <a:t>Spot </a:t>
            </a:r>
            <a:r>
              <a:rPr lang="en-US" altLang="zh-CN" sz="1400" dirty="0">
                <a:solidFill>
                  <a:srgbClr val="FF00FF"/>
                </a:solidFill>
                <a:latin typeface="Times New Roman" panose="02020603050405020304" pitchFamily="18" charset="0"/>
                <a:ea typeface="等线" panose="02010600030101010101" pitchFamily="2" charset="-122"/>
              </a:rPr>
              <a:t>market and futures market trading volume </a:t>
            </a:r>
            <a:r>
              <a:rPr lang="en-US" altLang="zh-CN" sz="1400" dirty="0" smtClean="0">
                <a:solidFill>
                  <a:srgbClr val="FF00FF"/>
                </a:solidFill>
                <a:latin typeface="Times New Roman" panose="02020603050405020304" pitchFamily="18" charset="0"/>
                <a:ea typeface="等线" panose="02010600030101010101" pitchFamily="2" charset="-122"/>
              </a:rPr>
              <a:t>effect </a:t>
            </a:r>
            <a:r>
              <a:rPr lang="en-US" altLang="zh-CN" sz="1400" dirty="0">
                <a:solidFill>
                  <a:srgbClr val="FF00FF"/>
                </a:solidFill>
                <a:latin typeface="Times New Roman" panose="02020603050405020304" pitchFamily="18" charset="0"/>
                <a:ea typeface="等线" panose="02010600030101010101" pitchFamily="2" charset="-122"/>
              </a:rPr>
              <a:t>changed </a:t>
            </a:r>
            <a:r>
              <a:rPr lang="en-US" altLang="zh-CN" sz="1400" b="1" dirty="0">
                <a:solidFill>
                  <a:srgbClr val="FF00FF"/>
                </a:solidFill>
                <a:latin typeface="Times New Roman" panose="02020603050405020304" pitchFamily="18" charset="0"/>
                <a:ea typeface="等线" panose="02010600030101010101" pitchFamily="2" charset="-122"/>
              </a:rPr>
              <a:t>from positive to negative. </a:t>
            </a:r>
          </a:p>
          <a:p>
            <a:pPr>
              <a:lnSpc>
                <a:spcPts val="2800"/>
              </a:lnSpc>
            </a:pPr>
            <a:r>
              <a:rPr lang="en-US" altLang="zh-CN" sz="1400" i="1" dirty="0" smtClean="0">
                <a:latin typeface="Times New Roman" panose="02020603050405020304" pitchFamily="18" charset="0"/>
                <a:ea typeface="等线" panose="02010600030101010101" pitchFamily="2" charset="-122"/>
              </a:rPr>
              <a:t>Indicates that the market structure changed a lot.</a:t>
            </a:r>
            <a:endParaRPr lang="en-US" altLang="zh-CN" sz="1400" b="1" dirty="0" smtClean="0">
              <a:solidFill>
                <a:srgbClr val="FF00FF"/>
              </a:solidFill>
              <a:latin typeface="Times New Roman" panose="02020603050405020304" pitchFamily="18" charset="0"/>
              <a:ea typeface="等线" panose="02010600030101010101" pitchFamily="2" charset="-122"/>
            </a:endParaRPr>
          </a:p>
          <a:p>
            <a:pPr>
              <a:lnSpc>
                <a:spcPts val="2800"/>
              </a:lnSpc>
            </a:pPr>
            <a:endParaRPr lang="en-US" altLang="zh-CN" sz="1400" dirty="0" smtClean="0">
              <a:latin typeface="Times New Roman" panose="02020603050405020304" pitchFamily="18" charset="0"/>
              <a:ea typeface="等线" panose="02010600030101010101" pitchFamily="2" charset="-122"/>
            </a:endParaRPr>
          </a:p>
          <a:p>
            <a:pPr>
              <a:lnSpc>
                <a:spcPts val="2800"/>
              </a:lnSpc>
            </a:pPr>
            <a:r>
              <a:rPr lang="en-US" altLang="zh-CN" sz="1400" dirty="0" smtClean="0">
                <a:latin typeface="Times New Roman" panose="02020603050405020304" pitchFamily="18" charset="0"/>
                <a:ea typeface="等线" panose="02010600030101010101" pitchFamily="2" charset="-122"/>
              </a:rPr>
              <a:t>2. </a:t>
            </a:r>
            <a:r>
              <a:rPr lang="en-US" altLang="zh-CN" sz="1400" b="1" dirty="0" smtClean="0">
                <a:solidFill>
                  <a:srgbClr val="00B050"/>
                </a:solidFill>
                <a:latin typeface="Times New Roman" panose="02020603050405020304" pitchFamily="18" charset="0"/>
                <a:ea typeface="等线" panose="02010600030101010101" pitchFamily="2" charset="-122"/>
              </a:rPr>
              <a:t>AR1 </a:t>
            </a:r>
            <a:r>
              <a:rPr lang="en-US" altLang="zh-CN" sz="1400" b="1" dirty="0">
                <a:solidFill>
                  <a:srgbClr val="00B050"/>
                </a:solidFill>
                <a:latin typeface="Times New Roman" panose="02020603050405020304" pitchFamily="18" charset="0"/>
                <a:ea typeface="等线" panose="02010600030101010101" pitchFamily="2" charset="-122"/>
              </a:rPr>
              <a:t>accounted for </a:t>
            </a:r>
            <a:r>
              <a:rPr lang="en-US" altLang="zh-CN" sz="1400" b="1" dirty="0" smtClean="0">
                <a:solidFill>
                  <a:srgbClr val="00B050"/>
                </a:solidFill>
                <a:latin typeface="Times New Roman" panose="02020603050405020304" pitchFamily="18" charset="0"/>
                <a:ea typeface="等线" panose="02010600030101010101" pitchFamily="2" charset="-122"/>
              </a:rPr>
              <a:t>nearly all explanatory power</a:t>
            </a:r>
            <a:r>
              <a:rPr lang="en-US" altLang="zh-CN" sz="1400" dirty="0">
                <a:latin typeface="Times New Roman" panose="02020603050405020304" pitchFamily="18" charset="0"/>
                <a:ea typeface="等线" panose="02010600030101010101" pitchFamily="2" charset="-122"/>
              </a:rPr>
              <a:t>. </a:t>
            </a:r>
            <a:endParaRPr lang="en-US" altLang="zh-CN" sz="1400" dirty="0" smtClean="0">
              <a:latin typeface="Times New Roman" panose="02020603050405020304" pitchFamily="18" charset="0"/>
              <a:ea typeface="等线" panose="02010600030101010101" pitchFamily="2" charset="-122"/>
            </a:endParaRPr>
          </a:p>
          <a:p>
            <a:pPr>
              <a:lnSpc>
                <a:spcPts val="2800"/>
              </a:lnSpc>
            </a:pPr>
            <a:r>
              <a:rPr lang="en-US" altLang="zh-CN" sz="1400" i="1" dirty="0" smtClean="0">
                <a:latin typeface="Times New Roman" panose="02020603050405020304" pitchFamily="18" charset="0"/>
                <a:ea typeface="等线" panose="02010600030101010101" pitchFamily="2" charset="-122"/>
              </a:rPr>
              <a:t>most </a:t>
            </a:r>
            <a:r>
              <a:rPr lang="en-US" altLang="zh-CN" sz="1400" i="1" dirty="0">
                <a:latin typeface="Times New Roman" panose="02020603050405020304" pitchFamily="18" charset="0"/>
                <a:ea typeface="等线" panose="02010600030101010101" pitchFamily="2" charset="-122"/>
              </a:rPr>
              <a:t>variables do not have explanatory power, and many of the effects we originally expected were not significant. </a:t>
            </a: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V</a:t>
            </a:r>
            <a:r>
              <a:rPr lang="en-US" altLang="zh-CN" sz="2400" dirty="0">
                <a:solidFill>
                  <a:schemeClr val="bg1"/>
                </a:solidFill>
              </a:rPr>
              <a:t>. </a:t>
            </a:r>
            <a:r>
              <a:rPr lang="en-US" altLang="zh-CN" sz="2400" dirty="0" smtClean="0">
                <a:solidFill>
                  <a:schemeClr val="bg1"/>
                </a:solidFill>
              </a:rPr>
              <a:t>Regression Results</a:t>
            </a:r>
            <a:endParaRPr lang="en-US" sz="2400" dirty="0">
              <a:solidFill>
                <a:schemeClr val="bg1"/>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3014629721"/>
              </p:ext>
            </p:extLst>
          </p:nvPr>
        </p:nvGraphicFramePr>
        <p:xfrm>
          <a:off x="4808188" y="909514"/>
          <a:ext cx="4824015" cy="5551899"/>
        </p:xfrm>
        <a:graphic>
          <a:graphicData uri="http://schemas.openxmlformats.org/drawingml/2006/table">
            <a:tbl>
              <a:tblPr/>
              <a:tblGrid>
                <a:gridCol w="688581">
                  <a:extLst>
                    <a:ext uri="{9D8B030D-6E8A-4147-A177-3AD203B41FA5}">
                      <a16:colId xmlns:a16="http://schemas.microsoft.com/office/drawing/2014/main" val="1082710019"/>
                    </a:ext>
                  </a:extLst>
                </a:gridCol>
                <a:gridCol w="689239">
                  <a:extLst>
                    <a:ext uri="{9D8B030D-6E8A-4147-A177-3AD203B41FA5}">
                      <a16:colId xmlns:a16="http://schemas.microsoft.com/office/drawing/2014/main" val="2182028150"/>
                    </a:ext>
                  </a:extLst>
                </a:gridCol>
                <a:gridCol w="689239">
                  <a:extLst>
                    <a:ext uri="{9D8B030D-6E8A-4147-A177-3AD203B41FA5}">
                      <a16:colId xmlns:a16="http://schemas.microsoft.com/office/drawing/2014/main" val="3776615394"/>
                    </a:ext>
                  </a:extLst>
                </a:gridCol>
                <a:gridCol w="689239">
                  <a:extLst>
                    <a:ext uri="{9D8B030D-6E8A-4147-A177-3AD203B41FA5}">
                      <a16:colId xmlns:a16="http://schemas.microsoft.com/office/drawing/2014/main" val="4026155791"/>
                    </a:ext>
                  </a:extLst>
                </a:gridCol>
                <a:gridCol w="689239">
                  <a:extLst>
                    <a:ext uri="{9D8B030D-6E8A-4147-A177-3AD203B41FA5}">
                      <a16:colId xmlns:a16="http://schemas.microsoft.com/office/drawing/2014/main" val="761286958"/>
                    </a:ext>
                  </a:extLst>
                </a:gridCol>
                <a:gridCol w="689239">
                  <a:extLst>
                    <a:ext uri="{9D8B030D-6E8A-4147-A177-3AD203B41FA5}">
                      <a16:colId xmlns:a16="http://schemas.microsoft.com/office/drawing/2014/main" val="1179683173"/>
                    </a:ext>
                  </a:extLst>
                </a:gridCol>
                <a:gridCol w="689239">
                  <a:extLst>
                    <a:ext uri="{9D8B030D-6E8A-4147-A177-3AD203B41FA5}">
                      <a16:colId xmlns:a16="http://schemas.microsoft.com/office/drawing/2014/main" val="3738397974"/>
                    </a:ext>
                  </a:extLst>
                </a:gridCol>
              </a:tblGrid>
              <a:tr h="128627">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　</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w="12700" cap="flat" cmpd="sng" algn="ctr">
                      <a:solidFill>
                        <a:srgbClr val="000000"/>
                      </a:solidFill>
                      <a:prstDash val="solid"/>
                      <a:round/>
                      <a:headEnd type="none" w="med" len="med"/>
                      <a:tailEnd type="none" w="med" len="med"/>
                    </a:lnT>
                    <a:lnB>
                      <a:noFill/>
                    </a:lnB>
                  </a:tcPr>
                </a:tc>
                <a:tc gridSpan="2">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All time period</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w="12700" cap="flat" cmpd="sng" algn="ctr">
                      <a:solidFill>
                        <a:srgbClr val="000000"/>
                      </a:solidFill>
                      <a:prstDash val="solid"/>
                      <a:round/>
                      <a:headEnd type="none" w="med" len="med"/>
                      <a:tailEnd type="none" w="med" len="med"/>
                    </a:lnT>
                    <a:lnB>
                      <a:noFill/>
                    </a:lnB>
                    <a:solidFill>
                      <a:srgbClr val="FFFF00"/>
                    </a:solidFill>
                  </a:tcPr>
                </a:tc>
                <a:tc hMerge="1">
                  <a:txBody>
                    <a:bodyPr/>
                    <a:lstStyle/>
                    <a:p>
                      <a:endParaRPr lang="zh-CN" altLang="en-US"/>
                    </a:p>
                  </a:txBody>
                  <a:tcPr/>
                </a:tc>
                <a:tc gridSpan="2">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Before”5.19”</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w="12700" cap="flat" cmpd="sng" algn="ctr">
                      <a:solidFill>
                        <a:srgbClr val="000000"/>
                      </a:solidFill>
                      <a:prstDash val="solid"/>
                      <a:round/>
                      <a:headEnd type="none" w="med" len="med"/>
                      <a:tailEnd type="none" w="med" len="med"/>
                    </a:lnT>
                    <a:lnB>
                      <a:noFill/>
                    </a:lnB>
                    <a:solidFill>
                      <a:srgbClr val="FFFF00"/>
                    </a:solidFill>
                  </a:tcPr>
                </a:tc>
                <a:tc hMerge="1">
                  <a:txBody>
                    <a:bodyPr/>
                    <a:lstStyle/>
                    <a:p>
                      <a:endParaRPr lang="zh-CN" altLang="en-US"/>
                    </a:p>
                  </a:txBody>
                  <a:tcPr/>
                </a:tc>
                <a:tc gridSpan="2">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After”5.19”</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w="12700" cap="flat" cmpd="sng" algn="ctr">
                      <a:solidFill>
                        <a:srgbClr val="000000"/>
                      </a:solidFill>
                      <a:prstDash val="solid"/>
                      <a:round/>
                      <a:headEnd type="none" w="med" len="med"/>
                      <a:tailEnd type="none" w="med" len="med"/>
                    </a:lnT>
                    <a:lnB>
                      <a:noFill/>
                    </a:lnB>
                    <a:solidFill>
                      <a:srgbClr val="FFFF00"/>
                    </a:solidFill>
                  </a:tcPr>
                </a:tc>
                <a:tc hMerge="1">
                  <a:txBody>
                    <a:bodyPr/>
                    <a:lstStyle/>
                    <a:p>
                      <a:endParaRPr lang="zh-CN" altLang="en-US"/>
                    </a:p>
                  </a:txBody>
                  <a:tcPr/>
                </a:tc>
                <a:extLst>
                  <a:ext uri="{0D108BD9-81ED-4DB2-BD59-A6C34878D82A}">
                    <a16:rowId xmlns:a16="http://schemas.microsoft.com/office/drawing/2014/main" val="3359992672"/>
                  </a:ext>
                </a:extLst>
              </a:tr>
              <a:tr h="134220">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　</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All X</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w="12700" cap="flat" cmpd="sng" algn="ctr">
                      <a:solidFill>
                        <a:srgbClr val="000000"/>
                      </a:solidFill>
                      <a:prstDash val="solid"/>
                      <a:round/>
                      <a:headEnd type="none" w="med" len="med"/>
                      <a:tailEnd type="none" w="med" len="med"/>
                    </a:lnB>
                    <a:solidFill>
                      <a:srgbClr val="FFFF00"/>
                    </a:solidFill>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AR(1)</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w="12700" cap="flat" cmpd="sng" algn="ctr">
                      <a:solidFill>
                        <a:srgbClr val="000000"/>
                      </a:solidFill>
                      <a:prstDash val="solid"/>
                      <a:round/>
                      <a:headEnd type="none" w="med" len="med"/>
                      <a:tailEnd type="none" w="med" len="med"/>
                    </a:lnB>
                    <a:solidFill>
                      <a:srgbClr val="FFFF00"/>
                    </a:solidFill>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All X</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w="12700" cap="flat" cmpd="sng" algn="ctr">
                      <a:solidFill>
                        <a:srgbClr val="000000"/>
                      </a:solidFill>
                      <a:prstDash val="solid"/>
                      <a:round/>
                      <a:headEnd type="none" w="med" len="med"/>
                      <a:tailEnd type="none" w="med" len="med"/>
                    </a:lnB>
                    <a:solidFill>
                      <a:srgbClr val="FFFF00"/>
                    </a:solidFill>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AR(1)</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w="12700" cap="flat" cmpd="sng" algn="ctr">
                      <a:solidFill>
                        <a:srgbClr val="000000"/>
                      </a:solidFill>
                      <a:prstDash val="solid"/>
                      <a:round/>
                      <a:headEnd type="none" w="med" len="med"/>
                      <a:tailEnd type="none" w="med" len="med"/>
                    </a:lnB>
                    <a:solidFill>
                      <a:srgbClr val="FFFF00"/>
                    </a:solidFill>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All X</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w="12700" cap="flat" cmpd="sng" algn="ctr">
                      <a:solidFill>
                        <a:srgbClr val="000000"/>
                      </a:solidFill>
                      <a:prstDash val="solid"/>
                      <a:round/>
                      <a:headEnd type="none" w="med" len="med"/>
                      <a:tailEnd type="none" w="med" len="med"/>
                    </a:lnB>
                    <a:solidFill>
                      <a:srgbClr val="FFFF00"/>
                    </a:solidFill>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AR(1)</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923498042"/>
                  </a:ext>
                </a:extLst>
              </a:tr>
              <a:tr h="128627">
                <a:tc rowSpan="3">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Convenience yield lag1</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0.8096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0.8106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0.8037</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0.8055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0.8046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0.8073</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456718237"/>
                  </a:ext>
                </a:extLst>
              </a:tr>
              <a:tr h="128627">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-0.001</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0.001)</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0.002)</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0.002)</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0.001)</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0.001)</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extLst>
                  <a:ext uri="{0D108BD9-81ED-4DB2-BD59-A6C34878D82A}">
                    <a16:rowId xmlns:a16="http://schemas.microsoft.com/office/drawing/2014/main" val="3314508382"/>
                  </a:ext>
                </a:extLst>
              </a:tr>
              <a:tr h="145406">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extLst>
                  <a:ext uri="{0D108BD9-81ED-4DB2-BD59-A6C34878D82A}">
                    <a16:rowId xmlns:a16="http://schemas.microsoft.com/office/drawing/2014/main" val="3887714391"/>
                  </a:ext>
                </a:extLst>
              </a:tr>
              <a:tr h="128627">
                <a:tc rowSpan="3">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Volume spot</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solidFill>
                      <a:srgbClr val="FF00FF"/>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-9.00E-12</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4.43E-12</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solidFill>
                      <a:srgbClr val="FF00FF"/>
                    </a:solidFill>
                  </a:tcPr>
                </a:tc>
                <a:tc rowSpan="3">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no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-1.65E-11</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solidFill>
                      <a:srgbClr val="FF00FF"/>
                    </a:solidFill>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extLst>
                  <a:ext uri="{0D108BD9-81ED-4DB2-BD59-A6C34878D82A}">
                    <a16:rowId xmlns:a16="http://schemas.microsoft.com/office/drawing/2014/main" val="1488372355"/>
                  </a:ext>
                </a:extLst>
              </a:tr>
              <a:tr h="128627">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-1.52E-12</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-3.21E-12</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-1.97E-12</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524430917"/>
                  </a:ext>
                </a:extLst>
              </a:tr>
              <a:tr h="145406">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562839814"/>
                  </a:ext>
                </a:extLst>
              </a:tr>
              <a:tr h="128627">
                <a:tc rowSpan="3">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Volume future</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solidFill>
                      <a:srgbClr val="FF00FF"/>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-7.40E-13</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1.59E-12</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solidFill>
                      <a:srgbClr val="FF00FF"/>
                    </a:solidFill>
                  </a:tcPr>
                </a:tc>
                <a:tc rowSpan="3">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no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-1.99E-12</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solidFill>
                      <a:srgbClr val="FF00FF"/>
                    </a:solidFill>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extLst>
                  <a:ext uri="{0D108BD9-81ED-4DB2-BD59-A6C34878D82A}">
                    <a16:rowId xmlns:a16="http://schemas.microsoft.com/office/drawing/2014/main" val="3897611857"/>
                  </a:ext>
                </a:extLst>
              </a:tr>
              <a:tr h="128627">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-3.92E-13</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-5.69E-13</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-6.23E-13</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44969643"/>
                  </a:ext>
                </a:extLst>
              </a:tr>
              <a:tr h="145406">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1269147151"/>
                  </a:ext>
                </a:extLst>
              </a:tr>
              <a:tr h="128627">
                <a:tc rowSpan="3">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Monday</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4.92E-07</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-4.50E-07</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1.47E-06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extLst>
                  <a:ext uri="{0D108BD9-81ED-4DB2-BD59-A6C34878D82A}">
                    <a16:rowId xmlns:a16="http://schemas.microsoft.com/office/drawing/2014/main" val="3635260107"/>
                  </a:ext>
                </a:extLst>
              </a:tr>
              <a:tr h="128627">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-2.33E-06</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-3.53E-06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-3.08E-06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3637495549"/>
                  </a:ext>
                </a:extLst>
              </a:tr>
              <a:tr h="128627">
                <a:tc vMerge="1">
                  <a:txBody>
                    <a:bodyPr/>
                    <a:lstStyle/>
                    <a:p>
                      <a:endParaRPr lang="zh-CN" altLang="en-US"/>
                    </a:p>
                  </a:txBody>
                  <a:tcPr/>
                </a:tc>
                <a:tc>
                  <a:txBody>
                    <a:bodyPr/>
                    <a:lstStyle/>
                    <a:p>
                      <a:pPr algn="l" fontAlgn="t"/>
                      <a:endParaRPr lang="zh-CN" sz="900" b="0" i="0" u="none" strike="noStrike">
                        <a:solidFill>
                          <a:srgbClr val="000000"/>
                        </a:solidFill>
                        <a:effectLst/>
                        <a:latin typeface="等线" panose="02010600030101010101" pitchFamily="2" charset="-122"/>
                        <a:ea typeface="等线" panose="02010600030101010101" pitchFamily="2" charset="-122"/>
                      </a:endParaRPr>
                    </a:p>
                  </a:txBody>
                  <a:tcPr marL="4419" marR="4419" marT="4419" marB="0">
                    <a:lnL>
                      <a:noFill/>
                    </a:lnL>
                    <a:lnR>
                      <a:noFill/>
                    </a:lnR>
                    <a:lnT>
                      <a:noFill/>
                    </a:lnT>
                    <a:lnB>
                      <a:noFill/>
                    </a:lnB>
                  </a:tcPr>
                </a:tc>
                <a:tc vMerge="1">
                  <a:txBody>
                    <a:bodyPr/>
                    <a:lstStyle/>
                    <a:p>
                      <a:endParaRPr lang="zh-CN" altLang="en-US"/>
                    </a:p>
                  </a:txBody>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3357088150"/>
                  </a:ext>
                </a:extLst>
              </a:tr>
              <a:tr h="128627">
                <a:tc rowSpan="3">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Tuesday</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9.90E-06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1.01E-05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9.78E-06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extLst>
                  <a:ext uri="{0D108BD9-81ED-4DB2-BD59-A6C34878D82A}">
                    <a16:rowId xmlns:a16="http://schemas.microsoft.com/office/drawing/2014/main" val="4195546752"/>
                  </a:ext>
                </a:extLst>
              </a:tr>
              <a:tr h="128627">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-2.34E-06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-3.56E-06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-3.08E-06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676816641"/>
                  </a:ext>
                </a:extLst>
              </a:tr>
              <a:tr h="145406">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1184199099"/>
                  </a:ext>
                </a:extLst>
              </a:tr>
              <a:tr h="128627">
                <a:tc rowSpan="3">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Wednesday</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-1.38E-05</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-1.75E-05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-1.08E-05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extLst>
                  <a:ext uri="{0D108BD9-81ED-4DB2-BD59-A6C34878D82A}">
                    <a16:rowId xmlns:a16="http://schemas.microsoft.com/office/drawing/2014/main" val="3173092662"/>
                  </a:ext>
                </a:extLst>
              </a:tr>
              <a:tr h="128627">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-2.34E-06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-3.55E-06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-3.08E-06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42969654"/>
                  </a:ext>
                </a:extLst>
              </a:tr>
              <a:tr h="128627">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1227941443"/>
                  </a:ext>
                </a:extLst>
              </a:tr>
              <a:tr h="128627">
                <a:tc rowSpan="3">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Thursday</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-5.40E-06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2.62E-06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-1.09E-05</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extLst>
                  <a:ext uri="{0D108BD9-81ED-4DB2-BD59-A6C34878D82A}">
                    <a16:rowId xmlns:a16="http://schemas.microsoft.com/office/drawing/2014/main" val="3122673409"/>
                  </a:ext>
                </a:extLst>
              </a:tr>
              <a:tr h="128627">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-2.34E-06</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-3.55E-06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-3.10E-06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209580883"/>
                  </a:ext>
                </a:extLst>
              </a:tr>
              <a:tr h="128627">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675233904"/>
                  </a:ext>
                </a:extLst>
              </a:tr>
              <a:tr h="128627">
                <a:tc rowSpan="3">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Friday</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-1.28E-07</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-5.39E-06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3.79E-06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extLst>
                  <a:ext uri="{0D108BD9-81ED-4DB2-BD59-A6C34878D82A}">
                    <a16:rowId xmlns:a16="http://schemas.microsoft.com/office/drawing/2014/main" val="4074418024"/>
                  </a:ext>
                </a:extLst>
              </a:tr>
              <a:tr h="128627">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-2.35E-06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-3.56E-06</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-3.09E-06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3278650711"/>
                  </a:ext>
                </a:extLst>
              </a:tr>
              <a:tr h="128627">
                <a:tc vMerge="1">
                  <a:txBody>
                    <a:bodyPr/>
                    <a:lstStyle/>
                    <a:p>
                      <a:endParaRPr lang="zh-CN" altLang="en-US"/>
                    </a:p>
                  </a:txBody>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512439190"/>
                  </a:ext>
                </a:extLst>
              </a:tr>
              <a:tr h="128627">
                <a:tc rowSpan="3">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Saturday</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6.31E-07</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-1.39E-05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1.06E-05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extLst>
                  <a:ext uri="{0D108BD9-81ED-4DB2-BD59-A6C34878D82A}">
                    <a16:rowId xmlns:a16="http://schemas.microsoft.com/office/drawing/2014/main" val="3281931601"/>
                  </a:ext>
                </a:extLst>
              </a:tr>
              <a:tr h="128627">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-2.33E-06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-3.55E-06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-3.07E-06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1338825261"/>
                  </a:ext>
                </a:extLst>
              </a:tr>
              <a:tr h="128627">
                <a:tc vMerge="1">
                  <a:txBody>
                    <a:bodyPr/>
                    <a:lstStyle/>
                    <a:p>
                      <a:endParaRPr lang="zh-CN" altLang="en-US"/>
                    </a:p>
                  </a:txBody>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1712622972"/>
                  </a:ext>
                </a:extLst>
              </a:tr>
              <a:tr h="128627">
                <a:tc rowSpan="4">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Before dawn</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4.77E-06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4">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-7.38E-06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4">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1.36E-05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4">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extLst>
                  <a:ext uri="{0D108BD9-81ED-4DB2-BD59-A6C34878D82A}">
                    <a16:rowId xmlns:a16="http://schemas.microsoft.com/office/drawing/2014/main" val="3108888579"/>
                  </a:ext>
                </a:extLst>
              </a:tr>
              <a:tr h="128627">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-1.37E-06</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-2.08E-06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-1.80E-06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3500864256"/>
                  </a:ext>
                </a:extLst>
              </a:tr>
              <a:tr h="128627">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1797837801"/>
                  </a:ext>
                </a:extLst>
              </a:tr>
              <a:tr h="128627">
                <a:tc vMerge="1">
                  <a:txBody>
                    <a:bodyPr/>
                    <a:lstStyle/>
                    <a:p>
                      <a:endParaRPr lang="zh-CN" altLang="en-US"/>
                    </a:p>
                  </a:txBody>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t"/>
                      <a:endParaRPr lang="zh-CN" sz="900" b="0" i="0" u="none" strike="noStrike">
                        <a:solidFill>
                          <a:srgbClr val="000000"/>
                        </a:solidFill>
                        <a:effectLst/>
                        <a:latin typeface="等线" panose="02010600030101010101" pitchFamily="2" charset="-122"/>
                        <a:ea typeface="等线" panose="02010600030101010101" pitchFamily="2" charset="-122"/>
                      </a:endParaRPr>
                    </a:p>
                  </a:txBody>
                  <a:tcPr marL="4419" marR="4419" marT="4419" marB="0">
                    <a:lnL>
                      <a:noFill/>
                    </a:lnL>
                    <a:lnR>
                      <a:noFill/>
                    </a:lnR>
                    <a:lnT>
                      <a:noFill/>
                    </a:lnT>
                    <a:lnB>
                      <a:noFill/>
                    </a:lnB>
                  </a:tcPr>
                </a:tc>
                <a:tc vMerge="1">
                  <a:txBody>
                    <a:bodyPr/>
                    <a:lstStyle/>
                    <a:p>
                      <a:endParaRPr lang="zh-CN" altLang="en-US"/>
                    </a:p>
                  </a:txBody>
                  <a:tcPr/>
                </a:tc>
                <a:tc>
                  <a:txBody>
                    <a:bodyPr/>
                    <a:lstStyle/>
                    <a:p>
                      <a:pPr algn="l" fontAlgn="t"/>
                      <a:endParaRPr lang="zh-CN" sz="900" b="0" i="0" u="none" strike="noStrike">
                        <a:solidFill>
                          <a:srgbClr val="000000"/>
                        </a:solidFill>
                        <a:effectLst/>
                        <a:latin typeface="等线" panose="02010600030101010101" pitchFamily="2" charset="-122"/>
                        <a:ea typeface="等线" panose="02010600030101010101" pitchFamily="2" charset="-122"/>
                      </a:endParaRPr>
                    </a:p>
                  </a:txBody>
                  <a:tcPr marL="4419" marR="4419" marT="4419" marB="0">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2599864579"/>
                  </a:ext>
                </a:extLst>
              </a:tr>
              <a:tr h="128627">
                <a:tc rowSpan="4">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Work hour</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-2.85E-06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4">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-1.01E-05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4">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3.28E-06</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rowSpan="4">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extLst>
                  <a:ext uri="{0D108BD9-81ED-4DB2-BD59-A6C34878D82A}">
                    <a16:rowId xmlns:a16="http://schemas.microsoft.com/office/drawing/2014/main" val="1274487671"/>
                  </a:ext>
                </a:extLst>
              </a:tr>
              <a:tr h="128627">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-1.37E-06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-2.10E-06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-1.81E-06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2284254638"/>
                  </a:ext>
                </a:extLst>
              </a:tr>
              <a:tr h="128627">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621191610"/>
                  </a:ext>
                </a:extLst>
              </a:tr>
              <a:tr h="72424">
                <a:tc vMerge="1">
                  <a:txBody>
                    <a:bodyPr/>
                    <a:lstStyle/>
                    <a:p>
                      <a:endParaRPr lang="zh-CN" altLang="en-US"/>
                    </a:p>
                  </a:txBody>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tcPr>
                </a:tc>
                <a:tc vMerge="1">
                  <a:txBody>
                    <a:bodyPr/>
                    <a:lstStyle/>
                    <a:p>
                      <a:endParaRPr lang="zh-CN" altLang="en-US"/>
                    </a:p>
                  </a:txBody>
                  <a:tcPr/>
                </a:tc>
                <a:tc>
                  <a:txBody>
                    <a:bodyPr/>
                    <a:lstStyle/>
                    <a:p>
                      <a:pPr algn="l" fontAlgn="t"/>
                      <a:endParaRPr lang="zh-CN" sz="900" b="0" i="0" u="none" strike="noStrike">
                        <a:solidFill>
                          <a:srgbClr val="000000"/>
                        </a:solidFill>
                        <a:effectLst/>
                        <a:latin typeface="等线" panose="02010600030101010101" pitchFamily="2" charset="-122"/>
                        <a:ea typeface="等线" panose="02010600030101010101" pitchFamily="2" charset="-122"/>
                      </a:endParaRPr>
                    </a:p>
                  </a:txBody>
                  <a:tcPr marL="4419" marR="4419" marT="4419" marB="0">
                    <a:lnL>
                      <a:noFill/>
                    </a:lnL>
                    <a:lnR>
                      <a:noFill/>
                    </a:lnR>
                    <a:lnT>
                      <a:noFill/>
                    </a:lnT>
                    <a:lnB>
                      <a:noFill/>
                    </a:lnB>
                  </a:tcPr>
                </a:tc>
                <a:tc vMerge="1">
                  <a:txBody>
                    <a:bodyPr/>
                    <a:lstStyle/>
                    <a:p>
                      <a:endParaRPr lang="zh-CN" altLang="en-US"/>
                    </a:p>
                  </a:txBody>
                  <a:tcPr/>
                </a:tc>
                <a:tc>
                  <a:txBody>
                    <a:bodyPr/>
                    <a:lstStyle/>
                    <a:p>
                      <a:pPr algn="l" fontAlgn="t"/>
                      <a:endParaRPr lang="zh-CN" sz="900" b="0" i="0" u="none" strike="noStrike">
                        <a:solidFill>
                          <a:srgbClr val="000000"/>
                        </a:solidFill>
                        <a:effectLst/>
                        <a:latin typeface="等线" panose="02010600030101010101" pitchFamily="2" charset="-122"/>
                        <a:ea typeface="等线" panose="02010600030101010101" pitchFamily="2" charset="-122"/>
                      </a:endParaRPr>
                    </a:p>
                  </a:txBody>
                  <a:tcPr marL="4419" marR="4419" marT="4419" marB="0">
                    <a:lnL>
                      <a:noFill/>
                    </a:lnL>
                    <a:lnR>
                      <a:noFill/>
                    </a:lnR>
                    <a:lnT>
                      <a:noFill/>
                    </a:lnT>
                    <a:lnB>
                      <a:noFill/>
                    </a:lnB>
                  </a:tcPr>
                </a:tc>
                <a:tc vMerge="1">
                  <a:txBody>
                    <a:bodyPr/>
                    <a:lstStyle/>
                    <a:p>
                      <a:endParaRPr lang="zh-CN" altLang="en-US"/>
                    </a:p>
                  </a:txBody>
                  <a:tcPr/>
                </a:tc>
                <a:extLst>
                  <a:ext uri="{0D108BD9-81ED-4DB2-BD59-A6C34878D82A}">
                    <a16:rowId xmlns:a16="http://schemas.microsoft.com/office/drawing/2014/main" val="1946998127"/>
                  </a:ext>
                </a:extLst>
              </a:tr>
              <a:tr h="156589">
                <a:tc>
                  <a:txBody>
                    <a:bodyPr/>
                    <a:lstStyle/>
                    <a:p>
                      <a:pPr algn="just" fontAlgn="ctr"/>
                      <a:r>
                        <a:rPr lang="en-US" sz="900" b="0" i="0" u="none" strike="noStrike" dirty="0" err="1">
                          <a:solidFill>
                            <a:srgbClr val="000000"/>
                          </a:solidFill>
                          <a:effectLst/>
                          <a:latin typeface="Times New Roman" panose="02020603050405020304" pitchFamily="18" charset="0"/>
                          <a:ea typeface="等线" panose="02010600030101010101" pitchFamily="2" charset="-122"/>
                        </a:rPr>
                        <a:t>Adj</a:t>
                      </a:r>
                      <a:r>
                        <a:rPr lang="en-US" sz="900" b="0" i="0" u="none" strike="noStrike" dirty="0">
                          <a:solidFill>
                            <a:srgbClr val="000000"/>
                          </a:solidFill>
                          <a:effectLst/>
                          <a:latin typeface="Times New Roman" panose="02020603050405020304" pitchFamily="18" charset="0"/>
                          <a:ea typeface="等线" panose="02010600030101010101" pitchFamily="2" charset="-122"/>
                        </a:rPr>
                        <a:t> R</a:t>
                      </a:r>
                      <a:r>
                        <a:rPr lang="en-US" sz="900" b="0" i="0" u="none" strike="noStrike" baseline="30000" dirty="0">
                          <a:solidFill>
                            <a:srgbClr val="000000"/>
                          </a:solidFill>
                          <a:effectLst/>
                          <a:latin typeface="Times New Roman" panose="02020603050405020304" pitchFamily="18" charset="0"/>
                          <a:ea typeface="等线" panose="02010600030101010101" pitchFamily="2" charset="-122"/>
                        </a:rPr>
                        <a:t>2</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solidFill>
                      <a:srgbClr val="92D050"/>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0.751</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solidFill>
                      <a:srgbClr val="92D050"/>
                    </a:solidFill>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0.75</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solidFill>
                      <a:srgbClr val="92D050"/>
                    </a:solidFill>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0.693</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solidFill>
                      <a:srgbClr val="92D050"/>
                    </a:solidFill>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0.693</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solidFill>
                      <a:srgbClr val="92D050"/>
                    </a:solidFill>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0.773</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solidFill>
                      <a:srgbClr val="92D050"/>
                    </a:solidFill>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0.771</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a:noFill/>
                    </a:lnB>
                    <a:solidFill>
                      <a:srgbClr val="92D050"/>
                    </a:solidFill>
                  </a:tcPr>
                </a:tc>
                <a:extLst>
                  <a:ext uri="{0D108BD9-81ED-4DB2-BD59-A6C34878D82A}">
                    <a16:rowId xmlns:a16="http://schemas.microsoft.com/office/drawing/2014/main" val="1806142994"/>
                  </a:ext>
                </a:extLst>
              </a:tr>
              <a:tr h="134220">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N</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2396745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2396745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1078535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1078535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1318210</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1318210</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19" marR="4419" marT="4419"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2547005"/>
                  </a:ext>
                </a:extLst>
              </a:tr>
            </a:tbl>
          </a:graphicData>
        </a:graphic>
      </p:graphicFrame>
      <p:sp>
        <p:nvSpPr>
          <p:cNvPr id="8" name="文本框 7"/>
          <p:cNvSpPr txBox="1"/>
          <p:nvPr/>
        </p:nvSpPr>
        <p:spPr>
          <a:xfrm>
            <a:off x="5412944" y="6558518"/>
            <a:ext cx="4031924" cy="610936"/>
          </a:xfrm>
          <a:prstGeom prst="rect">
            <a:avLst/>
          </a:prstGeom>
          <a:noFill/>
          <a:ln w="6350" cap="flat">
            <a:noFill/>
            <a:miter lim="800000"/>
          </a:ln>
        </p:spPr>
        <p:txBody>
          <a:bodyPr wrap="square" lIns="0" tIns="0" rIns="0" bIns="0" rtlCol="0" anchor="t" anchorCtr="0">
            <a:spAutoFit/>
          </a:bodyPr>
          <a:lstStyle/>
          <a:p>
            <a:pPr>
              <a:lnSpc>
                <a:spcPct val="90000"/>
              </a:lnSpc>
              <a:spcBef>
                <a:spcPts val="600"/>
              </a:spcBef>
              <a:buClr>
                <a:schemeClr val="bg2"/>
              </a:buClr>
            </a:pPr>
            <a:r>
              <a:rPr lang="en-US" altLang="zh-CN" sz="1100" i="1" dirty="0">
                <a:solidFill>
                  <a:srgbClr val="000000"/>
                </a:solidFill>
                <a:latin typeface="Times New Roman" panose="02020603050405020304" pitchFamily="18" charset="0"/>
                <a:ea typeface="等线" panose="02010600030101010101" pitchFamily="2" charset="-122"/>
              </a:rPr>
              <a:t>Fixed </a:t>
            </a:r>
            <a:r>
              <a:rPr lang="en-US" altLang="zh-CN" sz="1100" i="1" dirty="0" smtClean="0">
                <a:solidFill>
                  <a:srgbClr val="000000"/>
                </a:solidFill>
                <a:latin typeface="Times New Roman" panose="02020603050405020304" pitchFamily="18" charset="0"/>
                <a:ea typeface="等线" panose="02010600030101010101" pitchFamily="2" charset="-122"/>
              </a:rPr>
              <a:t>Effect results(16 lines) on </a:t>
            </a:r>
            <a:r>
              <a:rPr lang="en-US" altLang="zh-CN" sz="1100" i="1" dirty="0">
                <a:solidFill>
                  <a:srgbClr val="000000"/>
                </a:solidFill>
                <a:latin typeface="Times New Roman" panose="02020603050405020304" pitchFamily="18" charset="0"/>
                <a:ea typeface="等线" panose="02010600030101010101" pitchFamily="2" charset="-122"/>
              </a:rPr>
              <a:t>the table are </a:t>
            </a:r>
            <a:r>
              <a:rPr lang="en-US" altLang="zh-CN" sz="1100" i="1" dirty="0" smtClean="0">
                <a:solidFill>
                  <a:srgbClr val="000000"/>
                </a:solidFill>
                <a:latin typeface="Times New Roman" panose="02020603050405020304" pitchFamily="18" charset="0"/>
                <a:ea typeface="等线" panose="02010600030101010101" pitchFamily="2" charset="-122"/>
              </a:rPr>
              <a:t>skipped; </a:t>
            </a:r>
            <a:r>
              <a:rPr lang="en-US" altLang="zh-CN" sz="1100" i="1" kern="100" dirty="0">
                <a:latin typeface="Times New Roman" panose="02020603050405020304" pitchFamily="18" charset="0"/>
                <a:ea typeface="宋体" panose="02010600030101010101" pitchFamily="2" charset="-122"/>
              </a:rPr>
              <a:t>VIF &lt;5 </a:t>
            </a:r>
            <a:r>
              <a:rPr lang="en-US" altLang="zh-CN" sz="1100" i="1" kern="100" dirty="0" smtClean="0">
                <a:latin typeface="Times New Roman" panose="02020603050405020304" pitchFamily="18" charset="0"/>
                <a:ea typeface="宋体" panose="02010600030101010101" pitchFamily="2" charset="-122"/>
              </a:rPr>
              <a:t>for all</a:t>
            </a:r>
            <a:endParaRPr lang="en-US" altLang="zh-CN" sz="1100" i="1" kern="100" dirty="0">
              <a:latin typeface="Times New Roman" panose="02020603050405020304" pitchFamily="18" charset="0"/>
              <a:ea typeface="宋体" panose="02010600030101010101" pitchFamily="2" charset="-122"/>
            </a:endParaRPr>
          </a:p>
          <a:p>
            <a:pPr>
              <a:lnSpc>
                <a:spcPct val="90000"/>
              </a:lnSpc>
              <a:spcBef>
                <a:spcPts val="600"/>
              </a:spcBef>
              <a:buClr>
                <a:schemeClr val="bg2"/>
              </a:buClr>
            </a:pPr>
            <a:endParaRPr lang="zh-CN" altLang="zh-CN" sz="1100" i="1" dirty="0">
              <a:solidFill>
                <a:srgbClr val="000000"/>
              </a:solidFill>
              <a:latin typeface="Times New Roman" panose="02020603050405020304" pitchFamily="18" charset="0"/>
              <a:ea typeface="等线" panose="02010600030101010101" pitchFamily="2" charset="-122"/>
            </a:endParaRPr>
          </a:p>
          <a:p>
            <a:pPr>
              <a:lnSpc>
                <a:spcPct val="90000"/>
              </a:lnSpc>
              <a:spcBef>
                <a:spcPts val="600"/>
              </a:spcBef>
              <a:buClr>
                <a:schemeClr val="bg2"/>
              </a:buClr>
            </a:pPr>
            <a:endParaRPr lang="zh-CN" altLang="en-US" sz="1100" dirty="0" smtClean="0">
              <a:latin typeface="Arial" pitchFamily="34" charset="0"/>
              <a:cs typeface="Arial" pitchFamily="34" charset="0"/>
            </a:endParaRPr>
          </a:p>
        </p:txBody>
      </p:sp>
      <p:sp>
        <p:nvSpPr>
          <p:cNvPr id="2" name="矩形 1"/>
          <p:cNvSpPr/>
          <p:nvPr/>
        </p:nvSpPr>
        <p:spPr>
          <a:xfrm>
            <a:off x="283319" y="4797946"/>
            <a:ext cx="4452863" cy="1887696"/>
          </a:xfrm>
          <a:prstGeom prst="rect">
            <a:avLst/>
          </a:prstGeom>
        </p:spPr>
        <p:txBody>
          <a:bodyPr wrap="square">
            <a:spAutoFit/>
          </a:bodyPr>
          <a:lstStyle/>
          <a:p>
            <a:pPr>
              <a:lnSpc>
                <a:spcPts val="2800"/>
              </a:lnSpc>
              <a:spcBef>
                <a:spcPct val="0"/>
              </a:spcBef>
            </a:pPr>
            <a:r>
              <a:rPr lang="en-US" altLang="zh-CN" sz="1400" dirty="0" smtClean="0">
                <a:latin typeface="Times New Roman" panose="02020603050405020304" pitchFamily="18" charset="0"/>
                <a:ea typeface="等线" panose="02010600030101010101" pitchFamily="2" charset="-122"/>
                <a:cs typeface="Arial" pitchFamily="34" charset="0"/>
              </a:rPr>
              <a:t>3. </a:t>
            </a:r>
            <a:r>
              <a:rPr lang="en-US" altLang="zh-CN" sz="1400" dirty="0">
                <a:latin typeface="Times New Roman" panose="02020603050405020304" pitchFamily="18" charset="0"/>
                <a:ea typeface="等线" panose="02010600030101010101" pitchFamily="2" charset="-122"/>
                <a:cs typeface="Arial" pitchFamily="34" charset="0"/>
              </a:rPr>
              <a:t>No time variables effect. </a:t>
            </a:r>
          </a:p>
          <a:p>
            <a:pPr>
              <a:lnSpc>
                <a:spcPts val="2800"/>
              </a:lnSpc>
              <a:spcBef>
                <a:spcPct val="0"/>
              </a:spcBef>
            </a:pPr>
            <a:r>
              <a:rPr lang="en-US" altLang="zh-CN" sz="1400" i="1" dirty="0">
                <a:latin typeface="Times New Roman" panose="02020603050405020304" pitchFamily="18" charset="0"/>
                <a:ea typeface="等线" panose="02010600030101010101" pitchFamily="2" charset="-122"/>
                <a:cs typeface="Arial" pitchFamily="34" charset="0"/>
              </a:rPr>
              <a:t>We believe the reason is that the market is open 7*24</a:t>
            </a:r>
            <a:r>
              <a:rPr lang="en-US" altLang="zh-CN" sz="1400" i="1" dirty="0" smtClean="0">
                <a:latin typeface="Times New Roman" panose="02020603050405020304" pitchFamily="18" charset="0"/>
                <a:ea typeface="等线" panose="02010600030101010101" pitchFamily="2" charset="-122"/>
                <a:cs typeface="Arial" pitchFamily="34" charset="0"/>
              </a:rPr>
              <a:t>.</a:t>
            </a:r>
          </a:p>
          <a:p>
            <a:pPr>
              <a:lnSpc>
                <a:spcPts val="2800"/>
              </a:lnSpc>
              <a:spcBef>
                <a:spcPct val="0"/>
              </a:spcBef>
            </a:pPr>
            <a:r>
              <a:rPr lang="en-US" altLang="zh-CN" sz="1400" i="1" dirty="0" smtClean="0">
                <a:latin typeface="Times New Roman" panose="02020603050405020304" pitchFamily="18" charset="0"/>
                <a:ea typeface="等线" panose="02010600030101010101" pitchFamily="2" charset="-122"/>
                <a:cs typeface="Arial" pitchFamily="34" charset="0"/>
              </a:rPr>
              <a:t>However, the significant positive result means it has contain other information that we need to dig out.</a:t>
            </a:r>
          </a:p>
          <a:p>
            <a:pPr>
              <a:lnSpc>
                <a:spcPts val="2800"/>
              </a:lnSpc>
              <a:spcBef>
                <a:spcPct val="0"/>
              </a:spcBef>
            </a:pPr>
            <a:endParaRPr lang="en-US" altLang="zh-CN" sz="1400" i="1" dirty="0">
              <a:latin typeface="Times New Roman" panose="02020603050405020304" pitchFamily="18" charset="0"/>
              <a:ea typeface="等线" panose="02010600030101010101" pitchFamily="2" charset="-122"/>
              <a:cs typeface="Arial" pitchFamily="34" charset="0"/>
            </a:endParaRPr>
          </a:p>
        </p:txBody>
      </p:sp>
    </p:spTree>
    <p:extLst>
      <p:ext uri="{BB962C8B-B14F-4D97-AF65-F5344CB8AC3E}">
        <p14:creationId xmlns:p14="http://schemas.microsoft.com/office/powerpoint/2010/main" val="3754115649"/>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275785" y="1073827"/>
            <a:ext cx="4172365" cy="22971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Convenience yield influencers </a:t>
            </a:r>
            <a:r>
              <a:rPr lang="en-US" altLang="zh-CN" sz="1800" b="1" dirty="0" smtClean="0">
                <a:solidFill>
                  <a:schemeClr val="bg2"/>
                </a:solidFill>
                <a:latin typeface="Times New Roman" panose="02020603050405020304" pitchFamily="18" charset="0"/>
                <a:ea typeface="等线" panose="02010600030101010101" pitchFamily="2" charset="-122"/>
              </a:rPr>
              <a:t>(weekly)</a:t>
            </a:r>
          </a:p>
          <a:p>
            <a:pPr indent="304800" algn="just">
              <a:lnSpc>
                <a:spcPts val="2800"/>
              </a:lnSpc>
              <a:spcAft>
                <a:spcPts val="0"/>
              </a:spcAft>
            </a:pPr>
            <a:r>
              <a:rPr lang="en-US" altLang="zh-CN" sz="1400" kern="100" dirty="0" smtClean="0">
                <a:latin typeface="Times New Roman" panose="02020603050405020304" pitchFamily="18" charset="0"/>
                <a:ea typeface="宋体" panose="02010600030101010101" pitchFamily="2" charset="-122"/>
              </a:rPr>
              <a:t>1. </a:t>
            </a:r>
            <a:r>
              <a:rPr lang="en-US" altLang="zh-CN" sz="1400" b="1" kern="100" dirty="0" smtClean="0">
                <a:solidFill>
                  <a:srgbClr val="FF00FF"/>
                </a:solidFill>
                <a:latin typeface="Times New Roman" panose="02020603050405020304" pitchFamily="18" charset="0"/>
                <a:ea typeface="宋体" panose="02010600030101010101" pitchFamily="2" charset="-122"/>
              </a:rPr>
              <a:t>Traders</a:t>
            </a:r>
            <a:r>
              <a:rPr lang="en-US" altLang="zh-CN" sz="1400" b="1" kern="100" dirty="0">
                <a:solidFill>
                  <a:srgbClr val="FF00FF"/>
                </a:solidFill>
                <a:latin typeface="Times New Roman" panose="02020603050405020304" pitchFamily="18" charset="0"/>
                <a:ea typeface="宋体" panose="02010600030101010101" pitchFamily="2" charset="-122"/>
              </a:rPr>
              <a:t>:</a:t>
            </a:r>
            <a:r>
              <a:rPr lang="en-US" altLang="zh-CN" sz="1400" kern="100" dirty="0">
                <a:solidFill>
                  <a:srgbClr val="FF00FF"/>
                </a:solidFill>
                <a:latin typeface="Times New Roman" panose="02020603050405020304" pitchFamily="18" charset="0"/>
                <a:ea typeface="宋体" panose="02010600030101010101" pitchFamily="2" charset="-122"/>
              </a:rPr>
              <a:t> </a:t>
            </a:r>
            <a:r>
              <a:rPr lang="en-US" altLang="zh-CN" sz="1400" kern="100" dirty="0" smtClean="0">
                <a:solidFill>
                  <a:srgbClr val="FF00FF"/>
                </a:solidFill>
                <a:latin typeface="Times New Roman" panose="02020603050405020304" pitchFamily="18" charset="0"/>
                <a:ea typeface="宋体" panose="02010600030101010101" pitchFamily="2" charset="-122"/>
              </a:rPr>
              <a:t>institutional-like </a:t>
            </a:r>
            <a:r>
              <a:rPr lang="en-US" altLang="zh-CN" sz="1400" kern="100" dirty="0">
                <a:solidFill>
                  <a:srgbClr val="FF00FF"/>
                </a:solidFill>
                <a:latin typeface="Times New Roman" panose="02020603050405020304" pitchFamily="18" charset="0"/>
                <a:ea typeface="宋体" panose="02010600030101010101" pitchFamily="2" charset="-122"/>
              </a:rPr>
              <a:t>investors on convenience yields is </a:t>
            </a:r>
            <a:r>
              <a:rPr lang="en-US" altLang="zh-CN" sz="1400" kern="100" dirty="0" smtClean="0">
                <a:solidFill>
                  <a:srgbClr val="FF00FF"/>
                </a:solidFill>
                <a:latin typeface="Times New Roman" panose="02020603050405020304" pitchFamily="18" charset="0"/>
                <a:ea typeface="宋体" panose="02010600030101010101" pitchFamily="2" charset="-122"/>
              </a:rPr>
              <a:t>positive. </a:t>
            </a:r>
            <a:r>
              <a:rPr lang="en-US" altLang="zh-CN" sz="1400" i="1" kern="100" dirty="0" smtClean="0">
                <a:latin typeface="Times New Roman" panose="02020603050405020304" pitchFamily="18" charset="0"/>
                <a:ea typeface="宋体" panose="02010600030101010101" pitchFamily="2" charset="-122"/>
              </a:rPr>
              <a:t>a little unclear result, which can be well explained by dealer theory.</a:t>
            </a:r>
            <a:endParaRPr lang="zh-CN" altLang="zh-CN" sz="1400" i="1" kern="100" dirty="0">
              <a:latin typeface="Times New Roman" panose="02020603050405020304" pitchFamily="18" charset="0"/>
              <a:ea typeface="Times New Roman" panose="02020603050405020304" pitchFamily="18" charset="0"/>
            </a:endParaRPr>
          </a:p>
          <a:p>
            <a:pPr indent="304800" algn="just">
              <a:lnSpc>
                <a:spcPts val="2800"/>
              </a:lnSpc>
              <a:spcAft>
                <a:spcPts val="0"/>
              </a:spcAft>
            </a:pPr>
            <a:r>
              <a:rPr lang="en-US" altLang="zh-CN" sz="1400" kern="100" dirty="0" smtClean="0">
                <a:latin typeface="Times New Roman" panose="02020603050405020304" pitchFamily="18" charset="0"/>
                <a:ea typeface="宋体" panose="02010600030101010101" pitchFamily="2" charset="-122"/>
              </a:rPr>
              <a:t>2. </a:t>
            </a:r>
            <a:r>
              <a:rPr lang="en-US" altLang="zh-CN" sz="1400" b="1" kern="100" dirty="0" smtClean="0">
                <a:solidFill>
                  <a:srgbClr val="289055"/>
                </a:solidFill>
                <a:latin typeface="Times New Roman" panose="02020603050405020304" pitchFamily="18" charset="0"/>
                <a:ea typeface="宋体" panose="02010600030101010101" pitchFamily="2" charset="-122"/>
              </a:rPr>
              <a:t>Transaction </a:t>
            </a:r>
            <a:r>
              <a:rPr lang="en-US" altLang="zh-CN" sz="1400" b="1" kern="100" dirty="0">
                <a:solidFill>
                  <a:srgbClr val="289055"/>
                </a:solidFill>
                <a:latin typeface="Times New Roman" panose="02020603050405020304" pitchFamily="18" charset="0"/>
                <a:ea typeface="宋体" panose="02010600030101010101" pitchFamily="2" charset="-122"/>
              </a:rPr>
              <a:t>volume: </a:t>
            </a:r>
            <a:r>
              <a:rPr lang="en-US" altLang="zh-CN" sz="1400" kern="100" dirty="0" smtClean="0">
                <a:solidFill>
                  <a:srgbClr val="289055"/>
                </a:solidFill>
                <a:latin typeface="Times New Roman" panose="02020603050405020304" pitchFamily="18" charset="0"/>
                <a:ea typeface="宋体" panose="02010600030101010101" pitchFamily="2" charset="-122"/>
              </a:rPr>
              <a:t>positive effect as expected</a:t>
            </a:r>
            <a:endParaRPr lang="zh-CN" altLang="zh-CN" sz="1400" i="1" kern="100" dirty="0">
              <a:solidFill>
                <a:srgbClr val="289055"/>
              </a:solidFill>
              <a:latin typeface="Times New Roman" panose="02020603050405020304" pitchFamily="18" charset="0"/>
              <a:ea typeface="Times New Roman" panose="02020603050405020304" pitchFamily="18" charset="0"/>
            </a:endParaRPr>
          </a:p>
          <a:p>
            <a:pPr indent="304800" algn="just">
              <a:lnSpc>
                <a:spcPts val="2800"/>
              </a:lnSpc>
              <a:spcAft>
                <a:spcPts val="0"/>
              </a:spcAft>
            </a:pPr>
            <a:r>
              <a:rPr lang="en-US" altLang="zh-CN" sz="1400" kern="100" dirty="0" smtClean="0">
                <a:latin typeface="Times New Roman" panose="02020603050405020304" pitchFamily="18" charset="0"/>
                <a:ea typeface="宋体" panose="02010600030101010101" pitchFamily="2" charset="-122"/>
              </a:rPr>
              <a:t>3. </a:t>
            </a:r>
            <a:r>
              <a:rPr lang="en-US" altLang="zh-CN" sz="1400" b="1" kern="100" dirty="0" smtClean="0">
                <a:solidFill>
                  <a:srgbClr val="FF0000"/>
                </a:solidFill>
                <a:latin typeface="Times New Roman" panose="02020603050405020304" pitchFamily="18" charset="0"/>
                <a:ea typeface="宋体" panose="02010600030101010101" pitchFamily="2" charset="-122"/>
              </a:rPr>
              <a:t>Volatility and open interest:</a:t>
            </a:r>
            <a:r>
              <a:rPr lang="en-US" altLang="zh-CN" sz="1400" kern="100" dirty="0" smtClean="0">
                <a:solidFill>
                  <a:srgbClr val="FF0000"/>
                </a:solidFill>
                <a:latin typeface="Times New Roman" panose="02020603050405020304" pitchFamily="18" charset="0"/>
                <a:ea typeface="宋体" panose="02010600030101010101" pitchFamily="2" charset="-122"/>
              </a:rPr>
              <a:t> Vol unstable after </a:t>
            </a:r>
            <a:r>
              <a:rPr lang="en-US" altLang="zh-CN" sz="1400" kern="100" dirty="0">
                <a:solidFill>
                  <a:srgbClr val="FF0000"/>
                </a:solidFill>
                <a:latin typeface="Times New Roman" panose="02020603050405020304" pitchFamily="18" charset="0"/>
                <a:ea typeface="宋体" panose="02010600030101010101" pitchFamily="2" charset="-122"/>
              </a:rPr>
              <a:t>the "5.19" </a:t>
            </a:r>
            <a:r>
              <a:rPr lang="en-US" altLang="zh-CN" sz="1400" kern="100" dirty="0" smtClean="0">
                <a:solidFill>
                  <a:srgbClr val="FF0000"/>
                </a:solidFill>
                <a:latin typeface="Times New Roman" panose="02020603050405020304" pitchFamily="18" charset="0"/>
                <a:ea typeface="宋体" panose="02010600030101010101" pitchFamily="2" charset="-122"/>
              </a:rPr>
              <a:t>crisis, open interest is as expected</a:t>
            </a:r>
          </a:p>
          <a:p>
            <a:pPr indent="304800" algn="just">
              <a:lnSpc>
                <a:spcPts val="2800"/>
              </a:lnSpc>
            </a:pPr>
            <a:r>
              <a:rPr lang="en-US" altLang="zh-CN" sz="1400" kern="100" dirty="0" smtClean="0">
                <a:latin typeface="Times New Roman" panose="02020603050405020304" pitchFamily="18" charset="0"/>
                <a:ea typeface="宋体" panose="02010600030101010101" pitchFamily="2" charset="-122"/>
              </a:rPr>
              <a:t>4. </a:t>
            </a:r>
            <a:r>
              <a:rPr lang="en-US" altLang="zh-CN" sz="1400" kern="100" dirty="0" smtClean="0">
                <a:solidFill>
                  <a:srgbClr val="00B0F0"/>
                </a:solidFill>
                <a:latin typeface="Times New Roman" panose="02020603050405020304" pitchFamily="18" charset="0"/>
                <a:ea typeface="宋体" panose="02010600030101010101" pitchFamily="2" charset="-122"/>
              </a:rPr>
              <a:t>Hot Topic: Not as expected, </a:t>
            </a:r>
            <a:r>
              <a:rPr lang="en-US" altLang="zh-CN" sz="1400" i="1" kern="100" dirty="0">
                <a:latin typeface="Times New Roman" panose="02020603050405020304" pitchFamily="18" charset="0"/>
                <a:ea typeface="宋体" panose="02010600030101010101" pitchFamily="2" charset="-122"/>
              </a:rPr>
              <a:t>which can be well explained by dealer theory.</a:t>
            </a:r>
            <a:endParaRPr lang="zh-CN" altLang="zh-CN" sz="1400" i="1" kern="100" dirty="0">
              <a:latin typeface="Times New Roman" panose="02020603050405020304" pitchFamily="18" charset="0"/>
              <a:ea typeface="Times New Roman" panose="02020603050405020304" pitchFamily="18" charset="0"/>
            </a:endParaRPr>
          </a:p>
          <a:p>
            <a:pPr indent="304800" algn="just">
              <a:lnSpc>
                <a:spcPts val="2800"/>
              </a:lnSpc>
              <a:spcAft>
                <a:spcPts val="0"/>
              </a:spcAft>
            </a:pPr>
            <a:r>
              <a:rPr lang="en-US" altLang="zh-CN" sz="1400" kern="100" dirty="0" smtClean="0">
                <a:latin typeface="Times New Roman" panose="02020603050405020304" pitchFamily="18" charset="0"/>
                <a:ea typeface="宋体" panose="02010600030101010101" pitchFamily="2" charset="-122"/>
              </a:rPr>
              <a:t>5. </a:t>
            </a:r>
            <a:r>
              <a:rPr lang="en-US" altLang="zh-CN" sz="1400" b="1" kern="100" dirty="0" smtClean="0">
                <a:latin typeface="Times New Roman" panose="02020603050405020304" pitchFamily="18" charset="0"/>
                <a:ea typeface="宋体" panose="02010600030101010101" pitchFamily="2" charset="-122"/>
              </a:rPr>
              <a:t>“5.19” crisis (Control):</a:t>
            </a:r>
            <a:r>
              <a:rPr lang="en-US" altLang="zh-CN" sz="1400" kern="100" dirty="0" smtClean="0">
                <a:latin typeface="Times New Roman" panose="02020603050405020304" pitchFamily="18" charset="0"/>
                <a:ea typeface="宋体" panose="02010600030101010101" pitchFamily="2" charset="-122"/>
              </a:rPr>
              <a:t> dummy variable, Negative effect</a:t>
            </a:r>
          </a:p>
          <a:p>
            <a:pPr indent="304800" algn="just">
              <a:lnSpc>
                <a:spcPts val="2800"/>
              </a:lnSpc>
            </a:pPr>
            <a:r>
              <a:rPr lang="en-US" altLang="zh-CN" sz="1400" dirty="0" smtClean="0">
                <a:latin typeface="Times New Roman" panose="02020603050405020304" pitchFamily="18" charset="0"/>
                <a:ea typeface="等线" panose="02010600030101010101" pitchFamily="2" charset="-122"/>
              </a:rPr>
              <a:t>6. </a:t>
            </a:r>
            <a:r>
              <a:rPr lang="en-US" altLang="zh-CN" sz="1400" b="1" kern="100" dirty="0">
                <a:solidFill>
                  <a:schemeClr val="accent5">
                    <a:lumMod val="75000"/>
                  </a:schemeClr>
                </a:solidFill>
                <a:latin typeface="Times New Roman" panose="02020603050405020304" pitchFamily="18" charset="0"/>
                <a:ea typeface="宋体" panose="02010600030101010101" pitchFamily="2" charset="-122"/>
              </a:rPr>
              <a:t>Currency </a:t>
            </a:r>
            <a:r>
              <a:rPr lang="en-US" altLang="zh-CN" sz="1400" b="1" kern="100" dirty="0" smtClean="0">
                <a:solidFill>
                  <a:schemeClr val="accent5">
                    <a:lumMod val="75000"/>
                  </a:schemeClr>
                </a:solidFill>
                <a:latin typeface="Times New Roman" panose="02020603050405020304" pitchFamily="18" charset="0"/>
                <a:ea typeface="宋体" panose="02010600030101010101" pitchFamily="2" charset="-122"/>
              </a:rPr>
              <a:t>basics (</a:t>
            </a:r>
            <a:r>
              <a:rPr lang="en-US" altLang="zh-CN" sz="1400" b="1" kern="100" dirty="0">
                <a:solidFill>
                  <a:schemeClr val="accent5">
                    <a:lumMod val="75000"/>
                  </a:schemeClr>
                </a:solidFill>
                <a:latin typeface="Times New Roman" panose="02020603050405020304" pitchFamily="18" charset="0"/>
                <a:ea typeface="宋体" panose="02010600030101010101" pitchFamily="2" charset="-122"/>
              </a:rPr>
              <a:t>Control):</a:t>
            </a:r>
            <a:r>
              <a:rPr lang="en-US" altLang="zh-CN" sz="1400" kern="100" dirty="0">
                <a:solidFill>
                  <a:schemeClr val="accent5">
                    <a:lumMod val="75000"/>
                  </a:schemeClr>
                </a:solidFill>
                <a:latin typeface="Times New Roman" panose="02020603050405020304" pitchFamily="18" charset="0"/>
                <a:ea typeface="宋体" panose="02010600030101010101" pitchFamily="2" charset="-122"/>
              </a:rPr>
              <a:t> </a:t>
            </a:r>
            <a:r>
              <a:rPr lang="en-US" altLang="zh-CN" sz="1400" b="1" kern="100" dirty="0" smtClean="0">
                <a:solidFill>
                  <a:schemeClr val="accent5">
                    <a:lumMod val="75000"/>
                  </a:schemeClr>
                </a:solidFill>
                <a:latin typeface="Times New Roman" panose="02020603050405020304" pitchFamily="18" charset="0"/>
                <a:ea typeface="宋体" panose="02010600030101010101" pitchFamily="2" charset="-122"/>
              </a:rPr>
              <a:t>Negative </a:t>
            </a:r>
            <a:r>
              <a:rPr lang="en-US" altLang="zh-CN" sz="1400" b="1" kern="100" dirty="0">
                <a:solidFill>
                  <a:schemeClr val="accent5">
                    <a:lumMod val="75000"/>
                  </a:schemeClr>
                </a:solidFill>
                <a:latin typeface="Times New Roman" panose="02020603050405020304" pitchFamily="18" charset="0"/>
                <a:ea typeface="宋体" panose="02010600030101010101" pitchFamily="2" charset="-122"/>
              </a:rPr>
              <a:t>on </a:t>
            </a:r>
            <a:r>
              <a:rPr lang="en-US" altLang="zh-CN" sz="1400" kern="100" dirty="0">
                <a:solidFill>
                  <a:schemeClr val="accent5">
                    <a:lumMod val="75000"/>
                  </a:schemeClr>
                </a:solidFill>
                <a:latin typeface="Times New Roman" panose="02020603050405020304" pitchFamily="18" charset="0"/>
                <a:ea typeface="宋体" panose="02010600030101010101" pitchFamily="2" charset="-122"/>
              </a:rPr>
              <a:t>mainstream currencies (BTC, ETH)</a:t>
            </a:r>
            <a:r>
              <a:rPr lang="en-US" altLang="zh-CN" sz="1400" kern="100" dirty="0">
                <a:latin typeface="Times New Roman" panose="02020603050405020304" pitchFamily="18" charset="0"/>
                <a:ea typeface="宋体" panose="02010600030101010101" pitchFamily="2" charset="-122"/>
              </a:rPr>
              <a:t>.</a:t>
            </a:r>
            <a:endParaRPr lang="zh-CN" altLang="zh-CN" sz="1400" kern="100" dirty="0">
              <a:latin typeface="Times New Roman" panose="02020603050405020304" pitchFamily="18" charset="0"/>
              <a:ea typeface="Times New Roman" panose="02020603050405020304" pitchFamily="18" charset="0"/>
            </a:endParaRPr>
          </a:p>
          <a:p>
            <a:pPr indent="304800" algn="just">
              <a:lnSpc>
                <a:spcPts val="2800"/>
              </a:lnSpc>
              <a:spcAft>
                <a:spcPts val="0"/>
              </a:spcAft>
            </a:pPr>
            <a:endParaRPr lang="en-US" altLang="zh-CN" sz="1400" kern="100" dirty="0" smtClean="0">
              <a:latin typeface="Times New Roman" panose="02020603050405020304" pitchFamily="18" charset="0"/>
              <a:ea typeface="宋体" panose="02010600030101010101" pitchFamily="2" charset="-122"/>
            </a:endParaRPr>
          </a:p>
          <a:p>
            <a:pPr indent="304800" algn="just">
              <a:lnSpc>
                <a:spcPts val="2800"/>
              </a:lnSpc>
              <a:spcAft>
                <a:spcPts val="0"/>
              </a:spcAft>
            </a:pPr>
            <a:r>
              <a:rPr lang="en-US" altLang="zh-CN" sz="1400" kern="100" dirty="0" smtClean="0">
                <a:latin typeface="Times New Roman" panose="02020603050405020304" pitchFamily="18" charset="0"/>
                <a:ea typeface="宋体" panose="02010600030101010101" pitchFamily="2" charset="-122"/>
              </a:rPr>
              <a:t>R</a:t>
            </a:r>
            <a:r>
              <a:rPr lang="en-US" altLang="zh-CN" sz="1400" kern="100" baseline="30000" dirty="0" smtClean="0">
                <a:latin typeface="Times New Roman" panose="02020603050405020304" pitchFamily="18" charset="0"/>
                <a:ea typeface="宋体" panose="02010600030101010101" pitchFamily="2" charset="-122"/>
              </a:rPr>
              <a:t>2</a:t>
            </a:r>
            <a:r>
              <a:rPr lang="en-US" altLang="zh-CN" sz="1400" kern="100" dirty="0">
                <a:latin typeface="Times New Roman" panose="02020603050405020304" pitchFamily="18" charset="0"/>
                <a:ea typeface="宋体" panose="02010600030101010101" pitchFamily="2" charset="-122"/>
              </a:rPr>
              <a:t>:</a:t>
            </a:r>
            <a:r>
              <a:rPr lang="en-US" altLang="zh-CN" sz="1400" kern="100" dirty="0" smtClean="0">
                <a:latin typeface="Times New Roman" panose="02020603050405020304" pitchFamily="18" charset="0"/>
                <a:ea typeface="宋体" panose="02010600030101010101" pitchFamily="2" charset="-122"/>
              </a:rPr>
              <a:t> some </a:t>
            </a:r>
            <a:r>
              <a:rPr lang="en-US" altLang="zh-CN" sz="1400" kern="100" dirty="0">
                <a:latin typeface="Times New Roman" panose="02020603050405020304" pitchFamily="18" charset="0"/>
                <a:ea typeface="宋体" panose="02010600030101010101" pitchFamily="2" charset="-122"/>
              </a:rPr>
              <a:t>key explanatory </a:t>
            </a:r>
            <a:r>
              <a:rPr lang="en-US" altLang="zh-CN" sz="1400" kern="100" dirty="0" smtClean="0">
                <a:latin typeface="Times New Roman" panose="02020603050405020304" pitchFamily="18" charset="0"/>
                <a:ea typeface="宋体" panose="02010600030101010101" pitchFamily="2" charset="-122"/>
              </a:rPr>
              <a:t>information but not enough</a:t>
            </a:r>
          </a:p>
          <a:p>
            <a:pPr indent="304800" algn="just">
              <a:lnSpc>
                <a:spcPts val="2000"/>
              </a:lnSpc>
            </a:pPr>
            <a:endParaRPr lang="en-US" altLang="zh-CN" sz="1400" i="1" kern="100" dirty="0" smtClean="0">
              <a:latin typeface="Times New Roman" panose="02020603050405020304" pitchFamily="18" charset="0"/>
              <a:ea typeface="宋体"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V</a:t>
            </a:r>
            <a:r>
              <a:rPr lang="en-US" altLang="zh-CN" sz="2400" dirty="0">
                <a:solidFill>
                  <a:schemeClr val="bg1"/>
                </a:solidFill>
              </a:rPr>
              <a:t>. </a:t>
            </a:r>
            <a:r>
              <a:rPr lang="en-US" altLang="zh-CN" sz="2400" dirty="0" smtClean="0">
                <a:solidFill>
                  <a:schemeClr val="bg1"/>
                </a:solidFill>
              </a:rPr>
              <a:t>Regression Results</a:t>
            </a:r>
            <a:endParaRPr lang="en-US" sz="2400" dirty="0">
              <a:solidFill>
                <a:schemeClr val="bg1"/>
              </a:solidFill>
            </a:endParaRPr>
          </a:p>
        </p:txBody>
      </p:sp>
      <p:graphicFrame>
        <p:nvGraphicFramePr>
          <p:cNvPr id="3" name="表格 2"/>
          <p:cNvGraphicFramePr>
            <a:graphicFrameLocks noGrp="1"/>
          </p:cNvGraphicFramePr>
          <p:nvPr>
            <p:extLst>
              <p:ext uri="{D42A27DB-BD31-4B8C-83A1-F6EECF244321}">
                <p14:modId xmlns:p14="http://schemas.microsoft.com/office/powerpoint/2010/main" val="3886682261"/>
              </p:ext>
            </p:extLst>
          </p:nvPr>
        </p:nvGraphicFramePr>
        <p:xfrm>
          <a:off x="5312245" y="837506"/>
          <a:ext cx="4331645" cy="5850665"/>
        </p:xfrm>
        <a:graphic>
          <a:graphicData uri="http://schemas.openxmlformats.org/drawingml/2006/table">
            <a:tbl>
              <a:tblPr/>
              <a:tblGrid>
                <a:gridCol w="866329">
                  <a:extLst>
                    <a:ext uri="{9D8B030D-6E8A-4147-A177-3AD203B41FA5}">
                      <a16:colId xmlns:a16="http://schemas.microsoft.com/office/drawing/2014/main" val="3612964417"/>
                    </a:ext>
                  </a:extLst>
                </a:gridCol>
                <a:gridCol w="866329">
                  <a:extLst>
                    <a:ext uri="{9D8B030D-6E8A-4147-A177-3AD203B41FA5}">
                      <a16:colId xmlns:a16="http://schemas.microsoft.com/office/drawing/2014/main" val="4156991655"/>
                    </a:ext>
                  </a:extLst>
                </a:gridCol>
                <a:gridCol w="866329">
                  <a:extLst>
                    <a:ext uri="{9D8B030D-6E8A-4147-A177-3AD203B41FA5}">
                      <a16:colId xmlns:a16="http://schemas.microsoft.com/office/drawing/2014/main" val="2867863768"/>
                    </a:ext>
                  </a:extLst>
                </a:gridCol>
                <a:gridCol w="866329">
                  <a:extLst>
                    <a:ext uri="{9D8B030D-6E8A-4147-A177-3AD203B41FA5}">
                      <a16:colId xmlns:a16="http://schemas.microsoft.com/office/drawing/2014/main" val="1736321257"/>
                    </a:ext>
                  </a:extLst>
                </a:gridCol>
                <a:gridCol w="866329">
                  <a:extLst>
                    <a:ext uri="{9D8B030D-6E8A-4147-A177-3AD203B41FA5}">
                      <a16:colId xmlns:a16="http://schemas.microsoft.com/office/drawing/2014/main" val="3735700194"/>
                    </a:ext>
                  </a:extLst>
                </a:gridCol>
              </a:tblGrid>
              <a:tr h="211351">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　</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All</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All with RDD</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Before “5.19”</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After “5.19”</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725313129"/>
                  </a:ext>
                </a:extLst>
              </a:tr>
              <a:tr h="103427">
                <a:tc rowSpan="3">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Retail</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w="12700" cap="flat" cmpd="sng" algn="ctr">
                      <a:solidFill>
                        <a:srgbClr val="000000"/>
                      </a:solidFill>
                      <a:prstDash val="solid"/>
                      <a:round/>
                      <a:headEnd type="none" w="med" len="med"/>
                      <a:tailEnd type="none" w="med" len="med"/>
                    </a:lnT>
                    <a:lnB>
                      <a:noFill/>
                    </a:lnB>
                    <a:solidFill>
                      <a:srgbClr val="FF00FF"/>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-0.0003</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w="12700" cap="flat" cmpd="sng" algn="ctr">
                      <a:solidFill>
                        <a:srgbClr val="000000"/>
                      </a:solidFill>
                      <a:prstDash val="solid"/>
                      <a:round/>
                      <a:headEnd type="none" w="med" len="med"/>
                      <a:tailEnd type="none" w="med" len="med"/>
                    </a:lnT>
                    <a:lnB>
                      <a:noFill/>
                    </a:lnB>
                    <a:solidFill>
                      <a:srgbClr val="FF00FF"/>
                    </a:solidFill>
                  </a:tcPr>
                </a:tc>
                <a:tc rowSpan="3">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0.0004      </a:t>
                      </a:r>
                      <a:endParaRPr lang="en-US" sz="900" b="0" i="0" u="none" strike="noStrike" dirty="0" smtClean="0">
                        <a:solidFill>
                          <a:srgbClr val="000000"/>
                        </a:solidFill>
                        <a:effectLst/>
                        <a:latin typeface="Times New Roman" panose="02020603050405020304" pitchFamily="18" charset="0"/>
                        <a:ea typeface="等线" panose="02010600030101010101" pitchFamily="2" charset="-122"/>
                      </a:endParaRPr>
                    </a:p>
                    <a:p>
                      <a:pPr algn="l" fontAlgn="ctr"/>
                      <a:r>
                        <a:rPr lang="en-US" sz="900" b="0" i="0" u="none" strike="noStrike" dirty="0" smtClean="0">
                          <a:solidFill>
                            <a:srgbClr val="000000"/>
                          </a:solidFill>
                          <a:effectLst/>
                          <a:latin typeface="Times New Roman" panose="02020603050405020304" pitchFamily="18" charset="0"/>
                          <a:ea typeface="等线" panose="02010600030101010101" pitchFamily="2" charset="-122"/>
                        </a:rPr>
                        <a:t>0.001</a:t>
                      </a:r>
                      <a:endParaRPr lang="en-US" sz="900" b="0" i="0" u="none" strike="noStrike" dirty="0">
                        <a:solidFill>
                          <a:srgbClr val="000000"/>
                        </a:solidFill>
                        <a:effectLst/>
                        <a:latin typeface="Times New Roman" panose="02020603050405020304" pitchFamily="18" charset="0"/>
                        <a:ea typeface="等线" panose="02010600030101010101" pitchFamily="2" charset="-122"/>
                      </a:endParaRPr>
                    </a:p>
                    <a:p>
                      <a:pPr algn="l" fontAlgn="ctr"/>
                      <a:endParaRPr lang="en-US" sz="900" b="0" i="0" u="none" strike="noStrike" dirty="0" smtClean="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0.0017</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w="12700" cap="flat" cmpd="sng" algn="ctr">
                      <a:solidFill>
                        <a:srgbClr val="000000"/>
                      </a:solidFill>
                      <a:prstDash val="solid"/>
                      <a:round/>
                      <a:headEnd type="none" w="med" len="med"/>
                      <a:tailEnd type="none" w="med" len="med"/>
                    </a:lnT>
                    <a:lnB>
                      <a:noFill/>
                    </a:lnB>
                    <a:solidFill>
                      <a:srgbClr val="FF00FF"/>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0.0017</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440876429"/>
                  </a:ext>
                </a:extLst>
              </a:tr>
              <a:tr h="103427">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-0.001</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-0.001</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627297459"/>
                  </a:ext>
                </a:extLst>
              </a:tr>
              <a:tr h="81399">
                <a:tc vMerge="1">
                  <a:txBody>
                    <a:bodyPr/>
                    <a:lstStyle/>
                    <a:p>
                      <a:endParaRPr lang="zh-CN" altLang="en-US"/>
                    </a:p>
                  </a:txBody>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1132380045"/>
                  </a:ext>
                </a:extLst>
              </a:tr>
              <a:tr h="206854">
                <a:tc rowSpan="3">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Volatility</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6699"/>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0.003</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6699"/>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8.597e-05    (3.6e-05)</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6699"/>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0.0002</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6699"/>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-0.0005</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6699"/>
                    </a:solidFill>
                  </a:tcPr>
                </a:tc>
                <a:extLst>
                  <a:ext uri="{0D108BD9-81ED-4DB2-BD59-A6C34878D82A}">
                    <a16:rowId xmlns:a16="http://schemas.microsoft.com/office/drawing/2014/main" val="860619407"/>
                  </a:ext>
                </a:extLst>
              </a:tr>
              <a:tr h="103427">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-0.001</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-3.27E-05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-9.53E-05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534962582"/>
                  </a:ext>
                </a:extLst>
              </a:tr>
              <a:tr h="103427">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t"/>
                      <a:endParaRPr lang="zh-CN" sz="900" b="0" i="0" u="none" strike="noStrike" dirty="0">
                        <a:solidFill>
                          <a:srgbClr val="000000"/>
                        </a:solidFill>
                        <a:effectLst/>
                        <a:latin typeface="等线" panose="02010600030101010101" pitchFamily="2" charset="-122"/>
                        <a:ea typeface="等线" panose="02010600030101010101" pitchFamily="2" charset="-122"/>
                      </a:endParaRPr>
                    </a:p>
                  </a:txBody>
                  <a:tcPr marL="4497" marR="4497" marT="4497" marB="0">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1226408537"/>
                  </a:ext>
                </a:extLst>
              </a:tr>
              <a:tr h="133695">
                <a:tc rowSpan="3">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Total Address</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00FF"/>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-1.98E-11</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00FF"/>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-7.13E-12</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00FF"/>
                    </a:solidFill>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5.66E-12</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-1.97E-11</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2892017717"/>
                  </a:ext>
                </a:extLst>
              </a:tr>
              <a:tr h="103427">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-4.78E-12</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-4.61E-12</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-9.24E-12</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-1.01E-11</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2738949387"/>
                  </a:ext>
                </a:extLst>
              </a:tr>
              <a:tr h="103427">
                <a:tc vMerge="1">
                  <a:txBody>
                    <a:bodyPr/>
                    <a:lstStyle/>
                    <a:p>
                      <a:endParaRPr lang="zh-CN" altLang="en-US"/>
                    </a:p>
                  </a:txBody>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771299269"/>
                  </a:ext>
                </a:extLst>
              </a:tr>
              <a:tr h="103427">
                <a:tc rowSpan="3">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Sentiment</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00B0F0"/>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-1.78E-08</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00B0F0"/>
                    </a:solidFill>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-1.53E-08</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00B0F0"/>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1.23E-07</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00B0F0"/>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-1.43E-08</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00B0F0"/>
                    </a:solidFill>
                  </a:tcPr>
                </a:tc>
                <a:extLst>
                  <a:ext uri="{0D108BD9-81ED-4DB2-BD59-A6C34878D82A}">
                    <a16:rowId xmlns:a16="http://schemas.microsoft.com/office/drawing/2014/main" val="202049694"/>
                  </a:ext>
                </a:extLst>
              </a:tr>
              <a:tr h="103427">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-4.59E-09</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-4.28E-09</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-1.19E-07</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-4.97E-09</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1242535665"/>
                  </a:ext>
                </a:extLst>
              </a:tr>
              <a:tr h="103427">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2449773544"/>
                  </a:ext>
                </a:extLst>
              </a:tr>
              <a:tr h="103427">
                <a:tc rowSpan="3">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Open Interest</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7C80"/>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1.32E-13</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7C80"/>
                    </a:solidFill>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1.83E-13</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7C80"/>
                    </a:solidFill>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2.39E-13</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7C80"/>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1.83E-13</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7C80"/>
                    </a:solidFill>
                  </a:tcPr>
                </a:tc>
                <a:extLst>
                  <a:ext uri="{0D108BD9-81ED-4DB2-BD59-A6C34878D82A}">
                    <a16:rowId xmlns:a16="http://schemas.microsoft.com/office/drawing/2014/main" val="2471393964"/>
                  </a:ext>
                </a:extLst>
              </a:tr>
              <a:tr h="103427">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-2.52E-14</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-2.40E-14</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-4.36E-14</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-5.86E-14</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636155963"/>
                  </a:ext>
                </a:extLst>
              </a:tr>
              <a:tr h="103427">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4177981444"/>
                  </a:ext>
                </a:extLst>
              </a:tr>
              <a:tr h="103427">
                <a:tc rowSpan="3">
                  <a:txBody>
                    <a:bodyPr/>
                    <a:lstStyle/>
                    <a:p>
                      <a:pPr algn="just" fontAlgn="ctr"/>
                      <a:r>
                        <a:rPr lang="en-US" sz="900" b="0" i="0" u="none" strike="noStrike" dirty="0" err="1">
                          <a:solidFill>
                            <a:srgbClr val="000000"/>
                          </a:solidFill>
                          <a:effectLst/>
                          <a:latin typeface="Times New Roman" panose="02020603050405020304" pitchFamily="18" charset="0"/>
                          <a:ea typeface="等线" panose="02010600030101010101" pitchFamily="2" charset="-122"/>
                        </a:rPr>
                        <a:t>Num.Transaction</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92D050"/>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9.57E-10</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92D050"/>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8.58E-10</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92D050"/>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1.46E-10</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92D050"/>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1.69E-09</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92D050"/>
                    </a:solidFill>
                  </a:tcPr>
                </a:tc>
                <a:extLst>
                  <a:ext uri="{0D108BD9-81ED-4DB2-BD59-A6C34878D82A}">
                    <a16:rowId xmlns:a16="http://schemas.microsoft.com/office/drawing/2014/main" val="3563225780"/>
                  </a:ext>
                </a:extLst>
              </a:tr>
              <a:tr h="103427">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-1.92E-10</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-1.79E-10</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-1.95E-10</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-6.05E-10</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1486862010"/>
                  </a:ext>
                </a:extLst>
              </a:tr>
              <a:tr h="195648">
                <a:tc vMerge="1">
                  <a:txBody>
                    <a:bodyPr/>
                    <a:lstStyle/>
                    <a:p>
                      <a:endParaRPr lang="zh-CN" altLang="en-US"/>
                    </a:p>
                  </a:txBody>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3420526276"/>
                  </a:ext>
                </a:extLst>
              </a:tr>
              <a:tr h="103427">
                <a:tc rowSpan="3">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Corr. To Bitcoin</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C000"/>
                    </a:solidFill>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-0.0002</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C000"/>
                    </a:solidFill>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-0.0001</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C000"/>
                    </a:solidFill>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-0.0001</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C000"/>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-0.0003</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C000"/>
                    </a:solidFill>
                  </a:tcPr>
                </a:tc>
                <a:extLst>
                  <a:ext uri="{0D108BD9-81ED-4DB2-BD59-A6C34878D82A}">
                    <a16:rowId xmlns:a16="http://schemas.microsoft.com/office/drawing/2014/main" val="491416645"/>
                  </a:ext>
                </a:extLst>
              </a:tr>
              <a:tr h="103427">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-4.59E-05</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-4.35E-05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-4.18E-05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-8.93E-05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3596486117"/>
                  </a:ext>
                </a:extLst>
              </a:tr>
              <a:tr h="103427">
                <a:tc vMerge="1">
                  <a:txBody>
                    <a:bodyPr/>
                    <a:lstStyle/>
                    <a:p>
                      <a:endParaRPr lang="zh-CN" altLang="en-US"/>
                    </a:p>
                  </a:txBody>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3444094511"/>
                  </a:ext>
                </a:extLst>
              </a:tr>
              <a:tr h="103427">
                <a:tc rowSpan="3">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Bull Bear difference</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3.97E-06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1.31E-06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5.68E-06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-1.48E-06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2111638639"/>
                  </a:ext>
                </a:extLst>
              </a:tr>
              <a:tr h="103427">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-3.35E-06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-3.13E-06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-3.05E-06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-6.04E-06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3660252380"/>
                  </a:ext>
                </a:extLst>
              </a:tr>
              <a:tr h="103427">
                <a:tc vMerge="1">
                  <a:txBody>
                    <a:bodyPr/>
                    <a:lstStyle/>
                    <a:p>
                      <a:endParaRPr lang="zh-CN" altLang="en-US"/>
                    </a:p>
                  </a:txBody>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4129582885"/>
                  </a:ext>
                </a:extLst>
              </a:tr>
              <a:tr h="103427">
                <a:tc rowSpan="3">
                  <a:txBody>
                    <a:bodyPr/>
                    <a:lstStyle/>
                    <a:p>
                      <a:pPr algn="just" fontAlgn="ctr"/>
                      <a:r>
                        <a:rPr lang="en-US" sz="900" b="0" i="0" u="none" strike="noStrike" dirty="0" err="1">
                          <a:solidFill>
                            <a:srgbClr val="000000"/>
                          </a:solidFill>
                          <a:effectLst/>
                          <a:latin typeface="Times New Roman" panose="02020603050405020304" pitchFamily="18" charset="0"/>
                          <a:ea typeface="等线" panose="02010600030101010101" pitchFamily="2" charset="-122"/>
                        </a:rPr>
                        <a:t>Hodlers</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00FF"/>
                    </a:solidFill>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-3.27E-15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rowSpan="3">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-1.813e-14    (2.4e-14)</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1.80E-13</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1.34E-13</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4290491812"/>
                  </a:ext>
                </a:extLst>
              </a:tr>
              <a:tr h="103427">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-2.57E-14</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-1.96E-13</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-8.06E-14</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1725231844"/>
                  </a:ext>
                </a:extLst>
              </a:tr>
              <a:tr h="103427">
                <a:tc vMerge="1">
                  <a:txBody>
                    <a:bodyPr/>
                    <a:lstStyle/>
                    <a:p>
                      <a:endParaRPr lang="zh-CN" altLang="en-US"/>
                    </a:p>
                  </a:txBody>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vMerge="1">
                  <a:txBody>
                    <a:bodyPr/>
                    <a:lstStyle/>
                    <a:p>
                      <a:endParaRPr lang="zh-CN" altLang="en-US"/>
                    </a:p>
                  </a:txBody>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2555412816"/>
                  </a:ext>
                </a:extLst>
              </a:tr>
              <a:tr h="103427">
                <a:tc rowSpan="3">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Cruisers</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00FF"/>
                    </a:solidFill>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-3.38E-14</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-4.32E-15</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1.67E-13</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-7.25E-14</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786929519"/>
                  </a:ext>
                </a:extLst>
              </a:tr>
              <a:tr h="103427">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-9.31E-15</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-9.11E-15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-1.10E-13</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-2.82E-14</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1343653178"/>
                  </a:ext>
                </a:extLst>
              </a:tr>
              <a:tr h="103427">
                <a:tc vMerge="1">
                  <a:txBody>
                    <a:bodyPr/>
                    <a:lstStyle/>
                    <a:p>
                      <a:endParaRPr lang="zh-CN" altLang="en-US"/>
                    </a:p>
                  </a:txBody>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1756089550"/>
                  </a:ext>
                </a:extLst>
              </a:tr>
              <a:tr h="103427">
                <a:tc rowSpan="3">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Traders</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solidFill>
                      <a:srgbClr val="FF00FF"/>
                    </a:solidFill>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-2.06E-14</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-1.35E-14</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1.57E-13</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-3.91E-14</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1762086695"/>
                  </a:ext>
                </a:extLst>
              </a:tr>
              <a:tr h="103427">
                <a:tc vMerge="1">
                  <a:txBody>
                    <a:bodyPr/>
                    <a:lstStyle/>
                    <a:p>
                      <a:endParaRPr lang="zh-CN" altLang="en-US"/>
                    </a:p>
                  </a:txBody>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-1.46E-14</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-1.37E-14</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-1.16E-13</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-3.98E-14</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1530613602"/>
                  </a:ext>
                </a:extLst>
              </a:tr>
              <a:tr h="103427">
                <a:tc vMerge="1">
                  <a:txBody>
                    <a:bodyPr/>
                    <a:lstStyle/>
                    <a:p>
                      <a:endParaRPr lang="zh-CN" altLang="en-US"/>
                    </a:p>
                  </a:txBody>
                  <a:tcPr/>
                </a:tc>
                <a:tc>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3951527857"/>
                  </a:ext>
                </a:extLst>
              </a:tr>
              <a:tr h="206854">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RD(“5.19”)</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rowSpan="3">
                  <a:txBody>
                    <a:bodyPr/>
                    <a:lstStyle/>
                    <a:p>
                      <a:pPr algn="l"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-0.0003</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rowSpan="3">
                  <a:txBody>
                    <a:bodyPr/>
                    <a:lstStyle/>
                    <a:p>
                      <a:pPr algn="l"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rowSpan="3">
                  <a:txBody>
                    <a:bodyPr/>
                    <a:lstStyle/>
                    <a:p>
                      <a:pPr algn="just" fontAlgn="ct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3395302354"/>
                  </a:ext>
                </a:extLst>
              </a:tr>
              <a:tr h="103427">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 </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vMerge="1">
                  <a:txBody>
                    <a:bodyPr/>
                    <a:lstStyle/>
                    <a:p>
                      <a:endParaRPr lang="zh-CN" altLang="en-US"/>
                    </a:p>
                  </a:txBody>
                  <a:tcPr/>
                </a:tc>
                <a:tc>
                  <a:txBody>
                    <a:bodyPr/>
                    <a:lstStyle/>
                    <a:p>
                      <a:pPr algn="l" fontAlgn="ctr"/>
                      <a:r>
                        <a:rPr lang="en-US" sz="900" b="0" i="0" u="none" strike="noStrike">
                          <a:solidFill>
                            <a:srgbClr val="000000"/>
                          </a:solidFill>
                          <a:effectLst/>
                          <a:latin typeface="Times New Roman" panose="02020603050405020304" pitchFamily="18" charset="0"/>
                          <a:ea typeface="等线" panose="02010600030101010101" pitchFamily="2" charset="-122"/>
                        </a:rPr>
                        <a:t>-3.18E-05</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70635268"/>
                  </a:ext>
                </a:extLst>
              </a:tr>
              <a:tr h="103427">
                <a:tc>
                  <a:txBody>
                    <a:bodyPr/>
                    <a:lstStyle/>
                    <a:p>
                      <a:pPr algn="l" fontAlgn="t"/>
                      <a:endParaRPr lang="zh-CN" sz="900" b="0" i="0" u="none" strike="noStrike">
                        <a:solidFill>
                          <a:srgbClr val="000000"/>
                        </a:solidFill>
                        <a:effectLst/>
                        <a:latin typeface="等线" panose="02010600030101010101" pitchFamily="2" charset="-122"/>
                        <a:ea typeface="等线" panose="02010600030101010101" pitchFamily="2" charset="-122"/>
                      </a:endParaRPr>
                    </a:p>
                  </a:txBody>
                  <a:tcPr marL="4497" marR="4497" marT="4497" marB="0">
                    <a:lnL>
                      <a:noFill/>
                    </a:lnL>
                    <a:lnR>
                      <a:noFill/>
                    </a:lnR>
                    <a:lnT>
                      <a:noFill/>
                    </a:lnT>
                    <a:lnB>
                      <a:noFill/>
                    </a:lnB>
                  </a:tcPr>
                </a:tc>
                <a:tc vMerge="1">
                  <a:txBody>
                    <a:bodyPr/>
                    <a:lstStyle/>
                    <a:p>
                      <a:endParaRPr lang="zh-CN" altLang="en-US"/>
                    </a:p>
                  </a:txBody>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3254738201"/>
                  </a:ext>
                </a:extLst>
              </a:tr>
              <a:tr h="103427">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Adj.R2</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0.156</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0.267</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0.351</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0.251</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a:noFill/>
                    </a:lnB>
                  </a:tcPr>
                </a:tc>
                <a:extLst>
                  <a:ext uri="{0D108BD9-81ED-4DB2-BD59-A6C34878D82A}">
                    <a16:rowId xmlns:a16="http://schemas.microsoft.com/office/drawing/2014/main" val="1241485802"/>
                  </a:ext>
                </a:extLst>
              </a:tr>
              <a:tr h="107924">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N</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793</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793</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900" b="0" i="0" u="none" strike="noStrike">
                          <a:solidFill>
                            <a:srgbClr val="000000"/>
                          </a:solidFill>
                          <a:effectLst/>
                          <a:latin typeface="Times New Roman" panose="02020603050405020304" pitchFamily="18" charset="0"/>
                          <a:ea typeface="等线" panose="02010600030101010101" pitchFamily="2" charset="-122"/>
                        </a:rPr>
                        <a:t>793</a:t>
                      </a:r>
                      <a:endParaRPr lang="zh-CN" sz="900" b="0" i="0" u="none" strike="noStrike">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900" b="0" i="0" u="none" strike="noStrike" dirty="0">
                          <a:solidFill>
                            <a:srgbClr val="000000"/>
                          </a:solidFill>
                          <a:effectLst/>
                          <a:latin typeface="Times New Roman" panose="02020603050405020304" pitchFamily="18" charset="0"/>
                          <a:ea typeface="等线" panose="02010600030101010101" pitchFamily="2" charset="-122"/>
                        </a:rPr>
                        <a:t>793</a:t>
                      </a:r>
                      <a:endParaRPr lang="zh-CN" sz="900" b="0" i="0" u="none" strike="noStrike" dirty="0">
                        <a:solidFill>
                          <a:srgbClr val="000000"/>
                        </a:solidFill>
                        <a:effectLst/>
                        <a:latin typeface="Times New Roman" panose="02020603050405020304" pitchFamily="18" charset="0"/>
                        <a:ea typeface="等线" panose="02010600030101010101" pitchFamily="2" charset="-122"/>
                      </a:endParaRPr>
                    </a:p>
                  </a:txBody>
                  <a:tcPr marL="4497" marR="4497" marT="4497"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0364184"/>
                  </a:ext>
                </a:extLst>
              </a:tr>
            </a:tbl>
          </a:graphicData>
        </a:graphic>
      </p:graphicFrame>
      <p:sp>
        <p:nvSpPr>
          <p:cNvPr id="5" name="文本框 4"/>
          <p:cNvSpPr txBox="1"/>
          <p:nvPr/>
        </p:nvSpPr>
        <p:spPr>
          <a:xfrm>
            <a:off x="5428931" y="6663932"/>
            <a:ext cx="4031924" cy="610936"/>
          </a:xfrm>
          <a:prstGeom prst="rect">
            <a:avLst/>
          </a:prstGeom>
          <a:noFill/>
          <a:ln w="6350" cap="flat">
            <a:noFill/>
            <a:miter lim="800000"/>
          </a:ln>
        </p:spPr>
        <p:txBody>
          <a:bodyPr wrap="square" lIns="0" tIns="0" rIns="0" bIns="0" rtlCol="0" anchor="t" anchorCtr="0">
            <a:spAutoFit/>
          </a:bodyPr>
          <a:lstStyle/>
          <a:p>
            <a:pPr>
              <a:lnSpc>
                <a:spcPct val="90000"/>
              </a:lnSpc>
              <a:spcBef>
                <a:spcPts val="600"/>
              </a:spcBef>
              <a:buClr>
                <a:schemeClr val="bg2"/>
              </a:buClr>
            </a:pPr>
            <a:r>
              <a:rPr lang="en-US" altLang="zh-CN" sz="1100" i="1" dirty="0">
                <a:solidFill>
                  <a:srgbClr val="000000"/>
                </a:solidFill>
                <a:latin typeface="Times New Roman" panose="02020603050405020304" pitchFamily="18" charset="0"/>
                <a:ea typeface="等线" panose="02010600030101010101" pitchFamily="2" charset="-122"/>
              </a:rPr>
              <a:t>Fixed </a:t>
            </a:r>
            <a:r>
              <a:rPr lang="en-US" altLang="zh-CN" sz="1100" i="1" dirty="0" smtClean="0">
                <a:solidFill>
                  <a:srgbClr val="000000"/>
                </a:solidFill>
                <a:latin typeface="Times New Roman" panose="02020603050405020304" pitchFamily="18" charset="0"/>
                <a:ea typeface="等线" panose="02010600030101010101" pitchFamily="2" charset="-122"/>
              </a:rPr>
              <a:t>Effect results(16 lines) on </a:t>
            </a:r>
            <a:r>
              <a:rPr lang="en-US" altLang="zh-CN" sz="1100" i="1" dirty="0">
                <a:solidFill>
                  <a:srgbClr val="000000"/>
                </a:solidFill>
                <a:latin typeface="Times New Roman" panose="02020603050405020304" pitchFamily="18" charset="0"/>
                <a:ea typeface="等线" panose="02010600030101010101" pitchFamily="2" charset="-122"/>
              </a:rPr>
              <a:t>the table are </a:t>
            </a:r>
            <a:r>
              <a:rPr lang="en-US" altLang="zh-CN" sz="1100" i="1" dirty="0" smtClean="0">
                <a:solidFill>
                  <a:srgbClr val="000000"/>
                </a:solidFill>
                <a:latin typeface="Times New Roman" panose="02020603050405020304" pitchFamily="18" charset="0"/>
                <a:ea typeface="等线" panose="02010600030101010101" pitchFamily="2" charset="-122"/>
              </a:rPr>
              <a:t>skipped; </a:t>
            </a:r>
            <a:r>
              <a:rPr lang="en-US" altLang="zh-CN" sz="1100" i="1" kern="100" dirty="0">
                <a:latin typeface="Times New Roman" panose="02020603050405020304" pitchFamily="18" charset="0"/>
                <a:ea typeface="宋体" panose="02010600030101010101" pitchFamily="2" charset="-122"/>
              </a:rPr>
              <a:t>VIF &lt;5 </a:t>
            </a:r>
            <a:r>
              <a:rPr lang="en-US" altLang="zh-CN" sz="1100" i="1" kern="100" dirty="0" smtClean="0">
                <a:latin typeface="Times New Roman" panose="02020603050405020304" pitchFamily="18" charset="0"/>
                <a:ea typeface="宋体" panose="02010600030101010101" pitchFamily="2" charset="-122"/>
              </a:rPr>
              <a:t>for all</a:t>
            </a:r>
            <a:endParaRPr lang="en-US" altLang="zh-CN" sz="1100" i="1" kern="100" dirty="0">
              <a:latin typeface="Times New Roman" panose="02020603050405020304" pitchFamily="18" charset="0"/>
              <a:ea typeface="宋体" panose="02010600030101010101" pitchFamily="2" charset="-122"/>
            </a:endParaRPr>
          </a:p>
          <a:p>
            <a:pPr>
              <a:lnSpc>
                <a:spcPct val="90000"/>
              </a:lnSpc>
              <a:spcBef>
                <a:spcPts val="600"/>
              </a:spcBef>
              <a:buClr>
                <a:schemeClr val="bg2"/>
              </a:buClr>
            </a:pPr>
            <a:endParaRPr lang="zh-CN" altLang="zh-CN" sz="1100" i="1" dirty="0">
              <a:solidFill>
                <a:srgbClr val="000000"/>
              </a:solidFill>
              <a:latin typeface="Times New Roman" panose="02020603050405020304" pitchFamily="18" charset="0"/>
              <a:ea typeface="等线" panose="02010600030101010101" pitchFamily="2" charset="-122"/>
            </a:endParaRPr>
          </a:p>
          <a:p>
            <a:pPr>
              <a:lnSpc>
                <a:spcPct val="90000"/>
              </a:lnSpc>
              <a:spcBef>
                <a:spcPts val="600"/>
              </a:spcBef>
              <a:buClr>
                <a:schemeClr val="bg2"/>
              </a:buClr>
            </a:pPr>
            <a:endParaRPr lang="zh-CN" altLang="en-US" sz="1100" dirty="0" smtClean="0">
              <a:latin typeface="Arial" pitchFamily="34" charset="0"/>
              <a:cs typeface="Arial" pitchFamily="34" charset="0"/>
            </a:endParaRPr>
          </a:p>
        </p:txBody>
      </p:sp>
    </p:spTree>
    <p:extLst>
      <p:ext uri="{BB962C8B-B14F-4D97-AF65-F5344CB8AC3E}">
        <p14:creationId xmlns:p14="http://schemas.microsoft.com/office/powerpoint/2010/main" val="3508676431"/>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66701" y="895214"/>
            <a:ext cx="3865425" cy="2297181"/>
          </a:xfrm>
          <a:prstGeom prst="rect">
            <a:avLst/>
          </a:prstGeom>
          <a:noFill/>
          <a:ln w="9525">
            <a:solidFill>
              <a:srgbClr val="92D050"/>
            </a:solid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How convenience yield affect the market?</a:t>
            </a:r>
          </a:p>
          <a:p>
            <a:pPr marL="285750" indent="-285750">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convenience </a:t>
            </a:r>
            <a:r>
              <a:rPr lang="en-US" altLang="zh-CN" sz="1400" dirty="0">
                <a:latin typeface="Times New Roman" panose="02020603050405020304" pitchFamily="18" charset="0"/>
                <a:ea typeface="等线" panose="02010600030101010101" pitchFamily="2" charset="-122"/>
              </a:rPr>
              <a:t>yield </a:t>
            </a:r>
            <a:r>
              <a:rPr lang="en-US" altLang="zh-CN" sz="1400" b="1" dirty="0" smtClean="0">
                <a:solidFill>
                  <a:srgbClr val="289055"/>
                </a:solidFill>
                <a:latin typeface="Times New Roman" panose="02020603050405020304" pitchFamily="18" charset="0"/>
                <a:ea typeface="等线" panose="02010600030101010101" pitchFamily="2" charset="-122"/>
              </a:rPr>
              <a:t>significantly </a:t>
            </a:r>
            <a:r>
              <a:rPr lang="en-US" altLang="zh-CN" sz="1400" b="1" dirty="0">
                <a:solidFill>
                  <a:srgbClr val="289055"/>
                </a:solidFill>
                <a:latin typeface="Times New Roman" panose="02020603050405020304" pitchFamily="18" charset="0"/>
                <a:ea typeface="等线" panose="02010600030101010101" pitchFamily="2" charset="-122"/>
              </a:rPr>
              <a:t>increase </a:t>
            </a:r>
            <a:r>
              <a:rPr lang="en-US" altLang="zh-CN" sz="1400" dirty="0">
                <a:solidFill>
                  <a:srgbClr val="289055"/>
                </a:solidFill>
                <a:latin typeface="Times New Roman" panose="02020603050405020304" pitchFamily="18" charset="0"/>
                <a:ea typeface="等线" panose="02010600030101010101" pitchFamily="2" charset="-122"/>
              </a:rPr>
              <a:t>both the </a:t>
            </a:r>
            <a:r>
              <a:rPr lang="en-US" altLang="zh-CN" sz="1400" dirty="0" smtClean="0">
                <a:solidFill>
                  <a:srgbClr val="289055"/>
                </a:solidFill>
                <a:latin typeface="Times New Roman" panose="02020603050405020304" pitchFamily="18" charset="0"/>
                <a:ea typeface="等线" panose="02010600030101010101" pitchFamily="2" charset="-122"/>
              </a:rPr>
              <a:t>value </a:t>
            </a:r>
            <a:r>
              <a:rPr lang="en-US" altLang="zh-CN" sz="1400" dirty="0">
                <a:solidFill>
                  <a:srgbClr val="289055"/>
                </a:solidFill>
                <a:latin typeface="Times New Roman" panose="02020603050405020304" pitchFamily="18" charset="0"/>
                <a:ea typeface="等线" panose="02010600030101010101" pitchFamily="2" charset="-122"/>
              </a:rPr>
              <a:t>and increment </a:t>
            </a:r>
            <a:r>
              <a:rPr lang="en-US" altLang="zh-CN" sz="1400" dirty="0" smtClean="0">
                <a:solidFill>
                  <a:srgbClr val="289055"/>
                </a:solidFill>
                <a:latin typeface="Times New Roman" panose="02020603050405020304" pitchFamily="18" charset="0"/>
                <a:ea typeface="等线" panose="02010600030101010101" pitchFamily="2" charset="-122"/>
              </a:rPr>
              <a:t>value of prices</a:t>
            </a:r>
          </a:p>
          <a:p>
            <a:pPr marL="285750" indent="-285750">
              <a:lnSpc>
                <a:spcPts val="2800"/>
              </a:lnSpc>
              <a:buFont typeface="Wingdings" panose="05000000000000000000" pitchFamily="2" charset="2"/>
              <a:buChar char="Ø"/>
            </a:pPr>
            <a:endParaRPr lang="en-US" altLang="zh-CN" sz="1400" dirty="0" smtClean="0">
              <a:latin typeface="Times New Roman" panose="02020603050405020304" pitchFamily="18" charset="0"/>
              <a:ea typeface="等线" panose="02010600030101010101" pitchFamily="2" charset="-122"/>
            </a:endParaRPr>
          </a:p>
          <a:p>
            <a:pPr marL="285750" indent="-285750">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Convenience </a:t>
            </a:r>
            <a:r>
              <a:rPr lang="en-US" altLang="zh-CN" sz="1400" dirty="0">
                <a:latin typeface="Times New Roman" panose="02020603050405020304" pitchFamily="18" charset="0"/>
                <a:ea typeface="等线" panose="02010600030101010101" pitchFamily="2" charset="-122"/>
              </a:rPr>
              <a:t>yield has a </a:t>
            </a:r>
            <a:r>
              <a:rPr lang="en-US" altLang="zh-CN" sz="1400" dirty="0">
                <a:solidFill>
                  <a:srgbClr val="FF0000"/>
                </a:solidFill>
                <a:latin typeface="Times New Roman" panose="02020603050405020304" pitchFamily="18" charset="0"/>
                <a:ea typeface="等线" panose="02010600030101010101" pitchFamily="2" charset="-122"/>
              </a:rPr>
              <a:t>significant </a:t>
            </a:r>
            <a:r>
              <a:rPr lang="en-US" altLang="zh-CN" sz="1400" b="1" dirty="0">
                <a:solidFill>
                  <a:srgbClr val="FF0000"/>
                </a:solidFill>
                <a:latin typeface="Times New Roman" panose="02020603050405020304" pitchFamily="18" charset="0"/>
                <a:ea typeface="等线" panose="02010600030101010101" pitchFamily="2" charset="-122"/>
              </a:rPr>
              <a:t>increase </a:t>
            </a:r>
            <a:r>
              <a:rPr lang="en-US" altLang="zh-CN" sz="1400" dirty="0">
                <a:solidFill>
                  <a:srgbClr val="FF0000"/>
                </a:solidFill>
                <a:latin typeface="Times New Roman" panose="02020603050405020304" pitchFamily="18" charset="0"/>
                <a:ea typeface="等线" panose="02010600030101010101" pitchFamily="2" charset="-122"/>
              </a:rPr>
              <a:t>transaction volume. </a:t>
            </a:r>
          </a:p>
          <a:p>
            <a:pPr marL="285750" indent="-285750">
              <a:lnSpc>
                <a:spcPts val="2800"/>
              </a:lnSpc>
              <a:buFont typeface="Wingdings" panose="05000000000000000000" pitchFamily="2" charset="2"/>
              <a:buChar char="Ø"/>
            </a:pPr>
            <a:r>
              <a:rPr lang="en-US" altLang="zh-CN" sz="1400" i="1" dirty="0">
                <a:solidFill>
                  <a:schemeClr val="bg1">
                    <a:lumMod val="65000"/>
                  </a:schemeClr>
                </a:solidFill>
                <a:latin typeface="Times New Roman" panose="02020603050405020304" pitchFamily="18" charset="0"/>
                <a:ea typeface="等线" panose="02010600030101010101" pitchFamily="2" charset="-122"/>
              </a:rPr>
              <a:t>After </a:t>
            </a:r>
            <a:r>
              <a:rPr lang="zh-CN" altLang="en-US" sz="1400" i="1" dirty="0">
                <a:solidFill>
                  <a:schemeClr val="bg1">
                    <a:lumMod val="65000"/>
                  </a:schemeClr>
                </a:solidFill>
                <a:latin typeface="Times New Roman" panose="02020603050405020304" pitchFamily="18" charset="0"/>
                <a:ea typeface="等线" panose="02010600030101010101" pitchFamily="2" charset="-122"/>
              </a:rPr>
              <a:t>“</a:t>
            </a:r>
            <a:r>
              <a:rPr lang="en-US" altLang="zh-CN" sz="1400" i="1" dirty="0">
                <a:solidFill>
                  <a:schemeClr val="bg1">
                    <a:lumMod val="65000"/>
                  </a:schemeClr>
                </a:solidFill>
                <a:latin typeface="Times New Roman" panose="02020603050405020304" pitchFamily="18" charset="0"/>
                <a:ea typeface="等线" panose="02010600030101010101" pitchFamily="2" charset="-122"/>
              </a:rPr>
              <a:t>5.19</a:t>
            </a:r>
            <a:r>
              <a:rPr lang="zh-CN" altLang="en-US" sz="1400" i="1" dirty="0">
                <a:solidFill>
                  <a:schemeClr val="bg1">
                    <a:lumMod val="65000"/>
                  </a:schemeClr>
                </a:solidFill>
                <a:latin typeface="Times New Roman" panose="02020603050405020304" pitchFamily="18" charset="0"/>
                <a:ea typeface="等线" panose="02010600030101010101" pitchFamily="2" charset="-122"/>
              </a:rPr>
              <a:t>”</a:t>
            </a:r>
            <a:r>
              <a:rPr lang="en-US" altLang="zh-CN" sz="1400" i="1" dirty="0">
                <a:solidFill>
                  <a:schemeClr val="bg1">
                    <a:lumMod val="65000"/>
                  </a:schemeClr>
                </a:solidFill>
                <a:latin typeface="Times New Roman" panose="02020603050405020304" pitchFamily="18" charset="0"/>
                <a:ea typeface="等线" panose="02010600030101010101" pitchFamily="2" charset="-122"/>
              </a:rPr>
              <a:t>, the impact of convenience yield on the spot market has increased significantly.</a:t>
            </a:r>
          </a:p>
          <a:p>
            <a:pPr marL="285750" indent="-285750">
              <a:lnSpc>
                <a:spcPts val="2800"/>
              </a:lnSpc>
              <a:buFont typeface="Wingdings" panose="05000000000000000000" pitchFamily="2" charset="2"/>
              <a:buChar char="Ø"/>
            </a:pPr>
            <a:endParaRPr lang="en-US" altLang="zh-CN" sz="1400" dirty="0" smtClean="0">
              <a:latin typeface="Times New Roman" panose="02020603050405020304" pitchFamily="18" charset="0"/>
              <a:ea typeface="等线" panose="02010600030101010101" pitchFamily="2" charset="-122"/>
            </a:endParaRPr>
          </a:p>
          <a:p>
            <a:pPr marL="285750" indent="-285750">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Convenience yield </a:t>
            </a:r>
            <a:r>
              <a:rPr lang="en-US" altLang="zh-CN" sz="1400" b="1" dirty="0">
                <a:solidFill>
                  <a:srgbClr val="FF00FF"/>
                </a:solidFill>
                <a:latin typeface="Times New Roman" panose="02020603050405020304" pitchFamily="18" charset="0"/>
                <a:ea typeface="等线" panose="02010600030101010101" pitchFamily="2" charset="-122"/>
              </a:rPr>
              <a:t>increase </a:t>
            </a:r>
            <a:r>
              <a:rPr lang="en-US" altLang="zh-CN" sz="1400" dirty="0">
                <a:solidFill>
                  <a:srgbClr val="FF00FF"/>
                </a:solidFill>
                <a:latin typeface="Times New Roman" panose="02020603050405020304" pitchFamily="18" charset="0"/>
                <a:ea typeface="等线" panose="02010600030101010101" pitchFamily="2" charset="-122"/>
              </a:rPr>
              <a:t>market price </a:t>
            </a:r>
            <a:r>
              <a:rPr lang="en-US" altLang="zh-CN" sz="1400" dirty="0" smtClean="0">
                <a:solidFill>
                  <a:srgbClr val="FF00FF"/>
                </a:solidFill>
                <a:latin typeface="Times New Roman" panose="02020603050405020304" pitchFamily="18" charset="0"/>
                <a:ea typeface="等线" panose="02010600030101010101" pitchFamily="2" charset="-122"/>
              </a:rPr>
              <a:t>volatility. </a:t>
            </a:r>
          </a:p>
          <a:p>
            <a:pPr marL="285750" indent="-285750">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However</a:t>
            </a:r>
            <a:r>
              <a:rPr lang="en-US" altLang="zh-CN" sz="1400" dirty="0">
                <a:latin typeface="Times New Roman" panose="02020603050405020304" pitchFamily="18" charset="0"/>
                <a:ea typeface="等线" panose="02010600030101010101" pitchFamily="2" charset="-122"/>
              </a:rPr>
              <a:t>, the influence direction and significance </a:t>
            </a:r>
            <a:r>
              <a:rPr lang="en-US" altLang="zh-CN" sz="1400" dirty="0" smtClean="0">
                <a:latin typeface="Times New Roman" panose="02020603050405020304" pitchFamily="18" charset="0"/>
                <a:ea typeface="等线" panose="02010600030101010101" pitchFamily="2" charset="-122"/>
              </a:rPr>
              <a:t>after </a:t>
            </a:r>
            <a:r>
              <a:rPr lang="en-US" altLang="zh-CN" sz="1400" dirty="0">
                <a:latin typeface="Times New Roman" panose="02020603050405020304" pitchFamily="18" charset="0"/>
                <a:ea typeface="等线" panose="02010600030101010101" pitchFamily="2" charset="-122"/>
              </a:rPr>
              <a:t>the crisis have </a:t>
            </a:r>
            <a:r>
              <a:rPr lang="en-US" altLang="zh-CN" sz="1400" b="1" dirty="0">
                <a:solidFill>
                  <a:srgbClr val="FF00FF"/>
                </a:solidFill>
                <a:latin typeface="Times New Roman" panose="02020603050405020304" pitchFamily="18" charset="0"/>
                <a:ea typeface="等线" panose="02010600030101010101" pitchFamily="2" charset="-122"/>
              </a:rPr>
              <a:t>changed </a:t>
            </a:r>
            <a:r>
              <a:rPr lang="en-US" altLang="zh-CN" sz="1400" b="1" dirty="0" smtClean="0">
                <a:solidFill>
                  <a:srgbClr val="FF00FF"/>
                </a:solidFill>
                <a:latin typeface="Times New Roman" panose="02020603050405020304" pitchFamily="18" charset="0"/>
                <a:ea typeface="等线" panose="02010600030101010101" pitchFamily="2" charset="-122"/>
              </a:rPr>
              <a:t>greatly</a:t>
            </a:r>
            <a:r>
              <a:rPr lang="en-US" altLang="zh-CN" sz="1400" dirty="0" smtClean="0">
                <a:solidFill>
                  <a:srgbClr val="FF00FF"/>
                </a:solidFill>
                <a:latin typeface="Times New Roman" panose="02020603050405020304" pitchFamily="18" charset="0"/>
                <a:ea typeface="等线" panose="02010600030101010101" pitchFamily="2" charset="-122"/>
              </a:rPr>
              <a:t>.</a:t>
            </a:r>
          </a:p>
          <a:p>
            <a:pPr marL="285750" indent="-285750">
              <a:lnSpc>
                <a:spcPts val="2800"/>
              </a:lnSpc>
              <a:buFont typeface="Wingdings" panose="05000000000000000000" pitchFamily="2" charset="2"/>
              <a:buChar char="Ø"/>
            </a:pPr>
            <a:endParaRPr lang="en-US" altLang="zh-CN" sz="1400" i="1" kern="100" dirty="0" smtClean="0">
              <a:latin typeface="Times New Roman" panose="02020603050405020304" pitchFamily="18" charset="0"/>
              <a:ea typeface="宋体"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V. Regression </a:t>
            </a:r>
            <a:r>
              <a:rPr lang="en-US" altLang="zh-CN" sz="2400" dirty="0" smtClean="0">
                <a:solidFill>
                  <a:schemeClr val="bg1"/>
                </a:solidFill>
              </a:rPr>
              <a:t>Results</a:t>
            </a:r>
            <a:endParaRPr lang="en-US" altLang="zh-CN" sz="2400" dirty="0">
              <a:solidFill>
                <a:schemeClr val="bg1"/>
              </a:solidFill>
            </a:endParaRPr>
          </a:p>
        </p:txBody>
      </p:sp>
      <p:graphicFrame>
        <p:nvGraphicFramePr>
          <p:cNvPr id="3" name="表格 2"/>
          <p:cNvGraphicFramePr>
            <a:graphicFrameLocks noGrp="1"/>
          </p:cNvGraphicFramePr>
          <p:nvPr>
            <p:extLst>
              <p:ext uri="{D42A27DB-BD31-4B8C-83A1-F6EECF244321}">
                <p14:modId xmlns:p14="http://schemas.microsoft.com/office/powerpoint/2010/main" val="578878180"/>
              </p:ext>
            </p:extLst>
          </p:nvPr>
        </p:nvGraphicFramePr>
        <p:xfrm>
          <a:off x="4520158" y="1485578"/>
          <a:ext cx="5015724" cy="4284475"/>
        </p:xfrm>
        <a:graphic>
          <a:graphicData uri="http://schemas.openxmlformats.org/drawingml/2006/table">
            <a:tbl>
              <a:tblPr/>
              <a:tblGrid>
                <a:gridCol w="716532">
                  <a:extLst>
                    <a:ext uri="{9D8B030D-6E8A-4147-A177-3AD203B41FA5}">
                      <a16:colId xmlns:a16="http://schemas.microsoft.com/office/drawing/2014/main" val="2543964758"/>
                    </a:ext>
                  </a:extLst>
                </a:gridCol>
                <a:gridCol w="716532">
                  <a:extLst>
                    <a:ext uri="{9D8B030D-6E8A-4147-A177-3AD203B41FA5}">
                      <a16:colId xmlns:a16="http://schemas.microsoft.com/office/drawing/2014/main" val="2352016076"/>
                    </a:ext>
                  </a:extLst>
                </a:gridCol>
                <a:gridCol w="716532">
                  <a:extLst>
                    <a:ext uri="{9D8B030D-6E8A-4147-A177-3AD203B41FA5}">
                      <a16:colId xmlns:a16="http://schemas.microsoft.com/office/drawing/2014/main" val="2748641666"/>
                    </a:ext>
                  </a:extLst>
                </a:gridCol>
                <a:gridCol w="716532">
                  <a:extLst>
                    <a:ext uri="{9D8B030D-6E8A-4147-A177-3AD203B41FA5}">
                      <a16:colId xmlns:a16="http://schemas.microsoft.com/office/drawing/2014/main" val="2904299476"/>
                    </a:ext>
                  </a:extLst>
                </a:gridCol>
                <a:gridCol w="716532">
                  <a:extLst>
                    <a:ext uri="{9D8B030D-6E8A-4147-A177-3AD203B41FA5}">
                      <a16:colId xmlns:a16="http://schemas.microsoft.com/office/drawing/2014/main" val="1826029874"/>
                    </a:ext>
                  </a:extLst>
                </a:gridCol>
                <a:gridCol w="716532">
                  <a:extLst>
                    <a:ext uri="{9D8B030D-6E8A-4147-A177-3AD203B41FA5}">
                      <a16:colId xmlns:a16="http://schemas.microsoft.com/office/drawing/2014/main" val="1011510399"/>
                    </a:ext>
                  </a:extLst>
                </a:gridCol>
                <a:gridCol w="716532">
                  <a:extLst>
                    <a:ext uri="{9D8B030D-6E8A-4147-A177-3AD203B41FA5}">
                      <a16:colId xmlns:a16="http://schemas.microsoft.com/office/drawing/2014/main" val="4133908138"/>
                    </a:ext>
                  </a:extLst>
                </a:gridCol>
              </a:tblGrid>
              <a:tr h="192739">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　</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tcPr>
                </a:tc>
                <a:tc gridSpan="3">
                  <a:txBody>
                    <a:bodyPr/>
                    <a:lstStyle/>
                    <a:p>
                      <a:pPr algn="just" fontAlgn="ctr"/>
                      <a:r>
                        <a:rPr lang="en-US" sz="1050" b="1" i="0" u="none" strike="noStrike">
                          <a:solidFill>
                            <a:srgbClr val="000000"/>
                          </a:solidFill>
                          <a:effectLst/>
                          <a:latin typeface="Times New Roman" panose="02020603050405020304" pitchFamily="18" charset="0"/>
                          <a:ea typeface="等线" panose="02010600030101010101" pitchFamily="2" charset="-122"/>
                        </a:rPr>
                        <a:t>Spot</a:t>
                      </a:r>
                      <a:endParaRPr lang="zh-CN" sz="1050" b="1"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tcPr>
                </a:tc>
                <a:tc hMerge="1">
                  <a:txBody>
                    <a:bodyPr/>
                    <a:lstStyle/>
                    <a:p>
                      <a:endParaRPr lang="zh-CN" altLang="en-US"/>
                    </a:p>
                  </a:txBody>
                  <a:tcPr/>
                </a:tc>
                <a:tc hMerge="1">
                  <a:txBody>
                    <a:bodyPr/>
                    <a:lstStyle/>
                    <a:p>
                      <a:endParaRPr lang="zh-CN" altLang="en-US"/>
                    </a:p>
                  </a:txBody>
                  <a:tcPr/>
                </a:tc>
                <a:tc gridSpan="3">
                  <a:txBody>
                    <a:bodyPr/>
                    <a:lstStyle/>
                    <a:p>
                      <a:pPr algn="just" fontAlgn="ctr"/>
                      <a:r>
                        <a:rPr lang="en-US" sz="1050" b="1" i="0" u="none" strike="noStrike" dirty="0">
                          <a:solidFill>
                            <a:srgbClr val="000000"/>
                          </a:solidFill>
                          <a:effectLst/>
                          <a:latin typeface="Times New Roman" panose="02020603050405020304" pitchFamily="18" charset="0"/>
                          <a:ea typeface="等线" panose="02010600030101010101" pitchFamily="2" charset="-122"/>
                        </a:rPr>
                        <a:t>Future</a:t>
                      </a:r>
                      <a:endParaRPr lang="zh-CN" sz="105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146000205"/>
                  </a:ext>
                </a:extLst>
              </a:tr>
              <a:tr h="419894">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　</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1" i="0" u="none" strike="noStrike" dirty="0">
                          <a:solidFill>
                            <a:srgbClr val="000000"/>
                          </a:solidFill>
                          <a:effectLst/>
                          <a:latin typeface="Times New Roman" panose="02020603050405020304" pitchFamily="18" charset="0"/>
                          <a:ea typeface="等线" panose="02010600030101010101" pitchFamily="2" charset="-122"/>
                        </a:rPr>
                        <a:t>All</a:t>
                      </a:r>
                      <a:endParaRPr lang="zh-CN" sz="105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1" i="0" u="none" strike="noStrike" dirty="0">
                          <a:solidFill>
                            <a:srgbClr val="000000"/>
                          </a:solidFill>
                          <a:effectLst/>
                          <a:latin typeface="Times New Roman" panose="02020603050405020304" pitchFamily="18" charset="0"/>
                          <a:ea typeface="等线" panose="02010600030101010101" pitchFamily="2" charset="-122"/>
                        </a:rPr>
                        <a:t>Before”5.19”</a:t>
                      </a:r>
                      <a:endParaRPr lang="zh-CN" sz="105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1" i="0" u="none" strike="noStrike" dirty="0">
                          <a:solidFill>
                            <a:srgbClr val="000000"/>
                          </a:solidFill>
                          <a:effectLst/>
                          <a:latin typeface="Times New Roman" panose="02020603050405020304" pitchFamily="18" charset="0"/>
                          <a:ea typeface="等线" panose="02010600030101010101" pitchFamily="2" charset="-122"/>
                        </a:rPr>
                        <a:t>After”5.19”</a:t>
                      </a:r>
                      <a:endParaRPr lang="zh-CN" sz="105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1" i="0" u="none" strike="noStrike" dirty="0">
                          <a:solidFill>
                            <a:srgbClr val="000000"/>
                          </a:solidFill>
                          <a:effectLst/>
                          <a:latin typeface="Times New Roman" panose="02020603050405020304" pitchFamily="18" charset="0"/>
                          <a:ea typeface="等线" panose="02010600030101010101" pitchFamily="2" charset="-122"/>
                        </a:rPr>
                        <a:t>All</a:t>
                      </a:r>
                      <a:endParaRPr lang="zh-CN" sz="105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1" i="0" u="none" strike="noStrike" dirty="0">
                          <a:solidFill>
                            <a:srgbClr val="000000"/>
                          </a:solidFill>
                          <a:effectLst/>
                          <a:latin typeface="Times New Roman" panose="02020603050405020304" pitchFamily="18" charset="0"/>
                          <a:ea typeface="等线" panose="02010600030101010101" pitchFamily="2" charset="-122"/>
                        </a:rPr>
                        <a:t>Before”5.19”</a:t>
                      </a:r>
                      <a:endParaRPr lang="zh-CN" sz="105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1" i="0" u="none" strike="noStrike" dirty="0">
                          <a:solidFill>
                            <a:srgbClr val="000000"/>
                          </a:solidFill>
                          <a:effectLst/>
                          <a:latin typeface="Times New Roman" panose="02020603050405020304" pitchFamily="18" charset="0"/>
                          <a:ea typeface="等线" panose="02010600030101010101" pitchFamily="2" charset="-122"/>
                        </a:rPr>
                        <a:t>After”5.19”</a:t>
                      </a:r>
                      <a:endParaRPr lang="zh-CN" sz="105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9008703"/>
                  </a:ext>
                </a:extLst>
              </a:tr>
              <a:tr h="205480">
                <a:tc rowSpan="3">
                  <a:txBody>
                    <a:bodyPr/>
                    <a:lstStyle/>
                    <a:p>
                      <a:pPr algn="just" fontAlgn="ctr"/>
                      <a:r>
                        <a:rPr lang="en-US" sz="1050" b="1" i="0" u="none" strike="noStrike" dirty="0">
                          <a:solidFill>
                            <a:srgbClr val="000000"/>
                          </a:solidFill>
                          <a:effectLst/>
                          <a:latin typeface="Times New Roman" panose="02020603050405020304" pitchFamily="18" charset="0"/>
                          <a:ea typeface="等线" panose="02010600030101010101" pitchFamily="2" charset="-122"/>
                        </a:rPr>
                        <a:t>Convenience yield lag to volatility</a:t>
                      </a:r>
                      <a:endParaRPr lang="zh-CN" sz="105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65.4736</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-51.5352</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solidFill>
                      <a:srgbClr val="FF00FF"/>
                    </a:solidFill>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103.7493</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solidFill>
                      <a:srgbClr val="FF00FF"/>
                    </a:solidFill>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66.7041</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ctr"/>
                      <a:r>
                        <a:rPr lang="en-US" sz="1050" b="0" i="0" u="none" strike="noStrike">
                          <a:solidFill>
                            <a:srgbClr val="000000"/>
                          </a:solidFill>
                          <a:effectLst/>
                          <a:latin typeface="Times New Roman" panose="02020603050405020304" pitchFamily="18" charset="0"/>
                          <a:ea typeface="等线" panose="02010600030101010101" pitchFamily="2" charset="-122"/>
                        </a:rPr>
                        <a:t>-55.5025</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solidFill>
                      <a:srgbClr val="FF00FF"/>
                    </a:solidFill>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103.945</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solidFill>
                      <a:srgbClr val="FF00FF"/>
                    </a:solidFill>
                  </a:tcPr>
                </a:tc>
                <a:extLst>
                  <a:ext uri="{0D108BD9-81ED-4DB2-BD59-A6C34878D82A}">
                    <a16:rowId xmlns:a16="http://schemas.microsoft.com/office/drawing/2014/main" val="2269752857"/>
                  </a:ext>
                </a:extLst>
              </a:tr>
              <a:tr h="205480">
                <a:tc vMerge="1">
                  <a:txBody>
                    <a:bodyPr/>
                    <a:lstStyle/>
                    <a:p>
                      <a:endParaRPr lang="zh-CN" altLang="en-US"/>
                    </a:p>
                  </a:txBody>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-38.206</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l" fontAlgn="ctr"/>
                      <a:r>
                        <a:rPr lang="en-US" sz="1050" b="0" i="0" u="none" strike="noStrike">
                          <a:solidFill>
                            <a:srgbClr val="000000"/>
                          </a:solidFill>
                          <a:effectLst/>
                          <a:latin typeface="Times New Roman" panose="02020603050405020304" pitchFamily="18" charset="0"/>
                          <a:ea typeface="等线" panose="02010600030101010101" pitchFamily="2" charset="-122"/>
                        </a:rPr>
                        <a:t>-77.54</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-41.351</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l" fontAlgn="ctr"/>
                      <a:r>
                        <a:rPr lang="en-US" sz="1050" b="0" i="0" u="none" strike="noStrike">
                          <a:solidFill>
                            <a:srgbClr val="000000"/>
                          </a:solidFill>
                          <a:effectLst/>
                          <a:latin typeface="Times New Roman" panose="02020603050405020304" pitchFamily="18" charset="0"/>
                          <a:ea typeface="等线" panose="02010600030101010101" pitchFamily="2" charset="-122"/>
                        </a:rPr>
                        <a:t>-38.339</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l" fontAlgn="ctr"/>
                      <a:r>
                        <a:rPr lang="en-US" sz="1050" b="0" i="0" u="none" strike="noStrike">
                          <a:solidFill>
                            <a:srgbClr val="000000"/>
                          </a:solidFill>
                          <a:effectLst/>
                          <a:latin typeface="Times New Roman" panose="02020603050405020304" pitchFamily="18" charset="0"/>
                          <a:ea typeface="等线" panose="02010600030101010101" pitchFamily="2" charset="-122"/>
                        </a:rPr>
                        <a:t>-78.053</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l" fontAlgn="ctr"/>
                      <a:r>
                        <a:rPr lang="en-US" sz="1050" b="0" i="0" u="none" strike="noStrike">
                          <a:solidFill>
                            <a:srgbClr val="000000"/>
                          </a:solidFill>
                          <a:effectLst/>
                          <a:latin typeface="Times New Roman" panose="02020603050405020304" pitchFamily="18" charset="0"/>
                          <a:ea typeface="等线" panose="02010600030101010101" pitchFamily="2" charset="-122"/>
                        </a:rPr>
                        <a:t>-41.402</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extLst>
                  <a:ext uri="{0D108BD9-81ED-4DB2-BD59-A6C34878D82A}">
                    <a16:rowId xmlns:a16="http://schemas.microsoft.com/office/drawing/2014/main" val="1711489045"/>
                  </a:ext>
                </a:extLst>
              </a:tr>
              <a:tr h="205480">
                <a:tc vMerge="1">
                  <a:txBody>
                    <a:bodyPr/>
                    <a:lstStyle/>
                    <a:p>
                      <a:endParaRPr lang="zh-CN" altLang="en-US"/>
                    </a:p>
                  </a:txBody>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just" fontAlgn="ct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just" fontAlgn="ct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extLst>
                  <a:ext uri="{0D108BD9-81ED-4DB2-BD59-A6C34878D82A}">
                    <a16:rowId xmlns:a16="http://schemas.microsoft.com/office/drawing/2014/main" val="146838233"/>
                  </a:ext>
                </a:extLst>
              </a:tr>
              <a:tr h="259084">
                <a:tc>
                  <a:txBody>
                    <a:bodyPr/>
                    <a:lstStyle/>
                    <a:p>
                      <a:pPr algn="just" fontAlgn="ctr"/>
                      <a:r>
                        <a:rPr lang="en-US" sz="1050" b="1" i="0" u="none" strike="noStrike" dirty="0">
                          <a:solidFill>
                            <a:srgbClr val="000000"/>
                          </a:solidFill>
                          <a:effectLst/>
                          <a:latin typeface="Times New Roman" panose="02020603050405020304" pitchFamily="18" charset="0"/>
                          <a:ea typeface="等线" panose="02010600030101010101" pitchFamily="2" charset="-122"/>
                        </a:rPr>
                        <a:t>Adj. R</a:t>
                      </a:r>
                      <a:r>
                        <a:rPr lang="en-US" sz="1050" b="1" i="0" u="none" strike="noStrike" baseline="30000" dirty="0">
                          <a:solidFill>
                            <a:srgbClr val="000000"/>
                          </a:solidFill>
                          <a:effectLst/>
                          <a:latin typeface="Times New Roman" panose="02020603050405020304" pitchFamily="18" charset="0"/>
                          <a:ea typeface="等线" panose="02010600030101010101" pitchFamily="2" charset="-122"/>
                        </a:rPr>
                        <a:t>2</a:t>
                      </a:r>
                      <a:endParaRPr lang="zh-CN" sz="105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0.565</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just"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0.576</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0.582</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0.558</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0.567</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0.577</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9388561"/>
                  </a:ext>
                </a:extLst>
              </a:tr>
              <a:tr h="830856">
                <a:tc rowSpan="3">
                  <a:txBody>
                    <a:bodyPr/>
                    <a:lstStyle/>
                    <a:p>
                      <a:pPr algn="just" fontAlgn="ctr"/>
                      <a:r>
                        <a:rPr lang="en-US" sz="1050" b="1" i="0" u="none" strike="noStrike" dirty="0">
                          <a:solidFill>
                            <a:srgbClr val="000000"/>
                          </a:solidFill>
                          <a:effectLst/>
                          <a:latin typeface="Times New Roman" panose="02020603050405020304" pitchFamily="18" charset="0"/>
                          <a:ea typeface="等线" panose="02010600030101010101" pitchFamily="2" charset="-122"/>
                        </a:rPr>
                        <a:t>Convenience yield lag to volume</a:t>
                      </a:r>
                      <a:endParaRPr lang="zh-CN" sz="105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2.01E+07</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solidFill>
                      <a:srgbClr val="FF7C80"/>
                    </a:solidFill>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1.27E+07</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solidFill>
                      <a:srgbClr val="FF7C80"/>
                    </a:solidFill>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2.278e+07  (2.52e+06)</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solidFill>
                      <a:srgbClr val="FF7C80"/>
                    </a:solidFill>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1.00E+07</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solidFill>
                      <a:srgbClr val="FF7C80"/>
                    </a:solidFill>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8.01E+07</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solidFill>
                      <a:srgbClr val="FF7C80"/>
                    </a:solidFill>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7.26E+07</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solidFill>
                      <a:srgbClr val="FF7C80"/>
                    </a:solidFill>
                  </a:tcPr>
                </a:tc>
                <a:extLst>
                  <a:ext uri="{0D108BD9-81ED-4DB2-BD59-A6C34878D82A}">
                    <a16:rowId xmlns:a16="http://schemas.microsoft.com/office/drawing/2014/main" val="91006730"/>
                  </a:ext>
                </a:extLst>
              </a:tr>
              <a:tr h="205480">
                <a:tc vMerge="1">
                  <a:txBody>
                    <a:bodyPr/>
                    <a:lstStyle/>
                    <a:p>
                      <a:endParaRPr lang="zh-CN" altLang="en-US"/>
                    </a:p>
                  </a:txBody>
                  <a:tcPr/>
                </a:tc>
                <a:tc>
                  <a:txBody>
                    <a:bodyPr/>
                    <a:lstStyle/>
                    <a:p>
                      <a:pPr algn="l" fontAlgn="ctr"/>
                      <a:r>
                        <a:rPr lang="en-US" sz="1050" b="0" i="0" u="none" strike="noStrike">
                          <a:solidFill>
                            <a:srgbClr val="000000"/>
                          </a:solidFill>
                          <a:effectLst/>
                          <a:latin typeface="Times New Roman" panose="02020603050405020304" pitchFamily="18" charset="0"/>
                          <a:ea typeface="等线" panose="02010600030101010101" pitchFamily="2" charset="-122"/>
                        </a:rPr>
                        <a:t>-2.00E+06</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l" fontAlgn="ctr"/>
                      <a:r>
                        <a:rPr lang="en-US" sz="1050" b="0" i="0" u="none" strike="noStrike">
                          <a:solidFill>
                            <a:srgbClr val="000000"/>
                          </a:solidFill>
                          <a:effectLst/>
                          <a:latin typeface="Times New Roman" panose="02020603050405020304" pitchFamily="18" charset="0"/>
                          <a:ea typeface="等线" panose="02010600030101010101" pitchFamily="2" charset="-122"/>
                        </a:rPr>
                        <a:t>-3.33E+06</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l" fontAlgn="ctr"/>
                      <a:r>
                        <a:rPr lang="en-US" sz="1050" b="0" i="0" u="none" strike="noStrike">
                          <a:solidFill>
                            <a:srgbClr val="000000"/>
                          </a:solidFill>
                          <a:effectLst/>
                          <a:latin typeface="Times New Roman" panose="02020603050405020304" pitchFamily="18" charset="0"/>
                          <a:ea typeface="等线" panose="02010600030101010101" pitchFamily="2" charset="-122"/>
                        </a:rPr>
                        <a:t>-8.47E+06</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l" fontAlgn="ctr"/>
                      <a:r>
                        <a:rPr lang="en-US" sz="1050" b="0" i="0" u="none" strike="noStrike">
                          <a:solidFill>
                            <a:srgbClr val="000000"/>
                          </a:solidFill>
                          <a:effectLst/>
                          <a:latin typeface="Times New Roman" panose="02020603050405020304" pitchFamily="18" charset="0"/>
                          <a:ea typeface="等线" panose="02010600030101010101" pitchFamily="2" charset="-122"/>
                        </a:rPr>
                        <a:t>-2.02E+07</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l" fontAlgn="ctr"/>
                      <a:r>
                        <a:rPr lang="en-US" sz="1050" b="0" i="0" u="none" strike="noStrike">
                          <a:solidFill>
                            <a:srgbClr val="000000"/>
                          </a:solidFill>
                          <a:effectLst/>
                          <a:latin typeface="Times New Roman" panose="02020603050405020304" pitchFamily="18" charset="0"/>
                          <a:ea typeface="等线" panose="02010600030101010101" pitchFamily="2" charset="-122"/>
                        </a:rPr>
                        <a:t>-7.04E+06</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extLst>
                  <a:ext uri="{0D108BD9-81ED-4DB2-BD59-A6C34878D82A}">
                    <a16:rowId xmlns:a16="http://schemas.microsoft.com/office/drawing/2014/main" val="3571510295"/>
                  </a:ext>
                </a:extLst>
              </a:tr>
              <a:tr h="205480">
                <a:tc vMerge="1">
                  <a:txBody>
                    <a:bodyPr/>
                    <a:lstStyle/>
                    <a:p>
                      <a:endParaRPr lang="zh-CN" altLang="en-US"/>
                    </a:p>
                  </a:txBody>
                  <a:tcPr/>
                </a:tc>
                <a:tc>
                  <a:txBody>
                    <a:bodyPr/>
                    <a:lstStyle/>
                    <a:p>
                      <a:pPr algn="just"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FF7C80"/>
                    </a:solidFill>
                  </a:tcPr>
                </a:tc>
                <a:tc>
                  <a:txBody>
                    <a:bodyPr/>
                    <a:lstStyle/>
                    <a:p>
                      <a:pPr algn="just"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FF7C80"/>
                    </a:solidFill>
                  </a:tcPr>
                </a:tc>
                <a:tc>
                  <a:txBody>
                    <a:bodyPr/>
                    <a:lstStyle/>
                    <a:p>
                      <a:pPr algn="l" fontAlgn="t"/>
                      <a:endParaRPr 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lnL>
                      <a:noFill/>
                    </a:lnL>
                    <a:lnR>
                      <a:noFill/>
                    </a:lnR>
                    <a:lnT>
                      <a:noFill/>
                    </a:lnT>
                    <a:lnB>
                      <a:noFill/>
                    </a:lnB>
                    <a:solidFill>
                      <a:srgbClr val="FF7C80"/>
                    </a:solidFill>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FF7C80"/>
                    </a:solidFill>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FF7C80"/>
                    </a:solidFill>
                  </a:tcPr>
                </a:tc>
                <a:tc>
                  <a:txBody>
                    <a:bodyPr/>
                    <a:lstStyle/>
                    <a:p>
                      <a:pPr algn="just"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FF7C80"/>
                    </a:solidFill>
                  </a:tcPr>
                </a:tc>
                <a:extLst>
                  <a:ext uri="{0D108BD9-81ED-4DB2-BD59-A6C34878D82A}">
                    <a16:rowId xmlns:a16="http://schemas.microsoft.com/office/drawing/2014/main" val="132597907"/>
                  </a:ext>
                </a:extLst>
              </a:tr>
              <a:tr h="259084">
                <a:tc>
                  <a:txBody>
                    <a:bodyPr/>
                    <a:lstStyle/>
                    <a:p>
                      <a:pPr algn="just" fontAlgn="ctr"/>
                      <a:r>
                        <a:rPr lang="en-US" sz="1050" b="1" i="0" u="none" strike="noStrike" dirty="0">
                          <a:solidFill>
                            <a:srgbClr val="000000"/>
                          </a:solidFill>
                          <a:effectLst/>
                          <a:latin typeface="Times New Roman" panose="02020603050405020304" pitchFamily="18" charset="0"/>
                          <a:ea typeface="等线" panose="02010600030101010101" pitchFamily="2" charset="-122"/>
                        </a:rPr>
                        <a:t>Adj. R</a:t>
                      </a:r>
                      <a:r>
                        <a:rPr lang="en-US" sz="1050" b="1" i="0" u="none" strike="noStrike" baseline="30000" dirty="0">
                          <a:solidFill>
                            <a:srgbClr val="000000"/>
                          </a:solidFill>
                          <a:effectLst/>
                          <a:latin typeface="Times New Roman" panose="02020603050405020304" pitchFamily="18" charset="0"/>
                          <a:ea typeface="等线" panose="02010600030101010101" pitchFamily="2" charset="-122"/>
                        </a:rPr>
                        <a:t>2</a:t>
                      </a:r>
                      <a:endParaRPr lang="zh-CN" sz="105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0.265</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0.298</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0.269</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0.319</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0.337</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0.368</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51457828"/>
                  </a:ext>
                </a:extLst>
              </a:tr>
              <a:tr h="205480">
                <a:tc>
                  <a:txBody>
                    <a:bodyPr/>
                    <a:lstStyle/>
                    <a:p>
                      <a:pPr algn="l" fontAlgn="b"/>
                      <a:endParaRPr lang="zh-CN" sz="11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zh-CN"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zh-CN"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l" fontAlgn="b"/>
                      <a:endParaRPr lang="zh-CN"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tcPr>
                </a:tc>
                <a:tc gridSpan="3">
                  <a:txBody>
                    <a:bodyPr/>
                    <a:lstStyle/>
                    <a:p>
                      <a:pPr algn="just" fontAlgn="ctr"/>
                      <a:r>
                        <a:rPr lang="zh-CN" sz="1050" b="0" i="0" u="none" strike="noStrike" dirty="0">
                          <a:solidFill>
                            <a:srgbClr val="000000"/>
                          </a:solidFill>
                          <a:effectLst/>
                          <a:latin typeface="Times New Roman" panose="02020603050405020304" pitchFamily="18" charset="0"/>
                          <a:ea typeface="等线" panose="02010600030101010101" pitchFamily="2" charset="-122"/>
                        </a:rPr>
                        <a:t>Spot Price Change</a:t>
                      </a:r>
                    </a:p>
                  </a:txBody>
                  <a:tcPr marL="7620" marR="7620" marT="7620" marB="0" anchor="ctr">
                    <a:lnL>
                      <a:noFill/>
                    </a:lnL>
                    <a:lnR>
                      <a:noFill/>
                    </a:lnR>
                    <a:lnT w="12700" cap="flat" cmpd="sng" algn="ctr">
                      <a:solidFill>
                        <a:srgbClr val="000000"/>
                      </a:solidFill>
                      <a:prstDash val="solid"/>
                      <a:round/>
                      <a:headEnd type="none" w="med" len="med"/>
                      <a:tailEnd type="none" w="med" len="med"/>
                    </a:lnT>
                    <a:lnB>
                      <a:noFill/>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522040900"/>
                  </a:ext>
                </a:extLst>
              </a:tr>
              <a:tr h="205480">
                <a:tc rowSpan="3">
                  <a:txBody>
                    <a:bodyPr/>
                    <a:lstStyle/>
                    <a:p>
                      <a:pPr algn="just" fontAlgn="ctr"/>
                      <a:r>
                        <a:rPr lang="en-US" sz="1050" b="1" i="0" u="none" strike="noStrike" dirty="0">
                          <a:solidFill>
                            <a:srgbClr val="000000"/>
                          </a:solidFill>
                          <a:effectLst/>
                          <a:latin typeface="Times New Roman" panose="02020603050405020304" pitchFamily="18" charset="0"/>
                          <a:ea typeface="等线" panose="02010600030101010101" pitchFamily="2" charset="-122"/>
                        </a:rPr>
                        <a:t>Convenience yield lag to price</a:t>
                      </a:r>
                      <a:endParaRPr lang="zh-CN" sz="105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1.52E+05</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92D050"/>
                    </a:solidFill>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1.86E+05</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92D050"/>
                    </a:solidFill>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1.66E+05</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92D050"/>
                    </a:solidFill>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274.4555</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92D050"/>
                    </a:solidFill>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490.6036</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92D050"/>
                    </a:solidFill>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250.042</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92D050"/>
                    </a:solidFill>
                  </a:tcPr>
                </a:tc>
                <a:extLst>
                  <a:ext uri="{0D108BD9-81ED-4DB2-BD59-A6C34878D82A}">
                    <a16:rowId xmlns:a16="http://schemas.microsoft.com/office/drawing/2014/main" val="498753345"/>
                  </a:ext>
                </a:extLst>
              </a:tr>
              <a:tr h="205480">
                <a:tc vMerge="1">
                  <a:txBody>
                    <a:bodyPr/>
                    <a:lstStyle/>
                    <a:p>
                      <a:endParaRPr lang="zh-CN" altLang="en-US"/>
                    </a:p>
                  </a:txBody>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-7753.752</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l"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-6979.343</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l" fontAlgn="ctr"/>
                      <a:r>
                        <a:rPr lang="en-US" sz="1050" b="0" i="0" u="none" strike="noStrike">
                          <a:solidFill>
                            <a:srgbClr val="000000"/>
                          </a:solidFill>
                          <a:effectLst/>
                          <a:latin typeface="Times New Roman" panose="02020603050405020304" pitchFamily="18" charset="0"/>
                          <a:ea typeface="等线" panose="02010600030101010101" pitchFamily="2" charset="-122"/>
                        </a:rPr>
                        <a:t>-8552.532</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tcPr>
                </a:tc>
                <a:tc>
                  <a:txBody>
                    <a:bodyPr/>
                    <a:lstStyle/>
                    <a:p>
                      <a:pPr algn="l" fontAlgn="ctr"/>
                      <a:r>
                        <a:rPr lang="en-US" sz="1050" b="0" i="0" u="none" strike="noStrike">
                          <a:solidFill>
                            <a:srgbClr val="000000"/>
                          </a:solidFill>
                          <a:effectLst/>
                          <a:latin typeface="Times New Roman" panose="02020603050405020304" pitchFamily="18" charset="0"/>
                          <a:ea typeface="等线" panose="02010600030101010101" pitchFamily="2" charset="-122"/>
                        </a:rPr>
                        <a:t>-139.554</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noFill/>
                  </a:tcPr>
                </a:tc>
                <a:tc>
                  <a:txBody>
                    <a:bodyPr/>
                    <a:lstStyle/>
                    <a:p>
                      <a:pPr algn="l" fontAlgn="ctr"/>
                      <a:r>
                        <a:rPr lang="en-US" sz="1050" b="0" i="0" u="none" strike="noStrike">
                          <a:solidFill>
                            <a:srgbClr val="000000"/>
                          </a:solidFill>
                          <a:effectLst/>
                          <a:latin typeface="Times New Roman" panose="02020603050405020304" pitchFamily="18" charset="0"/>
                          <a:ea typeface="等线" panose="02010600030101010101" pitchFamily="2" charset="-122"/>
                        </a:rPr>
                        <a:t>-289.028</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noFill/>
                  </a:tcPr>
                </a:tc>
                <a:tc>
                  <a:txBody>
                    <a:bodyPr/>
                    <a:lstStyle/>
                    <a:p>
                      <a:pPr algn="l" fontAlgn="ctr"/>
                      <a:r>
                        <a:rPr lang="en-US" sz="1050" b="0" i="0" u="none" strike="noStrike">
                          <a:solidFill>
                            <a:srgbClr val="000000"/>
                          </a:solidFill>
                          <a:effectLst/>
                          <a:latin typeface="Times New Roman" panose="02020603050405020304" pitchFamily="18" charset="0"/>
                          <a:ea typeface="等线" panose="02010600030101010101" pitchFamily="2" charset="-122"/>
                        </a:rPr>
                        <a:t>-150.895</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noFill/>
                  </a:tcPr>
                </a:tc>
                <a:extLst>
                  <a:ext uri="{0D108BD9-81ED-4DB2-BD59-A6C34878D82A}">
                    <a16:rowId xmlns:a16="http://schemas.microsoft.com/office/drawing/2014/main" val="734550149"/>
                  </a:ext>
                </a:extLst>
              </a:tr>
              <a:tr h="205480">
                <a:tc vMerge="1">
                  <a:txBody>
                    <a:bodyPr/>
                    <a:lstStyle/>
                    <a:p>
                      <a:endParaRPr lang="zh-CN" altLang="en-US"/>
                    </a:p>
                  </a:txBody>
                  <a:tcPr/>
                </a:tc>
                <a:tc>
                  <a:txBody>
                    <a:bodyPr/>
                    <a:lstStyle/>
                    <a:p>
                      <a:pPr algn="just" fontAlgn="ctr"/>
                      <a:r>
                        <a:rPr lang="en-US" sz="1050" b="0" i="0" u="none" strike="noStrike" dirty="0">
                          <a:solidFill>
                            <a:srgbClr val="289055"/>
                          </a:solidFill>
                          <a:effectLst/>
                          <a:latin typeface="Times New Roman" panose="02020603050405020304" pitchFamily="18" charset="0"/>
                          <a:ea typeface="等线" panose="02010600030101010101" pitchFamily="2" charset="-122"/>
                        </a:rPr>
                        <a:t>***</a:t>
                      </a:r>
                      <a:endParaRPr lang="zh-CN" sz="1050" b="0" i="0" u="none" strike="noStrike" dirty="0">
                        <a:solidFill>
                          <a:srgbClr val="289055"/>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92D050"/>
                    </a:solidFill>
                  </a:tcPr>
                </a:tc>
                <a:tc>
                  <a:txBody>
                    <a:bodyPr/>
                    <a:lstStyle/>
                    <a:p>
                      <a:pPr algn="just" fontAlgn="ctr"/>
                      <a:r>
                        <a:rPr lang="en-US" sz="1050" b="0" i="0" u="none" strike="noStrike" dirty="0">
                          <a:solidFill>
                            <a:srgbClr val="289055"/>
                          </a:solidFill>
                          <a:effectLst/>
                          <a:latin typeface="Times New Roman" panose="02020603050405020304" pitchFamily="18" charset="0"/>
                          <a:ea typeface="等线" panose="02010600030101010101" pitchFamily="2" charset="-122"/>
                        </a:rPr>
                        <a:t>***</a:t>
                      </a:r>
                      <a:endParaRPr lang="zh-CN" sz="1050" b="0" i="0" u="none" strike="noStrike" dirty="0">
                        <a:solidFill>
                          <a:srgbClr val="289055"/>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92D050"/>
                    </a:solidFill>
                  </a:tcPr>
                </a:tc>
                <a:tc>
                  <a:txBody>
                    <a:bodyPr/>
                    <a:lstStyle/>
                    <a:p>
                      <a:pPr algn="just" fontAlgn="ctr"/>
                      <a:r>
                        <a:rPr lang="en-US" sz="1050" b="0" i="0" u="none" strike="noStrike" dirty="0">
                          <a:solidFill>
                            <a:srgbClr val="289055"/>
                          </a:solidFill>
                          <a:effectLst/>
                          <a:latin typeface="Times New Roman" panose="02020603050405020304" pitchFamily="18" charset="0"/>
                          <a:ea typeface="等线" panose="02010600030101010101" pitchFamily="2" charset="-122"/>
                        </a:rPr>
                        <a:t>***</a:t>
                      </a:r>
                      <a:endParaRPr lang="zh-CN" sz="1050" b="0" i="0" u="none" strike="noStrike" dirty="0">
                        <a:solidFill>
                          <a:srgbClr val="289055"/>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92D050"/>
                    </a:solidFill>
                  </a:tcPr>
                </a:tc>
                <a:tc>
                  <a:txBody>
                    <a:bodyPr/>
                    <a:lstStyle/>
                    <a:p>
                      <a:pPr algn="just" fontAlgn="ctr"/>
                      <a:r>
                        <a:rPr lang="en-US" sz="1050" b="0" i="0" u="none" strike="noStrike" dirty="0">
                          <a:solidFill>
                            <a:srgbClr val="289055"/>
                          </a:solidFill>
                          <a:effectLst/>
                          <a:latin typeface="Times New Roman" panose="02020603050405020304" pitchFamily="18" charset="0"/>
                          <a:ea typeface="等线" panose="02010600030101010101" pitchFamily="2" charset="-122"/>
                        </a:rPr>
                        <a:t>**</a:t>
                      </a:r>
                      <a:endParaRPr lang="zh-CN" sz="1050" b="0" i="0" u="none" strike="noStrike" dirty="0">
                        <a:solidFill>
                          <a:srgbClr val="289055"/>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92D050"/>
                    </a:solidFill>
                  </a:tcPr>
                </a:tc>
                <a:tc>
                  <a:txBody>
                    <a:bodyPr/>
                    <a:lstStyle/>
                    <a:p>
                      <a:pPr algn="just" fontAlgn="ctr"/>
                      <a:r>
                        <a:rPr lang="en-US" sz="1050" b="0" i="0" u="none" strike="noStrike" dirty="0">
                          <a:solidFill>
                            <a:srgbClr val="289055"/>
                          </a:solidFill>
                          <a:effectLst/>
                          <a:latin typeface="Times New Roman" panose="02020603050405020304" pitchFamily="18" charset="0"/>
                          <a:ea typeface="等线" panose="02010600030101010101" pitchFamily="2" charset="-122"/>
                        </a:rPr>
                        <a:t>*</a:t>
                      </a:r>
                      <a:endParaRPr lang="zh-CN" sz="1050" b="0" i="0" u="none" strike="noStrike" dirty="0">
                        <a:solidFill>
                          <a:srgbClr val="289055"/>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92D050"/>
                    </a:solidFill>
                  </a:tcPr>
                </a:tc>
                <a:tc>
                  <a:txBody>
                    <a:bodyPr/>
                    <a:lstStyle/>
                    <a:p>
                      <a:pPr algn="just" fontAlgn="ctr"/>
                      <a:r>
                        <a:rPr lang="en-US" sz="1050" b="0" i="0" u="none" strike="noStrike" dirty="0">
                          <a:solidFill>
                            <a:srgbClr val="289055"/>
                          </a:solidFill>
                          <a:effectLst/>
                          <a:latin typeface="Times New Roman" panose="02020603050405020304" pitchFamily="18" charset="0"/>
                          <a:ea typeface="等线" panose="02010600030101010101" pitchFamily="2" charset="-122"/>
                        </a:rPr>
                        <a:t>*</a:t>
                      </a:r>
                      <a:endParaRPr lang="zh-CN" sz="1050" b="0" i="0" u="none" strike="noStrike" dirty="0">
                        <a:solidFill>
                          <a:srgbClr val="289055"/>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a:noFill/>
                    </a:lnB>
                    <a:solidFill>
                      <a:srgbClr val="92D050"/>
                    </a:solidFill>
                  </a:tcPr>
                </a:tc>
                <a:extLst>
                  <a:ext uri="{0D108BD9-81ED-4DB2-BD59-A6C34878D82A}">
                    <a16:rowId xmlns:a16="http://schemas.microsoft.com/office/drawing/2014/main" val="4013210109"/>
                  </a:ext>
                </a:extLst>
              </a:tr>
              <a:tr h="259084">
                <a:tc>
                  <a:txBody>
                    <a:bodyPr/>
                    <a:lstStyle/>
                    <a:p>
                      <a:pPr algn="just" fontAlgn="ctr"/>
                      <a:r>
                        <a:rPr lang="en-US" sz="1050" b="1" i="0" u="none" strike="noStrike" dirty="0">
                          <a:solidFill>
                            <a:srgbClr val="000000"/>
                          </a:solidFill>
                          <a:effectLst/>
                          <a:latin typeface="Times New Roman" panose="02020603050405020304" pitchFamily="18" charset="0"/>
                          <a:ea typeface="等线" panose="02010600030101010101" pitchFamily="2" charset="-122"/>
                        </a:rPr>
                        <a:t>Adj. R</a:t>
                      </a:r>
                      <a:r>
                        <a:rPr lang="en-US" sz="1050" b="1" i="0" u="none" strike="noStrike" baseline="30000" dirty="0">
                          <a:solidFill>
                            <a:srgbClr val="000000"/>
                          </a:solidFill>
                          <a:effectLst/>
                          <a:latin typeface="Times New Roman" panose="02020603050405020304" pitchFamily="18" charset="0"/>
                          <a:ea typeface="等线" panose="02010600030101010101" pitchFamily="2" charset="-122"/>
                        </a:rPr>
                        <a:t>2</a:t>
                      </a:r>
                      <a:endParaRPr lang="zh-CN" sz="105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0.769</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0.963</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0.702</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dirty="0">
                          <a:solidFill>
                            <a:srgbClr val="D34817"/>
                          </a:solidFill>
                          <a:effectLst/>
                          <a:latin typeface="Times New Roman" panose="02020603050405020304" pitchFamily="18" charset="0"/>
                          <a:ea typeface="等线" panose="02010600030101010101" pitchFamily="2" charset="-122"/>
                        </a:rPr>
                        <a:t>0</a:t>
                      </a:r>
                      <a:endParaRPr lang="zh-CN" sz="1050" b="0" i="0" u="none" strike="noStrike" dirty="0">
                        <a:solidFill>
                          <a:srgbClr val="D34817"/>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dirty="0">
                          <a:solidFill>
                            <a:srgbClr val="D34817"/>
                          </a:solidFill>
                          <a:effectLst/>
                          <a:latin typeface="Times New Roman" panose="02020603050405020304" pitchFamily="18" charset="0"/>
                          <a:ea typeface="等线" panose="02010600030101010101" pitchFamily="2" charset="-122"/>
                        </a:rPr>
                        <a:t>0</a:t>
                      </a:r>
                      <a:endParaRPr lang="zh-CN" sz="1050" b="0" i="0" u="none" strike="noStrike" dirty="0">
                        <a:solidFill>
                          <a:srgbClr val="D34817"/>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dirty="0">
                          <a:solidFill>
                            <a:srgbClr val="D34817"/>
                          </a:solidFill>
                          <a:effectLst/>
                          <a:latin typeface="Times New Roman" panose="02020603050405020304" pitchFamily="18" charset="0"/>
                          <a:ea typeface="等线" panose="02010600030101010101" pitchFamily="2" charset="-122"/>
                        </a:rPr>
                        <a:t>0</a:t>
                      </a:r>
                      <a:endParaRPr lang="zh-CN" sz="1050" b="0" i="0" u="none" strike="noStrike" dirty="0">
                        <a:solidFill>
                          <a:srgbClr val="D34817"/>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4912042"/>
                  </a:ext>
                </a:extLst>
              </a:tr>
              <a:tr h="214414">
                <a:tc>
                  <a:txBody>
                    <a:bodyPr/>
                    <a:lstStyle/>
                    <a:p>
                      <a:pPr algn="just" fontAlgn="ctr"/>
                      <a:r>
                        <a:rPr lang="en-US" sz="1050" b="1" i="0" u="none" strike="noStrike" dirty="0">
                          <a:solidFill>
                            <a:srgbClr val="000000"/>
                          </a:solidFill>
                          <a:effectLst/>
                          <a:latin typeface="Times New Roman" panose="02020603050405020304" pitchFamily="18" charset="0"/>
                          <a:ea typeface="等线" panose="02010600030101010101" pitchFamily="2" charset="-122"/>
                        </a:rPr>
                        <a:t>N</a:t>
                      </a:r>
                      <a:endParaRPr lang="zh-CN" sz="1050" b="1"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2396745</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1078535</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1318210</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2396745</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a:solidFill>
                            <a:srgbClr val="000000"/>
                          </a:solidFill>
                          <a:effectLst/>
                          <a:latin typeface="Times New Roman" panose="02020603050405020304" pitchFamily="18" charset="0"/>
                          <a:ea typeface="等线" panose="02010600030101010101" pitchFamily="2" charset="-122"/>
                        </a:rPr>
                        <a:t>1078535</a:t>
                      </a:r>
                      <a:endParaRPr lang="zh-CN" sz="1050" b="0" i="0" u="none" strike="noStrike">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US" sz="1050" b="0" i="0" u="none" strike="noStrike" dirty="0">
                          <a:solidFill>
                            <a:srgbClr val="000000"/>
                          </a:solidFill>
                          <a:effectLst/>
                          <a:latin typeface="Times New Roman" panose="02020603050405020304" pitchFamily="18" charset="0"/>
                          <a:ea typeface="等线" panose="02010600030101010101" pitchFamily="2" charset="-122"/>
                        </a:rPr>
                        <a:t>1318210</a:t>
                      </a:r>
                      <a:endParaRPr lang="zh-CN" sz="1050" b="0" i="0" u="none" strike="noStrike" dirty="0">
                        <a:solidFill>
                          <a:srgbClr val="000000"/>
                        </a:solidFill>
                        <a:effectLst/>
                        <a:latin typeface="Times New Roman" panose="02020603050405020304" pitchFamily="18" charset="0"/>
                        <a:ea typeface="等线" panose="02010600030101010101" pitchFamily="2" charset="-122"/>
                      </a:endParaRPr>
                    </a:p>
                  </a:txBody>
                  <a:tcPr marL="7620" marR="7620" marT="762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7762416"/>
                  </a:ext>
                </a:extLst>
              </a:tr>
            </a:tbl>
          </a:graphicData>
        </a:graphic>
      </p:graphicFrame>
      <p:sp>
        <p:nvSpPr>
          <p:cNvPr id="6" name="文本框 5"/>
          <p:cNvSpPr txBox="1"/>
          <p:nvPr/>
        </p:nvSpPr>
        <p:spPr>
          <a:xfrm>
            <a:off x="4736182" y="5856581"/>
            <a:ext cx="4031924" cy="610936"/>
          </a:xfrm>
          <a:prstGeom prst="rect">
            <a:avLst/>
          </a:prstGeom>
          <a:noFill/>
          <a:ln w="6350" cap="flat">
            <a:noFill/>
            <a:miter lim="800000"/>
          </a:ln>
        </p:spPr>
        <p:txBody>
          <a:bodyPr wrap="square" lIns="0" tIns="0" rIns="0" bIns="0" rtlCol="0" anchor="t" anchorCtr="0">
            <a:spAutoFit/>
          </a:bodyPr>
          <a:lstStyle/>
          <a:p>
            <a:pPr>
              <a:lnSpc>
                <a:spcPct val="90000"/>
              </a:lnSpc>
              <a:spcBef>
                <a:spcPts val="600"/>
              </a:spcBef>
              <a:buClr>
                <a:schemeClr val="bg2"/>
              </a:buClr>
            </a:pPr>
            <a:r>
              <a:rPr lang="en-US" altLang="zh-CN" sz="1100" i="1" dirty="0">
                <a:solidFill>
                  <a:srgbClr val="000000"/>
                </a:solidFill>
                <a:latin typeface="Times New Roman" panose="02020603050405020304" pitchFamily="18" charset="0"/>
                <a:ea typeface="等线" panose="02010600030101010101" pitchFamily="2" charset="-122"/>
              </a:rPr>
              <a:t>Fixed </a:t>
            </a:r>
            <a:r>
              <a:rPr lang="en-US" altLang="zh-CN" sz="1100" i="1" dirty="0" smtClean="0">
                <a:solidFill>
                  <a:srgbClr val="000000"/>
                </a:solidFill>
                <a:latin typeface="Times New Roman" panose="02020603050405020304" pitchFamily="18" charset="0"/>
                <a:ea typeface="等线" panose="02010600030101010101" pitchFamily="2" charset="-122"/>
              </a:rPr>
              <a:t>Effect results(16 lines) on </a:t>
            </a:r>
            <a:r>
              <a:rPr lang="en-US" altLang="zh-CN" sz="1100" i="1" dirty="0">
                <a:solidFill>
                  <a:srgbClr val="000000"/>
                </a:solidFill>
                <a:latin typeface="Times New Roman" panose="02020603050405020304" pitchFamily="18" charset="0"/>
                <a:ea typeface="等线" panose="02010600030101010101" pitchFamily="2" charset="-122"/>
              </a:rPr>
              <a:t>the table are </a:t>
            </a:r>
            <a:r>
              <a:rPr lang="en-US" altLang="zh-CN" sz="1100" i="1" dirty="0" smtClean="0">
                <a:solidFill>
                  <a:srgbClr val="000000"/>
                </a:solidFill>
                <a:latin typeface="Times New Roman" panose="02020603050405020304" pitchFamily="18" charset="0"/>
                <a:ea typeface="等线" panose="02010600030101010101" pitchFamily="2" charset="-122"/>
              </a:rPr>
              <a:t>skipped; </a:t>
            </a:r>
            <a:r>
              <a:rPr lang="en-US" altLang="zh-CN" sz="1100" i="1" kern="100" dirty="0">
                <a:latin typeface="Times New Roman" panose="02020603050405020304" pitchFamily="18" charset="0"/>
                <a:ea typeface="宋体" panose="02010600030101010101" pitchFamily="2" charset="-122"/>
              </a:rPr>
              <a:t>VIF &lt;5 </a:t>
            </a:r>
            <a:r>
              <a:rPr lang="en-US" altLang="zh-CN" sz="1100" i="1" kern="100" dirty="0" smtClean="0">
                <a:latin typeface="Times New Roman" panose="02020603050405020304" pitchFamily="18" charset="0"/>
                <a:ea typeface="宋体" panose="02010600030101010101" pitchFamily="2" charset="-122"/>
              </a:rPr>
              <a:t>for all</a:t>
            </a:r>
            <a:endParaRPr lang="en-US" altLang="zh-CN" sz="1100" i="1" kern="100" dirty="0">
              <a:latin typeface="Times New Roman" panose="02020603050405020304" pitchFamily="18" charset="0"/>
              <a:ea typeface="宋体" panose="02010600030101010101" pitchFamily="2" charset="-122"/>
            </a:endParaRPr>
          </a:p>
          <a:p>
            <a:pPr>
              <a:lnSpc>
                <a:spcPct val="90000"/>
              </a:lnSpc>
              <a:spcBef>
                <a:spcPts val="600"/>
              </a:spcBef>
              <a:buClr>
                <a:schemeClr val="bg2"/>
              </a:buClr>
            </a:pPr>
            <a:endParaRPr lang="zh-CN" altLang="zh-CN" sz="1100" i="1" dirty="0">
              <a:solidFill>
                <a:srgbClr val="000000"/>
              </a:solidFill>
              <a:latin typeface="Times New Roman" panose="02020603050405020304" pitchFamily="18" charset="0"/>
              <a:ea typeface="等线" panose="02010600030101010101" pitchFamily="2" charset="-122"/>
            </a:endParaRPr>
          </a:p>
          <a:p>
            <a:pPr>
              <a:lnSpc>
                <a:spcPct val="90000"/>
              </a:lnSpc>
              <a:spcBef>
                <a:spcPts val="600"/>
              </a:spcBef>
              <a:buClr>
                <a:schemeClr val="bg2"/>
              </a:buClr>
            </a:pPr>
            <a:endParaRPr lang="zh-CN" altLang="en-US" sz="1100" dirty="0" smtClean="0">
              <a:latin typeface="Arial" pitchFamily="34" charset="0"/>
              <a:cs typeface="Arial" pitchFamily="34" charset="0"/>
            </a:endParaRPr>
          </a:p>
        </p:txBody>
      </p:sp>
    </p:spTree>
    <p:extLst>
      <p:ext uri="{BB962C8B-B14F-4D97-AF65-F5344CB8AC3E}">
        <p14:creationId xmlns:p14="http://schemas.microsoft.com/office/powerpoint/2010/main" val="2664997554"/>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545428" y="1078290"/>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Which factors influence </a:t>
            </a:r>
            <a:r>
              <a:rPr lang="en-US" altLang="zh-CN" sz="1800" b="1" dirty="0">
                <a:solidFill>
                  <a:schemeClr val="bg2"/>
                </a:solidFill>
                <a:latin typeface="Times New Roman" panose="02020603050405020304" pitchFamily="18" charset="0"/>
                <a:ea typeface="等线" panose="02010600030101010101" pitchFamily="2" charset="-122"/>
              </a:rPr>
              <a:t>convenience </a:t>
            </a:r>
            <a:r>
              <a:rPr lang="en-US" altLang="zh-CN" sz="1800" b="1" dirty="0" smtClean="0">
                <a:solidFill>
                  <a:schemeClr val="bg2"/>
                </a:solidFill>
                <a:latin typeface="Times New Roman" panose="02020603050405020304" pitchFamily="18" charset="0"/>
                <a:ea typeface="等线" panose="02010600030101010101" pitchFamily="2" charset="-122"/>
              </a:rPr>
              <a:t>yield?</a:t>
            </a:r>
            <a:endParaRPr lang="en-US" altLang="zh-CN" sz="1800" dirty="0">
              <a:solidFill>
                <a:schemeClr val="bg2"/>
              </a:solidFill>
              <a:latin typeface="Times New Roman" panose="02020603050405020304" pitchFamily="18" charset="0"/>
              <a:ea typeface="等线" panose="02010600030101010101" pitchFamily="2" charset="-122"/>
            </a:endParaRPr>
          </a:p>
          <a:p>
            <a:pPr lvl="1">
              <a:lnSpc>
                <a:spcPts val="2800"/>
              </a:lnSpc>
            </a:pPr>
            <a:r>
              <a:rPr lang="en-US" altLang="zh-CN" sz="1400" dirty="0" smtClean="0">
                <a:latin typeface="Times New Roman" panose="02020603050405020304" pitchFamily="18" charset="0"/>
                <a:ea typeface="等线" panose="02010600030101010101" pitchFamily="2" charset="-122"/>
              </a:rPr>
              <a:t>Results gained after cross-validation for </a:t>
            </a:r>
            <a:r>
              <a:rPr lang="en-US" altLang="zh-CN" sz="1400" b="1" dirty="0" smtClean="0">
                <a:latin typeface="Times New Roman" panose="02020603050405020304" pitchFamily="18" charset="0"/>
                <a:ea typeface="等线" panose="02010600030101010101" pitchFamily="2" charset="-122"/>
              </a:rPr>
              <a:t>different frequency data </a:t>
            </a:r>
            <a:r>
              <a:rPr lang="en-US" altLang="zh-CN" sz="1400" dirty="0" smtClean="0">
                <a:latin typeface="Times New Roman" panose="02020603050405020304" pitchFamily="18" charset="0"/>
                <a:ea typeface="等线" panose="02010600030101010101" pitchFamily="2" charset="-122"/>
              </a:rPr>
              <a:t>and </a:t>
            </a:r>
            <a:r>
              <a:rPr lang="en-US" altLang="zh-CN" sz="1400" b="1" dirty="0" smtClean="0">
                <a:latin typeface="Times New Roman" panose="02020603050405020304" pitchFamily="18" charset="0"/>
                <a:ea typeface="等线" panose="02010600030101010101" pitchFamily="2" charset="-122"/>
              </a:rPr>
              <a:t>before &amp; after crisis</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Market </a:t>
            </a:r>
            <a:r>
              <a:rPr lang="en-US" altLang="zh-CN" sz="1400" dirty="0">
                <a:latin typeface="Times New Roman" panose="02020603050405020304" pitchFamily="18" charset="0"/>
                <a:ea typeface="等线" panose="02010600030101010101" pitchFamily="2" charset="-122"/>
              </a:rPr>
              <a:t>quotation conditions Influence</a:t>
            </a:r>
            <a:r>
              <a:rPr lang="en-US" altLang="zh-CN" sz="1400" b="1" dirty="0">
                <a:solidFill>
                  <a:srgbClr val="D34817"/>
                </a:solidFill>
                <a:latin typeface="Times New Roman" panose="02020603050405020304" pitchFamily="18" charset="0"/>
                <a:ea typeface="等线" panose="02010600030101010101" pitchFamily="2" charset="-122"/>
              </a:rPr>
              <a:t> (</a:t>
            </a:r>
            <a:r>
              <a:rPr lang="zh-CN" altLang="en-US" sz="1400" b="1" dirty="0" smtClean="0">
                <a:solidFill>
                  <a:srgbClr val="D34817"/>
                </a:solidFill>
                <a:latin typeface="Times New Roman" panose="02020603050405020304" pitchFamily="18" charset="0"/>
                <a:ea typeface="等线" panose="02010600030101010101" pitchFamily="2" charset="-122"/>
              </a:rPr>
              <a:t>√ </a:t>
            </a:r>
            <a:r>
              <a:rPr lang="en-US" altLang="zh-CN" sz="1400" b="1" dirty="0" smtClean="0">
                <a:solidFill>
                  <a:srgbClr val="D34817"/>
                </a:solidFill>
                <a:latin typeface="Times New Roman" panose="02020603050405020304" pitchFamily="18" charset="0"/>
                <a:ea typeface="等线" panose="02010600030101010101" pitchFamily="2" charset="-122"/>
              </a:rPr>
              <a:t>~)</a:t>
            </a:r>
            <a:endParaRPr lang="en-US" altLang="zh-CN" sz="1400" b="1" dirty="0">
              <a:solidFill>
                <a:srgbClr val="D34817"/>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Cryptocurrency </a:t>
            </a:r>
            <a:r>
              <a:rPr lang="en-US" altLang="zh-CN" sz="1400" dirty="0">
                <a:latin typeface="Times New Roman" panose="02020603050405020304" pitchFamily="18" charset="0"/>
                <a:ea typeface="等线" panose="02010600030101010101" pitchFamily="2" charset="-122"/>
              </a:rPr>
              <a:t>basic information </a:t>
            </a:r>
            <a:r>
              <a:rPr lang="en-US" altLang="zh-CN" sz="1400" dirty="0" smtClean="0">
                <a:latin typeface="Times New Roman" panose="02020603050405020304" pitchFamily="18" charset="0"/>
                <a:ea typeface="等线" panose="02010600030101010101" pitchFamily="2" charset="-122"/>
              </a:rPr>
              <a:t>Influence </a:t>
            </a:r>
            <a:r>
              <a:rPr lang="en-US" altLang="zh-CN" sz="1400" b="1" dirty="0" smtClean="0">
                <a:solidFill>
                  <a:srgbClr val="D34817"/>
                </a:solidFill>
                <a:latin typeface="Times New Roman" panose="02020603050405020304" pitchFamily="18" charset="0"/>
                <a:ea typeface="等线" panose="02010600030101010101" pitchFamily="2" charset="-122"/>
              </a:rPr>
              <a:t>(</a:t>
            </a:r>
            <a:r>
              <a:rPr lang="zh-CN" altLang="en-US" sz="1400" b="1" dirty="0">
                <a:solidFill>
                  <a:srgbClr val="D34817"/>
                </a:solidFill>
                <a:latin typeface="Times New Roman" panose="02020603050405020304" pitchFamily="18" charset="0"/>
                <a:ea typeface="等线" panose="02010600030101010101" pitchFamily="2" charset="-122"/>
              </a:rPr>
              <a:t>√</a:t>
            </a:r>
            <a:r>
              <a:rPr lang="en-US" altLang="zh-CN" sz="1400" b="1" dirty="0">
                <a:solidFill>
                  <a:srgbClr val="D34817"/>
                </a:solidFill>
                <a:latin typeface="Times New Roman" panose="02020603050405020304" pitchFamily="18" charset="0"/>
                <a:ea typeface="等线" panose="02010600030101010101" pitchFamily="2" charset="-122"/>
              </a:rPr>
              <a:t>)</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Market </a:t>
            </a:r>
            <a:r>
              <a:rPr lang="en-US" altLang="zh-CN" sz="1400" dirty="0">
                <a:latin typeface="Times New Roman" panose="02020603050405020304" pitchFamily="18" charset="0"/>
                <a:ea typeface="等线" panose="02010600030101010101" pitchFamily="2" charset="-122"/>
              </a:rPr>
              <a:t>hot topic </a:t>
            </a:r>
            <a:r>
              <a:rPr lang="en-US" altLang="zh-CN" sz="1400" dirty="0" smtClean="0">
                <a:latin typeface="Times New Roman" panose="02020603050405020304" pitchFamily="18" charset="0"/>
                <a:ea typeface="等线" panose="02010600030101010101" pitchFamily="2" charset="-122"/>
              </a:rPr>
              <a:t>Influence </a:t>
            </a:r>
            <a:r>
              <a:rPr lang="en-US" altLang="zh-CN" sz="1400" b="1" dirty="0" smtClean="0">
                <a:solidFill>
                  <a:srgbClr val="D34817"/>
                </a:solidFill>
                <a:latin typeface="Times New Roman" panose="02020603050405020304" pitchFamily="18" charset="0"/>
                <a:ea typeface="等线" panose="02010600030101010101" pitchFamily="2" charset="-122"/>
              </a:rPr>
              <a:t>(</a:t>
            </a:r>
            <a:r>
              <a:rPr lang="zh-CN" altLang="en-US" sz="1400" b="1" dirty="0" smtClean="0">
                <a:solidFill>
                  <a:srgbClr val="D34817"/>
                </a:solidFill>
                <a:latin typeface="Times New Roman" panose="02020603050405020304" pitchFamily="18" charset="0"/>
                <a:ea typeface="等线" panose="02010600030101010101" pitchFamily="2" charset="-122"/>
              </a:rPr>
              <a:t>√</a:t>
            </a:r>
            <a:r>
              <a:rPr lang="en-US" altLang="zh-CN" sz="1400" b="1" dirty="0" smtClean="0">
                <a:solidFill>
                  <a:srgbClr val="D34817"/>
                </a:solidFill>
                <a:latin typeface="Times New Roman" panose="02020603050405020304" pitchFamily="18" charset="0"/>
                <a:ea typeface="等线" panose="02010600030101010101" pitchFamily="2" charset="-122"/>
              </a:rPr>
              <a:t> ~)</a:t>
            </a:r>
            <a:endParaRPr lang="en-US" altLang="zh-CN" sz="1400" b="1" dirty="0">
              <a:solidFill>
                <a:srgbClr val="D34817"/>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Institutional trader Influence </a:t>
            </a:r>
            <a:r>
              <a:rPr lang="en-US" altLang="zh-CN" sz="1400" b="1" dirty="0" smtClean="0">
                <a:solidFill>
                  <a:srgbClr val="D34817"/>
                </a:solidFill>
                <a:latin typeface="Times New Roman" panose="02020603050405020304" pitchFamily="18" charset="0"/>
                <a:ea typeface="等线" panose="02010600030101010101" pitchFamily="2" charset="-122"/>
              </a:rPr>
              <a:t>(</a:t>
            </a:r>
            <a:r>
              <a:rPr lang="zh-CN" altLang="en-US" sz="1400" b="1" dirty="0">
                <a:solidFill>
                  <a:srgbClr val="D34817"/>
                </a:solidFill>
                <a:latin typeface="Times New Roman" panose="02020603050405020304" pitchFamily="18" charset="0"/>
                <a:ea typeface="等线" panose="02010600030101010101" pitchFamily="2" charset="-122"/>
              </a:rPr>
              <a:t>√</a:t>
            </a:r>
            <a:r>
              <a:rPr lang="en-US" altLang="zh-CN" sz="1400" b="1" dirty="0" smtClean="0">
                <a:solidFill>
                  <a:srgbClr val="D34817"/>
                </a:solidFill>
                <a:latin typeface="Times New Roman" panose="02020603050405020304" pitchFamily="18" charset="0"/>
                <a:ea typeface="等线" panose="02010600030101010101" pitchFamily="2" charset="-122"/>
              </a:rPr>
              <a:t>)</a:t>
            </a:r>
            <a:r>
              <a:rPr lang="en-US" altLang="zh-CN" sz="1400" dirty="0">
                <a:latin typeface="Times New Roman" panose="02020603050405020304" pitchFamily="18" charset="0"/>
                <a:ea typeface="等线" panose="02010600030101010101" pitchFamily="2" charset="-122"/>
              </a:rPr>
              <a:t> </a:t>
            </a:r>
            <a:endParaRPr lang="en-US" altLang="zh-CN" sz="1400" dirty="0" smtClean="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Time </a:t>
            </a:r>
            <a:r>
              <a:rPr lang="en-US" altLang="zh-CN" sz="1400" dirty="0">
                <a:latin typeface="Times New Roman" panose="02020603050405020304" pitchFamily="18" charset="0"/>
                <a:ea typeface="等线" panose="02010600030101010101" pitchFamily="2" charset="-122"/>
              </a:rPr>
              <a:t>Influence</a:t>
            </a:r>
            <a:r>
              <a:rPr lang="en-US" altLang="zh-CN" sz="1400" b="1" dirty="0">
                <a:solidFill>
                  <a:srgbClr val="D34817"/>
                </a:solidFill>
                <a:latin typeface="Times New Roman" panose="02020603050405020304" pitchFamily="18" charset="0"/>
                <a:ea typeface="等线" panose="02010600030101010101" pitchFamily="2" charset="-122"/>
              </a:rPr>
              <a:t> (Control, Not clear)</a:t>
            </a:r>
          </a:p>
          <a:p>
            <a:pPr marL="821884" lvl="1" indent="-342921">
              <a:lnSpc>
                <a:spcPts val="2800"/>
              </a:lnSpc>
              <a:buFont typeface="Wingdings" panose="05000000000000000000" pitchFamily="2" charset="2"/>
              <a:buChar char="Ø"/>
            </a:pPr>
            <a:endParaRPr lang="en-US" altLang="zh-CN" sz="1400" b="1" dirty="0">
              <a:solidFill>
                <a:srgbClr val="D34817"/>
              </a:solidFill>
              <a:latin typeface="Times New Roman" panose="02020603050405020304" pitchFamily="18" charset="0"/>
              <a:ea typeface="等线" panose="02010600030101010101" pitchFamily="2" charset="-122"/>
            </a:endParaRPr>
          </a:p>
          <a:p>
            <a:pPr>
              <a:lnSpc>
                <a:spcPts val="2800"/>
              </a:lnSpc>
            </a:pPr>
            <a:endParaRPr lang="en-US" altLang="zh-CN" sz="1600" b="1" dirty="0" smtClean="0">
              <a:latin typeface="Times New Roman" panose="02020603050405020304" pitchFamily="18" charset="0"/>
              <a:ea typeface="等线" panose="02010600030101010101" pitchFamily="2" charset="-122"/>
            </a:endParaRPr>
          </a:p>
          <a:p>
            <a:pPr>
              <a:lnSpc>
                <a:spcPts val="2800"/>
              </a:lnSpc>
            </a:pPr>
            <a:endParaRPr lang="en-US" altLang="zh-CN" sz="16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V. Hypothesis Check</a:t>
            </a:r>
            <a:endParaRPr lang="en-US" sz="2400" dirty="0">
              <a:solidFill>
                <a:schemeClr val="bg1"/>
              </a:solidFill>
            </a:endParaRPr>
          </a:p>
        </p:txBody>
      </p:sp>
      <p:sp>
        <p:nvSpPr>
          <p:cNvPr id="4" name="标题 1">
            <a:extLst>
              <a:ext uri="{FF2B5EF4-FFF2-40B4-BE49-F238E27FC236}">
                <a16:creationId xmlns:a16="http://schemas.microsoft.com/office/drawing/2014/main" id="{A3C71D49-1CFF-4704-AE93-7F736EAECB98}"/>
              </a:ext>
            </a:extLst>
          </p:cNvPr>
          <p:cNvSpPr txBox="1">
            <a:spLocks/>
          </p:cNvSpPr>
          <p:nvPr/>
        </p:nvSpPr>
        <p:spPr bwMode="auto">
          <a:xfrm>
            <a:off x="653981" y="3770333"/>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How convenience yield affect the market?</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Increase Price </a:t>
            </a:r>
            <a:r>
              <a:rPr lang="en-US" altLang="zh-CN" sz="1400" b="1" dirty="0">
                <a:solidFill>
                  <a:srgbClr val="D34817"/>
                </a:solidFill>
                <a:latin typeface="Times New Roman" panose="02020603050405020304" pitchFamily="18" charset="0"/>
                <a:ea typeface="等线" panose="02010600030101010101" pitchFamily="2" charset="-122"/>
              </a:rPr>
              <a:t>(</a:t>
            </a:r>
            <a:r>
              <a:rPr lang="zh-CN" altLang="en-US" sz="1400" b="1" dirty="0">
                <a:solidFill>
                  <a:srgbClr val="D34817"/>
                </a:solidFill>
                <a:latin typeface="Times New Roman" panose="02020603050405020304" pitchFamily="18" charset="0"/>
                <a:ea typeface="等线" panose="02010600030101010101" pitchFamily="2" charset="-122"/>
              </a:rPr>
              <a:t>√</a:t>
            </a:r>
            <a:r>
              <a:rPr lang="en-US" altLang="zh-CN" sz="1400" b="1" dirty="0" smtClean="0">
                <a:solidFill>
                  <a:srgbClr val="D34817"/>
                </a:solidFill>
                <a:latin typeface="Times New Roman" panose="02020603050405020304" pitchFamily="18" charset="0"/>
                <a:ea typeface="等线" panose="02010600030101010101" pitchFamily="2" charset="-122"/>
              </a:rPr>
              <a:t>)</a:t>
            </a:r>
            <a:endParaRPr lang="en-US" altLang="zh-CN" sz="1400" dirty="0" smtClean="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Increase </a:t>
            </a:r>
            <a:r>
              <a:rPr lang="en-US" altLang="zh-CN" sz="1400" dirty="0" smtClean="0">
                <a:latin typeface="Times New Roman" panose="02020603050405020304" pitchFamily="18" charset="0"/>
                <a:ea typeface="等线" panose="02010600030101010101" pitchFamily="2" charset="-122"/>
              </a:rPr>
              <a:t>volume </a:t>
            </a:r>
            <a:r>
              <a:rPr lang="en-US" altLang="zh-CN" sz="1400" b="1" dirty="0" smtClean="0">
                <a:solidFill>
                  <a:srgbClr val="D34817"/>
                </a:solidFill>
                <a:latin typeface="Times New Roman" panose="02020603050405020304" pitchFamily="18" charset="0"/>
                <a:ea typeface="等线" panose="02010600030101010101" pitchFamily="2" charset="-122"/>
              </a:rPr>
              <a:t>(</a:t>
            </a:r>
            <a:r>
              <a:rPr lang="zh-CN" altLang="en-US" sz="1400" b="1" dirty="0">
                <a:solidFill>
                  <a:srgbClr val="D34817"/>
                </a:solidFill>
                <a:latin typeface="Times New Roman" panose="02020603050405020304" pitchFamily="18" charset="0"/>
                <a:ea typeface="等线" panose="02010600030101010101" pitchFamily="2" charset="-122"/>
              </a:rPr>
              <a:t>√</a:t>
            </a:r>
            <a:r>
              <a:rPr lang="en-US" altLang="zh-CN" sz="1400" b="1" dirty="0" smtClean="0">
                <a:solidFill>
                  <a:srgbClr val="D34817"/>
                </a:solidFill>
                <a:latin typeface="Times New Roman" panose="02020603050405020304" pitchFamily="18" charset="0"/>
                <a:ea typeface="等线" panose="02010600030101010101" pitchFamily="2" charset="-122"/>
              </a:rPr>
              <a:t>)</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Increase </a:t>
            </a:r>
            <a:r>
              <a:rPr lang="en-US" altLang="zh-CN" sz="1400" dirty="0" smtClean="0">
                <a:latin typeface="Times New Roman" panose="02020603050405020304" pitchFamily="18" charset="0"/>
                <a:ea typeface="等线" panose="02010600030101010101" pitchFamily="2" charset="-122"/>
              </a:rPr>
              <a:t>Volatility, but the result is unclear and non-stable </a:t>
            </a:r>
            <a:r>
              <a:rPr lang="en-US" altLang="zh-CN" sz="1400" b="1" dirty="0">
                <a:solidFill>
                  <a:srgbClr val="D34817"/>
                </a:solidFill>
                <a:latin typeface="Times New Roman" panose="02020603050405020304" pitchFamily="18" charset="0"/>
                <a:ea typeface="等线" panose="02010600030101010101" pitchFamily="2" charset="-122"/>
              </a:rPr>
              <a:t>(</a:t>
            </a:r>
            <a:r>
              <a:rPr lang="zh-CN" altLang="en-US" sz="1400" b="1" dirty="0">
                <a:solidFill>
                  <a:srgbClr val="D34817"/>
                </a:solidFill>
                <a:latin typeface="Times New Roman" panose="02020603050405020304" pitchFamily="18" charset="0"/>
                <a:ea typeface="等线" panose="02010600030101010101" pitchFamily="2" charset="-122"/>
              </a:rPr>
              <a:t>√</a:t>
            </a:r>
            <a:r>
              <a:rPr lang="en-US" altLang="zh-CN" sz="1400" b="1" dirty="0">
                <a:solidFill>
                  <a:srgbClr val="D34817"/>
                </a:solidFill>
                <a:latin typeface="Times New Roman" panose="02020603050405020304" pitchFamily="18" charset="0"/>
                <a:ea typeface="等线" panose="02010600030101010101" pitchFamily="2" charset="-122"/>
              </a:rPr>
              <a:t>)</a:t>
            </a:r>
          </a:p>
          <a:p>
            <a:pPr lvl="1">
              <a:lnSpc>
                <a:spcPts val="2800"/>
              </a:lnSpc>
            </a:pPr>
            <a:endParaRPr lang="en-US" altLang="zh-CN" sz="1400" dirty="0">
              <a:latin typeface="Times New Roman" panose="02020603050405020304" pitchFamily="18" charset="0"/>
              <a:ea typeface="等线" panose="02010600030101010101" pitchFamily="2" charset="-122"/>
            </a:endParaRPr>
          </a:p>
          <a:p>
            <a:pPr>
              <a:lnSpc>
                <a:spcPts val="2800"/>
              </a:lnSpc>
            </a:pPr>
            <a:endParaRPr lang="en-US" altLang="zh-CN" sz="1600" b="1" dirty="0" smtClean="0">
              <a:latin typeface="Times New Roman" panose="02020603050405020304" pitchFamily="18" charset="0"/>
              <a:ea typeface="等线" panose="02010600030101010101" pitchFamily="2" charset="-122"/>
            </a:endParaRPr>
          </a:p>
          <a:p>
            <a:pPr>
              <a:lnSpc>
                <a:spcPts val="2800"/>
              </a:lnSpc>
            </a:pPr>
            <a:endParaRPr lang="en-US" altLang="zh-CN" sz="1600" b="1" dirty="0">
              <a:latin typeface="Times New Roman" panose="02020603050405020304" pitchFamily="18" charset="0"/>
              <a:ea typeface="等线" panose="02010600030101010101" pitchFamily="2" charset="-122"/>
            </a:endParaRPr>
          </a:p>
        </p:txBody>
      </p:sp>
      <p:sp>
        <p:nvSpPr>
          <p:cNvPr id="6" name="标题 1">
            <a:extLst>
              <a:ext uri="{FF2B5EF4-FFF2-40B4-BE49-F238E27FC236}">
                <a16:creationId xmlns:a16="http://schemas.microsoft.com/office/drawing/2014/main" id="{A3C71D49-1CFF-4704-AE93-7F736EAECB98}"/>
              </a:ext>
            </a:extLst>
          </p:cNvPr>
          <p:cNvSpPr txBox="1">
            <a:spLocks/>
          </p:cNvSpPr>
          <p:nvPr/>
        </p:nvSpPr>
        <p:spPr bwMode="auto">
          <a:xfrm>
            <a:off x="657672" y="5375995"/>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Build a system of the market, according to these results of causal relationship</a:t>
            </a:r>
            <a:endParaRPr lang="en-US" altLang="zh-CN" sz="1800" b="1" dirty="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According to systems theory, all representations are </a:t>
            </a:r>
            <a:r>
              <a:rPr lang="en-US" altLang="zh-CN" sz="1400" b="1" dirty="0">
                <a:latin typeface="Times New Roman" panose="02020603050405020304" pitchFamily="18" charset="0"/>
                <a:ea typeface="等线" panose="02010600030101010101" pitchFamily="2" charset="-122"/>
              </a:rPr>
              <a:t>corollaries</a:t>
            </a:r>
            <a:r>
              <a:rPr lang="en-US" altLang="zh-CN" sz="1400" dirty="0">
                <a:latin typeface="Times New Roman" panose="02020603050405020304" pitchFamily="18" charset="0"/>
                <a:ea typeface="等线" panose="02010600030101010101" pitchFamily="2" charset="-122"/>
              </a:rPr>
              <a:t> of system </a:t>
            </a:r>
            <a:r>
              <a:rPr lang="en-US" altLang="zh-CN" sz="1400" dirty="0" smtClean="0">
                <a:latin typeface="Times New Roman" panose="02020603050405020304" pitchFamily="18" charset="0"/>
                <a:ea typeface="等线" panose="02010600030101010101" pitchFamily="2" charset="-122"/>
              </a:rPr>
              <a:t>axioms (to make </a:t>
            </a:r>
            <a:r>
              <a:rPr lang="en-US" altLang="zh-CN" sz="1400" dirty="0">
                <a:latin typeface="Times New Roman" panose="02020603050405020304" pitchFamily="18" charset="0"/>
                <a:ea typeface="等线" panose="02010600030101010101" pitchFamily="2" charset="-122"/>
              </a:rPr>
              <a:t>it reasonable),</a:t>
            </a:r>
            <a:br>
              <a:rPr lang="en-US" altLang="zh-CN" sz="1400" dirty="0">
                <a:latin typeface="Times New Roman" panose="02020603050405020304" pitchFamily="18" charset="0"/>
                <a:ea typeface="等线" panose="02010600030101010101" pitchFamily="2" charset="-122"/>
              </a:rPr>
            </a:br>
            <a:r>
              <a:rPr lang="en-US" altLang="zh-CN" sz="1400" dirty="0">
                <a:latin typeface="Times New Roman" panose="02020603050405020304" pitchFamily="18" charset="0"/>
                <a:ea typeface="等线" panose="02010600030101010101" pitchFamily="2" charset="-122"/>
              </a:rPr>
              <a:t>We tried to restore the real system after reviewing a lot of other materials and </a:t>
            </a:r>
            <a:r>
              <a:rPr lang="en-US" altLang="zh-CN" sz="1400" dirty="0" smtClean="0">
                <a:latin typeface="Times New Roman" panose="02020603050405020304" pitchFamily="18" charset="0"/>
                <a:ea typeface="等线" panose="02010600030101010101" pitchFamily="2" charset="-122"/>
              </a:rPr>
              <a:t>data.</a:t>
            </a:r>
            <a:endParaRPr lang="en-US" altLang="zh-CN" sz="1400" dirty="0">
              <a:latin typeface="Times New Roman" panose="02020603050405020304" pitchFamily="18" charset="0"/>
              <a:ea typeface="等线" panose="02010600030101010101" pitchFamily="2" charset="-122"/>
            </a:endParaRPr>
          </a:p>
          <a:p>
            <a:pPr>
              <a:lnSpc>
                <a:spcPts val="2800"/>
              </a:lnSpc>
            </a:pPr>
            <a:endParaRPr lang="en-US" altLang="zh-CN" sz="1600" b="1" dirty="0" smtClean="0">
              <a:latin typeface="Times New Roman" panose="02020603050405020304" pitchFamily="18" charset="0"/>
              <a:ea typeface="等线" panose="02010600030101010101" pitchFamily="2" charset="-122"/>
            </a:endParaRPr>
          </a:p>
          <a:p>
            <a:pPr>
              <a:lnSpc>
                <a:spcPts val="2800"/>
              </a:lnSpc>
            </a:pPr>
            <a:endParaRPr lang="en-US" altLang="zh-CN" sz="1600" b="1" dirty="0">
              <a:latin typeface="Times New Roman" panose="02020603050405020304" pitchFamily="18" charset="0"/>
              <a:ea typeface="等线" panose="02010600030101010101" pitchFamily="2" charset="-122"/>
            </a:endParaRPr>
          </a:p>
        </p:txBody>
      </p:sp>
    </p:spTree>
    <p:extLst>
      <p:ext uri="{BB962C8B-B14F-4D97-AF65-F5344CB8AC3E}">
        <p14:creationId xmlns:p14="http://schemas.microsoft.com/office/powerpoint/2010/main" val="1952064911"/>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451705" y="1053530"/>
            <a:ext cx="9277075"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a:lnSpc>
                <a:spcPts val="2800"/>
              </a:lnSpc>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Reflexive model diagram (Inspired by Soros, 1987) </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In </a:t>
            </a:r>
            <a:r>
              <a:rPr lang="en-US" altLang="zh-CN" sz="1400" dirty="0">
                <a:latin typeface="Times New Roman" panose="02020603050405020304" pitchFamily="18" charset="0"/>
                <a:ea typeface="等线" panose="02010600030101010101" pitchFamily="2" charset="-122"/>
              </a:rPr>
              <a:t>the process on the left, the core of attention is the </a:t>
            </a:r>
            <a:r>
              <a:rPr lang="en-US" altLang="zh-CN" sz="1400" b="1" dirty="0">
                <a:latin typeface="Times New Roman" panose="02020603050405020304" pitchFamily="18" charset="0"/>
                <a:ea typeface="等线" panose="02010600030101010101" pitchFamily="2" charset="-122"/>
              </a:rPr>
              <a:t>source of convenience yield.           </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The </a:t>
            </a:r>
            <a:r>
              <a:rPr lang="en-US" altLang="zh-CN" sz="1400" dirty="0">
                <a:latin typeface="Times New Roman" panose="02020603050405020304" pitchFamily="18" charset="0"/>
                <a:ea typeface="等线" panose="02010600030101010101" pitchFamily="2" charset="-122"/>
              </a:rPr>
              <a:t>graph on the right represents </a:t>
            </a:r>
            <a:r>
              <a:rPr lang="en-US" altLang="zh-CN" sz="1400" dirty="0" smtClean="0">
                <a:latin typeface="Times New Roman" panose="02020603050405020304" pitchFamily="18" charset="0"/>
                <a:ea typeface="等线" panose="02010600030101010101" pitchFamily="2" charset="-122"/>
              </a:rPr>
              <a:t>how</a:t>
            </a:r>
            <a:r>
              <a:rPr lang="en-US" altLang="zh-CN" sz="1400" b="1" dirty="0" smtClean="0">
                <a:latin typeface="Times New Roman" panose="02020603050405020304" pitchFamily="18" charset="0"/>
                <a:ea typeface="等线" panose="02010600030101010101" pitchFamily="2" charset="-122"/>
              </a:rPr>
              <a:t> </a:t>
            </a:r>
            <a:r>
              <a:rPr lang="en-US" altLang="zh-CN" sz="1400" b="1" dirty="0">
                <a:latin typeface="Times New Roman" panose="02020603050405020304" pitchFamily="18" charset="0"/>
                <a:ea typeface="等线" panose="02010600030101010101" pitchFamily="2" charset="-122"/>
              </a:rPr>
              <a:t>traders' expectations </a:t>
            </a:r>
            <a:r>
              <a:rPr lang="en-US" altLang="zh-CN" sz="1400" dirty="0">
                <a:latin typeface="Times New Roman" panose="02020603050405020304" pitchFamily="18" charset="0"/>
                <a:ea typeface="等线" panose="02010600030101010101" pitchFamily="2" charset="-122"/>
              </a:rPr>
              <a:t>of convenience yield </a:t>
            </a:r>
            <a:r>
              <a:rPr lang="en-US" altLang="zh-CN" sz="1400" dirty="0" smtClean="0">
                <a:latin typeface="Times New Roman" panose="02020603050405020304" pitchFamily="18" charset="0"/>
                <a:ea typeface="等线" panose="02010600030101010101" pitchFamily="2" charset="-122"/>
              </a:rPr>
              <a:t>affect </a:t>
            </a:r>
            <a:r>
              <a:rPr lang="en-US" altLang="zh-CN" sz="1400" dirty="0">
                <a:latin typeface="Times New Roman" panose="02020603050405020304" pitchFamily="18" charset="0"/>
                <a:ea typeface="等线" panose="02010600030101010101" pitchFamily="2" charset="-122"/>
              </a:rPr>
              <a:t>the market</a:t>
            </a:r>
            <a:r>
              <a:rPr lang="en-US" altLang="zh-CN" sz="1400" dirty="0" smtClean="0">
                <a:latin typeface="Times New Roman" panose="02020603050405020304" pitchFamily="18" charset="0"/>
                <a:ea typeface="等线" panose="02010600030101010101" pitchFamily="2" charset="-122"/>
              </a:rPr>
              <a:t>.</a:t>
            </a:r>
          </a:p>
          <a:p>
            <a:pPr>
              <a:lnSpc>
                <a:spcPts val="2800"/>
              </a:lnSpc>
            </a:pPr>
            <a:endParaRPr lang="en-US" altLang="zh-CN" sz="1800"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Conclusion:</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We find very little negative evidence for the system assumption. </a:t>
            </a:r>
            <a:r>
              <a:rPr lang="en-US" altLang="zh-CN" sz="1400" b="1" dirty="0" smtClean="0">
                <a:latin typeface="Times New Roman" panose="02020603050405020304" pitchFamily="18" charset="0"/>
                <a:ea typeface="等线" panose="02010600030101010101" pitchFamily="2" charset="-122"/>
              </a:rPr>
              <a:t>Our model is very likely to be true.</a:t>
            </a: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The market is not </a:t>
            </a:r>
            <a:r>
              <a:rPr lang="en-US" altLang="zh-CN" sz="1400" dirty="0" smtClean="0">
                <a:latin typeface="Times New Roman" panose="02020603050405020304" pitchFamily="18" charset="0"/>
                <a:ea typeface="等线" panose="02010600030101010101" pitchFamily="2" charset="-122"/>
              </a:rPr>
              <a:t>mature with some dealers (big whale), causing some anomalies in the evidence.</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After </a:t>
            </a:r>
            <a:r>
              <a:rPr lang="en-US" altLang="zh-CN" sz="1400" dirty="0">
                <a:latin typeface="Times New Roman" panose="02020603050405020304" pitchFamily="18" charset="0"/>
                <a:ea typeface="等线" panose="02010600030101010101" pitchFamily="2" charset="-122"/>
              </a:rPr>
              <a:t>the crisis, the system mechanism of the market has partially failed, as shown in </a:t>
            </a:r>
            <a:r>
              <a:rPr lang="en-US" altLang="zh-CN" sz="1400" dirty="0" smtClean="0">
                <a:latin typeface="Times New Roman" panose="02020603050405020304" pitchFamily="18" charset="0"/>
                <a:ea typeface="等线" panose="02010600030101010101" pitchFamily="2" charset="-122"/>
              </a:rPr>
              <a:t>data. We skip this part.</a:t>
            </a:r>
          </a:p>
          <a:p>
            <a:pPr marL="821884" lvl="1" indent="-342921">
              <a:lnSpc>
                <a:spcPts val="2800"/>
              </a:lnSpc>
              <a:buFont typeface="Wingdings" panose="05000000000000000000" pitchFamily="2" charset="2"/>
              <a:buChar char="Ø"/>
            </a:pP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400" dirty="0">
              <a:latin typeface="Times New Roman" panose="02020603050405020304" pitchFamily="18" charset="0"/>
              <a:ea typeface="等线" panose="02010600030101010101" pitchFamily="2" charset="-122"/>
            </a:endParaRPr>
          </a:p>
          <a:p>
            <a:pPr>
              <a:lnSpc>
                <a:spcPts val="2800"/>
              </a:lnSpc>
            </a:pPr>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V</a:t>
            </a:r>
            <a:r>
              <a:rPr lang="en-US" altLang="zh-CN" sz="2400" dirty="0">
                <a:solidFill>
                  <a:schemeClr val="bg1"/>
                </a:solidFill>
              </a:rPr>
              <a:t>. </a:t>
            </a:r>
            <a:r>
              <a:rPr lang="en-US" altLang="zh-CN" sz="2400" dirty="0" smtClean="0">
                <a:solidFill>
                  <a:schemeClr val="bg1"/>
                </a:solidFill>
              </a:rPr>
              <a:t>Micro-transmission </a:t>
            </a:r>
            <a:r>
              <a:rPr lang="en-US" altLang="zh-CN" sz="2400" dirty="0">
                <a:solidFill>
                  <a:schemeClr val="bg1"/>
                </a:solidFill>
              </a:rPr>
              <a:t>mechanism</a:t>
            </a:r>
            <a:r>
              <a:rPr lang="zh-CN" altLang="en-US" sz="2400" dirty="0" smtClean="0">
                <a:solidFill>
                  <a:schemeClr val="bg1"/>
                </a:solidFill>
              </a:rPr>
              <a:t>：</a:t>
            </a:r>
            <a:endParaRPr lang="en-US" sz="2400" dirty="0">
              <a:solidFill>
                <a:schemeClr val="bg1"/>
              </a:solidFill>
            </a:endParaRPr>
          </a:p>
        </p:txBody>
      </p:sp>
      <p:pic>
        <p:nvPicPr>
          <p:cNvPr id="4" name="图片 3" descr="反身性理论"/>
          <p:cNvPicPr/>
          <p:nvPr/>
        </p:nvPicPr>
        <p:blipFill>
          <a:blip r:embed="rId2">
            <a:extLst>
              <a:ext uri="{28A0092B-C50C-407E-A947-70E740481C1C}">
                <a14:useLocalDpi xmlns:a14="http://schemas.microsoft.com/office/drawing/2010/main" val="0"/>
              </a:ext>
            </a:extLst>
          </a:blip>
          <a:srcRect/>
          <a:stretch>
            <a:fillRect/>
          </a:stretch>
        </p:blipFill>
        <p:spPr bwMode="auto">
          <a:xfrm>
            <a:off x="1279798" y="1053530"/>
            <a:ext cx="6660740" cy="2285489"/>
          </a:xfrm>
          <a:prstGeom prst="rect">
            <a:avLst/>
          </a:prstGeom>
          <a:noFill/>
          <a:ln>
            <a:noFill/>
          </a:ln>
        </p:spPr>
      </p:pic>
      <p:cxnSp>
        <p:nvCxnSpPr>
          <p:cNvPr id="3" name="直接连接符 2"/>
          <p:cNvCxnSpPr/>
          <p:nvPr/>
        </p:nvCxnSpPr>
        <p:spPr>
          <a:xfrm>
            <a:off x="5272030" y="890747"/>
            <a:ext cx="0" cy="2448272"/>
          </a:xfrm>
          <a:prstGeom prst="line">
            <a:avLst/>
          </a:prstGeom>
          <a:ln w="38100">
            <a:solidFill>
              <a:srgbClr val="FF0000"/>
            </a:solidFill>
            <a:prstDash val="sysDash"/>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475608696"/>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A3C71D49-1CFF-4704-AE93-7F736EAECB98}"/>
              </a:ext>
            </a:extLst>
          </p:cNvPr>
          <p:cNvSpPr txBox="1">
            <a:spLocks/>
          </p:cNvSpPr>
          <p:nvPr/>
        </p:nvSpPr>
        <p:spPr bwMode="auto">
          <a:xfrm>
            <a:off x="681562" y="1233550"/>
            <a:ext cx="8328227" cy="69313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Define </a:t>
            </a:r>
            <a:r>
              <a:rPr lang="en-US" altLang="zh-CN" sz="1800" b="1" dirty="0">
                <a:solidFill>
                  <a:schemeClr val="bg2"/>
                </a:solidFill>
                <a:latin typeface="Times New Roman" panose="02020603050405020304" pitchFamily="18" charset="0"/>
                <a:ea typeface="等线" panose="02010600030101010101" pitchFamily="2" charset="-122"/>
              </a:rPr>
              <a:t>the basic concepts and sources of </a:t>
            </a:r>
            <a:r>
              <a:rPr lang="en-US" altLang="zh-CN" sz="1800" b="1" dirty="0" smtClean="0">
                <a:solidFill>
                  <a:schemeClr val="bg2"/>
                </a:solidFill>
                <a:latin typeface="Times New Roman" panose="02020603050405020304" pitchFamily="18" charset="0"/>
                <a:ea typeface="等线" panose="02010600030101010101" pitchFamily="2" charset="-122"/>
              </a:rPr>
              <a:t>convenience, build the model, obtain </a:t>
            </a:r>
            <a:r>
              <a:rPr lang="en-US" altLang="zh-CN" sz="1800" b="1" dirty="0">
                <a:solidFill>
                  <a:schemeClr val="bg2"/>
                </a:solidFill>
                <a:latin typeface="Times New Roman" panose="02020603050405020304" pitchFamily="18" charset="0"/>
                <a:ea typeface="等线" panose="02010600030101010101" pitchFamily="2" charset="-122"/>
              </a:rPr>
              <a:t>a sequence of convenience yield. </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introduced </a:t>
            </a:r>
            <a:r>
              <a:rPr lang="en-US" altLang="zh-CN" sz="1400" dirty="0">
                <a:latin typeface="Times New Roman" panose="02020603050405020304" pitchFamily="18" charset="0"/>
                <a:ea typeface="等线" panose="02010600030101010101" pitchFamily="2" charset="-122"/>
              </a:rPr>
              <a:t>a large number of qualitative analysis materials, and </a:t>
            </a:r>
            <a:endParaRPr lang="en-US" altLang="zh-CN" sz="1400" dirty="0" smtClean="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introduced </a:t>
            </a:r>
            <a:r>
              <a:rPr lang="en-US" altLang="zh-CN" sz="1400" dirty="0">
                <a:latin typeface="Times New Roman" panose="02020603050405020304" pitchFamily="18" charset="0"/>
                <a:ea typeface="等线" panose="02010600030101010101" pitchFamily="2" charset="-122"/>
              </a:rPr>
              <a:t>the basic concepts such as market composition and product characteristics in detail.</a:t>
            </a:r>
          </a:p>
          <a:p>
            <a:pPr marL="285768" indent="-285768">
              <a:lnSpc>
                <a:spcPct val="120000"/>
              </a:lnSpc>
              <a:buFont typeface="Arial" panose="020B0604020202020204" pitchFamily="34" charset="0"/>
              <a:buChar char="•"/>
            </a:pPr>
            <a:endParaRPr lang="en-US" altLang="zh-CN" sz="1800" dirty="0">
              <a:latin typeface="Times New Roman" panose="02020603050405020304" pitchFamily="18" charset="0"/>
              <a:ea typeface="等线" panose="02010600030101010101" pitchFamily="2" charset="-122"/>
              <a:cs typeface="Times New Roman" panose="02020603050405020304" pitchFamily="18" charset="0"/>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Try to verify </a:t>
            </a:r>
            <a:r>
              <a:rPr lang="en-US" altLang="zh-CN" sz="1800" b="1" dirty="0">
                <a:solidFill>
                  <a:schemeClr val="bg2"/>
                </a:solidFill>
                <a:latin typeface="Times New Roman" panose="02020603050405020304" pitchFamily="18" charset="0"/>
                <a:ea typeface="等线" panose="02010600030101010101" pitchFamily="2" charset="-122"/>
              </a:rPr>
              <a:t>a reflexive system </a:t>
            </a:r>
            <a:r>
              <a:rPr lang="en-US" altLang="zh-CN" sz="1800" b="1" dirty="0" smtClean="0">
                <a:solidFill>
                  <a:schemeClr val="bg2"/>
                </a:solidFill>
                <a:latin typeface="Times New Roman" panose="02020603050405020304" pitchFamily="18" charset="0"/>
                <a:ea typeface="等线" panose="02010600030101010101" pitchFamily="2" charset="-122"/>
              </a:rPr>
              <a:t>through econometrics results.</a:t>
            </a:r>
            <a:endParaRPr lang="en-US" altLang="zh-CN" sz="1800" b="1" dirty="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Convenience yield change the characteristics of the market by </a:t>
            </a:r>
            <a:r>
              <a:rPr lang="en-US" altLang="zh-CN" sz="1400" b="1" dirty="0">
                <a:latin typeface="Times New Roman" panose="02020603050405020304" pitchFamily="18" charset="0"/>
                <a:ea typeface="等线" panose="02010600030101010101" pitchFamily="2" charset="-122"/>
              </a:rPr>
              <a:t>affecting the expectations of traders </a:t>
            </a:r>
            <a:r>
              <a:rPr lang="en-US" altLang="zh-CN" sz="1400" dirty="0">
                <a:latin typeface="Times New Roman" panose="02020603050405020304" pitchFamily="18" charset="0"/>
                <a:ea typeface="等线" panose="02010600030101010101" pitchFamily="2" charset="-122"/>
              </a:rPr>
              <a:t>in the spot and futures </a:t>
            </a:r>
            <a:r>
              <a:rPr lang="en-US" altLang="zh-CN" sz="1400" dirty="0" smtClean="0">
                <a:latin typeface="Times New Roman" panose="02020603050405020304" pitchFamily="18" charset="0"/>
                <a:ea typeface="等线" panose="02010600030101010101" pitchFamily="2" charset="-122"/>
              </a:rPr>
              <a:t>markets</a:t>
            </a:r>
            <a:r>
              <a:rPr lang="en-US" altLang="zh-CN" sz="1400" dirty="0">
                <a:latin typeface="Times New Roman" panose="02020603050405020304" pitchFamily="18" charset="0"/>
                <a:ea typeface="等线" panose="02010600030101010101" pitchFamily="2" charset="-122"/>
              </a:rPr>
              <a:t> </a:t>
            </a:r>
            <a:r>
              <a:rPr lang="en-US" altLang="zh-CN" sz="1400" dirty="0" smtClean="0">
                <a:latin typeface="Times New Roman" panose="02020603050405020304" pitchFamily="18" charset="0"/>
                <a:ea typeface="等线" panose="02010600030101010101" pitchFamily="2" charset="-122"/>
              </a:rPr>
              <a:t>-&gt; increasing price</a:t>
            </a:r>
            <a:r>
              <a:rPr lang="en-US" altLang="zh-CN" sz="1400" dirty="0">
                <a:latin typeface="Times New Roman" panose="02020603050405020304" pitchFamily="18" charset="0"/>
                <a:ea typeface="等线" panose="02010600030101010101" pitchFamily="2" charset="-122"/>
              </a:rPr>
              <a:t> </a:t>
            </a:r>
            <a:r>
              <a:rPr lang="en-US" altLang="zh-CN" sz="1400" dirty="0" smtClean="0">
                <a:latin typeface="Times New Roman" panose="02020603050405020304" pitchFamily="18" charset="0"/>
                <a:ea typeface="等线" panose="02010600030101010101" pitchFamily="2" charset="-122"/>
              </a:rPr>
              <a:t>and volume.</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In addition, features such as spot prices will in turn </a:t>
            </a:r>
            <a:r>
              <a:rPr lang="en-US" altLang="zh-CN" sz="1400" b="1" dirty="0">
                <a:latin typeface="Times New Roman" panose="02020603050405020304" pitchFamily="18" charset="0"/>
                <a:ea typeface="等线" panose="02010600030101010101" pitchFamily="2" charset="-122"/>
              </a:rPr>
              <a:t>affect the </a:t>
            </a:r>
            <a:r>
              <a:rPr lang="en-US" altLang="zh-CN" sz="1400" b="1" dirty="0" smtClean="0">
                <a:latin typeface="Times New Roman" panose="02020603050405020304" pitchFamily="18" charset="0"/>
                <a:ea typeface="等线" panose="02010600030101010101" pitchFamily="2" charset="-122"/>
              </a:rPr>
              <a:t>expectation of revenue</a:t>
            </a:r>
            <a:r>
              <a:rPr lang="en-US" altLang="zh-CN" sz="1400" dirty="0" smtClean="0">
                <a:latin typeface="Times New Roman" panose="02020603050405020304" pitchFamily="18" charset="0"/>
                <a:ea typeface="等线" panose="02010600030101010101" pitchFamily="2" charset="-122"/>
              </a:rPr>
              <a:t> </a:t>
            </a:r>
            <a:r>
              <a:rPr lang="en-US" altLang="zh-CN" sz="1400" b="1" dirty="0" smtClean="0">
                <a:latin typeface="Times New Roman" panose="02020603050405020304" pitchFamily="18" charset="0"/>
                <a:ea typeface="等线" panose="02010600030101010101" pitchFamily="2" charset="-122"/>
              </a:rPr>
              <a:t>of market participants</a:t>
            </a:r>
            <a:r>
              <a:rPr lang="en-US" altLang="zh-CN" sz="1400" dirty="0" smtClean="0">
                <a:latin typeface="Times New Roman" panose="02020603050405020304" pitchFamily="18" charset="0"/>
                <a:ea typeface="等线" panose="02010600030101010101" pitchFamily="2" charset="-122"/>
              </a:rPr>
              <a:t>, </a:t>
            </a:r>
            <a:r>
              <a:rPr lang="en-US" altLang="zh-CN" sz="1400" dirty="0">
                <a:latin typeface="Times New Roman" panose="02020603050405020304" pitchFamily="18" charset="0"/>
                <a:ea typeface="等线" panose="02010600030101010101" pitchFamily="2" charset="-122"/>
              </a:rPr>
              <a:t>thereby affecting the convenience yield results of the next period</a:t>
            </a:r>
            <a:r>
              <a:rPr lang="en-US" altLang="zh-CN" sz="1400" dirty="0" smtClean="0">
                <a:latin typeface="Times New Roman" panose="02020603050405020304" pitchFamily="18" charset="0"/>
                <a:ea typeface="等线" panose="02010600030101010101" pitchFamily="2" charset="-122"/>
              </a:rPr>
              <a:t>.</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The result is </a:t>
            </a:r>
            <a:r>
              <a:rPr lang="en-US" altLang="zh-CN" sz="1400" b="1" dirty="0" smtClean="0">
                <a:latin typeface="Times New Roman" panose="02020603050405020304" pitchFamily="18" charset="0"/>
                <a:ea typeface="等线" panose="02010600030101010101" pitchFamily="2" charset="-122"/>
              </a:rPr>
              <a:t>robust</a:t>
            </a:r>
            <a:r>
              <a:rPr lang="en-US" altLang="zh-CN" sz="1400" dirty="0" smtClean="0">
                <a:latin typeface="Times New Roman" panose="02020603050405020304" pitchFamily="18" charset="0"/>
                <a:ea typeface="等线" panose="02010600030101010101" pitchFamily="2" charset="-122"/>
              </a:rPr>
              <a:t> before and after “5.19” crisis.</a:t>
            </a:r>
            <a:endParaRPr lang="en-US" altLang="zh-CN" sz="1400" dirty="0">
              <a:latin typeface="Times New Roman" panose="02020603050405020304" pitchFamily="18" charset="0"/>
              <a:ea typeface="等线" panose="02010600030101010101" pitchFamily="2" charset="-122"/>
            </a:endParaRPr>
          </a:p>
          <a:p>
            <a:pPr marL="285768" indent="-285768">
              <a:lnSpc>
                <a:spcPct val="120000"/>
              </a:lnSpc>
              <a:buFont typeface="Arial" panose="020B0604020202020204" pitchFamily="34" charset="0"/>
              <a:buChar char="•"/>
            </a:pPr>
            <a:endParaRPr lang="en-US" altLang="zh-CN" sz="1800" dirty="0">
              <a:latin typeface="Times New Roman" panose="02020603050405020304" pitchFamily="18" charset="0"/>
              <a:ea typeface="等线" panose="02010600030101010101" pitchFamily="2" charset="-122"/>
              <a:cs typeface="Times New Roman" panose="02020603050405020304" pitchFamily="18" charset="0"/>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Analyze the </a:t>
            </a:r>
            <a:r>
              <a:rPr lang="en-US" altLang="zh-CN" sz="1800" b="1" dirty="0">
                <a:solidFill>
                  <a:schemeClr val="bg2"/>
                </a:solidFill>
                <a:latin typeface="Times New Roman" panose="02020603050405020304" pitchFamily="18" charset="0"/>
                <a:ea typeface="等线" panose="02010600030101010101" pitchFamily="2" charset="-122"/>
              </a:rPr>
              <a:t>characteristics and transmission mechanism of convenience yield under </a:t>
            </a:r>
            <a:r>
              <a:rPr lang="en-US" altLang="zh-CN" sz="1800" b="1" dirty="0" smtClean="0">
                <a:solidFill>
                  <a:schemeClr val="bg2"/>
                </a:solidFill>
                <a:latin typeface="Times New Roman" panose="02020603050405020304" pitchFamily="18" charset="0"/>
                <a:ea typeface="等线" panose="02010600030101010101" pitchFamily="2" charset="-122"/>
              </a:rPr>
              <a:t>"</a:t>
            </a:r>
            <a:r>
              <a:rPr lang="en-US" altLang="zh-CN" sz="1800" b="1" dirty="0">
                <a:solidFill>
                  <a:schemeClr val="bg2"/>
                </a:solidFill>
                <a:latin typeface="Times New Roman" panose="02020603050405020304" pitchFamily="18" charset="0"/>
                <a:ea typeface="等线" panose="02010600030101010101" pitchFamily="2" charset="-122"/>
              </a:rPr>
              <a:t>5.19" </a:t>
            </a:r>
            <a:r>
              <a:rPr lang="en-US" altLang="zh-CN" sz="1800" b="1" dirty="0" smtClean="0">
                <a:solidFill>
                  <a:schemeClr val="bg2"/>
                </a:solidFill>
                <a:latin typeface="Times New Roman" panose="02020603050405020304" pitchFamily="18" charset="0"/>
                <a:ea typeface="等线" panose="02010600030101010101" pitchFamily="2" charset="-122"/>
              </a:rPr>
              <a:t>crisis.   (Skip due to time limitation)</a:t>
            </a:r>
            <a:endParaRPr lang="en-US" altLang="zh-CN" sz="1800" b="1" dirty="0">
              <a:solidFill>
                <a:schemeClr val="bg2"/>
              </a:solidFill>
              <a:latin typeface="Times New Roman" panose="02020603050405020304" pitchFamily="18" charset="0"/>
              <a:ea typeface="等线" panose="02010600030101010101" pitchFamily="2" charset="-122"/>
            </a:endParaRPr>
          </a:p>
        </p:txBody>
      </p:sp>
      <p:sp>
        <p:nvSpPr>
          <p:cNvPr id="7" name="标题 1"/>
          <p:cNvSpPr txBox="1">
            <a:spLocks/>
          </p:cNvSpPr>
          <p:nvPr/>
        </p:nvSpPr>
        <p:spPr>
          <a:xfrm>
            <a:off x="182229" y="356075"/>
            <a:ext cx="9368110" cy="390281"/>
          </a:xfrm>
          <a:prstGeom prst="rect">
            <a:avLst/>
          </a:prstGeom>
        </p:spPr>
        <p:txBody>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mj-ea"/>
                <a:cs typeface="Arial" pitchFamily="34" charset="0"/>
              </a:defRPr>
            </a:lvl1pPr>
          </a:lstStyle>
          <a:p>
            <a:r>
              <a:rPr lang="en-US" altLang="zh-CN" sz="2400" dirty="0" smtClean="0">
                <a:solidFill>
                  <a:schemeClr val="bg1"/>
                </a:solidFill>
                <a:latin typeface="Times New Roman" panose="02020603050405020304" pitchFamily="18" charset="0"/>
                <a:cs typeface="Times New Roman" panose="02020603050405020304" pitchFamily="18" charset="0"/>
              </a:rPr>
              <a:t>VI. Summary</a:t>
            </a:r>
            <a:endParaRPr lang="en-US" altLang="zh-C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65671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hidden="1"/>
          <p:cNvGraphicFramePr>
            <a:graphicFrameLocks noChangeAspect="1"/>
          </p:cNvGraphicFramePr>
          <p:nvPr>
            <p:custDataLst>
              <p:tags r:id="rId2"/>
            </p:custDataLst>
            <p:extLst/>
          </p:nvPr>
        </p:nvGraphicFramePr>
        <p:xfrm>
          <a:off x="1590" y="1590"/>
          <a:ext cx="1587" cy="1587"/>
        </p:xfrm>
        <a:graphic>
          <a:graphicData uri="http://schemas.openxmlformats.org/presentationml/2006/ole">
            <mc:AlternateContent xmlns:mc="http://schemas.openxmlformats.org/markup-compatibility/2006">
              <mc:Choice xmlns:v="urn:schemas-microsoft-com:vml" Requires="v">
                <p:oleObj spid="_x0000_s45233" name="think-cell Slide" r:id="rId4" imgW="465" imgH="457" progId="TCLayout.ActiveDocument.1">
                  <p:embed/>
                </p:oleObj>
              </mc:Choice>
              <mc:Fallback>
                <p:oleObj name="think-cell Slide" r:id="rId4" imgW="465" imgH="457" progId="TCLayout.ActiveDocument.1">
                  <p:embed/>
                  <p:pic>
                    <p:nvPicPr>
                      <p:cNvPr id="4" name="对象 3" hidden="1"/>
                      <p:cNvPicPr/>
                      <p:nvPr/>
                    </p:nvPicPr>
                    <p:blipFill>
                      <a:blip r:embed="rId5"/>
                      <a:stretch>
                        <a:fillRect/>
                      </a:stretch>
                    </p:blipFill>
                    <p:spPr>
                      <a:xfrm>
                        <a:off x="1590" y="1590"/>
                        <a:ext cx="1587" cy="1587"/>
                      </a:xfrm>
                      <a:prstGeom prst="rect">
                        <a:avLst/>
                      </a:prstGeom>
                    </p:spPr>
                  </p:pic>
                </p:oleObj>
              </mc:Fallback>
            </mc:AlternateContent>
          </a:graphicData>
        </a:graphic>
      </p:graphicFrame>
      <p:sp>
        <p:nvSpPr>
          <p:cNvPr id="3" name="副标题 2">
            <a:extLst>
              <a:ext uri="{FF2B5EF4-FFF2-40B4-BE49-F238E27FC236}">
                <a16:creationId xmlns:a16="http://schemas.microsoft.com/office/drawing/2014/main" id="{D58463AA-4233-438A-9833-79ED7914084E}"/>
              </a:ext>
            </a:extLst>
          </p:cNvPr>
          <p:cNvSpPr>
            <a:spLocks noGrp="1"/>
          </p:cNvSpPr>
          <p:nvPr>
            <p:ph type="subTitle" idx="1"/>
          </p:nvPr>
        </p:nvSpPr>
        <p:spPr>
          <a:xfrm>
            <a:off x="30505" y="2817727"/>
            <a:ext cx="9873908" cy="780214"/>
          </a:xfrm>
        </p:spPr>
        <p:txBody>
          <a:bodyPr/>
          <a:lstStyle/>
          <a:p>
            <a:pPr algn="ctr"/>
            <a:r>
              <a:rPr lang="en-US" altLang="zh-CN" sz="4800" b="0" dirty="0">
                <a:latin typeface="Times New Roman" panose="02020603050405020304" pitchFamily="18" charset="0"/>
                <a:cs typeface="Times New Roman" panose="02020603050405020304" pitchFamily="18" charset="0"/>
              </a:rPr>
              <a:t>Thanks</a:t>
            </a:r>
            <a:r>
              <a:rPr lang="zh-CN" altLang="en-US" sz="4400" b="0" dirty="0">
                <a:latin typeface="Times New Roman" panose="02020603050405020304" pitchFamily="18" charset="0"/>
                <a:cs typeface="Times New Roman" panose="02020603050405020304" pitchFamily="18" charset="0"/>
              </a:rPr>
              <a:t>！</a:t>
            </a:r>
            <a:endParaRPr lang="en-US" altLang="zh-CN" sz="4400" b="0" i="1"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28099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60671" y="1053530"/>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Cryptocurrency Exchange</a:t>
            </a:r>
            <a:endParaRPr lang="en-US" altLang="zh-CN" sz="1800" dirty="0">
              <a:solidFill>
                <a:schemeClr val="bg2"/>
              </a:solidFill>
              <a:latin typeface="Times New Roman" panose="02020603050405020304" pitchFamily="18" charset="0"/>
              <a:ea typeface="等线" panose="02010600030101010101" pitchFamily="2" charset="-122"/>
            </a:endParaRPr>
          </a:p>
          <a:p>
            <a:pPr>
              <a:lnSpc>
                <a:spcPts val="2800"/>
              </a:lnSpc>
            </a:pPr>
            <a:r>
              <a:rPr lang="en-US" altLang="zh-CN" sz="1800" dirty="0">
                <a:latin typeface="Times New Roman" panose="02020603050405020304" pitchFamily="18" charset="0"/>
                <a:ea typeface="等线" panose="02010600030101010101" pitchFamily="2" charset="-122"/>
              </a:rPr>
              <a:t>Being unregulated, centralized exchanges can make money in any way in the market. As a result, they spontaneously integrated the upstream and downstream industrial chains, and eventually became the most important part of the market, resulting in all kinds of strange innovations.</a:t>
            </a:r>
            <a:endParaRPr lang="en-US" altLang="zh-CN" sz="1800" b="1" dirty="0">
              <a:latin typeface="Times New Roman" panose="02020603050405020304" pitchFamily="18" charset="0"/>
              <a:ea typeface="等线" panose="02010600030101010101" pitchFamily="2" charset="-122"/>
            </a:endParaRPr>
          </a:p>
          <a:p>
            <a:pPr>
              <a:lnSpc>
                <a:spcPts val="2800"/>
              </a:lnSpc>
            </a:pPr>
            <a:endParaRPr lang="en-US" altLang="zh-CN" sz="1800" b="1" dirty="0" smtClean="0">
              <a:latin typeface="Times New Roman" panose="02020603050405020304" pitchFamily="18" charset="0"/>
              <a:ea typeface="等线" panose="02010600030101010101" pitchFamily="2" charset="-122"/>
            </a:endParaRPr>
          </a:p>
          <a:p>
            <a:pPr>
              <a:lnSpc>
                <a:spcPts val="2800"/>
              </a:lnSpc>
            </a:pPr>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Ⅰ. </a:t>
            </a:r>
            <a:r>
              <a:rPr lang="en-US" sz="2400" dirty="0" smtClean="0">
                <a:solidFill>
                  <a:schemeClr val="bg1"/>
                </a:solidFill>
              </a:rPr>
              <a:t>Basic </a:t>
            </a:r>
            <a:r>
              <a:rPr lang="en-US" sz="2400" dirty="0">
                <a:solidFill>
                  <a:schemeClr val="bg1"/>
                </a:solidFill>
              </a:rPr>
              <a:t>introduction to the cryptocurrency </a:t>
            </a:r>
            <a:r>
              <a:rPr lang="en-US" sz="2400" dirty="0" smtClean="0">
                <a:solidFill>
                  <a:schemeClr val="bg1"/>
                </a:solidFill>
              </a:rPr>
              <a:t>marke</a:t>
            </a:r>
            <a:r>
              <a:rPr lang="en-US" altLang="zh-CN" sz="2400" dirty="0" smtClean="0">
                <a:solidFill>
                  <a:schemeClr val="bg1"/>
                </a:solidFill>
              </a:rPr>
              <a:t>t</a:t>
            </a:r>
            <a:endParaRPr lang="en-US" sz="2400" dirty="0">
              <a:solidFill>
                <a:schemeClr val="bg1"/>
              </a:solidFill>
            </a:endParaRPr>
          </a:p>
        </p:txBody>
      </p:sp>
      <p:graphicFrame>
        <p:nvGraphicFramePr>
          <p:cNvPr id="3" name="表格 2"/>
          <p:cNvGraphicFramePr>
            <a:graphicFrameLocks noGrp="1"/>
          </p:cNvGraphicFramePr>
          <p:nvPr>
            <p:extLst/>
          </p:nvPr>
        </p:nvGraphicFramePr>
        <p:xfrm>
          <a:off x="275785" y="2646198"/>
          <a:ext cx="9325190" cy="3962982"/>
        </p:xfrm>
        <a:graphic>
          <a:graphicData uri="http://schemas.openxmlformats.org/drawingml/2006/table">
            <a:tbl>
              <a:tblPr firstRow="1" firstCol="1" bandRow="1"/>
              <a:tblGrid>
                <a:gridCol w="1364053">
                  <a:extLst>
                    <a:ext uri="{9D8B030D-6E8A-4147-A177-3AD203B41FA5}">
                      <a16:colId xmlns:a16="http://schemas.microsoft.com/office/drawing/2014/main" val="3459429265"/>
                    </a:ext>
                  </a:extLst>
                </a:gridCol>
                <a:gridCol w="3555045">
                  <a:extLst>
                    <a:ext uri="{9D8B030D-6E8A-4147-A177-3AD203B41FA5}">
                      <a16:colId xmlns:a16="http://schemas.microsoft.com/office/drawing/2014/main" val="2191694673"/>
                    </a:ext>
                  </a:extLst>
                </a:gridCol>
                <a:gridCol w="4406092">
                  <a:extLst>
                    <a:ext uri="{9D8B030D-6E8A-4147-A177-3AD203B41FA5}">
                      <a16:colId xmlns:a16="http://schemas.microsoft.com/office/drawing/2014/main" val="4200062760"/>
                    </a:ext>
                  </a:extLst>
                </a:gridCol>
              </a:tblGrid>
              <a:tr h="242489">
                <a:tc>
                  <a:txBody>
                    <a:bodyPr/>
                    <a:lstStyle/>
                    <a:p>
                      <a:pPr indent="127000" algn="l">
                        <a:lnSpc>
                          <a:spcPts val="2000"/>
                        </a:lnSpc>
                        <a:spcAft>
                          <a:spcPts val="0"/>
                        </a:spcAft>
                      </a:pPr>
                      <a:r>
                        <a:rPr lang="en-US" sz="1200" b="1" kern="0" dirty="0">
                          <a:effectLst/>
                          <a:latin typeface="Times New Roman" panose="02020603050405020304" pitchFamily="18" charset="0"/>
                          <a:ea typeface="宋体" panose="02010600030101010101" pitchFamily="2" charset="-122"/>
                          <a:cs typeface="Times New Roman" panose="02020603050405020304" pitchFamily="18" charset="0"/>
                        </a:rPr>
                        <a:t>Features</a:t>
                      </a:r>
                      <a:endParaRPr lang="zh-CN" sz="12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l">
                        <a:lnSpc>
                          <a:spcPts val="2000"/>
                        </a:lnSpc>
                        <a:spcAft>
                          <a:spcPts val="0"/>
                        </a:spcAft>
                      </a:pPr>
                      <a:r>
                        <a:rPr lang="en-US" sz="1200" b="1" kern="0" dirty="0">
                          <a:effectLst/>
                          <a:latin typeface="Times New Roman" panose="02020603050405020304" pitchFamily="18" charset="0"/>
                          <a:ea typeface="宋体" panose="02010600030101010101" pitchFamily="2" charset="-122"/>
                          <a:cs typeface="Times New Roman" panose="02020603050405020304" pitchFamily="18" charset="0"/>
                        </a:rPr>
                        <a:t>Traditional Exchange</a:t>
                      </a:r>
                      <a:endParaRPr lang="zh-CN" sz="12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l">
                        <a:lnSpc>
                          <a:spcPts val="2000"/>
                        </a:lnSpc>
                        <a:spcAft>
                          <a:spcPts val="0"/>
                        </a:spcAft>
                      </a:pPr>
                      <a:r>
                        <a:rPr lang="en-US" sz="1200" b="1" kern="0" dirty="0">
                          <a:effectLst/>
                          <a:latin typeface="Times New Roman" panose="02020603050405020304" pitchFamily="18" charset="0"/>
                          <a:ea typeface="宋体" panose="02010600030101010101" pitchFamily="2" charset="-122"/>
                          <a:cs typeface="Times New Roman" panose="02020603050405020304" pitchFamily="18" charset="0"/>
                        </a:rPr>
                        <a:t>Cryptocurrency Exchange</a:t>
                      </a:r>
                      <a:endParaRPr lang="zh-CN" sz="12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1309230"/>
                  </a:ext>
                </a:extLst>
              </a:tr>
              <a:tr h="663931">
                <a:tc>
                  <a:txBody>
                    <a:bodyPr/>
                    <a:lstStyle/>
                    <a:p>
                      <a:pPr indent="127000" algn="l">
                        <a:lnSpc>
                          <a:spcPts val="2000"/>
                        </a:lnSpc>
                        <a:spcAft>
                          <a:spcPts val="0"/>
                        </a:spcAft>
                      </a:pPr>
                      <a:r>
                        <a:rPr lang="en-US" sz="1200" kern="0" dirty="0">
                          <a:solidFill>
                            <a:srgbClr val="9B2D1F"/>
                          </a:solidFill>
                          <a:effectLst/>
                          <a:latin typeface="Times New Roman" panose="02020603050405020304" pitchFamily="18" charset="0"/>
                          <a:ea typeface="宋体" panose="02010600030101010101" pitchFamily="2" charset="-122"/>
                          <a:cs typeface="Times New Roman" panose="02020603050405020304" pitchFamily="18" charset="0"/>
                        </a:rPr>
                        <a:t>Service content</a:t>
                      </a:r>
                      <a:endParaRPr lang="zh-CN" sz="1200" kern="100" dirty="0">
                        <a:solidFill>
                          <a:srgbClr val="9B2D1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l">
                        <a:lnSpc>
                          <a:spcPct val="107000"/>
                        </a:lnSpc>
                        <a:spcAft>
                          <a:spcPts val="800"/>
                        </a:spcAft>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Perform a single function service, order matching engine to carry out matching transactions</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l">
                        <a:lnSpc>
                          <a:spcPct val="107000"/>
                        </a:lnSpc>
                        <a:spcAft>
                          <a:spcPts val="800"/>
                        </a:spcAft>
                      </a:pPr>
                      <a:r>
                        <a:rPr lang="en-US" sz="1200" kern="0" dirty="0">
                          <a:effectLst/>
                          <a:latin typeface="Times New Roman" panose="02020603050405020304" pitchFamily="18" charset="0"/>
                          <a:ea typeface="宋体" panose="02010600030101010101" pitchFamily="2" charset="-122"/>
                          <a:cs typeface="Times New Roman" panose="02020603050405020304" pitchFamily="18" charset="0"/>
                        </a:rPr>
                        <a:t>In addition to matching transactions, it can also assume the role of brokerage and investment bank, and individual crypto asset exchanges assume the role of market makers</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585210"/>
                  </a:ext>
                </a:extLst>
              </a:tr>
              <a:tr h="537189">
                <a:tc>
                  <a:txBody>
                    <a:bodyPr/>
                    <a:lstStyle/>
                    <a:p>
                      <a:pPr indent="127000" algn="l">
                        <a:lnSpc>
                          <a:spcPts val="2000"/>
                        </a:lnSpc>
                        <a:spcAft>
                          <a:spcPts val="0"/>
                        </a:spcAft>
                      </a:pPr>
                      <a:r>
                        <a:rPr lang="en-US" sz="1200" kern="0" dirty="0">
                          <a:solidFill>
                            <a:srgbClr val="9B2D1F"/>
                          </a:solidFill>
                          <a:effectLst/>
                          <a:latin typeface="Times New Roman" panose="02020603050405020304" pitchFamily="18" charset="0"/>
                          <a:ea typeface="宋体" panose="02010600030101010101" pitchFamily="2" charset="-122"/>
                          <a:cs typeface="Times New Roman" panose="02020603050405020304" pitchFamily="18" charset="0"/>
                        </a:rPr>
                        <a:t>Service area</a:t>
                      </a:r>
                      <a:endParaRPr lang="zh-CN" sz="1200" kern="100" dirty="0">
                        <a:solidFill>
                          <a:srgbClr val="9B2D1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Transaction matching, asset custody, and liquidation are completed by different institutions</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200" kern="100">
                          <a:effectLst/>
                          <a:latin typeface="Times New Roman" panose="02020603050405020304" pitchFamily="18" charset="0"/>
                          <a:ea typeface="Times New Roman" panose="02020603050405020304" pitchFamily="18" charset="0"/>
                          <a:cs typeface="Times New Roman" panose="02020603050405020304" pitchFamily="18" charset="0"/>
                        </a:rPr>
                        <a:t>Integrating asset custody, transaction matching, and liquidation</a:t>
                      </a:r>
                      <a:endParaRPr lang="zh-C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9338283"/>
                  </a:ext>
                </a:extLst>
              </a:tr>
              <a:tr h="537189">
                <a:tc>
                  <a:txBody>
                    <a:bodyPr/>
                    <a:lstStyle/>
                    <a:p>
                      <a:pPr indent="127000" algn="l">
                        <a:lnSpc>
                          <a:spcPts val="2000"/>
                        </a:lnSpc>
                        <a:spcAft>
                          <a:spcPts val="0"/>
                        </a:spcAft>
                      </a:pPr>
                      <a:r>
                        <a:rPr lang="en-US" sz="1200" kern="0" dirty="0">
                          <a:solidFill>
                            <a:srgbClr val="9B2D1F"/>
                          </a:solidFill>
                          <a:effectLst/>
                          <a:latin typeface="Times New Roman" panose="02020603050405020304" pitchFamily="18" charset="0"/>
                          <a:ea typeface="宋体" panose="02010600030101010101" pitchFamily="2" charset="-122"/>
                          <a:cs typeface="Times New Roman" panose="02020603050405020304" pitchFamily="18" charset="0"/>
                        </a:rPr>
                        <a:t>User asset security</a:t>
                      </a:r>
                      <a:endParaRPr lang="zh-CN" sz="1200" kern="100" dirty="0">
                        <a:solidFill>
                          <a:srgbClr val="9B2D1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Commercial banks with certain qualifications implement third-party custody of assets</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CEX exchange controls user assets. DEX encrypted asset users keep it by themselves</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0954311"/>
                  </a:ext>
                </a:extLst>
              </a:tr>
              <a:tr h="727307">
                <a:tc>
                  <a:txBody>
                    <a:bodyPr/>
                    <a:lstStyle/>
                    <a:p>
                      <a:pPr indent="127000" algn="l">
                        <a:lnSpc>
                          <a:spcPts val="2000"/>
                        </a:lnSpc>
                        <a:spcAft>
                          <a:spcPts val="0"/>
                        </a:spcAft>
                      </a:pPr>
                      <a:r>
                        <a:rPr lang="en-US" sz="1200" kern="0" dirty="0">
                          <a:solidFill>
                            <a:srgbClr val="9B2D1F"/>
                          </a:solidFill>
                          <a:effectLst/>
                          <a:latin typeface="Times New Roman" panose="02020603050405020304" pitchFamily="18" charset="0"/>
                          <a:ea typeface="宋体" panose="02010600030101010101" pitchFamily="2" charset="-122"/>
                          <a:cs typeface="Times New Roman" panose="02020603050405020304" pitchFamily="18" charset="0"/>
                        </a:rPr>
                        <a:t>Supervision</a:t>
                      </a:r>
                      <a:endParaRPr lang="zh-CN" sz="1200" kern="100" dirty="0">
                        <a:solidFill>
                          <a:srgbClr val="9B2D1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Traditional exchanges are regulated by local laws and perform public functions</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200" kern="100">
                          <a:effectLst/>
                          <a:latin typeface="Times New Roman" panose="02020603050405020304" pitchFamily="18" charset="0"/>
                          <a:ea typeface="Times New Roman" panose="02020603050405020304" pitchFamily="18" charset="0"/>
                          <a:cs typeface="Times New Roman" panose="02020603050405020304" pitchFamily="18" charset="0"/>
                        </a:rPr>
                        <a:t>There is a big difference in the identification of the attributes of encrypted assets. Surveillance is relatively weak, and cross-border movement is almost unrestricted</a:t>
                      </a:r>
                      <a:endParaRPr lang="zh-C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68248165"/>
                  </a:ext>
                </a:extLst>
              </a:tr>
              <a:tr h="1208673">
                <a:tc>
                  <a:txBody>
                    <a:bodyPr/>
                    <a:lstStyle/>
                    <a:p>
                      <a:pPr indent="127000" algn="l">
                        <a:lnSpc>
                          <a:spcPts val="2000"/>
                        </a:lnSpc>
                        <a:spcAft>
                          <a:spcPts val="0"/>
                        </a:spcAft>
                      </a:pPr>
                      <a:r>
                        <a:rPr lang="en-US" sz="1200" kern="0" dirty="0">
                          <a:solidFill>
                            <a:srgbClr val="9B2D1F"/>
                          </a:solidFill>
                          <a:effectLst/>
                          <a:latin typeface="Times New Roman" panose="02020603050405020304" pitchFamily="18" charset="0"/>
                          <a:ea typeface="宋体" panose="02010600030101010101" pitchFamily="2" charset="-122"/>
                          <a:cs typeface="Times New Roman" panose="02020603050405020304" pitchFamily="18" charset="0"/>
                        </a:rPr>
                        <a:t>Technical route</a:t>
                      </a:r>
                      <a:endParaRPr lang="zh-CN" sz="1200" kern="100" dirty="0">
                        <a:solidFill>
                          <a:srgbClr val="9B2D1F"/>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200" kern="100">
                          <a:effectLst/>
                          <a:latin typeface="Times New Roman" panose="02020603050405020304" pitchFamily="18" charset="0"/>
                          <a:ea typeface="Times New Roman" panose="02020603050405020304" pitchFamily="18" charset="0"/>
                          <a:cs typeface="Times New Roman" panose="02020603050405020304" pitchFamily="18" charset="0"/>
                        </a:rPr>
                        <a:t>Internet technology has fundamentally changed the open outcry system, and the new trading method of electronic continuous bidding is the most important form</a:t>
                      </a:r>
                      <a:endParaRPr lang="zh-CN" sz="12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rPr>
                        <a:t>Decentralized encrypted asset exchanges use cryptography technology to ensure asset security, cross-chain technology supports encrypted asset transactions, and smart contract design realizes transaction settlement</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981" marR="3798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6974807"/>
                  </a:ext>
                </a:extLst>
              </a:tr>
            </a:tbl>
          </a:graphicData>
        </a:graphic>
      </p:graphicFrame>
    </p:spTree>
    <p:extLst>
      <p:ext uri="{BB962C8B-B14F-4D97-AF65-F5344CB8AC3E}">
        <p14:creationId xmlns:p14="http://schemas.microsoft.com/office/powerpoint/2010/main" val="880858073"/>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60671" y="1053530"/>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Empirical methodology</a:t>
            </a:r>
            <a:r>
              <a:rPr lang="en-US" altLang="zh-CN" sz="1800" b="1" dirty="0" smtClean="0">
                <a:solidFill>
                  <a:schemeClr val="bg2"/>
                </a:solidFill>
                <a:latin typeface="Times New Roman" panose="02020603050405020304" pitchFamily="18" charset="0"/>
                <a:ea typeface="等线" panose="02010600030101010101" pitchFamily="2" charset="-122"/>
              </a:rPr>
              <a:t>:</a:t>
            </a:r>
          </a:p>
          <a:p>
            <a:pPr>
              <a:lnSpc>
                <a:spcPts val="2800"/>
              </a:lnSpc>
            </a:pPr>
            <a:r>
              <a:rPr lang="en-US" altLang="zh-CN" sz="1800" dirty="0">
                <a:latin typeface="Times New Roman" panose="02020603050405020304" pitchFamily="18" charset="0"/>
                <a:ea typeface="等线" panose="02010600030101010101" pitchFamily="2" charset="-122"/>
              </a:rPr>
              <a:t>Ours will be written using a combination of qualitative and quantitative </a:t>
            </a:r>
            <a:r>
              <a:rPr lang="en-US" altLang="zh-CN" sz="1800" dirty="0" smtClean="0">
                <a:latin typeface="Times New Roman" panose="02020603050405020304" pitchFamily="18" charset="0"/>
                <a:ea typeface="等线" panose="02010600030101010101" pitchFamily="2" charset="-122"/>
              </a:rPr>
              <a:t>research.</a:t>
            </a:r>
          </a:p>
          <a:p>
            <a:pPr>
              <a:lnSpc>
                <a:spcPts val="2800"/>
              </a:lnSpc>
            </a:pPr>
            <a:r>
              <a:rPr lang="en-US" altLang="zh-CN" sz="1800" dirty="0">
                <a:latin typeface="Times New Roman" panose="02020603050405020304" pitchFamily="18" charset="0"/>
                <a:ea typeface="等线" panose="02010600030101010101" pitchFamily="2" charset="-122"/>
              </a:rPr>
              <a:t>Due to the high volatility of the market and the difficulty in finding quantifiable underlying </a:t>
            </a:r>
            <a:r>
              <a:rPr lang="en-US" altLang="zh-CN" sz="1800" dirty="0" err="1">
                <a:latin typeface="Times New Roman" panose="02020603050405020304" pitchFamily="18" charset="0"/>
                <a:ea typeface="等线" panose="02010600030101010101" pitchFamily="2" charset="-122"/>
              </a:rPr>
              <a:t>underlying</a:t>
            </a:r>
            <a:r>
              <a:rPr lang="en-US" altLang="zh-CN" sz="1800" dirty="0">
                <a:latin typeface="Times New Roman" panose="02020603050405020304" pitchFamily="18" charset="0"/>
                <a:ea typeface="等线" panose="02010600030101010101" pitchFamily="2" charset="-122"/>
              </a:rPr>
              <a:t> assets for cryptocurrency assets, we will dilute the mathematical model </a:t>
            </a:r>
            <a:r>
              <a:rPr lang="en-US" altLang="zh-CN" sz="1800" dirty="0" smtClean="0">
                <a:latin typeface="Times New Roman" panose="02020603050405020304" pitchFamily="18" charset="0"/>
                <a:ea typeface="等线" panose="02010600030101010101" pitchFamily="2" charset="-122"/>
              </a:rPr>
              <a:t>derivation.</a:t>
            </a:r>
            <a:endParaRPr lang="en-US" altLang="zh-CN" sz="18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Data</a:t>
            </a:r>
          </a:p>
          <a:p>
            <a:pPr>
              <a:lnSpc>
                <a:spcPts val="2800"/>
              </a:lnSpc>
            </a:pPr>
            <a:r>
              <a:rPr lang="en-US" altLang="zh-CN" sz="1800" dirty="0" err="1">
                <a:latin typeface="Times New Roman" panose="02020603050405020304" pitchFamily="18" charset="0"/>
                <a:ea typeface="等线" panose="02010600030101010101" pitchFamily="2" charset="-122"/>
              </a:rPr>
              <a:t>F,S,e</a:t>
            </a:r>
            <a:r>
              <a:rPr lang="en-US" altLang="zh-CN" sz="1800" dirty="0">
                <a:latin typeface="Times New Roman" panose="02020603050405020304" pitchFamily="18" charset="0"/>
                <a:ea typeface="等线" panose="02010600030101010101" pitchFamily="2" charset="-122"/>
              </a:rPr>
              <a:t> in previous formulae comes from the </a:t>
            </a:r>
            <a:r>
              <a:rPr lang="en-US" altLang="zh-CN" sz="1800" dirty="0" err="1">
                <a:latin typeface="Times New Roman" panose="02020603050405020304" pitchFamily="18" charset="0"/>
                <a:ea typeface="等线" panose="02010600030101010101" pitchFamily="2" charset="-122"/>
              </a:rPr>
              <a:t>Binance</a:t>
            </a:r>
            <a:r>
              <a:rPr lang="en-US" altLang="zh-CN" sz="1800" dirty="0">
                <a:latin typeface="Times New Roman" panose="02020603050405020304" pitchFamily="18" charset="0"/>
                <a:ea typeface="等线" panose="02010600030101010101" pitchFamily="2" charset="-122"/>
              </a:rPr>
              <a:t> cryptocurrency </a:t>
            </a:r>
            <a:r>
              <a:rPr lang="en-US" altLang="zh-CN" sz="1800" dirty="0" smtClean="0">
                <a:latin typeface="Times New Roman" panose="02020603050405020304" pitchFamily="18" charset="0"/>
                <a:ea typeface="等线" panose="02010600030101010101" pitchFamily="2" charset="-122"/>
              </a:rPr>
              <a:t>exchange to calculate y.</a:t>
            </a:r>
            <a:endParaRPr lang="en-US" altLang="zh-CN" sz="1800" dirty="0">
              <a:latin typeface="Times New Roman" panose="02020603050405020304" pitchFamily="18" charset="0"/>
              <a:ea typeface="等线" panose="02010600030101010101" pitchFamily="2" charset="-122"/>
            </a:endParaRPr>
          </a:p>
          <a:p>
            <a:pPr>
              <a:lnSpc>
                <a:spcPts val="2800"/>
              </a:lnSpc>
            </a:pPr>
            <a:r>
              <a:rPr lang="en-US" altLang="zh-CN" sz="1800" dirty="0" smtClean="0">
                <a:latin typeface="Times New Roman" panose="02020603050405020304" pitchFamily="18" charset="0"/>
                <a:ea typeface="等线" panose="02010600030101010101" pitchFamily="2" charset="-122"/>
              </a:rPr>
              <a:t>Minutely quotation data (</a:t>
            </a:r>
            <a:r>
              <a:rPr lang="en-US" altLang="zh-CN" sz="1800" dirty="0" err="1" smtClean="0">
                <a:latin typeface="Times New Roman" panose="02020603050405020304" pitchFamily="18" charset="0"/>
                <a:ea typeface="等线" panose="02010600030101010101" pitchFamily="2" charset="-122"/>
              </a:rPr>
              <a:t>eg</a:t>
            </a:r>
            <a:r>
              <a:rPr lang="en-US" altLang="zh-CN" sz="1800" dirty="0">
                <a:latin typeface="Times New Roman" panose="02020603050405020304" pitchFamily="18" charset="0"/>
                <a:ea typeface="等线" panose="02010600030101010101" pitchFamily="2" charset="-122"/>
              </a:rPr>
              <a:t>,</a:t>
            </a:r>
            <a:r>
              <a:rPr lang="en-US" altLang="zh-CN" sz="1800" dirty="0" smtClean="0">
                <a:latin typeface="Times New Roman" panose="02020603050405020304" pitchFamily="18" charset="0"/>
                <a:ea typeface="等线" panose="02010600030101010101" pitchFamily="2" charset="-122"/>
              </a:rPr>
              <a:t> volume) from both market.</a:t>
            </a:r>
          </a:p>
          <a:p>
            <a:pPr>
              <a:lnSpc>
                <a:spcPts val="2800"/>
              </a:lnSpc>
            </a:pPr>
            <a:r>
              <a:rPr lang="en-US" altLang="zh-CN" sz="1800" dirty="0">
                <a:latin typeface="Times New Roman" panose="02020603050405020304" pitchFamily="18" charset="0"/>
                <a:ea typeface="等线" panose="02010600030101010101" pitchFamily="2" charset="-122"/>
              </a:rPr>
              <a:t>Weekly </a:t>
            </a:r>
            <a:r>
              <a:rPr lang="en-US" altLang="zh-CN" sz="1800" dirty="0" smtClean="0">
                <a:latin typeface="Times New Roman" panose="02020603050405020304" pitchFamily="18" charset="0"/>
                <a:ea typeface="等线" panose="02010600030101010101" pitchFamily="2" charset="-122"/>
              </a:rPr>
              <a:t>independent variable data collected from </a:t>
            </a:r>
            <a:r>
              <a:rPr lang="en-US" altLang="zh-CN" sz="1800" dirty="0" err="1" smtClean="0">
                <a:latin typeface="Times New Roman" panose="02020603050405020304" pitchFamily="18" charset="0"/>
                <a:ea typeface="等线" panose="02010600030101010101" pitchFamily="2" charset="-122"/>
              </a:rPr>
              <a:t>CryptoQuant</a:t>
            </a:r>
            <a:r>
              <a:rPr lang="en-US" altLang="zh-CN" sz="1800" dirty="0" smtClean="0">
                <a:latin typeface="Times New Roman" panose="02020603050405020304" pitchFamily="18" charset="0"/>
                <a:ea typeface="等线" panose="02010600030101010101" pitchFamily="2" charset="-122"/>
              </a:rPr>
              <a:t>, </a:t>
            </a:r>
            <a:r>
              <a:rPr lang="en-US" altLang="zh-CN" sz="1800" dirty="0" err="1" smtClean="0">
                <a:latin typeface="Times New Roman" panose="02020603050405020304" pitchFamily="18" charset="0"/>
                <a:ea typeface="等线" panose="02010600030101010101" pitchFamily="2" charset="-122"/>
              </a:rPr>
              <a:t>CryptoCompare</a:t>
            </a:r>
            <a:r>
              <a:rPr lang="en-US" altLang="zh-CN" sz="1800" dirty="0">
                <a:latin typeface="Times New Roman" panose="02020603050405020304" pitchFamily="18" charset="0"/>
                <a:ea typeface="等线" panose="02010600030101010101" pitchFamily="2" charset="-122"/>
              </a:rPr>
              <a:t>, </a:t>
            </a:r>
            <a:r>
              <a:rPr lang="en-US" altLang="zh-CN" sz="1800" dirty="0" err="1" smtClean="0">
                <a:latin typeface="Times New Roman" panose="02020603050405020304" pitchFamily="18" charset="0"/>
                <a:ea typeface="等线" panose="02010600030101010101" pitchFamily="2" charset="-122"/>
              </a:rPr>
              <a:t>CMECryptocurrency</a:t>
            </a:r>
            <a:r>
              <a:rPr lang="en-US" altLang="zh-CN" sz="1800" dirty="0" smtClean="0">
                <a:latin typeface="Times New Roman" panose="02020603050405020304" pitchFamily="18" charset="0"/>
                <a:ea typeface="等线" panose="02010600030101010101" pitchFamily="2" charset="-122"/>
              </a:rPr>
              <a:t>. </a:t>
            </a: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Convenience yield statistics</a:t>
            </a:r>
          </a:p>
          <a:p>
            <a:pPr>
              <a:lnSpc>
                <a:spcPts val="2800"/>
              </a:lnSpc>
            </a:pPr>
            <a:r>
              <a:rPr lang="pt-BR" altLang="zh-CN" sz="1800" b="1" dirty="0">
                <a:solidFill>
                  <a:schemeClr val="bg2"/>
                </a:solidFill>
                <a:latin typeface="Times New Roman" panose="02020603050405020304" pitchFamily="18" charset="0"/>
                <a:ea typeface="等线" panose="02010600030101010101" pitchFamily="2" charset="-122"/>
              </a:rPr>
              <a:t>y = (F−S)/S – e</a:t>
            </a: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Ⅳ. Empirical </a:t>
            </a:r>
            <a:r>
              <a:rPr lang="en-US" altLang="zh-CN" sz="2400" dirty="0">
                <a:solidFill>
                  <a:schemeClr val="bg1"/>
                </a:solidFill>
              </a:rPr>
              <a:t>Framework</a:t>
            </a:r>
            <a:endParaRPr lang="en-US" sz="2400" dirty="0">
              <a:solidFill>
                <a:schemeClr val="bg1"/>
              </a:solidFill>
            </a:endParaRPr>
          </a:p>
        </p:txBody>
      </p:sp>
      <p:pic>
        <p:nvPicPr>
          <p:cNvPr id="3" name="图片 2"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32126" y="3992448"/>
            <a:ext cx="5004556" cy="2714949"/>
          </a:xfrm>
          <a:prstGeom prst="rect">
            <a:avLst/>
          </a:prstGeom>
        </p:spPr>
      </p:pic>
      <p:sp>
        <p:nvSpPr>
          <p:cNvPr id="4" name="文本框 3"/>
          <p:cNvSpPr txBox="1"/>
          <p:nvPr/>
        </p:nvSpPr>
        <p:spPr>
          <a:xfrm>
            <a:off x="275785" y="5157986"/>
            <a:ext cx="3776321" cy="1246495"/>
          </a:xfrm>
          <a:prstGeom prst="rect">
            <a:avLst/>
          </a:prstGeom>
          <a:noFill/>
          <a:ln w="6350" cap="flat">
            <a:noFill/>
            <a:miter lim="800000"/>
          </a:ln>
        </p:spPr>
        <p:txBody>
          <a:bodyPr wrap="square" lIns="0" tIns="0" rIns="0" bIns="0" rtlCol="0" anchor="t" anchorCtr="0">
            <a:spAutoFit/>
          </a:bodyPr>
          <a:lstStyle/>
          <a:p>
            <a:pPr>
              <a:lnSpc>
                <a:spcPct val="90000"/>
              </a:lnSpc>
              <a:spcBef>
                <a:spcPts val="600"/>
              </a:spcBef>
              <a:buClr>
                <a:schemeClr val="bg2"/>
              </a:buClr>
            </a:pPr>
            <a:r>
              <a:rPr lang="en-US" altLang="zh-CN" sz="1800" dirty="0">
                <a:latin typeface="Times New Roman" panose="02020603050405020304" pitchFamily="18" charset="0"/>
                <a:cs typeface="Times New Roman" panose="02020603050405020304" pitchFamily="18" charset="0"/>
              </a:rPr>
              <a:t>Thirteen of our convenience yield metrics are significantly positive, while three are significantly negative, suggesting that convenience yield are </a:t>
            </a:r>
            <a:r>
              <a:rPr lang="en-US" altLang="zh-CN" sz="1800" b="1" dirty="0">
                <a:latin typeface="Times New Roman" panose="02020603050405020304" pitchFamily="18" charset="0"/>
                <a:cs typeface="Times New Roman" panose="02020603050405020304" pitchFamily="18" charset="0"/>
              </a:rPr>
              <a:t>indeed observable</a:t>
            </a:r>
            <a:r>
              <a:rPr lang="en-US" altLang="zh-CN" sz="1800" dirty="0">
                <a:latin typeface="Times New Roman" panose="02020603050405020304" pitchFamily="18" charset="0"/>
                <a:cs typeface="Times New Roman" panose="02020603050405020304" pitchFamily="18" charset="0"/>
              </a:rPr>
              <a:t>.</a:t>
            </a:r>
            <a:endParaRPr lang="zh-CN" altLang="en-US" sz="12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8377276"/>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60671" y="1053530"/>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Table 4.2 Regression Analysis Basic Indicators Descriptive Statistics (hourly frequency)</a:t>
            </a: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a:lnSpc>
                <a:spcPts val="2800"/>
              </a:lnSpc>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Table 4.3 Basic Indicators Descriptive Statistics in Regression (Weekly Frequency)</a:t>
            </a: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Ⅳ. Empirical Framework</a:t>
            </a:r>
            <a:endParaRPr lang="en-US" sz="2400" dirty="0">
              <a:solidFill>
                <a:schemeClr val="bg1"/>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381414855"/>
              </p:ext>
            </p:extLst>
          </p:nvPr>
        </p:nvGraphicFramePr>
        <p:xfrm>
          <a:off x="1819858" y="1420367"/>
          <a:ext cx="5148572" cy="1928204"/>
        </p:xfrm>
        <a:graphic>
          <a:graphicData uri="http://schemas.openxmlformats.org/presentationml/2006/ole">
            <mc:AlternateContent xmlns:mc="http://schemas.openxmlformats.org/markup-compatibility/2006">
              <mc:Choice xmlns:v="urn:schemas-microsoft-com:vml" Requires="v">
                <p:oleObj spid="_x0000_s53448" name="文档" r:id="rId3" imgW="5674468" imgH="2183998" progId="Word.Document.12">
                  <p:embed/>
                </p:oleObj>
              </mc:Choice>
              <mc:Fallback>
                <p:oleObj name="文档" r:id="rId3" imgW="5674468" imgH="2183998" progId="Word.Document.12">
                  <p:embed/>
                  <p:pic>
                    <p:nvPicPr>
                      <p:cNvPr id="0" name=""/>
                      <p:cNvPicPr/>
                      <p:nvPr/>
                    </p:nvPicPr>
                    <p:blipFill>
                      <a:blip r:embed="rId4"/>
                      <a:stretch>
                        <a:fillRect/>
                      </a:stretch>
                    </p:blipFill>
                    <p:spPr>
                      <a:xfrm>
                        <a:off x="1819858" y="1420367"/>
                        <a:ext cx="5148572" cy="1928204"/>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713464075"/>
              </p:ext>
            </p:extLst>
          </p:nvPr>
        </p:nvGraphicFramePr>
        <p:xfrm>
          <a:off x="1675842" y="3609814"/>
          <a:ext cx="5940660" cy="4889500"/>
        </p:xfrm>
        <a:graphic>
          <a:graphicData uri="http://schemas.openxmlformats.org/presentationml/2006/ole">
            <mc:AlternateContent xmlns:mc="http://schemas.openxmlformats.org/markup-compatibility/2006">
              <mc:Choice xmlns:v="urn:schemas-microsoft-com:vml" Requires="v">
                <p:oleObj spid="_x0000_s53449" name="文档" r:id="rId5" imgW="5776458" imgH="4938784" progId="Word.Document.12">
                  <p:embed/>
                </p:oleObj>
              </mc:Choice>
              <mc:Fallback>
                <p:oleObj name="文档" r:id="rId5" imgW="5776458" imgH="4938784" progId="Word.Document.12">
                  <p:embed/>
                  <p:pic>
                    <p:nvPicPr>
                      <p:cNvPr id="0" name=""/>
                      <p:cNvPicPr/>
                      <p:nvPr/>
                    </p:nvPicPr>
                    <p:blipFill>
                      <a:blip r:embed="rId6"/>
                      <a:stretch>
                        <a:fillRect/>
                      </a:stretch>
                    </p:blipFill>
                    <p:spPr>
                      <a:xfrm>
                        <a:off x="1675842" y="3609814"/>
                        <a:ext cx="5940660" cy="4889500"/>
                      </a:xfrm>
                      <a:prstGeom prst="rect">
                        <a:avLst/>
                      </a:prstGeom>
                    </p:spPr>
                  </p:pic>
                </p:oleObj>
              </mc:Fallback>
            </mc:AlternateContent>
          </a:graphicData>
        </a:graphic>
      </p:graphicFrame>
    </p:spTree>
    <p:extLst>
      <p:ext uri="{BB962C8B-B14F-4D97-AF65-F5344CB8AC3E}">
        <p14:creationId xmlns:p14="http://schemas.microsoft.com/office/powerpoint/2010/main" val="2630920315"/>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287584" y="909514"/>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How convenience yield affect the market:</a:t>
            </a:r>
            <a:endParaRPr lang="en-US" altLang="zh-CN" sz="1800" dirty="0">
              <a:solidFill>
                <a:schemeClr val="bg2"/>
              </a:solidFill>
              <a:latin typeface="Times New Roman" panose="02020603050405020304" pitchFamily="18" charset="0"/>
              <a:ea typeface="等线" panose="02010600030101010101" pitchFamily="2" charset="-122"/>
            </a:endParaRPr>
          </a:p>
          <a:p>
            <a:pPr>
              <a:lnSpc>
                <a:spcPts val="2800"/>
              </a:lnSpc>
            </a:pPr>
            <a:r>
              <a:rPr lang="en-US" altLang="zh-CN" sz="1600" dirty="0" smtClean="0">
                <a:latin typeface="Times New Roman" panose="02020603050405020304" pitchFamily="18" charset="0"/>
                <a:ea typeface="等线" panose="02010600030101010101" pitchFamily="2" charset="-122"/>
              </a:rPr>
              <a:t>The </a:t>
            </a:r>
            <a:r>
              <a:rPr lang="en-US" altLang="zh-CN" sz="1600" dirty="0">
                <a:latin typeface="Times New Roman" panose="02020603050405020304" pitchFamily="18" charset="0"/>
                <a:ea typeface="等线" panose="02010600030101010101" pitchFamily="2" charset="-122"/>
              </a:rPr>
              <a:t>following table describes the major players in the spot and futures markets and their widely agreed upon basic descriptions. </a:t>
            </a:r>
            <a:r>
              <a:rPr lang="en-US" altLang="zh-CN" sz="1600" dirty="0" smtClean="0">
                <a:latin typeface="Times New Roman" panose="02020603050405020304" pitchFamily="18" charset="0"/>
                <a:ea typeface="等线" panose="02010600030101010101" pitchFamily="2" charset="-122"/>
              </a:rPr>
              <a:t>Changes </a:t>
            </a:r>
            <a:r>
              <a:rPr lang="en-US" altLang="zh-CN" sz="1600" dirty="0">
                <a:latin typeface="Times New Roman" panose="02020603050405020304" pitchFamily="18" charset="0"/>
                <a:ea typeface="等线" panose="02010600030101010101" pitchFamily="2" charset="-122"/>
              </a:rPr>
              <a:t>in convenience yield are captured by market participants and corresponding </a:t>
            </a:r>
            <a:r>
              <a:rPr lang="en-US" altLang="zh-CN" sz="1600" dirty="0" smtClean="0">
                <a:latin typeface="Times New Roman" panose="02020603050405020304" pitchFamily="18" charset="0"/>
                <a:ea typeface="等线" panose="02010600030101010101" pitchFamily="2" charset="-122"/>
              </a:rPr>
              <a:t>expectations </a:t>
            </a:r>
            <a:r>
              <a:rPr lang="en-US" altLang="zh-CN" sz="1600" dirty="0">
                <a:latin typeface="Times New Roman" panose="02020603050405020304" pitchFamily="18" charset="0"/>
                <a:ea typeface="等线" panose="02010600030101010101" pitchFamily="2" charset="-122"/>
              </a:rPr>
              <a:t>are generated. </a:t>
            </a:r>
            <a:endParaRPr lang="en-US" altLang="zh-CN" sz="1600" dirty="0" smtClean="0">
              <a:latin typeface="Times New Roman" panose="02020603050405020304" pitchFamily="18" charset="0"/>
              <a:ea typeface="等线" panose="02010600030101010101" pitchFamily="2" charset="-122"/>
            </a:endParaRPr>
          </a:p>
          <a:p>
            <a:pPr>
              <a:lnSpc>
                <a:spcPts val="2800"/>
              </a:lnSpc>
            </a:pPr>
            <a:endParaRPr lang="en-US" altLang="zh-CN" sz="1600" dirty="0">
              <a:latin typeface="Times New Roman" panose="02020603050405020304" pitchFamily="18" charset="0"/>
              <a:ea typeface="等线" panose="02010600030101010101" pitchFamily="2" charset="-122"/>
            </a:endParaRPr>
          </a:p>
          <a:p>
            <a:pPr>
              <a:lnSpc>
                <a:spcPts val="2800"/>
              </a:lnSpc>
            </a:pPr>
            <a:endParaRPr lang="en-US" altLang="zh-CN" sz="1600" dirty="0" smtClean="0">
              <a:latin typeface="Times New Roman" panose="02020603050405020304" pitchFamily="18" charset="0"/>
              <a:ea typeface="等线" panose="02010600030101010101" pitchFamily="2" charset="-122"/>
            </a:endParaRPr>
          </a:p>
          <a:p>
            <a:pPr>
              <a:lnSpc>
                <a:spcPts val="2800"/>
              </a:lnSpc>
            </a:pPr>
            <a:endParaRPr lang="en-US" altLang="zh-CN" sz="1600" dirty="0">
              <a:latin typeface="Times New Roman" panose="02020603050405020304" pitchFamily="18" charset="0"/>
              <a:ea typeface="等线" panose="02010600030101010101" pitchFamily="2" charset="-122"/>
            </a:endParaRPr>
          </a:p>
          <a:p>
            <a:pPr>
              <a:lnSpc>
                <a:spcPts val="2800"/>
              </a:lnSpc>
            </a:pPr>
            <a:endParaRPr lang="en-US" altLang="zh-CN" sz="1600" dirty="0" smtClean="0">
              <a:latin typeface="Times New Roman" panose="02020603050405020304" pitchFamily="18" charset="0"/>
              <a:ea typeface="等线" panose="02010600030101010101" pitchFamily="2" charset="-122"/>
            </a:endParaRPr>
          </a:p>
          <a:p>
            <a:pPr>
              <a:lnSpc>
                <a:spcPts val="2800"/>
              </a:lnSpc>
            </a:pPr>
            <a:r>
              <a:rPr lang="en-US" altLang="zh-CN" sz="1600" dirty="0" smtClean="0">
                <a:latin typeface="Times New Roman" panose="02020603050405020304" pitchFamily="18" charset="0"/>
                <a:ea typeface="等线" panose="02010600030101010101" pitchFamily="2" charset="-122"/>
              </a:rPr>
              <a:t>When </a:t>
            </a:r>
            <a:r>
              <a:rPr lang="en-US" altLang="zh-CN" sz="1600" dirty="0">
                <a:latin typeface="Times New Roman" panose="02020603050405020304" pitchFamily="18" charset="0"/>
                <a:ea typeface="等线" panose="02010600030101010101" pitchFamily="2" charset="-122"/>
              </a:rPr>
              <a:t>the basis increases, indicating that higher convenience yield are recognized by the market, its effect is similar to that the market generates </a:t>
            </a:r>
            <a:r>
              <a:rPr lang="en-US" altLang="zh-CN" sz="1600" b="1" dirty="0">
                <a:latin typeface="Times New Roman" panose="02020603050405020304" pitchFamily="18" charset="0"/>
                <a:ea typeface="等线" panose="02010600030101010101" pitchFamily="2" charset="-122"/>
              </a:rPr>
              <a:t>favorable information </a:t>
            </a:r>
            <a:r>
              <a:rPr lang="en-US" altLang="zh-CN" sz="1600" dirty="0">
                <a:latin typeface="Times New Roman" panose="02020603050405020304" pitchFamily="18" charset="0"/>
                <a:ea typeface="等线" panose="02010600030101010101" pitchFamily="2" charset="-122"/>
              </a:rPr>
              <a:t>about the </a:t>
            </a:r>
            <a:r>
              <a:rPr lang="en-US" altLang="zh-CN" sz="1600" b="1" dirty="0">
                <a:latin typeface="Times New Roman" panose="02020603050405020304" pitchFamily="18" charset="0"/>
                <a:ea typeface="等线" panose="02010600030101010101" pitchFamily="2" charset="-122"/>
              </a:rPr>
              <a:t>characteristics</a:t>
            </a:r>
            <a:r>
              <a:rPr lang="en-US" altLang="zh-CN" sz="1600" dirty="0">
                <a:latin typeface="Times New Roman" panose="02020603050405020304" pitchFamily="18" charset="0"/>
                <a:ea typeface="等线" panose="02010600030101010101" pitchFamily="2" charset="-122"/>
              </a:rPr>
              <a:t> of the currency itself. </a:t>
            </a:r>
          </a:p>
          <a:p>
            <a:pPr marL="342900" indent="-342900">
              <a:lnSpc>
                <a:spcPts val="2800"/>
              </a:lnSpc>
              <a:buAutoNum type="arabicPeriod"/>
            </a:pPr>
            <a:r>
              <a:rPr lang="en-US" altLang="zh-CN" sz="1600" dirty="0" smtClean="0">
                <a:latin typeface="Times New Roman" panose="02020603050405020304" pitchFamily="18" charset="0"/>
                <a:ea typeface="等线" panose="02010600030101010101" pitchFamily="2" charset="-122"/>
              </a:rPr>
              <a:t>Since </a:t>
            </a:r>
            <a:r>
              <a:rPr lang="en-US" altLang="zh-CN" sz="1600" dirty="0">
                <a:latin typeface="Times New Roman" panose="02020603050405020304" pitchFamily="18" charset="0"/>
                <a:ea typeface="等线" panose="02010600030101010101" pitchFamily="2" charset="-122"/>
              </a:rPr>
              <a:t>the news directly affects the spot market, the price change in the spot market will often be at least higher than that in the futures market, so the basis price will be fixed in the next period. After the fluctuation, the basis will reach an equilibrium point and show a stable state</a:t>
            </a:r>
            <a:r>
              <a:rPr lang="en-US" altLang="zh-CN" sz="1600" dirty="0" smtClean="0">
                <a:latin typeface="Times New Roman" panose="02020603050405020304" pitchFamily="18" charset="0"/>
                <a:ea typeface="等线" panose="02010600030101010101" pitchFamily="2" charset="-122"/>
              </a:rPr>
              <a:t>.</a:t>
            </a:r>
          </a:p>
          <a:p>
            <a:pPr marL="342900" indent="-342900">
              <a:lnSpc>
                <a:spcPts val="2800"/>
              </a:lnSpc>
              <a:buAutoNum type="arabicPeriod"/>
            </a:pPr>
            <a:r>
              <a:rPr lang="en-US" altLang="zh-CN" sz="1600" dirty="0">
                <a:latin typeface="Times New Roman" panose="02020603050405020304" pitchFamily="18" charset="0"/>
                <a:ea typeface="等线" panose="02010600030101010101" pitchFamily="2" charset="-122"/>
              </a:rPr>
              <a:t>If it is reflected that the futures market rises more than the spot market, traders will irrationally interpret the increased basis as a greater positive, and the price will enter a synchronous upward spiral to form a bubble</a:t>
            </a:r>
            <a:r>
              <a:rPr lang="en-US" altLang="zh-CN" sz="1600" dirty="0" smtClean="0">
                <a:latin typeface="Times New Roman" panose="02020603050405020304" pitchFamily="18" charset="0"/>
                <a:ea typeface="等线" panose="02010600030101010101" pitchFamily="2" charset="-122"/>
              </a:rPr>
              <a:t>. Vice versa.</a:t>
            </a:r>
          </a:p>
          <a:p>
            <a:pPr>
              <a:lnSpc>
                <a:spcPts val="2800"/>
              </a:lnSpc>
            </a:pPr>
            <a:endParaRPr lang="en-US" altLang="zh-CN" sz="1600" dirty="0">
              <a:latin typeface="Times New Roman" panose="02020603050405020304" pitchFamily="18" charset="0"/>
              <a:ea typeface="等线" panose="02010600030101010101" pitchFamily="2" charset="-122"/>
            </a:endParaRPr>
          </a:p>
          <a:p>
            <a:pPr>
              <a:lnSpc>
                <a:spcPts val="2800"/>
              </a:lnSpc>
            </a:pPr>
            <a:endParaRPr lang="en-US" altLang="zh-CN" sz="1400"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Ⅳ. Hypothesis</a:t>
            </a:r>
            <a:endParaRPr lang="en-US" sz="2400" dirty="0">
              <a:solidFill>
                <a:schemeClr val="bg1"/>
              </a:solidFill>
            </a:endParaRPr>
          </a:p>
        </p:txBody>
      </p:sp>
      <p:graphicFrame>
        <p:nvGraphicFramePr>
          <p:cNvPr id="3" name="表格 2"/>
          <p:cNvGraphicFramePr>
            <a:graphicFrameLocks noGrp="1"/>
          </p:cNvGraphicFramePr>
          <p:nvPr>
            <p:extLst>
              <p:ext uri="{D42A27DB-BD31-4B8C-83A1-F6EECF244321}">
                <p14:modId xmlns:p14="http://schemas.microsoft.com/office/powerpoint/2010/main" val="1816215502"/>
              </p:ext>
            </p:extLst>
          </p:nvPr>
        </p:nvGraphicFramePr>
        <p:xfrm>
          <a:off x="309121" y="2358166"/>
          <a:ext cx="9325036" cy="1270000"/>
        </p:xfrm>
        <a:graphic>
          <a:graphicData uri="http://schemas.openxmlformats.org/drawingml/2006/table">
            <a:tbl>
              <a:tblPr firstRow="1" firstCol="1" bandRow="1"/>
              <a:tblGrid>
                <a:gridCol w="1080120">
                  <a:extLst>
                    <a:ext uri="{9D8B030D-6E8A-4147-A177-3AD203B41FA5}">
                      <a16:colId xmlns:a16="http://schemas.microsoft.com/office/drawing/2014/main" val="1725393168"/>
                    </a:ext>
                  </a:extLst>
                </a:gridCol>
                <a:gridCol w="3559864">
                  <a:extLst>
                    <a:ext uri="{9D8B030D-6E8A-4147-A177-3AD203B41FA5}">
                      <a16:colId xmlns:a16="http://schemas.microsoft.com/office/drawing/2014/main" val="3088392875"/>
                    </a:ext>
                  </a:extLst>
                </a:gridCol>
                <a:gridCol w="4685052">
                  <a:extLst>
                    <a:ext uri="{9D8B030D-6E8A-4147-A177-3AD203B41FA5}">
                      <a16:colId xmlns:a16="http://schemas.microsoft.com/office/drawing/2014/main" val="3059872877"/>
                    </a:ext>
                  </a:extLst>
                </a:gridCol>
              </a:tblGrid>
              <a:tr h="199390">
                <a:tc>
                  <a:txBody>
                    <a:bodyPr/>
                    <a:lstStyle/>
                    <a:p>
                      <a:pPr indent="127000" algn="just">
                        <a:lnSpc>
                          <a:spcPts val="2000"/>
                        </a:lnSpc>
                        <a:spcAft>
                          <a:spcPts val="0"/>
                        </a:spcAft>
                      </a:pPr>
                      <a:r>
                        <a:rPr lang="en-US" sz="1100" b="1" kern="100" dirty="0">
                          <a:effectLst/>
                          <a:latin typeface="Times New Roman" panose="02020603050405020304" pitchFamily="18" charset="0"/>
                          <a:ea typeface="Times New Roman" panose="02020603050405020304" pitchFamily="18" charset="0"/>
                          <a:cs typeface="Times New Roman" panose="02020603050405020304" pitchFamily="18" charset="0"/>
                        </a:rPr>
                        <a:t>Participants</a:t>
                      </a:r>
                      <a:endParaRPr lang="zh-CN" sz="12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b="1" kern="100" dirty="0">
                          <a:effectLst/>
                          <a:latin typeface="Times New Roman" panose="02020603050405020304" pitchFamily="18" charset="0"/>
                          <a:ea typeface="Times New Roman" panose="02020603050405020304" pitchFamily="18" charset="0"/>
                          <a:cs typeface="Times New Roman" panose="02020603050405020304" pitchFamily="18" charset="0"/>
                        </a:rPr>
                        <a:t>Behavior</a:t>
                      </a:r>
                      <a:endParaRPr lang="zh-CN" sz="12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b="1" kern="100" dirty="0">
                          <a:effectLst/>
                          <a:latin typeface="Times New Roman" panose="02020603050405020304" pitchFamily="18" charset="0"/>
                          <a:ea typeface="Times New Roman" panose="02020603050405020304" pitchFamily="18" charset="0"/>
                          <a:cs typeface="Times New Roman" panose="02020603050405020304" pitchFamily="18" charset="0"/>
                        </a:rPr>
                        <a:t>Key Factors Affecting Behavior</a:t>
                      </a:r>
                      <a:endParaRPr lang="zh-CN" sz="12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9740609"/>
                  </a:ext>
                </a:extLst>
              </a:tr>
              <a:tr h="199390">
                <a:tc>
                  <a:txBody>
                    <a:bodyPr/>
                    <a:lstStyle/>
                    <a:p>
                      <a:pPr indent="127000" algn="just">
                        <a:lnSpc>
                          <a:spcPts val="2000"/>
                        </a:lnSpc>
                        <a:spcAft>
                          <a:spcPts val="0"/>
                        </a:spcAft>
                      </a:pPr>
                      <a:r>
                        <a:rPr lang="en-US" sz="1100" b="1" kern="100" dirty="0">
                          <a:effectLst/>
                          <a:latin typeface="Times New Roman" panose="02020603050405020304" pitchFamily="18" charset="0"/>
                          <a:ea typeface="Times New Roman" panose="02020603050405020304" pitchFamily="18" charset="0"/>
                          <a:cs typeface="Times New Roman" panose="02020603050405020304" pitchFamily="18" charset="0"/>
                        </a:rPr>
                        <a:t>Spot buyer</a:t>
                      </a:r>
                      <a:endParaRPr lang="zh-CN" sz="12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Bullish investment</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Expectations of price increases, risks</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4139823"/>
                  </a:ext>
                </a:extLst>
              </a:tr>
              <a:tr h="198755">
                <a:tc>
                  <a:txBody>
                    <a:bodyPr/>
                    <a:lstStyle/>
                    <a:p>
                      <a:pPr indent="127000" algn="just">
                        <a:lnSpc>
                          <a:spcPts val="2000"/>
                        </a:lnSpc>
                        <a:spcAft>
                          <a:spcPts val="0"/>
                        </a:spcAft>
                      </a:pPr>
                      <a:r>
                        <a:rPr lang="en-US" sz="1100" b="1" kern="100" dirty="0">
                          <a:effectLst/>
                          <a:latin typeface="Times New Roman" panose="02020603050405020304" pitchFamily="18" charset="0"/>
                          <a:ea typeface="Times New Roman" panose="02020603050405020304" pitchFamily="18" charset="0"/>
                          <a:cs typeface="Times New Roman" panose="02020603050405020304" pitchFamily="18" charset="0"/>
                        </a:rPr>
                        <a:t>Spot seller</a:t>
                      </a:r>
                      <a:endParaRPr lang="zh-CN" sz="12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Market making, take profit stop loss or short investment</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Price drop expectations and </a:t>
                      </a:r>
                      <a:r>
                        <a:rPr lang="en-US" sz="1100" kern="100" dirty="0" err="1">
                          <a:effectLst/>
                          <a:latin typeface="Times New Roman" panose="02020603050405020304" pitchFamily="18" charset="0"/>
                          <a:ea typeface="Times New Roman" panose="02020603050405020304" pitchFamily="18" charset="0"/>
                          <a:cs typeface="Times New Roman" panose="02020603050405020304" pitchFamily="18" charset="0"/>
                        </a:rPr>
                        <a:t>realisation</a:t>
                      </a: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 needs and risks</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838020"/>
                  </a:ext>
                </a:extLst>
              </a:tr>
              <a:tr h="180340">
                <a:tc>
                  <a:txBody>
                    <a:bodyPr/>
                    <a:lstStyle/>
                    <a:p>
                      <a:pPr indent="127000" algn="just">
                        <a:lnSpc>
                          <a:spcPts val="2000"/>
                        </a:lnSpc>
                        <a:spcAft>
                          <a:spcPts val="0"/>
                        </a:spcAft>
                      </a:pPr>
                      <a:r>
                        <a:rPr lang="en-US" sz="1100" b="1" kern="100" dirty="0">
                          <a:effectLst/>
                          <a:latin typeface="Times New Roman" panose="02020603050405020304" pitchFamily="18" charset="0"/>
                          <a:ea typeface="Times New Roman" panose="02020603050405020304" pitchFamily="18" charset="0"/>
                          <a:cs typeface="Times New Roman" panose="02020603050405020304" pitchFamily="18" charset="0"/>
                        </a:rPr>
                        <a:t>Future buyer</a:t>
                      </a:r>
                      <a:endParaRPr lang="zh-CN" sz="12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Long speculation with high leverage</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Strong rise in price expectations (higher risk)</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0574312"/>
                  </a:ext>
                </a:extLst>
              </a:tr>
              <a:tr h="205105">
                <a:tc>
                  <a:txBody>
                    <a:bodyPr/>
                    <a:lstStyle/>
                    <a:p>
                      <a:pPr indent="127000" algn="just">
                        <a:lnSpc>
                          <a:spcPts val="2000"/>
                        </a:lnSpc>
                        <a:spcAft>
                          <a:spcPts val="0"/>
                        </a:spcAft>
                      </a:pPr>
                      <a:r>
                        <a:rPr lang="en-US" sz="1100" b="1" kern="100" dirty="0">
                          <a:effectLst/>
                          <a:latin typeface="Times New Roman" panose="02020603050405020304" pitchFamily="18" charset="0"/>
                          <a:ea typeface="Times New Roman" panose="02020603050405020304" pitchFamily="18" charset="0"/>
                          <a:cs typeface="Times New Roman" panose="02020603050405020304" pitchFamily="18" charset="0"/>
                        </a:rPr>
                        <a:t>Future seller</a:t>
                      </a:r>
                      <a:endParaRPr lang="zh-CN" sz="1200" b="1"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Hedging, market making, highly leveraged speculation</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100" kern="100" dirty="0">
                          <a:effectLst/>
                          <a:latin typeface="Times New Roman" panose="02020603050405020304" pitchFamily="18" charset="0"/>
                          <a:ea typeface="Times New Roman" panose="02020603050405020304" pitchFamily="18" charset="0"/>
                          <a:cs typeface="Times New Roman" panose="02020603050405020304" pitchFamily="18" charset="0"/>
                        </a:rPr>
                        <a:t>Expectations of a sharp drop in prices (higher risk) and demand for risk control</a:t>
                      </a:r>
                      <a:endParaRPr lang="zh-CN"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0724787"/>
                  </a:ext>
                </a:extLst>
              </a:tr>
            </a:tbl>
          </a:graphicData>
        </a:graphic>
      </p:graphicFrame>
    </p:spTree>
    <p:extLst>
      <p:ext uri="{BB962C8B-B14F-4D97-AF65-F5344CB8AC3E}">
        <p14:creationId xmlns:p14="http://schemas.microsoft.com/office/powerpoint/2010/main" val="1130041155"/>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60671" y="1053530"/>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On </a:t>
            </a:r>
            <a:r>
              <a:rPr lang="en-US" altLang="zh-CN" sz="1800" dirty="0">
                <a:latin typeface="Times New Roman" panose="02020603050405020304" pitchFamily="18" charset="0"/>
                <a:ea typeface="等线" panose="02010600030101010101" pitchFamily="2" charset="-122"/>
              </a:rPr>
              <a:t>the day of "5.19", the extreme market situation of </a:t>
            </a:r>
            <a:r>
              <a:rPr lang="en-US" altLang="zh-CN" sz="1800" b="1" dirty="0">
                <a:latin typeface="Times New Roman" panose="02020603050405020304" pitchFamily="18" charset="0"/>
                <a:ea typeface="等线" panose="02010600030101010101" pitchFamily="2" charset="-122"/>
              </a:rPr>
              <a:t>double leverage and </a:t>
            </a:r>
            <a:r>
              <a:rPr lang="en-US" altLang="zh-CN" sz="1800" b="1" dirty="0" smtClean="0">
                <a:latin typeface="Times New Roman" panose="02020603050405020304" pitchFamily="18" charset="0"/>
                <a:ea typeface="等线" panose="02010600030101010101" pitchFamily="2" charset="-122"/>
              </a:rPr>
              <a:t>liquidation(50% decline in index price) </a:t>
            </a:r>
            <a:r>
              <a:rPr lang="en-US" altLang="zh-CN" sz="1800" dirty="0">
                <a:latin typeface="Times New Roman" panose="02020603050405020304" pitchFamily="18" charset="0"/>
                <a:ea typeface="等线" panose="02010600030101010101" pitchFamily="2" charset="-122"/>
              </a:rPr>
              <a:t>occurred in the market, and many virtual currency exchanges collectively "unplugged the network line" - it was again exposed </a:t>
            </a:r>
            <a:r>
              <a:rPr lang="en-US" altLang="zh-CN" sz="1800" u="sng" dirty="0">
                <a:latin typeface="Times New Roman" panose="02020603050405020304" pitchFamily="18" charset="0"/>
                <a:ea typeface="等线" panose="02010600030101010101" pitchFamily="2" charset="-122"/>
              </a:rPr>
              <a:t>that trading operations could not be carried </a:t>
            </a:r>
            <a:r>
              <a:rPr lang="en-US" altLang="zh-CN" sz="1800" u="sng" dirty="0" smtClean="0">
                <a:latin typeface="Times New Roman" panose="02020603050405020304" pitchFamily="18" charset="0"/>
                <a:ea typeface="等线" panose="02010600030101010101" pitchFamily="2" charset="-122"/>
              </a:rPr>
              <a:t>out. </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Individual </a:t>
            </a:r>
            <a:r>
              <a:rPr lang="en-US" altLang="zh-CN" sz="1800" dirty="0">
                <a:latin typeface="Times New Roman" panose="02020603050405020304" pitchFamily="18" charset="0"/>
                <a:ea typeface="等线" panose="02010600030101010101" pitchFamily="2" charset="-122"/>
              </a:rPr>
              <a:t>investors may suffer heavy losses, while quantitative investment teams suffer relatively small losses. Miners suffered serious losses. </a:t>
            </a:r>
            <a:r>
              <a:rPr lang="en-US" altLang="zh-CN" sz="1800" dirty="0" smtClean="0">
                <a:latin typeface="Times New Roman" panose="02020603050405020304" pitchFamily="18" charset="0"/>
                <a:ea typeface="等线" panose="02010600030101010101" pitchFamily="2" charset="-122"/>
              </a:rPr>
              <a:t>Some </a:t>
            </a:r>
            <a:r>
              <a:rPr lang="en-US" altLang="zh-CN" sz="1800" dirty="0">
                <a:latin typeface="Times New Roman" panose="02020603050405020304" pitchFamily="18" charset="0"/>
                <a:ea typeface="等线" panose="02010600030101010101" pitchFamily="2" charset="-122"/>
              </a:rPr>
              <a:t>miners even opted to shut down their rigs. The market value of encrypted assets has fallen, the return on investment of mining machines is far away, and miners have suffered heavy losses.</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The exchange's early liquidation caused a </a:t>
            </a:r>
            <a:r>
              <a:rPr lang="en-US" altLang="zh-CN" sz="1800" dirty="0" smtClean="0">
                <a:latin typeface="Times New Roman" panose="02020603050405020304" pitchFamily="18" charset="0"/>
                <a:ea typeface="等线" panose="02010600030101010101" pitchFamily="2" charset="-122"/>
              </a:rPr>
              <a:t>stampede. </a:t>
            </a:r>
            <a:r>
              <a:rPr lang="en-US" altLang="zh-CN" sz="1800" u="sng" dirty="0" err="1" smtClean="0">
                <a:latin typeface="Times New Roman" panose="02020603050405020304" pitchFamily="18" charset="0"/>
                <a:ea typeface="等线" panose="02010600030101010101" pitchFamily="2" charset="-122"/>
              </a:rPr>
              <a:t>Binance</a:t>
            </a:r>
            <a:r>
              <a:rPr lang="en-US" altLang="zh-CN" sz="1800" u="sng" dirty="0" smtClean="0">
                <a:latin typeface="Times New Roman" panose="02020603050405020304" pitchFamily="18" charset="0"/>
                <a:ea typeface="等线" panose="02010600030101010101" pitchFamily="2" charset="-122"/>
              </a:rPr>
              <a:t> </a:t>
            </a:r>
            <a:r>
              <a:rPr lang="en-US" altLang="zh-CN" sz="1800" u="sng" dirty="0">
                <a:latin typeface="Times New Roman" panose="02020603050405020304" pitchFamily="18" charset="0"/>
                <a:ea typeface="等线" panose="02010600030101010101" pitchFamily="2" charset="-122"/>
              </a:rPr>
              <a:t>temporarily banned ether withdrawals, citing network congestion, while </a:t>
            </a:r>
            <a:r>
              <a:rPr lang="en-US" altLang="zh-CN" sz="1800" u="sng" dirty="0" err="1">
                <a:latin typeface="Times New Roman" panose="02020603050405020304" pitchFamily="18" charset="0"/>
                <a:ea typeface="等线" panose="02010600030101010101" pitchFamily="2" charset="-122"/>
              </a:rPr>
              <a:t>Coinbase</a:t>
            </a:r>
            <a:r>
              <a:rPr lang="en-US" altLang="zh-CN" sz="1800" u="sng" dirty="0">
                <a:latin typeface="Times New Roman" panose="02020603050405020304" pitchFamily="18" charset="0"/>
                <a:ea typeface="等线" panose="02010600030101010101" pitchFamily="2" charset="-122"/>
              </a:rPr>
              <a:t> said it was investigating “intermittent outages” on its platform. </a:t>
            </a:r>
            <a:r>
              <a:rPr lang="en-US" altLang="zh-CN" sz="1800" dirty="0">
                <a:latin typeface="Times New Roman" panose="02020603050405020304" pitchFamily="18" charset="0"/>
                <a:ea typeface="等线" panose="02010600030101010101" pitchFamily="2" charset="-122"/>
              </a:rPr>
              <a:t>590,000 investors were </a:t>
            </a:r>
            <a:r>
              <a:rPr lang="en-US" altLang="zh-CN" sz="1800" b="1" dirty="0">
                <a:latin typeface="Times New Roman" panose="02020603050405020304" pitchFamily="18" charset="0"/>
                <a:ea typeface="等线" panose="02010600030101010101" pitchFamily="2" charset="-122"/>
              </a:rPr>
              <a:t>tragically liquidated</a:t>
            </a:r>
            <a:r>
              <a:rPr lang="en-US" altLang="zh-CN" sz="1800" dirty="0">
                <a:latin typeface="Times New Roman" panose="02020603050405020304" pitchFamily="18" charset="0"/>
                <a:ea typeface="等线" panose="02010600030101010101" pitchFamily="2" charset="-122"/>
              </a:rPr>
              <a:t>, and the liquidation was mainly dominated by long positions, reaching US$4.94 billion, accounting for 85%. </a:t>
            </a:r>
            <a:r>
              <a:rPr lang="en-US" altLang="zh-CN" sz="1800" dirty="0" err="1">
                <a:latin typeface="Times New Roman" panose="02020603050405020304" pitchFamily="18" charset="0"/>
                <a:ea typeface="等线" panose="02010600030101010101" pitchFamily="2" charset="-122"/>
              </a:rPr>
              <a:t>CryptoQuant</a:t>
            </a:r>
            <a:r>
              <a:rPr lang="en-US" altLang="zh-CN" sz="1800" dirty="0">
                <a:latin typeface="Times New Roman" panose="02020603050405020304" pitchFamily="18" charset="0"/>
                <a:ea typeface="等线" panose="02010600030101010101" pitchFamily="2" charset="-122"/>
              </a:rPr>
              <a:t> data shows that the exchange’s one-hour long liquidation reached 10,525 BTC, a record high. However, the liquidation of long positions resulted in further selling and stampede, and blood flowed into the futures contract market. A few hours later, Bitcoin stabilized, rising back above $40,000. </a:t>
            </a:r>
          </a:p>
          <a:p>
            <a:pPr marL="342921" indent="-342921">
              <a:lnSpc>
                <a:spcPts val="2800"/>
              </a:lnSpc>
              <a:buFont typeface="Wingdings" panose="05000000000000000000" pitchFamily="2" charset="2"/>
              <a:buChar char="Ø"/>
            </a:pPr>
            <a:endParaRPr lang="en-US" altLang="zh-CN" sz="1800" dirty="0" smtClean="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“5.19” Crisis Case Analysis</a:t>
            </a:r>
            <a:endParaRPr lang="en-US" sz="2400" dirty="0">
              <a:solidFill>
                <a:schemeClr val="bg1"/>
              </a:solidFill>
            </a:endParaRPr>
          </a:p>
        </p:txBody>
      </p:sp>
    </p:spTree>
    <p:extLst>
      <p:ext uri="{BB962C8B-B14F-4D97-AF65-F5344CB8AC3E}">
        <p14:creationId xmlns:p14="http://schemas.microsoft.com/office/powerpoint/2010/main" val="1312514070"/>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60671" y="1053530"/>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Some basic understanding of the product and market is necessary in order to draw valuable research </a:t>
            </a:r>
            <a:r>
              <a:rPr lang="en-US" altLang="zh-CN" sz="1800" b="1" dirty="0" smtClean="0">
                <a:solidFill>
                  <a:schemeClr val="bg2"/>
                </a:solidFill>
                <a:latin typeface="Times New Roman" panose="02020603050405020304" pitchFamily="18" charset="0"/>
                <a:ea typeface="等线" panose="02010600030101010101" pitchFamily="2" charset="-122"/>
              </a:rPr>
              <a:t>conclusions</a:t>
            </a: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Introduction to </a:t>
            </a:r>
            <a:r>
              <a:rPr lang="en-US" altLang="zh-CN" sz="1800" b="1" dirty="0" smtClean="0">
                <a:solidFill>
                  <a:schemeClr val="bg2"/>
                </a:solidFill>
                <a:latin typeface="Times New Roman" panose="02020603050405020304" pitchFamily="18" charset="0"/>
                <a:ea typeface="等线" panose="02010600030101010101" pitchFamily="2" charset="-122"/>
              </a:rPr>
              <a:t>Cryptocurrencies</a:t>
            </a:r>
          </a:p>
          <a:p>
            <a:pPr>
              <a:lnSpc>
                <a:spcPts val="2800"/>
              </a:lnSpc>
            </a:pPr>
            <a:r>
              <a:rPr lang="en-US" altLang="zh-CN" sz="1800" dirty="0">
                <a:latin typeface="Times New Roman" panose="02020603050405020304" pitchFamily="18" charset="0"/>
                <a:ea typeface="等线" panose="02010600030101010101" pitchFamily="2" charset="-122"/>
              </a:rPr>
              <a:t>In the general opinion of the industry, cryptocurrencies are systems that satisfy six conditions</a:t>
            </a:r>
            <a:r>
              <a:rPr lang="en-US" altLang="zh-CN" sz="1800" dirty="0" smtClean="0">
                <a:latin typeface="Times New Roman" panose="02020603050405020304" pitchFamily="18" charset="0"/>
                <a:ea typeface="等线" panose="02010600030101010101" pitchFamily="2" charset="-122"/>
              </a:rPr>
              <a:t>:</a:t>
            </a:r>
            <a:r>
              <a:rPr lang="zh-CN" altLang="en-US" sz="1800" dirty="0" smtClean="0">
                <a:latin typeface="Times New Roman" panose="02020603050405020304" pitchFamily="18" charset="0"/>
                <a:ea typeface="等线" panose="02010600030101010101" pitchFamily="2" charset="-122"/>
                <a:cs typeface="Arial" pitchFamily="34" charset="0"/>
              </a:rPr>
              <a:t> </a:t>
            </a:r>
          </a:p>
          <a:p>
            <a:pPr marL="478962" lvl="2">
              <a:lnSpc>
                <a:spcPts val="2800"/>
              </a:lnSpc>
              <a:spcBef>
                <a:spcPct val="0"/>
              </a:spcBef>
            </a:pPr>
            <a:r>
              <a:rPr lang="en-US" altLang="zh-CN" sz="1800" dirty="0">
                <a:latin typeface="Times New Roman" panose="02020603050405020304" pitchFamily="18" charset="0"/>
                <a:ea typeface="等线" panose="02010600030101010101" pitchFamily="2" charset="-122"/>
                <a:cs typeface="Arial" pitchFamily="34" charset="0"/>
              </a:rPr>
              <a:t>1. The system does not require a central institution, and its state is maintained through a </a:t>
            </a:r>
            <a:r>
              <a:rPr lang="en-US" altLang="zh-CN" sz="1800" b="1" dirty="0">
                <a:latin typeface="Times New Roman" panose="02020603050405020304" pitchFamily="18" charset="0"/>
                <a:ea typeface="等线" panose="02010600030101010101" pitchFamily="2" charset="-122"/>
                <a:cs typeface="Arial" pitchFamily="34" charset="0"/>
              </a:rPr>
              <a:t>distributed consensus mechanism</a:t>
            </a:r>
            <a:r>
              <a:rPr lang="en-US" altLang="zh-CN" sz="1800" dirty="0">
                <a:latin typeface="Times New Roman" panose="02020603050405020304" pitchFamily="18" charset="0"/>
                <a:ea typeface="等线" panose="02010600030101010101" pitchFamily="2" charset="-122"/>
                <a:cs typeface="Arial" pitchFamily="34" charset="0"/>
              </a:rPr>
              <a:t>.</a:t>
            </a:r>
          </a:p>
          <a:p>
            <a:pPr marL="478962" lvl="2">
              <a:lnSpc>
                <a:spcPts val="2800"/>
              </a:lnSpc>
              <a:spcBef>
                <a:spcPct val="0"/>
              </a:spcBef>
            </a:pPr>
            <a:r>
              <a:rPr lang="en-US" altLang="zh-CN" sz="1800" dirty="0">
                <a:latin typeface="Times New Roman" panose="02020603050405020304" pitchFamily="18" charset="0"/>
                <a:ea typeface="等线" panose="02010600030101010101" pitchFamily="2" charset="-122"/>
                <a:cs typeface="Arial" pitchFamily="34" charset="0"/>
              </a:rPr>
              <a:t>2. The system can </a:t>
            </a:r>
            <a:r>
              <a:rPr lang="en-US" altLang="zh-CN" sz="1800" b="1" dirty="0">
                <a:latin typeface="Times New Roman" panose="02020603050405020304" pitchFamily="18" charset="0"/>
                <a:ea typeface="等线" panose="02010600030101010101" pitchFamily="2" charset="-122"/>
                <a:cs typeface="Arial" pitchFamily="34" charset="0"/>
              </a:rPr>
              <a:t>record</a:t>
            </a:r>
            <a:r>
              <a:rPr lang="en-US" altLang="zh-CN" sz="1800" dirty="0">
                <a:latin typeface="Times New Roman" panose="02020603050405020304" pitchFamily="18" charset="0"/>
                <a:ea typeface="等线" panose="02010600030101010101" pitchFamily="2" charset="-122"/>
                <a:cs typeface="Arial" pitchFamily="34" charset="0"/>
              </a:rPr>
              <a:t> cryptocurrencies and their ownership.</a:t>
            </a:r>
          </a:p>
          <a:p>
            <a:pPr marL="478962" lvl="2">
              <a:lnSpc>
                <a:spcPts val="2800"/>
              </a:lnSpc>
              <a:spcBef>
                <a:spcPct val="0"/>
              </a:spcBef>
            </a:pPr>
            <a:r>
              <a:rPr lang="en-US" altLang="zh-CN" sz="1800" dirty="0">
                <a:latin typeface="Times New Roman" panose="02020603050405020304" pitchFamily="18" charset="0"/>
                <a:ea typeface="等线" panose="02010600030101010101" pitchFamily="2" charset="-122"/>
                <a:cs typeface="Arial" pitchFamily="34" charset="0"/>
              </a:rPr>
              <a:t>3. The system defines whether new cryptocurrencies can be </a:t>
            </a:r>
            <a:r>
              <a:rPr lang="en-US" altLang="zh-CN" sz="1800" b="1" dirty="0">
                <a:latin typeface="Times New Roman" panose="02020603050405020304" pitchFamily="18" charset="0"/>
                <a:ea typeface="等线" panose="02010600030101010101" pitchFamily="2" charset="-122"/>
                <a:cs typeface="Arial" pitchFamily="34" charset="0"/>
              </a:rPr>
              <a:t>generated</a:t>
            </a:r>
            <a:r>
              <a:rPr lang="en-US" altLang="zh-CN" sz="1800" dirty="0">
                <a:latin typeface="Times New Roman" panose="02020603050405020304" pitchFamily="18" charset="0"/>
                <a:ea typeface="等线" panose="02010600030101010101" pitchFamily="2" charset="-122"/>
                <a:cs typeface="Arial" pitchFamily="34" charset="0"/>
              </a:rPr>
              <a:t>. If so, the system needs to define </a:t>
            </a:r>
            <a:r>
              <a:rPr lang="en-US" altLang="zh-CN" sz="1800" b="1" dirty="0">
                <a:latin typeface="Times New Roman" panose="02020603050405020304" pitchFamily="18" charset="0"/>
                <a:ea typeface="等线" panose="02010600030101010101" pitchFamily="2" charset="-122"/>
                <a:cs typeface="Arial" pitchFamily="34" charset="0"/>
              </a:rPr>
              <a:t>the origin of the new coins </a:t>
            </a:r>
            <a:r>
              <a:rPr lang="en-US" altLang="zh-CN" sz="1800" dirty="0">
                <a:latin typeface="Times New Roman" panose="02020603050405020304" pitchFamily="18" charset="0"/>
                <a:ea typeface="等线" panose="02010600030101010101" pitchFamily="2" charset="-122"/>
                <a:cs typeface="Arial" pitchFamily="34" charset="0"/>
              </a:rPr>
              <a:t>and how to determine the owners of those new coins.</a:t>
            </a:r>
          </a:p>
          <a:p>
            <a:pPr marL="478962" lvl="2">
              <a:lnSpc>
                <a:spcPts val="2800"/>
              </a:lnSpc>
              <a:spcBef>
                <a:spcPct val="0"/>
              </a:spcBef>
            </a:pPr>
            <a:r>
              <a:rPr lang="en-US" altLang="zh-CN" sz="1800" dirty="0">
                <a:latin typeface="Times New Roman" panose="02020603050405020304" pitchFamily="18" charset="0"/>
                <a:ea typeface="等线" panose="02010600030101010101" pitchFamily="2" charset="-122"/>
                <a:cs typeface="Arial" pitchFamily="34" charset="0"/>
              </a:rPr>
              <a:t>4. The ownership of cryptocurrencies can only be </a:t>
            </a:r>
            <a:r>
              <a:rPr lang="en-US" altLang="zh-CN" sz="1800" b="1" dirty="0">
                <a:latin typeface="Times New Roman" panose="02020603050405020304" pitchFamily="18" charset="0"/>
                <a:ea typeface="等线" panose="02010600030101010101" pitchFamily="2" charset="-122"/>
                <a:cs typeface="Arial" pitchFamily="34" charset="0"/>
              </a:rPr>
              <a:t>proved</a:t>
            </a:r>
            <a:r>
              <a:rPr lang="en-US" altLang="zh-CN" sz="1800" dirty="0">
                <a:latin typeface="Times New Roman" panose="02020603050405020304" pitchFamily="18" charset="0"/>
                <a:ea typeface="等线" panose="02010600030101010101" pitchFamily="2" charset="-122"/>
                <a:cs typeface="Arial" pitchFamily="34" charset="0"/>
              </a:rPr>
              <a:t> by means of cryptography.</a:t>
            </a:r>
          </a:p>
          <a:p>
            <a:pPr marL="478962" lvl="2">
              <a:lnSpc>
                <a:spcPts val="2800"/>
              </a:lnSpc>
              <a:spcBef>
                <a:spcPct val="0"/>
              </a:spcBef>
            </a:pPr>
            <a:r>
              <a:rPr lang="en-US" altLang="zh-CN" sz="1800" dirty="0">
                <a:latin typeface="Times New Roman" panose="02020603050405020304" pitchFamily="18" charset="0"/>
                <a:ea typeface="等线" panose="02010600030101010101" pitchFamily="2" charset="-122"/>
                <a:cs typeface="Arial" pitchFamily="34" charset="0"/>
              </a:rPr>
              <a:t>5. The system allows the ownership of cryptocurrencies to be changed through </a:t>
            </a:r>
            <a:r>
              <a:rPr lang="en-US" altLang="zh-CN" sz="1800" b="1" dirty="0">
                <a:latin typeface="Times New Roman" panose="02020603050405020304" pitchFamily="18" charset="0"/>
                <a:ea typeface="等线" panose="02010600030101010101" pitchFamily="2" charset="-122"/>
                <a:cs typeface="Arial" pitchFamily="34" charset="0"/>
              </a:rPr>
              <a:t>transactions</a:t>
            </a:r>
            <a:r>
              <a:rPr lang="en-US" altLang="zh-CN" sz="1800" dirty="0">
                <a:latin typeface="Times New Roman" panose="02020603050405020304" pitchFamily="18" charset="0"/>
                <a:ea typeface="等线" panose="02010600030101010101" pitchFamily="2" charset="-122"/>
                <a:cs typeface="Arial" pitchFamily="34" charset="0"/>
              </a:rPr>
              <a:t>. Transactions can only be issued from entities that can demonstrate current ownership of the </a:t>
            </a:r>
            <a:r>
              <a:rPr lang="en-US" altLang="zh-CN" sz="1800" dirty="0" smtClean="0">
                <a:latin typeface="Times New Roman" panose="02020603050405020304" pitchFamily="18" charset="0"/>
                <a:ea typeface="等线" panose="02010600030101010101" pitchFamily="2" charset="-122"/>
                <a:cs typeface="Arial" pitchFamily="34" charset="0"/>
              </a:rPr>
              <a:t>cryptocurrency.</a:t>
            </a:r>
            <a:endParaRPr lang="en-US" altLang="zh-CN" sz="1800" dirty="0">
              <a:latin typeface="Times New Roman" panose="02020603050405020304" pitchFamily="18" charset="0"/>
              <a:ea typeface="等线" panose="02010600030101010101" pitchFamily="2" charset="-122"/>
              <a:cs typeface="Arial" pitchFamily="34" charset="0"/>
            </a:endParaRPr>
          </a:p>
          <a:p>
            <a:pPr marL="478962" lvl="2">
              <a:lnSpc>
                <a:spcPts val="2800"/>
              </a:lnSpc>
              <a:spcBef>
                <a:spcPct val="0"/>
              </a:spcBef>
            </a:pPr>
            <a:r>
              <a:rPr lang="en-US" altLang="zh-CN" sz="1800" dirty="0">
                <a:latin typeface="Times New Roman" panose="02020603050405020304" pitchFamily="18" charset="0"/>
                <a:ea typeface="等线" panose="02010600030101010101" pitchFamily="2" charset="-122"/>
                <a:cs typeface="Arial" pitchFamily="34" charset="0"/>
              </a:rPr>
              <a:t>6. If two instructions to change the ownership of the same cryptocurrency are generated at the same time, the system can only execute one of them at most to ensure that </a:t>
            </a:r>
            <a:r>
              <a:rPr lang="en-US" altLang="zh-CN" sz="1800" b="1" dirty="0">
                <a:latin typeface="Times New Roman" panose="02020603050405020304" pitchFamily="18" charset="0"/>
                <a:ea typeface="等线" panose="02010600030101010101" pitchFamily="2" charset="-122"/>
                <a:cs typeface="Arial" pitchFamily="34" charset="0"/>
              </a:rPr>
              <a:t>multiple payments do not occur</a:t>
            </a:r>
            <a:r>
              <a:rPr lang="en-US" altLang="zh-CN" sz="1800" dirty="0">
                <a:latin typeface="Times New Roman" panose="02020603050405020304" pitchFamily="18" charset="0"/>
                <a:ea typeface="等线" panose="02010600030101010101" pitchFamily="2" charset="-122"/>
                <a:cs typeface="Arial" pitchFamily="34" charset="0"/>
              </a:rPr>
              <a:t>.</a:t>
            </a:r>
            <a:endParaRPr lang="en-US" altLang="zh-CN" sz="12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785" y="39783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Ⅰ. </a:t>
            </a:r>
            <a:r>
              <a:rPr lang="en-US" sz="2400" dirty="0" smtClean="0">
                <a:solidFill>
                  <a:schemeClr val="bg1"/>
                </a:solidFill>
              </a:rPr>
              <a:t>Basic </a:t>
            </a:r>
            <a:r>
              <a:rPr lang="en-US" sz="2400" dirty="0">
                <a:solidFill>
                  <a:schemeClr val="bg1"/>
                </a:solidFill>
              </a:rPr>
              <a:t>introduction to the cryptocurrency </a:t>
            </a:r>
            <a:r>
              <a:rPr lang="en-US" sz="2400" dirty="0" smtClean="0">
                <a:solidFill>
                  <a:schemeClr val="bg1"/>
                </a:solidFill>
              </a:rPr>
              <a:t>marke</a:t>
            </a:r>
            <a:r>
              <a:rPr lang="en-US" altLang="zh-CN" sz="2400" dirty="0" smtClean="0">
                <a:solidFill>
                  <a:schemeClr val="bg1"/>
                </a:solidFill>
              </a:rPr>
              <a:t>t</a:t>
            </a:r>
            <a:endParaRPr lang="en-US" sz="2400" dirty="0">
              <a:solidFill>
                <a:schemeClr val="bg1"/>
              </a:solidFill>
            </a:endParaRPr>
          </a:p>
        </p:txBody>
      </p:sp>
    </p:spTree>
    <p:extLst>
      <p:ext uri="{BB962C8B-B14F-4D97-AF65-F5344CB8AC3E}">
        <p14:creationId xmlns:p14="http://schemas.microsoft.com/office/powerpoint/2010/main" val="4097034444"/>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275785" y="81422"/>
            <a:ext cx="9368110" cy="390281"/>
          </a:xfrm>
          <a:prstGeom prst="rect">
            <a:avLst/>
          </a:prstGeom>
        </p:spPr>
        <p:txBody>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mj-ea"/>
                <a:cs typeface="Arial" pitchFamily="34" charset="0"/>
              </a:defRPr>
            </a:lvl1pPr>
          </a:lstStyle>
          <a:p>
            <a:r>
              <a:rPr lang="en-US" sz="2400" dirty="0" smtClean="0">
                <a:solidFill>
                  <a:schemeClr val="bg1"/>
                </a:solidFill>
              </a:rPr>
              <a:t>Appendix1: </a:t>
            </a:r>
            <a:r>
              <a:rPr lang="en-US" sz="2400" dirty="0" err="1">
                <a:solidFill>
                  <a:schemeClr val="bg1"/>
                </a:solidFill>
              </a:rPr>
              <a:t>Binance</a:t>
            </a:r>
            <a:r>
              <a:rPr lang="en-US" sz="2400" dirty="0">
                <a:solidFill>
                  <a:schemeClr val="bg1"/>
                </a:solidFill>
              </a:rPr>
              <a:t> Perpetual Swap Contracts</a:t>
            </a:r>
          </a:p>
        </p:txBody>
      </p:sp>
      <p:graphicFrame>
        <p:nvGraphicFramePr>
          <p:cNvPr id="8" name="表格 7"/>
          <p:cNvGraphicFramePr>
            <a:graphicFrameLocks noGrp="1"/>
          </p:cNvGraphicFramePr>
          <p:nvPr>
            <p:extLst>
              <p:ext uri="{D42A27DB-BD31-4B8C-83A1-F6EECF244321}">
                <p14:modId xmlns:p14="http://schemas.microsoft.com/office/powerpoint/2010/main" val="881912622"/>
              </p:ext>
            </p:extLst>
          </p:nvPr>
        </p:nvGraphicFramePr>
        <p:xfrm>
          <a:off x="127671" y="801502"/>
          <a:ext cx="9217023" cy="5829083"/>
        </p:xfrm>
        <a:graphic>
          <a:graphicData uri="http://schemas.openxmlformats.org/drawingml/2006/table">
            <a:tbl>
              <a:tblPr firstRow="1" firstCol="1" bandRow="1"/>
              <a:tblGrid>
                <a:gridCol w="3204355">
                  <a:extLst>
                    <a:ext uri="{9D8B030D-6E8A-4147-A177-3AD203B41FA5}">
                      <a16:colId xmlns:a16="http://schemas.microsoft.com/office/drawing/2014/main" val="3667355964"/>
                    </a:ext>
                  </a:extLst>
                </a:gridCol>
                <a:gridCol w="6012668">
                  <a:extLst>
                    <a:ext uri="{9D8B030D-6E8A-4147-A177-3AD203B41FA5}">
                      <a16:colId xmlns:a16="http://schemas.microsoft.com/office/drawing/2014/main" val="1413901193"/>
                    </a:ext>
                  </a:extLst>
                </a:gridCol>
              </a:tblGrid>
              <a:tr h="131628">
                <a:tc>
                  <a:txBody>
                    <a:bodyPr/>
                    <a:lstStyle/>
                    <a:p>
                      <a:pPr indent="127000" algn="just">
                        <a:lnSpc>
                          <a:spcPts val="2000"/>
                        </a:lnSpc>
                        <a:spcAft>
                          <a:spcPts val="0"/>
                        </a:spcAft>
                      </a:pPr>
                      <a:r>
                        <a:rPr lang="en-US" sz="1400" b="1" kern="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Contract Indicator</a:t>
                      </a:r>
                      <a:endParaRPr lang="zh-C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400" b="1"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Meaning</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13689961"/>
                  </a:ext>
                </a:extLst>
              </a:tr>
              <a:tr h="526510">
                <a:tc>
                  <a:txBody>
                    <a:bodyPr/>
                    <a:lstStyle/>
                    <a:p>
                      <a:pPr indent="127000" algn="just">
                        <a:lnSpc>
                          <a:spcPts val="2000"/>
                        </a:lnSpc>
                        <a:spcAft>
                          <a:spcPts val="0"/>
                        </a:spcAft>
                      </a:pPr>
                      <a:r>
                        <a:rPr lang="en-US" sz="1400" kern="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The underlying asset of the contract</a:t>
                      </a:r>
                      <a:endParaRPr lang="zh-C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400" kern="0"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Binance</a:t>
                      </a:r>
                      <a:r>
                        <a:rPr lang="en-US" sz="1400" kern="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BTC price index (calculated based on the volume-weighted BTC USD price of </a:t>
                      </a:r>
                      <a:r>
                        <a:rPr lang="en-US" sz="1400" kern="0"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Bitfinex</a:t>
                      </a:r>
                      <a:r>
                        <a:rPr lang="en-US" sz="1400" kern="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a:t>
                      </a:r>
                      <a:r>
                        <a:rPr lang="en-US" sz="1400" kern="0"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Binance</a:t>
                      </a:r>
                      <a:r>
                        <a:rPr lang="en-US" sz="1400" kern="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a:t>
                      </a:r>
                      <a:r>
                        <a:rPr lang="en-US" sz="1400" kern="0"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Huobi</a:t>
                      </a:r>
                      <a:r>
                        <a:rPr lang="en-US" sz="1400" kern="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OKEX, </a:t>
                      </a:r>
                      <a:r>
                        <a:rPr lang="en-US" sz="1400" kern="0" dirty="0" err="1">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Bitrex</a:t>
                      </a:r>
                      <a:r>
                        <a:rPr lang="en-US" sz="1400" kern="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a:t>
                      </a:r>
                      <a:r>
                        <a:rPr lang="en-US" sz="1400" kern="0" dirty="0" err="1" smtClea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HitBTC</a:t>
                      </a:r>
                      <a:r>
                        <a:rPr lang="en-US" sz="1400" kern="0" dirty="0" smtClea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a:t>
                      </a:r>
                      <a:r>
                        <a:rPr lang="en-US" sz="1400" kern="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exchanges), 1USDT per point</a:t>
                      </a:r>
                      <a:endParaRPr lang="zh-C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6331047"/>
                  </a:ext>
                </a:extLst>
              </a:tr>
              <a:tr h="263255">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Contract face value</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The face value of each contract is 1BTC, but a minimum of 0.001 contracts can be traded</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2529380"/>
                  </a:ext>
                </a:extLst>
              </a:tr>
              <a:tr h="311957">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Margin and Settlement Currency Unit</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400" kern="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USDT</a:t>
                      </a:r>
                      <a:endParaRPr lang="zh-C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6017305"/>
                  </a:ext>
                </a:extLst>
              </a:tr>
              <a:tr h="131628">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Contract term</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perpetual swap contract</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4511738"/>
                  </a:ext>
                </a:extLst>
              </a:tr>
              <a:tr h="209288">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Initial Margin Rate</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5% + commission for opening and closing positions</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8348962"/>
                  </a:ext>
                </a:extLst>
              </a:tr>
              <a:tr h="131628">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Leverage</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400" kern="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up to 20x</a:t>
                      </a:r>
                      <a:endParaRPr lang="zh-C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4198905"/>
                  </a:ext>
                </a:extLst>
              </a:tr>
              <a:tr h="263255">
                <a:tc>
                  <a:txBody>
                    <a:bodyPr/>
                    <a:lstStyle/>
                    <a:p>
                      <a:pPr indent="127000" algn="just">
                        <a:lnSpc>
                          <a:spcPts val="2000"/>
                        </a:lnSpc>
                        <a:spcAft>
                          <a:spcPts val="0"/>
                        </a:spcAft>
                      </a:pPr>
                      <a:r>
                        <a:rPr lang="en-US" sz="1400" kern="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Maintenance Margin Rate</a:t>
                      </a:r>
                      <a:endParaRPr lang="zh-C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The lowest tier 2.5% + closing fee</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5861927"/>
                  </a:ext>
                </a:extLst>
              </a:tr>
              <a:tr h="311957">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Ladder Maintenance Margin Rate</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Have</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457338"/>
                  </a:ext>
                </a:extLst>
              </a:tr>
              <a:tr h="311957">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Whether to use a reasonable markup price</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Yes</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9825359"/>
                  </a:ext>
                </a:extLst>
              </a:tr>
              <a:tr h="1053021">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Forced liquidation process</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Calculates the maintenance margin rate for a trader's position using a reasonable mark price. The liquidation engine first partially closes the trader's position until the trader's remaining position meets the maintenance reserve ratio requirement of the corresponding risk level. If the trader's margin cannot meet the minimum maintenance margin requirement, the liquidation engine will take over the position at the actual liquidation price.</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5335549"/>
                  </a:ext>
                </a:extLst>
              </a:tr>
              <a:tr h="394883">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Liquidation of surplus funds</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4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 liquidation fee of 0.5% of the position value is charged into the platform's risk reserve, and the rest is returned to the transaction</a:t>
                      </a:r>
                      <a:endParaRPr lang="zh-CN" sz="1400" kern="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5602384"/>
                  </a:ext>
                </a:extLst>
              </a:tr>
              <a:tr h="311957">
                <a:tc>
                  <a:txBody>
                    <a:bodyPr/>
                    <a:lstStyle/>
                    <a:p>
                      <a:pPr indent="127000" algn="just">
                        <a:lnSpc>
                          <a:spcPts val="2000"/>
                        </a:lnSpc>
                        <a:spcAft>
                          <a:spcPts val="0"/>
                        </a:spcAft>
                      </a:pPr>
                      <a:r>
                        <a:rPr lang="en-US" sz="1400" kern="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Distribution method</a:t>
                      </a:r>
                      <a:endParaRPr lang="zh-C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indent="127000" algn="just">
                        <a:lnSpc>
                          <a:spcPts val="2000"/>
                        </a:lnSpc>
                        <a:spcAft>
                          <a:spcPts val="0"/>
                        </a:spcAft>
                      </a:pPr>
                      <a:r>
                        <a:rPr lang="en-US" sz="1400" kern="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Automatic Lightweight System (ADL)</a:t>
                      </a:r>
                      <a:endParaRPr lang="zh-CN" sz="14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5539" marR="35539"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5424782"/>
                  </a:ext>
                </a:extLst>
              </a:tr>
            </a:tbl>
          </a:graphicData>
        </a:graphic>
      </p:graphicFrame>
    </p:spTree>
    <p:extLst>
      <p:ext uri="{BB962C8B-B14F-4D97-AF65-F5344CB8AC3E}">
        <p14:creationId xmlns:p14="http://schemas.microsoft.com/office/powerpoint/2010/main" val="56109091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847750" y="2205658"/>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Ⅰ. Motivation</a:t>
            </a:r>
          </a:p>
          <a:p>
            <a:pPr>
              <a:lnSpc>
                <a:spcPts val="2800"/>
              </a:lnSpc>
            </a:pP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Ⅱ. Introduction</a:t>
            </a:r>
          </a:p>
          <a:p>
            <a:pPr>
              <a:lnSpc>
                <a:spcPts val="2800"/>
              </a:lnSpc>
            </a:pPr>
            <a:endParaRPr lang="en-US" altLang="zh-CN" sz="18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Ⅲ. Theoretical Framework</a:t>
            </a: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IV. Regression </a:t>
            </a:r>
            <a:r>
              <a:rPr lang="en-US" altLang="zh-CN" sz="1800" b="1" dirty="0" smtClean="0">
                <a:solidFill>
                  <a:schemeClr val="bg2"/>
                </a:solidFill>
                <a:latin typeface="Times New Roman" panose="02020603050405020304" pitchFamily="18" charset="0"/>
                <a:ea typeface="等线" panose="02010600030101010101" pitchFamily="2" charset="-122"/>
              </a:rPr>
              <a:t>Design</a:t>
            </a: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V. Regression </a:t>
            </a:r>
            <a:r>
              <a:rPr lang="en-US" altLang="zh-CN" sz="1800" b="1" dirty="0" smtClean="0">
                <a:solidFill>
                  <a:schemeClr val="bg2"/>
                </a:solidFill>
                <a:latin typeface="Times New Roman" panose="02020603050405020304" pitchFamily="18" charset="0"/>
                <a:ea typeface="等线" panose="02010600030101010101" pitchFamily="2" charset="-122"/>
              </a:rPr>
              <a:t>Results and Explanations</a:t>
            </a: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VI. Solution and Summary</a:t>
            </a: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75347" y="117426"/>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Roadmap</a:t>
            </a:r>
            <a:endParaRPr lang="en-US" altLang="zh-CN" sz="2400" dirty="0">
              <a:solidFill>
                <a:schemeClr val="bg1"/>
              </a:solidFill>
            </a:endParaRPr>
          </a:p>
        </p:txBody>
      </p:sp>
      <p:sp>
        <p:nvSpPr>
          <p:cNvPr id="4" name="副标题 2">
            <a:extLst>
              <a:ext uri="{FF2B5EF4-FFF2-40B4-BE49-F238E27FC236}">
                <a16:creationId xmlns:a16="http://schemas.microsoft.com/office/drawing/2014/main" id="{D58463AA-4233-438A-9833-79ED7914084E}"/>
              </a:ext>
            </a:extLst>
          </p:cNvPr>
          <p:cNvSpPr txBox="1">
            <a:spLocks/>
          </p:cNvSpPr>
          <p:nvPr/>
        </p:nvSpPr>
        <p:spPr>
          <a:xfrm>
            <a:off x="-166910" y="1140402"/>
            <a:ext cx="10252624" cy="780214"/>
          </a:xfrm>
          <a:prstGeom prst="rect">
            <a:avLst/>
          </a:prstGeom>
        </p:spPr>
        <p:txBody>
          <a:bodyPr/>
          <a:lstStyle>
            <a:lvl1pPr marL="188580" indent="-188580" algn="l" defTabSz="957984" rtl="0" eaLnBrk="1" latinLnBrk="0" hangingPunct="1">
              <a:lnSpc>
                <a:spcPct val="90000"/>
              </a:lnSpc>
              <a:spcBef>
                <a:spcPts val="1467"/>
              </a:spcBef>
              <a:buClr>
                <a:schemeClr val="bg2"/>
              </a:buClr>
              <a:buSzPct val="100000"/>
              <a:buFont typeface="Arial" pitchFamily="34" charset="0"/>
              <a:buChar char="■"/>
              <a:defRPr sz="1700" kern="1200">
                <a:solidFill>
                  <a:schemeClr val="tx1"/>
                </a:solidFill>
                <a:latin typeface="Palatino Linotype" panose="02040502050505030304" pitchFamily="18" charset="0"/>
                <a:ea typeface="+mn-ea"/>
                <a:cs typeface="Arial" pitchFamily="34" charset="0"/>
              </a:defRPr>
            </a:lvl1pPr>
            <a:lvl2pPr marL="325715" indent="-134119" algn="l" defTabSz="957984" rtl="0" eaLnBrk="1" latinLnBrk="0" hangingPunct="1">
              <a:lnSpc>
                <a:spcPct val="90000"/>
              </a:lnSpc>
              <a:spcBef>
                <a:spcPts val="943"/>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2pPr>
            <a:lvl3pPr marL="512937" indent="-188580" algn="l" defTabSz="957984" rtl="0" eaLnBrk="1" latinLnBrk="0" hangingPunct="1">
              <a:lnSpc>
                <a:spcPct val="90000"/>
              </a:lnSpc>
              <a:spcBef>
                <a:spcPts val="629"/>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3pPr>
            <a:lvl4pPr marL="663800" indent="-143698" algn="l" defTabSz="957984" rtl="0" eaLnBrk="1" latinLnBrk="0" hangingPunct="1">
              <a:lnSpc>
                <a:spcPct val="90000"/>
              </a:lnSpc>
              <a:spcBef>
                <a:spcPts val="210"/>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4pPr>
            <a:lvl5pPr marL="807121" indent="-143321" algn="l" defTabSz="957984" rtl="0" eaLnBrk="1" latinLnBrk="0" hangingPunct="1">
              <a:lnSpc>
                <a:spcPct val="90000"/>
              </a:lnSpc>
              <a:spcBef>
                <a:spcPts val="105"/>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5pPr>
            <a:lvl6pPr marL="2634458"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13451"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92442"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71435"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9pPr>
          </a:lstStyle>
          <a:p>
            <a:pPr marL="0" indent="0" algn="ctr" defTabSz="957925">
              <a:lnSpc>
                <a:spcPts val="2800"/>
              </a:lnSpc>
              <a:spcBef>
                <a:spcPct val="0"/>
              </a:spcBef>
              <a:buNone/>
            </a:pPr>
            <a:r>
              <a:rPr lang="en-US" altLang="zh-CN" sz="2400" b="1" dirty="0">
                <a:solidFill>
                  <a:schemeClr val="bg2"/>
                </a:solidFill>
                <a:latin typeface="Times New Roman" panose="02020603050405020304" pitchFamily="18" charset="0"/>
                <a:ea typeface="等线" panose="02010600030101010101" pitchFamily="2" charset="-122"/>
              </a:rPr>
              <a:t>Empirical study on herding effect and its causes of stock funds in </a:t>
            </a:r>
            <a:r>
              <a:rPr lang="en-US" altLang="zh-CN" sz="2400" b="1" dirty="0" smtClean="0">
                <a:solidFill>
                  <a:schemeClr val="bg2"/>
                </a:solidFill>
                <a:latin typeface="Times New Roman" panose="02020603050405020304" pitchFamily="18" charset="0"/>
                <a:ea typeface="等线" panose="02010600030101010101" pitchFamily="2" charset="-122"/>
              </a:rPr>
              <a:t>China</a:t>
            </a:r>
            <a:endParaRPr lang="en-US" altLang="zh-CN" sz="2400" b="1" dirty="0">
              <a:solidFill>
                <a:schemeClr val="bg2"/>
              </a:solidFill>
              <a:latin typeface="Times New Roman" panose="02020603050405020304" pitchFamily="18" charset="0"/>
              <a:ea typeface="等线" panose="02010600030101010101" pitchFamily="2" charset="-122"/>
            </a:endParaRPr>
          </a:p>
          <a:p>
            <a:pPr marL="0" indent="0" algn="ctr" defTabSz="957925">
              <a:lnSpc>
                <a:spcPts val="2800"/>
              </a:lnSpc>
              <a:spcBef>
                <a:spcPct val="0"/>
              </a:spcBef>
              <a:buNone/>
            </a:pPr>
            <a:r>
              <a:rPr lang="en-US" altLang="zh-CN" sz="2400" b="1" dirty="0" err="1">
                <a:solidFill>
                  <a:schemeClr val="bg2"/>
                </a:solidFill>
                <a:latin typeface="Times New Roman" panose="02020603050405020304" pitchFamily="18" charset="0"/>
                <a:cs typeface="Times New Roman" panose="02020603050405020304" pitchFamily="18" charset="0"/>
              </a:rPr>
              <a:t>Tingting</a:t>
            </a:r>
            <a:r>
              <a:rPr lang="en-US" altLang="zh-CN" sz="2400" b="1" dirty="0">
                <a:solidFill>
                  <a:schemeClr val="bg2"/>
                </a:solidFill>
                <a:latin typeface="Times New Roman" panose="02020603050405020304" pitchFamily="18" charset="0"/>
                <a:cs typeface="Times New Roman" panose="02020603050405020304" pitchFamily="18" charset="0"/>
              </a:rPr>
              <a:t> Ding, </a:t>
            </a:r>
            <a:r>
              <a:rPr lang="en-US" altLang="zh-CN" sz="2400" b="1" dirty="0" smtClean="0">
                <a:solidFill>
                  <a:schemeClr val="bg2"/>
                </a:solidFill>
                <a:latin typeface="Times New Roman" panose="02020603050405020304" pitchFamily="18" charset="0"/>
                <a:ea typeface="等线" panose="02010600030101010101" pitchFamily="2" charset="-122"/>
              </a:rPr>
              <a:t>Bo </a:t>
            </a:r>
            <a:r>
              <a:rPr lang="en-US" altLang="zh-CN" sz="2400" b="1" dirty="0" smtClean="0">
                <a:solidFill>
                  <a:schemeClr val="bg2"/>
                </a:solidFill>
                <a:latin typeface="Times New Roman" panose="02020603050405020304" pitchFamily="18" charset="0"/>
                <a:ea typeface="等线" panose="02010600030101010101" pitchFamily="2" charset="-122"/>
              </a:rPr>
              <a:t>Pang</a:t>
            </a:r>
          </a:p>
          <a:p>
            <a:pPr marL="0" indent="0" algn="ctr" defTabSz="957925">
              <a:lnSpc>
                <a:spcPts val="2800"/>
              </a:lnSpc>
              <a:spcBef>
                <a:spcPct val="0"/>
              </a:spcBef>
              <a:buNone/>
            </a:pPr>
            <a:endParaRPr lang="en-US" altLang="zh-CN" sz="2400" b="1" dirty="0">
              <a:solidFill>
                <a:schemeClr val="bg2"/>
              </a:solidFill>
              <a:latin typeface="Times New Roman" panose="02020603050405020304" pitchFamily="18" charset="0"/>
              <a:ea typeface="等线" panose="02010600030101010101" pitchFamily="2" charset="-122"/>
            </a:endParaRPr>
          </a:p>
          <a:p>
            <a:pPr marL="0" indent="0" algn="ctr" defTabSz="957925">
              <a:lnSpc>
                <a:spcPts val="2800"/>
              </a:lnSpc>
              <a:spcBef>
                <a:spcPct val="0"/>
              </a:spcBef>
              <a:buNone/>
            </a:pPr>
            <a:r>
              <a:rPr lang="en-US" altLang="zh-CN" sz="2400" b="1" dirty="0" smtClean="0">
                <a:solidFill>
                  <a:schemeClr val="bg2"/>
                </a:solidFill>
                <a:latin typeface="Times New Roman" panose="02020603050405020304" pitchFamily="18" charset="0"/>
                <a:ea typeface="等线" panose="02010600030101010101" pitchFamily="2" charset="-122"/>
              </a:rPr>
              <a:t>(Jiang, 2018, JF</a:t>
            </a:r>
            <a:r>
              <a:rPr lang="en-US" altLang="zh-CN" sz="2400" b="1" dirty="0">
                <a:solidFill>
                  <a:schemeClr val="bg2"/>
                </a:solidFill>
                <a:latin typeface="Times New Roman" panose="02020603050405020304" pitchFamily="18" charset="0"/>
                <a:ea typeface="等线" panose="02010600030101010101" pitchFamily="2" charset="-122"/>
              </a:rPr>
              <a:t>)</a:t>
            </a:r>
            <a:endParaRPr lang="zh-CN" altLang="en-US" sz="2400" b="1" dirty="0">
              <a:solidFill>
                <a:schemeClr val="bg2"/>
              </a:solidFill>
              <a:latin typeface="Times New Roman" panose="02020603050405020304" pitchFamily="18" charset="0"/>
              <a:ea typeface="等线" panose="02010600030101010101" pitchFamily="2" charset="-122"/>
            </a:endParaRPr>
          </a:p>
          <a:p>
            <a:pPr marL="0" indent="0" algn="ctr" defTabSz="957925">
              <a:lnSpc>
                <a:spcPts val="2800"/>
              </a:lnSpc>
              <a:spcBef>
                <a:spcPct val="0"/>
              </a:spcBef>
              <a:buNone/>
            </a:pPr>
            <a:endParaRPr lang="zh-CN" altLang="en-US" sz="2400" b="1" dirty="0">
              <a:solidFill>
                <a:schemeClr val="bg2"/>
              </a:solidFill>
              <a:latin typeface="Times New Roman" panose="02020603050405020304" pitchFamily="18" charset="0"/>
              <a:ea typeface="等线" panose="02010600030101010101" pitchFamily="2" charset="-122"/>
            </a:endParaRPr>
          </a:p>
        </p:txBody>
      </p:sp>
    </p:spTree>
    <p:extLst>
      <p:ext uri="{BB962C8B-B14F-4D97-AF65-F5344CB8AC3E}">
        <p14:creationId xmlns:p14="http://schemas.microsoft.com/office/powerpoint/2010/main" val="3095720847"/>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C4DB6611-16B4-41F5-9E0B-0EE9E1879787}"/>
              </a:ext>
            </a:extLst>
          </p:cNvPr>
          <p:cNvSpPr>
            <a:spLocks noGrp="1"/>
          </p:cNvSpPr>
          <p:nvPr>
            <p:ph type="title"/>
          </p:nvPr>
        </p:nvSpPr>
        <p:spPr>
          <a:xfrm>
            <a:off x="680927" y="644179"/>
            <a:ext cx="8542556" cy="1076847"/>
          </a:xfrm>
        </p:spPr>
        <p:txBody>
          <a:bodyPr/>
          <a:lstStyle/>
          <a:p>
            <a:pPr algn="ctr"/>
            <a:r>
              <a:rPr lang="en-US" altLang="zh-CN" b="1" dirty="0">
                <a:solidFill>
                  <a:schemeClr val="bg2"/>
                </a:solidFill>
                <a:latin typeface="Times New Roman" panose="02020603050405020304" pitchFamily="18" charset="0"/>
                <a:cs typeface="Times New Roman" panose="02020603050405020304" pitchFamily="18" charset="0"/>
              </a:rPr>
              <a:t>Introduction</a:t>
            </a:r>
            <a:endParaRPr lang="zh-CN" altLang="en-US" b="1" dirty="0">
              <a:solidFill>
                <a:schemeClr val="bg2"/>
              </a:solidFill>
            </a:endParaRPr>
          </a:p>
        </p:txBody>
      </p:sp>
      <p:sp>
        <p:nvSpPr>
          <p:cNvPr id="8" name="内容占位符 7">
            <a:extLst>
              <a:ext uri="{FF2B5EF4-FFF2-40B4-BE49-F238E27FC236}">
                <a16:creationId xmlns:a16="http://schemas.microsoft.com/office/drawing/2014/main" id="{9818C349-10CA-473E-B0EA-2492C91D32E5}"/>
              </a:ext>
            </a:extLst>
          </p:cNvPr>
          <p:cNvSpPr>
            <a:spLocks noGrp="1"/>
          </p:cNvSpPr>
          <p:nvPr>
            <p:ph idx="1"/>
          </p:nvPr>
        </p:nvSpPr>
        <p:spPr>
          <a:xfrm>
            <a:off x="680927" y="1396598"/>
            <a:ext cx="8783289" cy="4481468"/>
          </a:xfrm>
        </p:spPr>
        <p:txBody>
          <a:bodyPr>
            <a:normAutofit/>
          </a:bodyPr>
          <a:lstStyle/>
          <a:p>
            <a:pPr marL="191596" lvl="1" indent="0">
              <a:buClr>
                <a:srgbClr val="2C04F4"/>
              </a:buClr>
              <a:buNone/>
            </a:pPr>
            <a:r>
              <a:rPr lang="en-US" altLang="zh-CN" sz="1800" b="1" dirty="0" smtClean="0">
                <a:solidFill>
                  <a:schemeClr val="bg2"/>
                </a:solidFill>
                <a:latin typeface="Times New Roman" panose="02020603050405020304" pitchFamily="18" charset="0"/>
                <a:cs typeface="Times New Roman" panose="02020603050405020304" pitchFamily="18" charset="0"/>
              </a:rPr>
              <a:t>Content</a:t>
            </a:r>
            <a:endParaRPr lang="en-US" altLang="zh-CN" sz="1800" b="1" dirty="0">
              <a:solidFill>
                <a:schemeClr val="bg2"/>
              </a:solidFill>
              <a:latin typeface="Times New Roman" panose="02020603050405020304" pitchFamily="18" charset="0"/>
              <a:cs typeface="Times New Roman" panose="02020603050405020304" pitchFamily="18" charset="0"/>
            </a:endParaRPr>
          </a:p>
          <a:p>
            <a:pPr marL="191596" lvl="1" indent="0">
              <a:buClr>
                <a:srgbClr val="2C04F4"/>
              </a:buClr>
              <a:buNone/>
            </a:pPr>
            <a:r>
              <a:rPr lang="en-US" altLang="zh-CN" sz="1800" dirty="0" smtClean="0">
                <a:latin typeface="Times New Roman" panose="02020603050405020304" pitchFamily="18" charset="0"/>
                <a:cs typeface="Times New Roman" panose="02020603050405020304" pitchFamily="18" charset="0"/>
              </a:rPr>
              <a:t>We </a:t>
            </a:r>
            <a:r>
              <a:rPr lang="en-US" altLang="zh-CN" sz="1800" dirty="0">
                <a:latin typeface="Times New Roman" panose="02020603050405020304" pitchFamily="18" charset="0"/>
                <a:cs typeface="Times New Roman" panose="02020603050405020304" pitchFamily="18" charset="0"/>
              </a:rPr>
              <a:t>establish a new herding effect index to describe the trend.</a:t>
            </a:r>
          </a:p>
          <a:p>
            <a:pPr marL="191596" lvl="1" indent="0">
              <a:buClr>
                <a:srgbClr val="2C04F4"/>
              </a:buClr>
              <a:buNone/>
            </a:pPr>
            <a:r>
              <a:rPr lang="en-US" altLang="zh-CN" sz="1800" dirty="0">
                <a:latin typeface="Times New Roman" panose="02020603050405020304" pitchFamily="18" charset="0"/>
                <a:cs typeface="Times New Roman" panose="02020603050405020304" pitchFamily="18" charset="0"/>
              </a:rPr>
              <a:t>Identify the reason for herding effect in using our index.</a:t>
            </a:r>
          </a:p>
          <a:p>
            <a:pPr marL="191596" lvl="1" indent="0">
              <a:buClr>
                <a:srgbClr val="2C04F4"/>
              </a:buClr>
              <a:buNone/>
            </a:pPr>
            <a:r>
              <a:rPr lang="en-US" altLang="zh-CN" sz="1800" dirty="0">
                <a:latin typeface="Times New Roman" panose="02020603050405020304" pitchFamily="18" charset="0"/>
                <a:cs typeface="Times New Roman" panose="02020603050405020304" pitchFamily="18" charset="0"/>
              </a:rPr>
              <a:t>Analyze the relationship between herding behavior and </a:t>
            </a:r>
            <a:r>
              <a:rPr lang="en-US" altLang="zh-CN" sz="1800" dirty="0" smtClean="0">
                <a:latin typeface="Times New Roman" panose="02020603050405020304" pitchFamily="18" charset="0"/>
                <a:cs typeface="Times New Roman" panose="02020603050405020304" pitchFamily="18" charset="0"/>
              </a:rPr>
              <a:t>fund performance.</a:t>
            </a:r>
            <a:endParaRPr lang="en-US" altLang="zh-CN" sz="1800" dirty="0">
              <a:latin typeface="Times New Roman" panose="02020603050405020304" pitchFamily="18" charset="0"/>
              <a:cs typeface="Times New Roman" panose="02020603050405020304" pitchFamily="18" charset="0"/>
            </a:endParaRPr>
          </a:p>
          <a:p>
            <a:pPr marL="191596" lvl="1" indent="0">
              <a:buClr>
                <a:srgbClr val="2C04F4"/>
              </a:buClr>
              <a:buNone/>
            </a:pPr>
            <a:r>
              <a:rPr lang="en-US" altLang="zh-CN" sz="1800" dirty="0">
                <a:latin typeface="Times New Roman" panose="02020603050405020304" pitchFamily="18" charset="0"/>
                <a:cs typeface="Times New Roman" panose="02020603050405020304" pitchFamily="18" charset="0"/>
              </a:rPr>
              <a:t>Test the market response to the herding behavior.</a:t>
            </a:r>
          </a:p>
          <a:p>
            <a:pPr marL="191596" lvl="1" indent="0">
              <a:buClr>
                <a:srgbClr val="2C04F4"/>
              </a:buClr>
              <a:buNone/>
            </a:pPr>
            <a:endParaRPr lang="en-US" altLang="zh-CN" sz="1800" b="1" dirty="0" smtClean="0">
              <a:latin typeface="Times New Roman" panose="02020603050405020304" pitchFamily="18" charset="0"/>
              <a:cs typeface="Times New Roman" panose="02020603050405020304" pitchFamily="18" charset="0"/>
            </a:endParaRPr>
          </a:p>
          <a:p>
            <a:pPr marL="191596" lvl="1" indent="0">
              <a:buClr>
                <a:srgbClr val="2C04F4"/>
              </a:buClr>
              <a:buNone/>
            </a:pPr>
            <a:r>
              <a:rPr lang="en-US" altLang="zh-CN" sz="1800" b="1" dirty="0" smtClean="0">
                <a:solidFill>
                  <a:schemeClr val="bg2"/>
                </a:solidFill>
                <a:latin typeface="Times New Roman" panose="02020603050405020304" pitchFamily="18" charset="0"/>
                <a:cs typeface="Times New Roman" panose="02020603050405020304" pitchFamily="18" charset="0"/>
              </a:rPr>
              <a:t>Motivation</a:t>
            </a:r>
          </a:p>
          <a:p>
            <a:pPr marL="191596" lvl="1" indent="0">
              <a:buClr>
                <a:srgbClr val="2C04F4"/>
              </a:buClr>
              <a:buNone/>
            </a:pPr>
            <a:r>
              <a:rPr lang="en-US" altLang="zh-CN" sz="1800" dirty="0">
                <a:latin typeface="Times New Roman" panose="02020603050405020304" pitchFamily="18" charset="0"/>
                <a:cs typeface="Times New Roman" panose="02020603050405020304" pitchFamily="18" charset="0"/>
              </a:rPr>
              <a:t>Develop new research on herding effect.</a:t>
            </a:r>
          </a:p>
          <a:p>
            <a:pPr marL="191596" lvl="1" indent="0">
              <a:buClr>
                <a:srgbClr val="2C04F4"/>
              </a:buClr>
              <a:buNone/>
            </a:pPr>
            <a:r>
              <a:rPr lang="en-US" altLang="zh-CN" sz="1800" dirty="0">
                <a:latin typeface="Times New Roman" panose="02020603050405020304" pitchFamily="18" charset="0"/>
                <a:cs typeface="Times New Roman" panose="02020603050405020304" pitchFamily="18" charset="0"/>
              </a:rPr>
              <a:t>Conductive to describing the stock fund market movement.</a:t>
            </a:r>
          </a:p>
          <a:p>
            <a:pPr marL="191596" lvl="1" indent="0">
              <a:buClr>
                <a:srgbClr val="2C04F4"/>
              </a:buClr>
              <a:buNone/>
            </a:pPr>
            <a:r>
              <a:rPr lang="en-US" altLang="zh-CN" sz="1800" dirty="0">
                <a:latin typeface="Times New Roman" panose="02020603050405020304" pitchFamily="18" charset="0"/>
                <a:cs typeface="Times New Roman" panose="02020603050405020304" pitchFamily="18" charset="0"/>
              </a:rPr>
              <a:t>Provides a new reference.</a:t>
            </a:r>
          </a:p>
          <a:p>
            <a:pPr marL="191596" lvl="1" indent="0">
              <a:buClr>
                <a:srgbClr val="2C04F4"/>
              </a:buClr>
              <a:buNone/>
            </a:pPr>
            <a:endParaRPr lang="zh-CN" altLang="en-US" sz="1800" b="1" dirty="0" smtClean="0">
              <a:latin typeface="Times New Roman" panose="02020603050405020304" pitchFamily="18" charset="0"/>
              <a:cs typeface="Times New Roman" panose="02020603050405020304" pitchFamily="18" charset="0"/>
            </a:endParaRPr>
          </a:p>
          <a:p>
            <a:pPr lvl="1">
              <a:buClr>
                <a:srgbClr val="2C04F4"/>
              </a:buClr>
            </a:pPr>
            <a:endParaRPr lang="en-US" altLang="zh-CN" sz="1625" dirty="0">
              <a:latin typeface="Times New Roman" panose="02020603050405020304" pitchFamily="18" charset="0"/>
              <a:cs typeface="Times New Roman" panose="02020603050405020304" pitchFamily="18" charset="0"/>
            </a:endParaRPr>
          </a:p>
          <a:p>
            <a:pPr marL="0" indent="0">
              <a:buNone/>
            </a:pPr>
            <a:endParaRPr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730196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C4DB6611-16B4-41F5-9E0B-0EE9E1879787}"/>
              </a:ext>
            </a:extLst>
          </p:cNvPr>
          <p:cNvSpPr>
            <a:spLocks noGrp="1"/>
          </p:cNvSpPr>
          <p:nvPr>
            <p:ph type="title"/>
          </p:nvPr>
        </p:nvSpPr>
        <p:spPr>
          <a:xfrm>
            <a:off x="523714" y="729494"/>
            <a:ext cx="8542556" cy="1076847"/>
          </a:xfrm>
        </p:spPr>
        <p:txBody>
          <a:bodyPr/>
          <a:lstStyle/>
          <a:p>
            <a:pPr algn="ctr"/>
            <a:r>
              <a:rPr lang="en-US" altLang="zh-CN" b="1" dirty="0">
                <a:solidFill>
                  <a:schemeClr val="bg2"/>
                </a:solidFill>
                <a:latin typeface="Times New Roman" panose="02020603050405020304" pitchFamily="18" charset="0"/>
                <a:cs typeface="Times New Roman" panose="02020603050405020304" pitchFamily="18" charset="0"/>
              </a:rPr>
              <a:t>Related</a:t>
            </a:r>
            <a:r>
              <a:rPr lang="en-US" altLang="zh-CN" b="1" dirty="0">
                <a:solidFill>
                  <a:schemeClr val="bg2"/>
                </a:solidFill>
              </a:rPr>
              <a:t> </a:t>
            </a:r>
            <a:r>
              <a:rPr lang="en-US" altLang="zh-CN" b="1" dirty="0">
                <a:solidFill>
                  <a:schemeClr val="bg2"/>
                </a:solidFill>
                <a:latin typeface="Times New Roman" panose="02020603050405020304" pitchFamily="18" charset="0"/>
                <a:cs typeface="Times New Roman" panose="02020603050405020304" pitchFamily="18" charset="0"/>
              </a:rPr>
              <a:t>Literature</a:t>
            </a:r>
            <a:endParaRPr lang="zh-CN" altLang="en-US" b="1" dirty="0">
              <a:solidFill>
                <a:schemeClr val="bg2"/>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内容占位符 7">
                <a:extLst>
                  <a:ext uri="{FF2B5EF4-FFF2-40B4-BE49-F238E27FC236}">
                    <a16:creationId xmlns:a16="http://schemas.microsoft.com/office/drawing/2014/main" id="{9818C349-10CA-473E-B0EA-2492C91D32E5}"/>
                  </a:ext>
                </a:extLst>
              </p:cNvPr>
              <p:cNvSpPr>
                <a:spLocks noGrp="1"/>
              </p:cNvSpPr>
              <p:nvPr>
                <p:ph idx="1"/>
              </p:nvPr>
            </p:nvSpPr>
            <p:spPr>
              <a:xfrm>
                <a:off x="397700" y="1295140"/>
                <a:ext cx="9109012" cy="5256584"/>
              </a:xfrm>
            </p:spPr>
            <p:txBody>
              <a:bodyPr>
                <a:normAutofit fontScale="85000" lnSpcReduction="20000"/>
              </a:bodyPr>
              <a:lstStyle/>
              <a:p>
                <a:pPr marL="0" indent="0">
                  <a:buNone/>
                </a:pPr>
                <a:r>
                  <a:rPr lang="en-US" altLang="zh-CN" sz="1900" b="1" dirty="0" smtClean="0">
                    <a:solidFill>
                      <a:schemeClr val="bg2"/>
                    </a:solidFill>
                    <a:latin typeface="Times New Roman" panose="02020603050405020304" pitchFamily="18" charset="0"/>
                    <a:cs typeface="Times New Roman" panose="02020603050405020304" pitchFamily="18" charset="0"/>
                  </a:rPr>
                  <a:t>    </a:t>
                </a:r>
                <a:r>
                  <a:rPr lang="en-US" altLang="zh-CN" sz="2000" b="1" dirty="0" err="1" smtClean="0">
                    <a:solidFill>
                      <a:schemeClr val="bg2"/>
                    </a:solidFill>
                    <a:latin typeface="Times New Roman" panose="02020603050405020304" pitchFamily="18" charset="0"/>
                    <a:cs typeface="Times New Roman" panose="02020603050405020304" pitchFamily="18" charset="0"/>
                  </a:rPr>
                  <a:t>Lakonishok</a:t>
                </a:r>
                <a:r>
                  <a:rPr lang="en-US" altLang="zh-CN" sz="2000" b="1" dirty="0">
                    <a:solidFill>
                      <a:schemeClr val="bg2"/>
                    </a:solidFill>
                    <a:latin typeface="Times New Roman" panose="02020603050405020304" pitchFamily="18" charset="0"/>
                    <a:cs typeface="Times New Roman" panose="02020603050405020304" pitchFamily="18" charset="0"/>
                  </a:rPr>
                  <a:t>, Shleifer and </a:t>
                </a:r>
                <a:r>
                  <a:rPr lang="en-US" altLang="zh-CN" sz="2000" b="1" dirty="0" err="1" smtClean="0">
                    <a:solidFill>
                      <a:schemeClr val="bg2"/>
                    </a:solidFill>
                    <a:latin typeface="Times New Roman" panose="02020603050405020304" pitchFamily="18" charset="0"/>
                    <a:cs typeface="Times New Roman" panose="02020603050405020304" pitchFamily="18" charset="0"/>
                  </a:rPr>
                  <a:t>Vishny</a:t>
                </a:r>
                <a:r>
                  <a:rPr lang="en-US" altLang="zh-CN" sz="2000" b="1" dirty="0" smtClean="0">
                    <a:solidFill>
                      <a:schemeClr val="bg2"/>
                    </a:solidFill>
                    <a:latin typeface="Times New Roman" panose="02020603050405020304" pitchFamily="18" charset="0"/>
                    <a:cs typeface="Times New Roman" panose="02020603050405020304" pitchFamily="18" charset="0"/>
                  </a:rPr>
                  <a:t> (1992</a:t>
                </a:r>
                <a:r>
                  <a:rPr lang="en-US" altLang="zh-CN" sz="2000" b="1" dirty="0">
                    <a:solidFill>
                      <a:schemeClr val="bg2"/>
                    </a:solidFill>
                    <a:latin typeface="Times New Roman" panose="02020603050405020304" pitchFamily="18" charset="0"/>
                    <a:cs typeface="Times New Roman" panose="02020603050405020304" pitchFamily="18" charset="0"/>
                  </a:rPr>
                  <a:t>)</a:t>
                </a:r>
              </a:p>
              <a:p>
                <a:pPr marL="191596" lvl="1" indent="0">
                  <a:buClr>
                    <a:srgbClr val="2C04F4"/>
                  </a:buClr>
                  <a:buNone/>
                </a:pPr>
                <a:r>
                  <a:rPr lang="en-US" altLang="zh-CN" sz="2000" dirty="0">
                    <a:latin typeface="Times New Roman" panose="02020603050405020304" pitchFamily="18" charset="0"/>
                    <a:cs typeface="Times New Roman" panose="02020603050405020304" pitchFamily="18" charset="0"/>
                  </a:rPr>
                  <a:t>The index is defined as the similarity of the fund’s stock transaction to the investors  (&gt; $1 million).</a:t>
                </a:r>
              </a:p>
              <a:p>
                <a:pPr marL="191596" lvl="1" indent="0">
                  <a:buClr>
                    <a:srgbClr val="2C04F4"/>
                  </a:buClr>
                  <a:buNone/>
                </a:pPr>
                <a:r>
                  <a:rPr lang="en-US" altLang="zh-CN" sz="2000" dirty="0">
                    <a:latin typeface="Times New Roman" panose="02020603050405020304" pitchFamily="18" charset="0"/>
                    <a:cs typeface="Times New Roman" panose="02020603050405020304" pitchFamily="18" charset="0"/>
                  </a:rPr>
                  <a:t>Based on stock level.</a:t>
                </a:r>
              </a:p>
              <a:p>
                <a:pPr marL="191596" lvl="1" indent="0">
                  <a:buClr>
                    <a:srgbClr val="2C04F4"/>
                  </a:buClr>
                  <a:buNone/>
                </a:pPr>
                <a:r>
                  <a:rPr lang="en-US" altLang="zh-CN" sz="2000" dirty="0">
                    <a:latin typeface="Times New Roman" panose="02020603050405020304" pitchFamily="18" charset="0"/>
                    <a:cs typeface="Times New Roman" panose="02020603050405020304" pitchFamily="18" charset="0"/>
                  </a:rPr>
                  <a:t>Focus on stock selection.</a:t>
                </a:r>
              </a:p>
              <a:p>
                <a:pPr marL="0" indent="0">
                  <a:buNone/>
                </a:pPr>
                <a:r>
                  <a:rPr lang="en-US" altLang="zh-CN" sz="2000" b="1" dirty="0">
                    <a:solidFill>
                      <a:schemeClr val="bg2"/>
                    </a:solidFill>
                    <a:latin typeface="Times New Roman" panose="02020603050405020304" pitchFamily="18" charset="0"/>
                    <a:cs typeface="Times New Roman" panose="02020603050405020304" pitchFamily="18" charset="0"/>
                  </a:rPr>
                  <a:t> </a:t>
                </a:r>
                <a:r>
                  <a:rPr lang="en-US" altLang="zh-CN" sz="2000" b="1" dirty="0" smtClean="0">
                    <a:solidFill>
                      <a:schemeClr val="bg2"/>
                    </a:solidFill>
                    <a:latin typeface="Times New Roman" panose="02020603050405020304" pitchFamily="18" charset="0"/>
                    <a:cs typeface="Times New Roman" panose="02020603050405020304" pitchFamily="18" charset="0"/>
                  </a:rPr>
                  <a:t>   Jiang </a:t>
                </a:r>
                <a:r>
                  <a:rPr lang="en-US" altLang="zh-CN" sz="2000" b="1" dirty="0">
                    <a:solidFill>
                      <a:schemeClr val="bg2"/>
                    </a:solidFill>
                    <a:latin typeface="Times New Roman" panose="02020603050405020304" pitchFamily="18" charset="0"/>
                    <a:cs typeface="Times New Roman" panose="02020603050405020304" pitchFamily="18" charset="0"/>
                  </a:rPr>
                  <a:t>and </a:t>
                </a:r>
                <a:r>
                  <a:rPr lang="en-US" altLang="zh-CN" sz="2000" b="1" dirty="0" err="1">
                    <a:solidFill>
                      <a:schemeClr val="bg2"/>
                    </a:solidFill>
                    <a:latin typeface="Times New Roman" panose="02020603050405020304" pitchFamily="18" charset="0"/>
                    <a:cs typeface="Times New Roman" panose="02020603050405020304" pitchFamily="18" charset="0"/>
                  </a:rPr>
                  <a:t>Verardo</a:t>
                </a:r>
                <a:r>
                  <a:rPr lang="en-US" altLang="zh-CN" sz="2000" b="1" dirty="0">
                    <a:solidFill>
                      <a:schemeClr val="bg2"/>
                    </a:solidFill>
                    <a:latin typeface="Times New Roman" panose="02020603050405020304" pitchFamily="18" charset="0"/>
                    <a:cs typeface="Times New Roman" panose="02020603050405020304" pitchFamily="18" charset="0"/>
                  </a:rPr>
                  <a:t> (2018)</a:t>
                </a:r>
              </a:p>
              <a:p>
                <a:pPr marL="191596" lvl="1" indent="0">
                  <a:buClr>
                    <a:srgbClr val="2C04F4"/>
                  </a:buClr>
                  <a:buNone/>
                </a:pPr>
                <a:r>
                  <a:rPr lang="en-US" altLang="zh-CN" sz="2000" dirty="0">
                    <a:latin typeface="Times New Roman" panose="02020603050405020304" pitchFamily="18" charset="0"/>
                    <a:cs typeface="Times New Roman" panose="02020603050405020304" pitchFamily="18" charset="0"/>
                  </a:rPr>
                  <a:t>The index is defined as the coefficient of an intertemporal dynamic description.</a:t>
                </a:r>
              </a:p>
              <a:p>
                <a:pPr marL="191596" lvl="1" indent="0">
                  <a:buClr>
                    <a:srgbClr val="2C04F4"/>
                  </a:buClr>
                  <a:buNone/>
                </a:pPr>
                <a:r>
                  <a:rPr lang="en-US" altLang="zh-CN" sz="2000" dirty="0">
                    <a:latin typeface="Times New Roman" panose="02020603050405020304" pitchFamily="18" charset="0"/>
                    <a:cs typeface="Times New Roman" panose="02020603050405020304" pitchFamily="18" charset="0"/>
                  </a:rPr>
                  <a:t>Need sufficient and extensive data.</a:t>
                </a:r>
              </a:p>
              <a:p>
                <a:pPr marL="191596" lvl="1" indent="0">
                  <a:buClr>
                    <a:srgbClr val="2C04F4"/>
                  </a:buClr>
                  <a:buNone/>
                </a:pPr>
                <a:r>
                  <a:rPr lang="en-US" altLang="zh-CN" sz="2000" dirty="0">
                    <a:latin typeface="Times New Roman" panose="02020603050405020304" pitchFamily="18" charset="0"/>
                    <a:cs typeface="Times New Roman" panose="02020603050405020304" pitchFamily="18" charset="0"/>
                  </a:rPr>
                  <a:t>Exclude stocks that are temporarily bought by fund (speculative behavior</a:t>
                </a:r>
                <a:r>
                  <a:rPr lang="en-US" altLang="zh-CN" sz="2000" dirty="0" smtClean="0">
                    <a:latin typeface="Times New Roman" panose="02020603050405020304" pitchFamily="18" charset="0"/>
                    <a:cs typeface="Times New Roman" panose="02020603050405020304" pitchFamily="18" charset="0"/>
                  </a:rPr>
                  <a:t>).</a:t>
                </a:r>
              </a:p>
              <a:p>
                <a:pPr marL="191596" lvl="1" indent="0">
                  <a:buClr>
                    <a:srgbClr val="2C04F4"/>
                  </a:buClr>
                  <a:buNone/>
                </a:pPr>
                <a:r>
                  <a:rPr lang="en-US" altLang="zh-CN" sz="2000" b="1" dirty="0" smtClean="0">
                    <a:solidFill>
                      <a:schemeClr val="bg2"/>
                    </a:solidFill>
                    <a:latin typeface="Times New Roman" panose="02020603050405020304" pitchFamily="18" charset="0"/>
                    <a:cs typeface="Times New Roman" panose="02020603050405020304" pitchFamily="18" charset="0"/>
                  </a:rPr>
                  <a:t>Our Index</a:t>
                </a:r>
              </a:p>
              <a:p>
                <a:pPr marL="191596" lvl="1" indent="0">
                  <a:buClr>
                    <a:srgbClr val="2C04F4"/>
                  </a:buClr>
                  <a:buNone/>
                </a:pPr>
                <a:r>
                  <a:rPr lang="en-US" altLang="zh-CN" sz="2000" dirty="0" smtClean="0">
                    <a:latin typeface="Times New Roman" panose="02020603050405020304" pitchFamily="18" charset="0"/>
                    <a:cs typeface="Times New Roman" panose="02020603050405020304" pitchFamily="18" charset="0"/>
                  </a:rPr>
                  <a:t>Focus </a:t>
                </a:r>
                <a:r>
                  <a:rPr lang="en-US" altLang="zh-CN" sz="2000" dirty="0">
                    <a:latin typeface="Times New Roman" panose="02020603050405020304" pitchFamily="18" charset="0"/>
                    <a:cs typeface="Times New Roman" panose="02020603050405020304" pitchFamily="18" charset="0"/>
                  </a:rPr>
                  <a:t>on stock funds.</a:t>
                </a:r>
              </a:p>
              <a:p>
                <a:pPr marL="191596" lvl="1" indent="0">
                  <a:buClr>
                    <a:srgbClr val="2C04F4"/>
                  </a:buClr>
                  <a:buNone/>
                </a:pPr>
                <a:r>
                  <a:rPr lang="en-US" altLang="zh-CN" sz="2000" dirty="0">
                    <a:latin typeface="Times New Roman" panose="02020603050405020304" pitchFamily="18" charset="0"/>
                    <a:cs typeface="Times New Roman" panose="02020603050405020304" pitchFamily="18" charset="0"/>
                  </a:rPr>
                  <a:t>Use aggregated low-frequency data to improve reliability.</a:t>
                </a:r>
              </a:p>
              <a:p>
                <a:pPr marL="191596" lvl="1" indent="0">
                  <a:buClr>
                    <a:srgbClr val="2C04F4"/>
                  </a:buClr>
                  <a:buNone/>
                </a:pPr>
                <a:r>
                  <a:rPr lang="en-US" altLang="zh-CN" sz="2000" dirty="0">
                    <a:latin typeface="Times New Roman" panose="02020603050405020304" pitchFamily="18" charset="0"/>
                    <a:cs typeface="Times New Roman" panose="02020603050405020304" pitchFamily="18" charset="0"/>
                  </a:rPr>
                  <a:t>Allow speculative investment.</a:t>
                </a:r>
              </a:p>
              <a:p>
                <a:pPr marL="191596" lvl="1" indent="0">
                  <a:buClr>
                    <a:srgbClr val="2C04F4"/>
                  </a:buClr>
                  <a:buNone/>
                </a:pPr>
                <a:r>
                  <a:rPr lang="en-US" altLang="zh-CN" sz="2000" dirty="0">
                    <a:latin typeface="Times New Roman" panose="02020603050405020304" pitchFamily="18" charset="0"/>
                    <a:cs typeface="Times New Roman" panose="02020603050405020304" pitchFamily="18" charset="0"/>
                  </a:rPr>
                  <a:t>Varies with time and </a:t>
                </a:r>
                <a:r>
                  <a:rPr lang="en-US" altLang="zh-CN" sz="2000" dirty="0" smtClean="0">
                    <a:latin typeface="Times New Roman" panose="02020603050405020304" pitchFamily="18" charset="0"/>
                    <a:cs typeface="Times New Roman" panose="02020603050405020304" pitchFamily="18" charset="0"/>
                  </a:rPr>
                  <a:t>individual. </a:t>
                </a:r>
                <a:endParaRPr lang="en-US" altLang="zh-CN" sz="2000" dirty="0">
                  <a:latin typeface="Times New Roman" panose="02020603050405020304" pitchFamily="18" charset="0"/>
                  <a:cs typeface="Times New Roman" panose="02020603050405020304" pitchFamily="18" charset="0"/>
                </a:endParaRPr>
              </a:p>
              <a:p>
                <a:pPr marL="0" indent="0" algn="ctr">
                  <a:buNone/>
                </a:pP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𝐹𝐻</m:t>
                        </m:r>
                      </m:e>
                      <m:sub>
                        <m:r>
                          <a:rPr lang="en-US" altLang="zh-CN" i="1">
                            <a:latin typeface="Cambria Math" panose="02040503050406030204" pitchFamily="18" charset="0"/>
                          </a:rPr>
                          <m:t>𝑗𝑡</m:t>
                        </m:r>
                      </m:sub>
                    </m:sSub>
                    <m:r>
                      <a:rPr lang="en-US" altLang="zh-CN" i="1">
                        <a:latin typeface="Cambria Math" panose="02040503050406030204" pitchFamily="18" charset="0"/>
                      </a:rPr>
                      <m:t>=</m:t>
                    </m:r>
                    <m:r>
                      <a:rPr lang="en-US" altLang="zh-CN" i="1">
                        <a:latin typeface="Cambria Math" panose="02040503050406030204" pitchFamily="18" charset="0"/>
                      </a:rPr>
                      <m:t>𝐶𝑜𝑟𝑟</m:t>
                    </m:r>
                    <m:r>
                      <a:rPr lang="en-US" altLang="zh-CN" i="1">
                        <a:latin typeface="Cambria Math" panose="02040503050406030204" pitchFamily="18" charset="0"/>
                      </a:rPr>
                      <m:t>(</m:t>
                    </m:r>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𝑖𝑗</m:t>
                            </m:r>
                            <m:r>
                              <a:rPr lang="en-US" altLang="zh-CN" i="1">
                                <a:latin typeface="Cambria Math" panose="02040503050406030204" pitchFamily="18" charset="0"/>
                              </a:rPr>
                              <m:t> ,</m:t>
                            </m:r>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𝑖𝑗</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−1</m:t>
                            </m:r>
                          </m:sub>
                        </m:sSub>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𝑖𝑗</m:t>
                            </m:r>
                            <m:r>
                              <a:rPr lang="en-US" altLang="zh-CN" i="1">
                                <a:latin typeface="Cambria Math" panose="02040503050406030204" pitchFamily="18" charset="0"/>
                              </a:rPr>
                              <m:t>,</m:t>
                            </m:r>
                            <m:r>
                              <a:rPr lang="en-US" altLang="zh-CN" i="1">
                                <a:latin typeface="Cambria Math" panose="02040503050406030204" pitchFamily="18" charset="0"/>
                              </a:rPr>
                              <m:t>𝑡</m:t>
                            </m:r>
                          </m:sub>
                        </m:sSub>
                      </m:den>
                    </m:f>
                    <m:r>
                      <a:rPr lang="en-US" altLang="zh-CN" i="1">
                        <a:latin typeface="Cambria Math" panose="02040503050406030204" pitchFamily="18" charset="0"/>
                      </a:rPr>
                      <m:t>,</m:t>
                    </m:r>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𝑖</m:t>
                            </m:r>
                            <m:r>
                              <a:rPr lang="en-US" altLang="zh-CN" i="1">
                                <a:latin typeface="Cambria Math" panose="02040503050406030204" pitchFamily="18" charset="0"/>
                              </a:rPr>
                              <m:t> ,</m:t>
                            </m:r>
                            <m:r>
                              <a:rPr lang="en-US" altLang="zh-CN" i="1">
                                <a:latin typeface="Cambria Math" panose="02040503050406030204" pitchFamily="18" charset="0"/>
                              </a:rPr>
                              <m:t>𝑡</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−1</m:t>
                            </m:r>
                          </m:sub>
                        </m:sSub>
                      </m:num>
                      <m:den>
                        <m:sSub>
                          <m:sSubPr>
                            <m:ctrlPr>
                              <a:rPr lang="zh-CN"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𝑡</m:t>
                            </m:r>
                          </m:sub>
                        </m:sSub>
                      </m:den>
                    </m:f>
                  </m:oMath>
                </a14:m>
                <a:r>
                  <a:rPr lang="en-US" altLang="zh-CN" dirty="0"/>
                  <a:t>)</a:t>
                </a:r>
                <a:endParaRPr lang="zh-CN" altLang="zh-CN" dirty="0"/>
              </a:p>
              <a:p>
                <a:pPr marL="0" indent="0">
                  <a:buNone/>
                </a:pPr>
                <a:endParaRPr lang="en-US" altLang="zh-CN" sz="1800" dirty="0">
                  <a:solidFill>
                    <a:schemeClr val="tx2"/>
                  </a:solidFill>
                </a:endParaRPr>
              </a:p>
              <a:p>
                <a:pPr marL="191596" lvl="1" indent="0">
                  <a:buClr>
                    <a:srgbClr val="2C04F4"/>
                  </a:buClr>
                  <a:buNone/>
                </a:pPr>
                <a14:m>
                  <m:oMath xmlns:m="http://schemas.openxmlformats.org/officeDocument/2006/math">
                    <m:sSub>
                      <m:sSubPr>
                        <m:ctrlPr>
                          <a:rPr lang="zh-CN" altLang="zh-CN" sz="1800" i="1">
                            <a:latin typeface="Cambria Math" panose="02040503050406030204" pitchFamily="18" charset="0"/>
                            <a:cs typeface="Times New Roman" panose="02020603050405020304" pitchFamily="18" charset="0"/>
                          </a:rPr>
                        </m:ctrlPr>
                      </m:sSubPr>
                      <m:e>
                        <m:r>
                          <a:rPr lang="en-US" altLang="zh-CN" sz="1800">
                            <a:latin typeface="Cambria Math" panose="02040503050406030204" pitchFamily="18" charset="0"/>
                            <a:cs typeface="Times New Roman" panose="02020603050405020304" pitchFamily="18" charset="0"/>
                          </a:rPr>
                          <m:t>𝑁</m:t>
                        </m:r>
                      </m:e>
                      <m:sub>
                        <m:r>
                          <a:rPr lang="en-US" altLang="zh-CN" sz="1800">
                            <a:latin typeface="Cambria Math" panose="02040503050406030204" pitchFamily="18" charset="0"/>
                            <a:cs typeface="Times New Roman" panose="02020603050405020304" pitchFamily="18" charset="0"/>
                          </a:rPr>
                          <m:t>𝑖𝑗</m:t>
                        </m:r>
                        <m:r>
                          <a:rPr lang="en-US" altLang="zh-CN" sz="1800">
                            <a:latin typeface="Cambria Math" panose="02040503050406030204" pitchFamily="18" charset="0"/>
                            <a:cs typeface="Times New Roman" panose="02020603050405020304" pitchFamily="18" charset="0"/>
                          </a:rPr>
                          <m:t> ,</m:t>
                        </m:r>
                        <m:r>
                          <a:rPr lang="en-US" altLang="zh-CN" sz="1800">
                            <a:latin typeface="Cambria Math" panose="02040503050406030204" pitchFamily="18" charset="0"/>
                            <a:cs typeface="Times New Roman" panose="02020603050405020304" pitchFamily="18" charset="0"/>
                          </a:rPr>
                          <m:t>𝑡</m:t>
                        </m:r>
                      </m:sub>
                    </m:sSub>
                    <m:r>
                      <a:rPr lang="en-US" altLang="zh-CN" sz="1800">
                        <a:latin typeface="Cambria Math" panose="02040503050406030204" pitchFamily="18" charset="0"/>
                        <a:cs typeface="Times New Roman" panose="02020603050405020304" pitchFamily="18" charset="0"/>
                      </a:rPr>
                      <m:t> </m:t>
                    </m:r>
                  </m:oMath>
                </a14:m>
                <a:r>
                  <a:rPr lang="en-US" altLang="zh-CN" sz="1800" dirty="0">
                    <a:latin typeface="Times New Roman" panose="02020603050405020304" pitchFamily="18" charset="0"/>
                    <a:cs typeface="Times New Roman" panose="02020603050405020304" pitchFamily="18" charset="0"/>
                  </a:rPr>
                  <a:t>-  the quantity of stock </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 held by fund j at period t</a:t>
                </a:r>
              </a:p>
              <a:p>
                <a:pPr marL="191596" lvl="1" indent="0">
                  <a:buClr>
                    <a:srgbClr val="2C04F4"/>
                  </a:buClr>
                  <a:buNone/>
                </a:pPr>
                <a14:m>
                  <m:oMath xmlns:m="http://schemas.openxmlformats.org/officeDocument/2006/math">
                    <m:r>
                      <a:rPr lang="en-US" altLang="zh-CN" sz="1800">
                        <a:latin typeface="Cambria Math" panose="02040503050406030204" pitchFamily="18" charset="0"/>
                        <a:cs typeface="Times New Roman" panose="02020603050405020304" pitchFamily="18" charset="0"/>
                      </a:rPr>
                      <m:t>𝐿</m:t>
                    </m:r>
                    <m:r>
                      <a:rPr lang="en-US" altLang="zh-CN" sz="1800">
                        <a:latin typeface="Cambria Math" panose="02040503050406030204" pitchFamily="18" charset="0"/>
                        <a:cs typeface="Times New Roman" panose="02020603050405020304" pitchFamily="18" charset="0"/>
                      </a:rPr>
                      <m:t> </m:t>
                    </m:r>
                  </m:oMath>
                </a14:m>
                <a:r>
                  <a:rPr lang="en-US" altLang="zh-CN" sz="1800" dirty="0">
                    <a:latin typeface="Times New Roman" panose="02020603050405020304" pitchFamily="18" charset="0"/>
                    <a:cs typeface="Times New Roman" panose="02020603050405020304" pitchFamily="18" charset="0"/>
                  </a:rPr>
                  <a:t>-  selected leader position</a:t>
                </a:r>
              </a:p>
              <a:p>
                <a:pPr marL="191596" lvl="1" indent="0">
                  <a:buClr>
                    <a:srgbClr val="2C04F4"/>
                  </a:buClr>
                  <a:buNone/>
                </a:pPr>
                <a:endParaRPr lang="en-US" altLang="zh-CN" sz="2275" dirty="0" smtClean="0">
                  <a:latin typeface="Times New Roman" panose="02020603050405020304" pitchFamily="18" charset="0"/>
                  <a:cs typeface="Times New Roman" panose="02020603050405020304" pitchFamily="18" charset="0"/>
                </a:endParaRPr>
              </a:p>
              <a:p>
                <a:pPr marL="191596" lvl="1" indent="0">
                  <a:buClr>
                    <a:srgbClr val="2C04F4"/>
                  </a:buClr>
                  <a:buNone/>
                </a:pPr>
                <a:endParaRPr lang="en-US" altLang="zh-CN" sz="2275" dirty="0">
                  <a:latin typeface="Times New Roman" panose="02020603050405020304" pitchFamily="18" charset="0"/>
                  <a:cs typeface="Times New Roman" panose="02020603050405020304" pitchFamily="18" charset="0"/>
                </a:endParaRPr>
              </a:p>
              <a:p>
                <a:pPr marL="191596" lvl="1" indent="0">
                  <a:buClr>
                    <a:srgbClr val="2C04F4"/>
                  </a:buClr>
                  <a:buNone/>
                </a:pPr>
                <a:endParaRPr lang="en-US" altLang="zh-CN" sz="2275" dirty="0">
                  <a:latin typeface="Times New Roman" panose="02020603050405020304" pitchFamily="18" charset="0"/>
                  <a:cs typeface="Times New Roman" panose="02020603050405020304" pitchFamily="18" charset="0"/>
                </a:endParaRPr>
              </a:p>
              <a:p>
                <a:pPr marL="0" indent="0">
                  <a:buNone/>
                </a:pPr>
                <a:endParaRPr lang="en-US" altLang="zh-CN" dirty="0">
                  <a:latin typeface="Times New Roman" panose="02020603050405020304" pitchFamily="18" charset="0"/>
                  <a:cs typeface="Times New Roman" panose="02020603050405020304" pitchFamily="18" charset="0"/>
                </a:endParaRPr>
              </a:p>
              <a:p>
                <a:pPr marL="0" indent="0">
                  <a:buNone/>
                </a:pPr>
                <a:endParaRPr lang="en-US" altLang="zh-CN" dirty="0">
                  <a:latin typeface="Times New Roman" panose="02020603050405020304" pitchFamily="18" charset="0"/>
                  <a:cs typeface="Times New Roman" panose="02020603050405020304" pitchFamily="18" charset="0"/>
                </a:endParaRPr>
              </a:p>
              <a:p>
                <a:pPr marL="0" indent="0">
                  <a:buNone/>
                </a:pPr>
                <a:endParaRPr lang="en-US" altLang="zh-CN" dirty="0">
                  <a:latin typeface="Times New Roman" panose="02020603050405020304" pitchFamily="18" charset="0"/>
                  <a:cs typeface="Times New Roman" panose="02020603050405020304" pitchFamily="18" charset="0"/>
                </a:endParaRPr>
              </a:p>
              <a:p>
                <a:pPr marL="0" indent="0">
                  <a:buNone/>
                </a:pPr>
                <a:endParaRPr lang="en-US" altLang="zh-CN" dirty="0">
                  <a:latin typeface="Times New Roman" panose="02020603050405020304" pitchFamily="18" charset="0"/>
                  <a:cs typeface="Times New Roman" panose="02020603050405020304" pitchFamily="18" charset="0"/>
                </a:endParaRPr>
              </a:p>
              <a:p>
                <a:pPr marL="0" indent="0">
                  <a:buNone/>
                </a:pPr>
                <a:endParaRPr lang="en-US" altLang="zh-CN" dirty="0">
                  <a:latin typeface="Times New Roman" panose="02020603050405020304" pitchFamily="18" charset="0"/>
                  <a:cs typeface="Times New Roman" panose="02020603050405020304" pitchFamily="18" charset="0"/>
                </a:endParaRPr>
              </a:p>
              <a:p>
                <a:endParaRPr lang="en-US" altLang="zh-CN" dirty="0">
                  <a:solidFill>
                    <a:schemeClr val="tx2"/>
                  </a:solidFill>
                </a:endParaRPr>
              </a:p>
              <a:p>
                <a:endParaRPr lang="en-US" altLang="zh-CN" dirty="0">
                  <a:solidFill>
                    <a:schemeClr val="tx2"/>
                  </a:solidFill>
                </a:endParaRPr>
              </a:p>
              <a:p>
                <a:pPr marL="0" indent="0">
                  <a:buNone/>
                </a:pPr>
                <a:endParaRPr lang="zh-CN" altLang="en-US" dirty="0">
                  <a:solidFill>
                    <a:schemeClr val="tx2"/>
                  </a:solidFill>
                </a:endParaRPr>
              </a:p>
            </p:txBody>
          </p:sp>
        </mc:Choice>
        <mc:Fallback>
          <p:sp>
            <p:nvSpPr>
              <p:cNvPr id="8" name="内容占位符 7">
                <a:extLst>
                  <a:ext uri="{FF2B5EF4-FFF2-40B4-BE49-F238E27FC236}">
                    <a16:creationId xmlns:a16="http://schemas.microsoft.com/office/drawing/2014/main" id="{9818C349-10CA-473E-B0EA-2492C91D32E5}"/>
                  </a:ext>
                </a:extLst>
              </p:cNvPr>
              <p:cNvSpPr>
                <a:spLocks noGrp="1" noRot="1" noChangeAspect="1" noMove="1" noResize="1" noEditPoints="1" noAdjustHandles="1" noChangeArrowheads="1" noChangeShapeType="1" noTextEdit="1"/>
              </p:cNvSpPr>
              <p:nvPr>
                <p:ph idx="1"/>
              </p:nvPr>
            </p:nvSpPr>
            <p:spPr>
              <a:xfrm>
                <a:off x="397700" y="1295140"/>
                <a:ext cx="9109012" cy="5256584"/>
              </a:xfrm>
              <a:blipFill>
                <a:blip r:embed="rId2"/>
                <a:stretch>
                  <a:fillRect/>
                </a:stretch>
              </a:blipFill>
            </p:spPr>
            <p:txBody>
              <a:bodyPr/>
              <a:lstStyle/>
              <a:p>
                <a:r>
                  <a:rPr lang="zh-CN" altLang="en-US">
                    <a:noFill/>
                  </a:rPr>
                  <a:t> </a:t>
                </a:r>
              </a:p>
            </p:txBody>
          </p:sp>
        </mc:Fallback>
      </mc:AlternateContent>
      <p:sp>
        <p:nvSpPr>
          <p:cNvPr id="5" name="内容占位符 7">
            <a:extLst>
              <a:ext uri="{FF2B5EF4-FFF2-40B4-BE49-F238E27FC236}">
                <a16:creationId xmlns:a16="http://schemas.microsoft.com/office/drawing/2014/main" id="{9818C349-10CA-473E-B0EA-2492C91D32E5}"/>
              </a:ext>
            </a:extLst>
          </p:cNvPr>
          <p:cNvSpPr txBox="1">
            <a:spLocks/>
          </p:cNvSpPr>
          <p:nvPr/>
        </p:nvSpPr>
        <p:spPr>
          <a:xfrm>
            <a:off x="680928" y="4113870"/>
            <a:ext cx="8542556" cy="3645735"/>
          </a:xfrm>
        </p:spPr>
        <p:txBody>
          <a:bodyPr>
            <a:normAutofit/>
          </a:bodyPr>
          <a:lstStyle>
            <a:lvl1pPr marL="188580" indent="-188580" algn="l" defTabSz="957984" rtl="0" eaLnBrk="1" latinLnBrk="0" hangingPunct="1">
              <a:lnSpc>
                <a:spcPct val="90000"/>
              </a:lnSpc>
              <a:spcBef>
                <a:spcPts val="1467"/>
              </a:spcBef>
              <a:buClr>
                <a:schemeClr val="bg2"/>
              </a:buClr>
              <a:buSzPct val="100000"/>
              <a:buFont typeface="Arial" pitchFamily="34" charset="0"/>
              <a:buChar char="■"/>
              <a:defRPr sz="1700" kern="1200">
                <a:solidFill>
                  <a:schemeClr val="tx1"/>
                </a:solidFill>
                <a:latin typeface="Palatino Linotype" panose="02040502050505030304" pitchFamily="18" charset="0"/>
                <a:ea typeface="+mn-ea"/>
                <a:cs typeface="Arial" pitchFamily="34" charset="0"/>
              </a:defRPr>
            </a:lvl1pPr>
            <a:lvl2pPr marL="325715" indent="-134119" algn="l" defTabSz="957984" rtl="0" eaLnBrk="1" latinLnBrk="0" hangingPunct="1">
              <a:lnSpc>
                <a:spcPct val="90000"/>
              </a:lnSpc>
              <a:spcBef>
                <a:spcPts val="943"/>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2pPr>
            <a:lvl3pPr marL="512937" indent="-188580" algn="l" defTabSz="957984" rtl="0" eaLnBrk="1" latinLnBrk="0" hangingPunct="1">
              <a:lnSpc>
                <a:spcPct val="90000"/>
              </a:lnSpc>
              <a:spcBef>
                <a:spcPts val="629"/>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3pPr>
            <a:lvl4pPr marL="663800" indent="-143698" algn="l" defTabSz="957984" rtl="0" eaLnBrk="1" latinLnBrk="0" hangingPunct="1">
              <a:lnSpc>
                <a:spcPct val="90000"/>
              </a:lnSpc>
              <a:spcBef>
                <a:spcPts val="210"/>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4pPr>
            <a:lvl5pPr marL="807121" indent="-143321" algn="l" defTabSz="957984" rtl="0" eaLnBrk="1" latinLnBrk="0" hangingPunct="1">
              <a:lnSpc>
                <a:spcPct val="90000"/>
              </a:lnSpc>
              <a:spcBef>
                <a:spcPts val="105"/>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5pPr>
            <a:lvl6pPr marL="2634458"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13451"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92442"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71435"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9pPr>
          </a:lstStyle>
          <a:p>
            <a:pPr marL="0" indent="0">
              <a:buFont typeface="Arial" pitchFamily="34" charset="0"/>
              <a:buNone/>
            </a:pPr>
            <a:endParaRPr lang="en-US" altLang="zh-CN" dirty="0">
              <a:solidFill>
                <a:schemeClr val="tx2"/>
              </a:solidFill>
            </a:endParaRPr>
          </a:p>
          <a:p>
            <a:endParaRPr lang="en-US" altLang="zh-CN" dirty="0">
              <a:solidFill>
                <a:schemeClr val="tx2"/>
              </a:solidFill>
            </a:endParaRPr>
          </a:p>
          <a:p>
            <a:endParaRPr lang="en-US" altLang="zh-CN" dirty="0">
              <a:solidFill>
                <a:schemeClr val="tx2"/>
              </a:solidFill>
            </a:endParaRPr>
          </a:p>
          <a:p>
            <a:endParaRPr lang="zh-CN" altLang="en-US" dirty="0">
              <a:solidFill>
                <a:schemeClr val="tx2"/>
              </a:solidFill>
            </a:endParaRPr>
          </a:p>
        </p:txBody>
      </p:sp>
    </p:spTree>
    <p:extLst>
      <p:ext uri="{BB962C8B-B14F-4D97-AF65-F5344CB8AC3E}">
        <p14:creationId xmlns:p14="http://schemas.microsoft.com/office/powerpoint/2010/main" val="259311973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C4DB6611-16B4-41F5-9E0B-0EE9E1879787}"/>
              </a:ext>
            </a:extLst>
          </p:cNvPr>
          <p:cNvSpPr>
            <a:spLocks noGrp="1"/>
          </p:cNvSpPr>
          <p:nvPr>
            <p:ph type="title"/>
          </p:nvPr>
        </p:nvSpPr>
        <p:spPr>
          <a:xfrm>
            <a:off x="670100" y="1024519"/>
            <a:ext cx="8542556" cy="1076847"/>
          </a:xfrm>
        </p:spPr>
        <p:txBody>
          <a:bodyPr/>
          <a:lstStyle/>
          <a:p>
            <a:pPr algn="ctr"/>
            <a:r>
              <a:rPr lang="en-US" altLang="zh-CN" b="1" dirty="0">
                <a:solidFill>
                  <a:schemeClr val="bg2"/>
                </a:solidFill>
                <a:latin typeface="Times New Roman" panose="02020603050405020304" pitchFamily="18" charset="0"/>
                <a:cs typeface="Times New Roman" panose="02020603050405020304" pitchFamily="18" charset="0"/>
              </a:rPr>
              <a:t>Our Index</a:t>
            </a:r>
            <a:endParaRPr lang="zh-CN" altLang="en-US" b="1" dirty="0">
              <a:solidFill>
                <a:schemeClr val="bg2"/>
              </a:solidFill>
              <a:latin typeface="Times New Roman" panose="02020603050405020304" pitchFamily="18" charset="0"/>
              <a:cs typeface="Times New Roman" panose="02020603050405020304" pitchFamily="18" charset="0"/>
            </a:endParaRPr>
          </a:p>
        </p:txBody>
      </p:sp>
      <p:sp>
        <p:nvSpPr>
          <p:cNvPr id="8" name="内容占位符 7">
            <a:extLst>
              <a:ext uri="{FF2B5EF4-FFF2-40B4-BE49-F238E27FC236}">
                <a16:creationId xmlns:a16="http://schemas.microsoft.com/office/drawing/2014/main" id="{9818C349-10CA-473E-B0EA-2492C91D32E5}"/>
              </a:ext>
            </a:extLst>
          </p:cNvPr>
          <p:cNvSpPr>
            <a:spLocks noGrp="1"/>
          </p:cNvSpPr>
          <p:nvPr>
            <p:ph idx="1"/>
          </p:nvPr>
        </p:nvSpPr>
        <p:spPr>
          <a:xfrm>
            <a:off x="680928" y="1562943"/>
            <a:ext cx="8542556" cy="4099214"/>
          </a:xfrm>
        </p:spPr>
        <p:txBody>
          <a:bodyPr/>
          <a:lstStyle/>
          <a:p>
            <a:pPr marL="0" indent="0" algn="ctr">
              <a:buNone/>
            </a:pPr>
            <a:r>
              <a:rPr lang="en-US" altLang="zh-CN" dirty="0">
                <a:latin typeface="Times New Roman" panose="02020603050405020304" pitchFamily="18" charset="0"/>
                <a:cs typeface="Times New Roman" panose="02020603050405020304" pitchFamily="18" charset="0"/>
              </a:rPr>
              <a:t>Table 2    fund herding index and relative information</a:t>
            </a:r>
            <a:endParaRPr lang="zh-CN" altLang="zh-CN"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2" name="表格 1">
                <a:extLst>
                  <a:ext uri="{FF2B5EF4-FFF2-40B4-BE49-F238E27FC236}">
                    <a16:creationId xmlns:a16="http://schemas.microsoft.com/office/drawing/2014/main" id="{3B5729A4-137E-44A5-8445-74C070C7C11C}"/>
                  </a:ext>
                </a:extLst>
              </p:cNvPr>
              <p:cNvGraphicFramePr>
                <a:graphicFrameLocks noGrp="1"/>
              </p:cNvGraphicFramePr>
              <p:nvPr>
                <p:extLst>
                  <p:ext uri="{D42A27DB-BD31-4B8C-83A1-F6EECF244321}">
                    <p14:modId xmlns:p14="http://schemas.microsoft.com/office/powerpoint/2010/main" val="1488190617"/>
                  </p:ext>
                </p:extLst>
              </p:nvPr>
            </p:nvGraphicFramePr>
            <p:xfrm>
              <a:off x="487711" y="2144926"/>
              <a:ext cx="8676962" cy="3439517"/>
            </p:xfrm>
            <a:graphic>
              <a:graphicData uri="http://schemas.openxmlformats.org/drawingml/2006/table">
                <a:tbl>
                  <a:tblPr firstRow="1" firstCol="1" bandRow="1">
                    <a:tableStyleId>{22838BEF-8BB2-4498-84A7-C5851F593DF1}</a:tableStyleId>
                  </a:tblPr>
                  <a:tblGrid>
                    <a:gridCol w="1499449">
                      <a:extLst>
                        <a:ext uri="{9D8B030D-6E8A-4147-A177-3AD203B41FA5}">
                          <a16:colId xmlns:a16="http://schemas.microsoft.com/office/drawing/2014/main" val="110458321"/>
                        </a:ext>
                      </a:extLst>
                    </a:gridCol>
                    <a:gridCol w="904078">
                      <a:extLst>
                        <a:ext uri="{9D8B030D-6E8A-4147-A177-3AD203B41FA5}">
                          <a16:colId xmlns:a16="http://schemas.microsoft.com/office/drawing/2014/main" val="2913313148"/>
                        </a:ext>
                      </a:extLst>
                    </a:gridCol>
                    <a:gridCol w="1188987">
                      <a:extLst>
                        <a:ext uri="{9D8B030D-6E8A-4147-A177-3AD203B41FA5}">
                          <a16:colId xmlns:a16="http://schemas.microsoft.com/office/drawing/2014/main" val="1095421214"/>
                        </a:ext>
                      </a:extLst>
                    </a:gridCol>
                    <a:gridCol w="939762">
                      <a:extLst>
                        <a:ext uri="{9D8B030D-6E8A-4147-A177-3AD203B41FA5}">
                          <a16:colId xmlns:a16="http://schemas.microsoft.com/office/drawing/2014/main" val="3621805062"/>
                        </a:ext>
                      </a:extLst>
                    </a:gridCol>
                    <a:gridCol w="1105314">
                      <a:extLst>
                        <a:ext uri="{9D8B030D-6E8A-4147-A177-3AD203B41FA5}">
                          <a16:colId xmlns:a16="http://schemas.microsoft.com/office/drawing/2014/main" val="961962249"/>
                        </a:ext>
                      </a:extLst>
                    </a:gridCol>
                    <a:gridCol w="1026229">
                      <a:extLst>
                        <a:ext uri="{9D8B030D-6E8A-4147-A177-3AD203B41FA5}">
                          <a16:colId xmlns:a16="http://schemas.microsoft.com/office/drawing/2014/main" val="4054653699"/>
                        </a:ext>
                      </a:extLst>
                    </a:gridCol>
                    <a:gridCol w="1018846">
                      <a:extLst>
                        <a:ext uri="{9D8B030D-6E8A-4147-A177-3AD203B41FA5}">
                          <a16:colId xmlns:a16="http://schemas.microsoft.com/office/drawing/2014/main" val="445952626"/>
                        </a:ext>
                      </a:extLst>
                    </a:gridCol>
                    <a:gridCol w="994297">
                      <a:extLst>
                        <a:ext uri="{9D8B030D-6E8A-4147-A177-3AD203B41FA5}">
                          <a16:colId xmlns:a16="http://schemas.microsoft.com/office/drawing/2014/main" val="2033974206"/>
                        </a:ext>
                      </a:extLst>
                    </a:gridCol>
                  </a:tblGrid>
                  <a:tr h="817114">
                    <a:tc>
                      <a:txBody>
                        <a:bodyPr/>
                        <a:lstStyle/>
                        <a:p>
                          <a:pPr algn="ctr">
                            <a:lnSpc>
                              <a:spcPct val="150000"/>
                            </a:lnSpc>
                            <a:spcAft>
                              <a:spcPts val="0"/>
                            </a:spcAft>
                          </a:pPr>
                          <a:r>
                            <a:rPr lang="zh-CN" sz="1800" kern="0" dirty="0">
                              <a:effectLst/>
                            </a:rPr>
                            <a:t>　</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Mean</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Std Dev</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Min</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25%Pctl</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50%Pctl</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75%Pctl</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Max</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extLst>
                      <a:ext uri="{0D108BD9-81ED-4DB2-BD59-A6C34878D82A}">
                        <a16:rowId xmlns:a16="http://schemas.microsoft.com/office/drawing/2014/main" val="786750714"/>
                      </a:ext>
                    </a:extLst>
                  </a:tr>
                  <a:tr h="1023904">
                    <a:tc>
                      <a:txBody>
                        <a:bodyPr/>
                        <a:lstStyle/>
                        <a:p>
                          <a:pPr algn="l">
                            <a:lnSpc>
                              <a:spcPct val="150000"/>
                            </a:lnSpc>
                            <a:spcAft>
                              <a:spcPts val="0"/>
                            </a:spcAft>
                          </a:pPr>
                          <a14:m>
                            <m:oMathPara xmlns:m="http://schemas.openxmlformats.org/officeDocument/2006/math">
                              <m:oMathParaPr>
                                <m:jc m:val="centerGroup"/>
                              </m:oMathParaPr>
                              <m:oMath xmlns:m="http://schemas.openxmlformats.org/officeDocument/2006/math">
                                <m:f>
                                  <m:fPr>
                                    <m:ctrlPr>
                                      <a:rPr lang="zh-CN" sz="1800" kern="100" smtClean="0">
                                        <a:effectLst/>
                                      </a:rPr>
                                    </m:ctrlPr>
                                  </m:fPr>
                                  <m:num>
                                    <m:sSub>
                                      <m:sSubPr>
                                        <m:ctrlPr>
                                          <a:rPr lang="zh-CN" sz="1800" kern="100">
                                            <a:effectLst/>
                                          </a:rPr>
                                        </m:ctrlPr>
                                      </m:sSubPr>
                                      <m:e>
                                        <m:r>
                                          <a:rPr lang="en-US" sz="1800" kern="100">
                                            <a:effectLst/>
                                          </a:rPr>
                                          <m:t>𝐿</m:t>
                                        </m:r>
                                      </m:e>
                                      <m:sub>
                                        <m:r>
                                          <a:rPr lang="en-US" sz="1800" kern="100">
                                            <a:effectLst/>
                                          </a:rPr>
                                          <m:t>𝑖</m:t>
                                        </m:r>
                                        <m:r>
                                          <a:rPr lang="en-US" sz="1800" kern="100">
                                            <a:effectLst/>
                                          </a:rPr>
                                          <m:t> ,</m:t>
                                        </m:r>
                                        <m:r>
                                          <a:rPr lang="en-US" sz="1800" kern="100">
                                            <a:effectLst/>
                                          </a:rPr>
                                          <m:t>𝑡</m:t>
                                        </m:r>
                                      </m:sub>
                                    </m:sSub>
                                    <m:r>
                                      <a:rPr lang="en-US" sz="1800" kern="100">
                                        <a:effectLst/>
                                      </a:rPr>
                                      <m:t>−</m:t>
                                    </m:r>
                                    <m:sSub>
                                      <m:sSubPr>
                                        <m:ctrlPr>
                                          <a:rPr lang="zh-CN" sz="1800" kern="100">
                                            <a:effectLst/>
                                          </a:rPr>
                                        </m:ctrlPr>
                                      </m:sSubPr>
                                      <m:e>
                                        <m:r>
                                          <a:rPr lang="en-US" sz="1800" kern="100">
                                            <a:effectLst/>
                                          </a:rPr>
                                          <m:t>𝐿</m:t>
                                        </m:r>
                                      </m:e>
                                      <m:sub>
                                        <m:r>
                                          <a:rPr lang="en-US" sz="1800" kern="100">
                                            <a:effectLst/>
                                          </a:rPr>
                                          <m:t>𝑖</m:t>
                                        </m:r>
                                        <m:r>
                                          <a:rPr lang="en-US" sz="1800" kern="100">
                                            <a:effectLst/>
                                          </a:rPr>
                                          <m:t>,</m:t>
                                        </m:r>
                                        <m:r>
                                          <a:rPr lang="en-US" sz="1800" kern="100">
                                            <a:effectLst/>
                                          </a:rPr>
                                          <m:t>𝑡</m:t>
                                        </m:r>
                                        <m:r>
                                          <a:rPr lang="en-US" sz="1800" kern="100">
                                            <a:effectLst/>
                                          </a:rPr>
                                          <m:t>−1</m:t>
                                        </m:r>
                                      </m:sub>
                                    </m:sSub>
                                  </m:num>
                                  <m:den>
                                    <m:sSub>
                                      <m:sSubPr>
                                        <m:ctrlPr>
                                          <a:rPr lang="zh-CN" sz="1800" kern="100">
                                            <a:effectLst/>
                                          </a:rPr>
                                        </m:ctrlPr>
                                      </m:sSubPr>
                                      <m:e>
                                        <m:r>
                                          <a:rPr lang="en-US" sz="1800" kern="100">
                                            <a:effectLst/>
                                          </a:rPr>
                                          <m:t>𝐿</m:t>
                                        </m:r>
                                      </m:e>
                                      <m:sub>
                                        <m:r>
                                          <a:rPr lang="en-US" sz="1800" kern="100">
                                            <a:effectLst/>
                                          </a:rPr>
                                          <m:t>𝑖</m:t>
                                        </m:r>
                                        <m:r>
                                          <a:rPr lang="en-US" sz="1800" kern="100">
                                            <a:effectLst/>
                                          </a:rPr>
                                          <m:t>,</m:t>
                                        </m:r>
                                        <m:r>
                                          <a:rPr lang="en-US" sz="1800" kern="100">
                                            <a:effectLst/>
                                          </a:rPr>
                                          <m:t>𝑡</m:t>
                                        </m:r>
                                      </m:sub>
                                    </m:sSub>
                                  </m:den>
                                </m:f>
                              </m:oMath>
                            </m:oMathPara>
                          </a14:m>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0.80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15.31</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-7.01</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-0.52</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0.00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0.00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43.40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extLst>
                      <a:ext uri="{0D108BD9-81ED-4DB2-BD59-A6C34878D82A}">
                        <a16:rowId xmlns:a16="http://schemas.microsoft.com/office/drawing/2014/main" val="1861975774"/>
                      </a:ext>
                    </a:extLst>
                  </a:tr>
                  <a:tr h="1069157">
                    <a:tc>
                      <a:txBody>
                        <a:bodyPr/>
                        <a:lstStyle/>
                        <a:p>
                          <a:pPr algn="l">
                            <a:lnSpc>
                              <a:spcPct val="150000"/>
                            </a:lnSpc>
                            <a:spcAft>
                              <a:spcPts val="0"/>
                            </a:spcAft>
                          </a:pPr>
                          <a14:m>
                            <m:oMathPara xmlns:m="http://schemas.openxmlformats.org/officeDocument/2006/math">
                              <m:oMathParaPr>
                                <m:jc m:val="centerGroup"/>
                              </m:oMathParaPr>
                              <m:oMath xmlns:m="http://schemas.openxmlformats.org/officeDocument/2006/math">
                                <m:f>
                                  <m:fPr>
                                    <m:ctrlPr>
                                      <a:rPr lang="zh-CN" sz="1800" kern="100" smtClean="0">
                                        <a:effectLst/>
                                      </a:rPr>
                                    </m:ctrlPr>
                                  </m:fPr>
                                  <m:num>
                                    <m:sSub>
                                      <m:sSubPr>
                                        <m:ctrlPr>
                                          <a:rPr lang="zh-CN" sz="1800" kern="100">
                                            <a:effectLst/>
                                          </a:rPr>
                                        </m:ctrlPr>
                                      </m:sSubPr>
                                      <m:e>
                                        <m:r>
                                          <a:rPr lang="en-US" sz="1800" kern="100">
                                            <a:effectLst/>
                                          </a:rPr>
                                          <m:t>𝑁</m:t>
                                        </m:r>
                                      </m:e>
                                      <m:sub>
                                        <m:r>
                                          <a:rPr lang="en-US" sz="1800" kern="100">
                                            <a:effectLst/>
                                          </a:rPr>
                                          <m:t>𝑖𝑗</m:t>
                                        </m:r>
                                        <m:r>
                                          <a:rPr lang="en-US" sz="1800" kern="100">
                                            <a:effectLst/>
                                          </a:rPr>
                                          <m:t> ,</m:t>
                                        </m:r>
                                        <m:r>
                                          <a:rPr lang="en-US" sz="1800" kern="100">
                                            <a:effectLst/>
                                          </a:rPr>
                                          <m:t>𝑡</m:t>
                                        </m:r>
                                        <m:r>
                                          <a:rPr lang="en-US" sz="1800" kern="100">
                                            <a:effectLst/>
                                          </a:rPr>
                                          <m:t>+1</m:t>
                                        </m:r>
                                      </m:sub>
                                    </m:sSub>
                                    <m:r>
                                      <a:rPr lang="en-US" sz="1800" kern="100">
                                        <a:effectLst/>
                                      </a:rPr>
                                      <m:t>−</m:t>
                                    </m:r>
                                    <m:sSub>
                                      <m:sSubPr>
                                        <m:ctrlPr>
                                          <a:rPr lang="zh-CN" sz="1800" kern="100">
                                            <a:effectLst/>
                                          </a:rPr>
                                        </m:ctrlPr>
                                      </m:sSubPr>
                                      <m:e>
                                        <m:r>
                                          <a:rPr lang="en-US" sz="1800" kern="100">
                                            <a:effectLst/>
                                          </a:rPr>
                                          <m:t>𝑁</m:t>
                                        </m:r>
                                      </m:e>
                                      <m:sub>
                                        <m:r>
                                          <a:rPr lang="en-US" sz="1800" kern="100">
                                            <a:effectLst/>
                                          </a:rPr>
                                          <m:t>𝑖𝑗</m:t>
                                        </m:r>
                                        <m:r>
                                          <a:rPr lang="en-US" sz="1800" kern="100">
                                            <a:effectLst/>
                                          </a:rPr>
                                          <m:t>,</m:t>
                                        </m:r>
                                        <m:r>
                                          <a:rPr lang="en-US" sz="1800" kern="100">
                                            <a:effectLst/>
                                          </a:rPr>
                                          <m:t>𝑡</m:t>
                                        </m:r>
                                      </m:sub>
                                    </m:sSub>
                                  </m:num>
                                  <m:den>
                                    <m:sSub>
                                      <m:sSubPr>
                                        <m:ctrlPr>
                                          <a:rPr lang="zh-CN" sz="1800" kern="100">
                                            <a:effectLst/>
                                          </a:rPr>
                                        </m:ctrlPr>
                                      </m:sSubPr>
                                      <m:e>
                                        <m:r>
                                          <a:rPr lang="en-US" sz="1800" kern="100">
                                            <a:effectLst/>
                                          </a:rPr>
                                          <m:t>𝑁</m:t>
                                        </m:r>
                                      </m:e>
                                      <m:sub>
                                        <m:r>
                                          <a:rPr lang="en-US" sz="1800" kern="100">
                                            <a:effectLst/>
                                          </a:rPr>
                                          <m:t>𝑖𝑗</m:t>
                                        </m:r>
                                        <m:r>
                                          <a:rPr lang="en-US" sz="1800" kern="100">
                                            <a:effectLst/>
                                          </a:rPr>
                                          <m:t>,</m:t>
                                        </m:r>
                                        <m:r>
                                          <a:rPr lang="en-US" sz="1800" kern="100">
                                            <a:effectLst/>
                                          </a:rPr>
                                          <m:t>𝑡</m:t>
                                        </m:r>
                                        <m:r>
                                          <a:rPr lang="en-US" sz="1800" kern="100">
                                            <a:effectLst/>
                                          </a:rPr>
                                          <m:t>+1</m:t>
                                        </m:r>
                                      </m:sub>
                                    </m:sSub>
                                  </m:den>
                                </m:f>
                              </m:oMath>
                            </m:oMathPara>
                          </a14:m>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3.88</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289.99</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-0.98</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-1.02</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-0.01</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0.38</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306.99</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extLst>
                      <a:ext uri="{0D108BD9-81ED-4DB2-BD59-A6C34878D82A}">
                        <a16:rowId xmlns:a16="http://schemas.microsoft.com/office/drawing/2014/main" val="1733518205"/>
                      </a:ext>
                    </a:extLst>
                  </a:tr>
                  <a:tr h="529342">
                    <a:tc>
                      <a:txBody>
                        <a:bodyPr/>
                        <a:lstStyle/>
                        <a:p>
                          <a:pPr algn="l">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sz="1800" kern="100" smtClean="0">
                                        <a:effectLst/>
                                      </a:rPr>
                                    </m:ctrlPr>
                                  </m:sSubPr>
                                  <m:e>
                                    <m:r>
                                      <a:rPr lang="en-US" sz="1800" kern="100">
                                        <a:effectLst/>
                                      </a:rPr>
                                      <m:t>𝐹𝐻</m:t>
                                    </m:r>
                                  </m:e>
                                  <m:sub>
                                    <m:r>
                                      <a:rPr lang="en-US" sz="1800" kern="100">
                                        <a:effectLst/>
                                      </a:rPr>
                                      <m:t>𝑗𝑡</m:t>
                                    </m:r>
                                  </m:sub>
                                </m:sSub>
                              </m:oMath>
                            </m:oMathPara>
                          </a14:m>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b"/>
                    </a:tc>
                    <a:tc>
                      <a:txBody>
                        <a:bodyPr/>
                        <a:lstStyle/>
                        <a:p>
                          <a:pPr algn="ctr">
                            <a:lnSpc>
                              <a:spcPct val="150000"/>
                            </a:lnSpc>
                            <a:spcAft>
                              <a:spcPts val="0"/>
                            </a:spcAft>
                          </a:pPr>
                          <a:r>
                            <a:rPr lang="en-US" sz="1800" kern="0">
                              <a:effectLst/>
                            </a:rPr>
                            <a:t>0.02</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0.36</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-0.91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-0.17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0.00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0.17</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1.00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extLst>
                      <a:ext uri="{0D108BD9-81ED-4DB2-BD59-A6C34878D82A}">
                        <a16:rowId xmlns:a16="http://schemas.microsoft.com/office/drawing/2014/main" val="1613490663"/>
                      </a:ext>
                    </a:extLst>
                  </a:tr>
                </a:tbl>
              </a:graphicData>
            </a:graphic>
          </p:graphicFrame>
        </mc:Choice>
        <mc:Fallback>
          <p:graphicFrame>
            <p:nvGraphicFramePr>
              <p:cNvPr id="2" name="表格 1">
                <a:extLst>
                  <a:ext uri="{FF2B5EF4-FFF2-40B4-BE49-F238E27FC236}">
                    <a16:creationId xmlns:a16="http://schemas.microsoft.com/office/drawing/2014/main" id="{3B5729A4-137E-44A5-8445-74C070C7C11C}"/>
                  </a:ext>
                </a:extLst>
              </p:cNvPr>
              <p:cNvGraphicFramePr>
                <a:graphicFrameLocks noGrp="1"/>
              </p:cNvGraphicFramePr>
              <p:nvPr>
                <p:extLst>
                  <p:ext uri="{D42A27DB-BD31-4B8C-83A1-F6EECF244321}">
                    <p14:modId xmlns:p14="http://schemas.microsoft.com/office/powerpoint/2010/main" val="1488190617"/>
                  </p:ext>
                </p:extLst>
              </p:nvPr>
            </p:nvGraphicFramePr>
            <p:xfrm>
              <a:off x="487711" y="2144926"/>
              <a:ext cx="8676962" cy="3439517"/>
            </p:xfrm>
            <a:graphic>
              <a:graphicData uri="http://schemas.openxmlformats.org/drawingml/2006/table">
                <a:tbl>
                  <a:tblPr firstRow="1" firstCol="1" bandRow="1">
                    <a:tableStyleId>{22838BEF-8BB2-4498-84A7-C5851F593DF1}</a:tableStyleId>
                  </a:tblPr>
                  <a:tblGrid>
                    <a:gridCol w="1499449">
                      <a:extLst>
                        <a:ext uri="{9D8B030D-6E8A-4147-A177-3AD203B41FA5}">
                          <a16:colId xmlns:a16="http://schemas.microsoft.com/office/drawing/2014/main" val="110458321"/>
                        </a:ext>
                      </a:extLst>
                    </a:gridCol>
                    <a:gridCol w="904078">
                      <a:extLst>
                        <a:ext uri="{9D8B030D-6E8A-4147-A177-3AD203B41FA5}">
                          <a16:colId xmlns:a16="http://schemas.microsoft.com/office/drawing/2014/main" val="2913313148"/>
                        </a:ext>
                      </a:extLst>
                    </a:gridCol>
                    <a:gridCol w="1188987">
                      <a:extLst>
                        <a:ext uri="{9D8B030D-6E8A-4147-A177-3AD203B41FA5}">
                          <a16:colId xmlns:a16="http://schemas.microsoft.com/office/drawing/2014/main" val="1095421214"/>
                        </a:ext>
                      </a:extLst>
                    </a:gridCol>
                    <a:gridCol w="939762">
                      <a:extLst>
                        <a:ext uri="{9D8B030D-6E8A-4147-A177-3AD203B41FA5}">
                          <a16:colId xmlns:a16="http://schemas.microsoft.com/office/drawing/2014/main" val="3621805062"/>
                        </a:ext>
                      </a:extLst>
                    </a:gridCol>
                    <a:gridCol w="1105314">
                      <a:extLst>
                        <a:ext uri="{9D8B030D-6E8A-4147-A177-3AD203B41FA5}">
                          <a16:colId xmlns:a16="http://schemas.microsoft.com/office/drawing/2014/main" val="961962249"/>
                        </a:ext>
                      </a:extLst>
                    </a:gridCol>
                    <a:gridCol w="1026229">
                      <a:extLst>
                        <a:ext uri="{9D8B030D-6E8A-4147-A177-3AD203B41FA5}">
                          <a16:colId xmlns:a16="http://schemas.microsoft.com/office/drawing/2014/main" val="4054653699"/>
                        </a:ext>
                      </a:extLst>
                    </a:gridCol>
                    <a:gridCol w="1018846">
                      <a:extLst>
                        <a:ext uri="{9D8B030D-6E8A-4147-A177-3AD203B41FA5}">
                          <a16:colId xmlns:a16="http://schemas.microsoft.com/office/drawing/2014/main" val="445952626"/>
                        </a:ext>
                      </a:extLst>
                    </a:gridCol>
                    <a:gridCol w="994297">
                      <a:extLst>
                        <a:ext uri="{9D8B030D-6E8A-4147-A177-3AD203B41FA5}">
                          <a16:colId xmlns:a16="http://schemas.microsoft.com/office/drawing/2014/main" val="2033974206"/>
                        </a:ext>
                      </a:extLst>
                    </a:gridCol>
                  </a:tblGrid>
                  <a:tr h="817114">
                    <a:tc>
                      <a:txBody>
                        <a:bodyPr/>
                        <a:lstStyle/>
                        <a:p>
                          <a:pPr algn="ctr">
                            <a:lnSpc>
                              <a:spcPct val="150000"/>
                            </a:lnSpc>
                            <a:spcAft>
                              <a:spcPts val="0"/>
                            </a:spcAft>
                          </a:pPr>
                          <a:r>
                            <a:rPr lang="zh-CN" sz="1800" kern="0" dirty="0">
                              <a:effectLst/>
                            </a:rPr>
                            <a:t>　</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Mean</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Std Dev</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Min</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25%Pctl</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50%Pctl</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75%Pctl</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Max</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extLst>
                      <a:ext uri="{0D108BD9-81ED-4DB2-BD59-A6C34878D82A}">
                        <a16:rowId xmlns:a16="http://schemas.microsoft.com/office/drawing/2014/main" val="786750714"/>
                      </a:ext>
                    </a:extLst>
                  </a:tr>
                  <a:tr h="1023904">
                    <a:tc>
                      <a:txBody>
                        <a:bodyPr/>
                        <a:lstStyle/>
                        <a:p>
                          <a:endParaRPr lang="zh-CN"/>
                        </a:p>
                      </a:txBody>
                      <a:tcPr marL="55712" marR="55712" marT="0" marB="0" anchor="ctr">
                        <a:blipFill>
                          <a:blip r:embed="rId2"/>
                          <a:stretch>
                            <a:fillRect l="-813" t="-79882" r="-479675" b="-158580"/>
                          </a:stretch>
                        </a:blipFill>
                      </a:tcPr>
                    </a:tc>
                    <a:tc>
                      <a:txBody>
                        <a:bodyPr/>
                        <a:lstStyle/>
                        <a:p>
                          <a:pPr algn="ctr">
                            <a:lnSpc>
                              <a:spcPct val="150000"/>
                            </a:lnSpc>
                            <a:spcAft>
                              <a:spcPts val="0"/>
                            </a:spcAft>
                          </a:pPr>
                          <a:r>
                            <a:rPr lang="en-US" sz="1800" kern="0" dirty="0">
                              <a:effectLst/>
                            </a:rPr>
                            <a:t>0.80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15.31</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-7.01</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-0.52</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0.00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0.00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43.40</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extLst>
                      <a:ext uri="{0D108BD9-81ED-4DB2-BD59-A6C34878D82A}">
                        <a16:rowId xmlns:a16="http://schemas.microsoft.com/office/drawing/2014/main" val="1861975774"/>
                      </a:ext>
                    </a:extLst>
                  </a:tr>
                  <a:tr h="1069157">
                    <a:tc>
                      <a:txBody>
                        <a:bodyPr/>
                        <a:lstStyle/>
                        <a:p>
                          <a:endParaRPr lang="zh-CN"/>
                        </a:p>
                      </a:txBody>
                      <a:tcPr marL="55712" marR="55712" marT="0" marB="0" anchor="ctr">
                        <a:blipFill>
                          <a:blip r:embed="rId2"/>
                          <a:stretch>
                            <a:fillRect l="-813" t="-172727" r="-479675" b="-52273"/>
                          </a:stretch>
                        </a:blipFill>
                      </a:tcPr>
                    </a:tc>
                    <a:tc>
                      <a:txBody>
                        <a:bodyPr/>
                        <a:lstStyle/>
                        <a:p>
                          <a:pPr algn="ctr">
                            <a:lnSpc>
                              <a:spcPct val="150000"/>
                            </a:lnSpc>
                            <a:spcAft>
                              <a:spcPts val="0"/>
                            </a:spcAft>
                          </a:pPr>
                          <a:r>
                            <a:rPr lang="en-US" sz="1800" kern="0" dirty="0">
                              <a:effectLst/>
                            </a:rPr>
                            <a:t>3.88</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289.99</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-0.98</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-1.02</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-0.01</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0.38</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306.99</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extLst>
                      <a:ext uri="{0D108BD9-81ED-4DB2-BD59-A6C34878D82A}">
                        <a16:rowId xmlns:a16="http://schemas.microsoft.com/office/drawing/2014/main" val="1733518205"/>
                      </a:ext>
                    </a:extLst>
                  </a:tr>
                  <a:tr h="529342">
                    <a:tc>
                      <a:txBody>
                        <a:bodyPr/>
                        <a:lstStyle/>
                        <a:p>
                          <a:endParaRPr lang="zh-CN"/>
                        </a:p>
                      </a:txBody>
                      <a:tcPr marL="55712" marR="55712" marT="0" marB="0" anchor="b">
                        <a:blipFill>
                          <a:blip r:embed="rId2"/>
                          <a:stretch>
                            <a:fillRect l="-813" t="-551724" r="-479675" b="-5747"/>
                          </a:stretch>
                        </a:blipFill>
                      </a:tcPr>
                    </a:tc>
                    <a:tc>
                      <a:txBody>
                        <a:bodyPr/>
                        <a:lstStyle/>
                        <a:p>
                          <a:pPr algn="ctr">
                            <a:lnSpc>
                              <a:spcPct val="150000"/>
                            </a:lnSpc>
                            <a:spcAft>
                              <a:spcPts val="0"/>
                            </a:spcAft>
                          </a:pPr>
                          <a:r>
                            <a:rPr lang="en-US" sz="1800" kern="0">
                              <a:effectLst/>
                            </a:rPr>
                            <a:t>0.02</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0.36</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-0.91</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a:effectLst/>
                            </a:rPr>
                            <a:t>-0.17</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0.00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0.17</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tc>
                      <a:txBody>
                        <a:bodyPr/>
                        <a:lstStyle/>
                        <a:p>
                          <a:pPr algn="ctr">
                            <a:lnSpc>
                              <a:spcPct val="150000"/>
                            </a:lnSpc>
                            <a:spcAft>
                              <a:spcPts val="0"/>
                            </a:spcAft>
                          </a:pPr>
                          <a:r>
                            <a:rPr lang="en-US" sz="1800" kern="0" dirty="0">
                              <a:effectLst/>
                            </a:rPr>
                            <a:t>1.00</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nchor="ctr"/>
                    </a:tc>
                    <a:extLst>
                      <a:ext uri="{0D108BD9-81ED-4DB2-BD59-A6C34878D82A}">
                        <a16:rowId xmlns:a16="http://schemas.microsoft.com/office/drawing/2014/main" val="1613490663"/>
                      </a:ext>
                    </a:extLst>
                  </a:tr>
                </a:tbl>
              </a:graphicData>
            </a:graphic>
          </p:graphicFrame>
        </mc:Fallback>
      </mc:AlternateContent>
    </p:spTree>
    <p:extLst>
      <p:ext uri="{BB962C8B-B14F-4D97-AF65-F5344CB8AC3E}">
        <p14:creationId xmlns:p14="http://schemas.microsoft.com/office/powerpoint/2010/main" val="369667973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C4DB6611-16B4-41F5-9E0B-0EE9E1879787}"/>
              </a:ext>
            </a:extLst>
          </p:cNvPr>
          <p:cNvSpPr>
            <a:spLocks noGrp="1"/>
          </p:cNvSpPr>
          <p:nvPr>
            <p:ph type="title"/>
          </p:nvPr>
        </p:nvSpPr>
        <p:spPr>
          <a:xfrm>
            <a:off x="680928" y="921951"/>
            <a:ext cx="8542556" cy="1076847"/>
          </a:xfrm>
        </p:spPr>
        <p:txBody>
          <a:bodyPr/>
          <a:lstStyle/>
          <a:p>
            <a:pPr algn="ctr"/>
            <a:r>
              <a:rPr lang="en-US" altLang="zh-CN" b="1" dirty="0" smtClean="0">
                <a:solidFill>
                  <a:schemeClr val="bg2"/>
                </a:solidFill>
                <a:latin typeface="Times New Roman" panose="02020603050405020304" pitchFamily="18" charset="0"/>
                <a:cs typeface="Times New Roman" panose="02020603050405020304" pitchFamily="18" charset="0"/>
              </a:rPr>
              <a:t>Hypothesis, based on economics intuition</a:t>
            </a:r>
            <a:endParaRPr lang="zh-CN" altLang="en-US" b="1" dirty="0">
              <a:solidFill>
                <a:schemeClr val="bg2"/>
              </a:solidFill>
              <a:latin typeface="Times New Roman" panose="02020603050405020304" pitchFamily="18" charset="0"/>
              <a:cs typeface="Times New Roman" panose="02020603050405020304" pitchFamily="18" charset="0"/>
            </a:endParaRPr>
          </a:p>
        </p:txBody>
      </p:sp>
      <p:sp>
        <p:nvSpPr>
          <p:cNvPr id="8" name="内容占位符 7">
            <a:extLst>
              <a:ext uri="{FF2B5EF4-FFF2-40B4-BE49-F238E27FC236}">
                <a16:creationId xmlns:a16="http://schemas.microsoft.com/office/drawing/2014/main" id="{9818C349-10CA-473E-B0EA-2492C91D32E5}"/>
              </a:ext>
            </a:extLst>
          </p:cNvPr>
          <p:cNvSpPr>
            <a:spLocks noGrp="1"/>
          </p:cNvSpPr>
          <p:nvPr>
            <p:ph idx="1"/>
          </p:nvPr>
        </p:nvSpPr>
        <p:spPr>
          <a:xfrm>
            <a:off x="680929" y="1460375"/>
            <a:ext cx="8542556" cy="4200204"/>
          </a:xfrm>
        </p:spPr>
        <p:txBody>
          <a:bodyPr>
            <a:normAutofit lnSpcReduction="10000"/>
          </a:bodyPr>
          <a:lstStyle/>
          <a:p>
            <a:pPr marL="0" indent="0">
              <a:lnSpc>
                <a:spcPct val="110000"/>
              </a:lnSpc>
              <a:buClr>
                <a:srgbClr val="2C04F4"/>
              </a:buClr>
              <a:buNone/>
            </a:pPr>
            <a:r>
              <a:rPr lang="en-US" altLang="zh-CN" sz="2112" dirty="0">
                <a:latin typeface="Times New Roman" panose="02020603050405020304" pitchFamily="18" charset="0"/>
                <a:cs typeface="Times New Roman" panose="02020603050405020304" pitchFamily="18" charset="0"/>
              </a:rPr>
              <a:t>Hypothesis 1: </a:t>
            </a:r>
            <a:r>
              <a:rPr lang="en-US" altLang="zh-CN" sz="1950" dirty="0">
                <a:latin typeface="Times New Roman" panose="02020603050405020304" pitchFamily="18" charset="0"/>
                <a:cs typeface="Times New Roman" panose="02020603050405020304" pitchFamily="18" charset="0"/>
              </a:rPr>
              <a:t>Herding effect is mainly determined by intrinsic characteristics of the fund.</a:t>
            </a:r>
          </a:p>
          <a:p>
            <a:pPr marL="191596" lvl="1" indent="0">
              <a:lnSpc>
                <a:spcPct val="70000"/>
              </a:lnSpc>
              <a:buClr>
                <a:srgbClr val="2C04F4"/>
              </a:buClr>
              <a:buNone/>
            </a:pPr>
            <a:r>
              <a:rPr lang="en-US" altLang="zh-CN" sz="1787" dirty="0">
                <a:latin typeface="Times New Roman" panose="02020603050405020304" pitchFamily="18" charset="0"/>
                <a:cs typeface="Times New Roman" panose="02020603050405020304" pitchFamily="18" charset="0"/>
              </a:rPr>
              <a:t>It’s</a:t>
            </a:r>
            <a:r>
              <a:rPr lang="zh-CN" altLang="en-US" sz="1787" dirty="0">
                <a:latin typeface="Times New Roman" panose="02020603050405020304" pitchFamily="18" charset="0"/>
                <a:cs typeface="Times New Roman" panose="02020603050405020304" pitchFamily="18" charset="0"/>
              </a:rPr>
              <a:t> </a:t>
            </a:r>
            <a:r>
              <a:rPr lang="en-US" altLang="zh-CN" sz="1787" dirty="0">
                <a:latin typeface="Times New Roman" panose="02020603050405020304" pitchFamily="18" charset="0"/>
                <a:cs typeface="Times New Roman" panose="02020603050405020304" pitchFamily="18" charset="0"/>
              </a:rPr>
              <a:t>reasonable… until</a:t>
            </a:r>
            <a:r>
              <a:rPr lang="zh-CN" altLang="en-US" sz="1787" dirty="0">
                <a:latin typeface="Times New Roman" panose="02020603050405020304" pitchFamily="18" charset="0"/>
                <a:cs typeface="Times New Roman" panose="02020603050405020304" pitchFamily="18" charset="0"/>
              </a:rPr>
              <a:t> </a:t>
            </a:r>
            <a:r>
              <a:rPr lang="en-US" altLang="zh-CN" sz="1787" dirty="0">
                <a:latin typeface="Times New Roman" panose="02020603050405020304" pitchFamily="18" charset="0"/>
                <a:cs typeface="Times New Roman" panose="02020603050405020304" pitchFamily="18" charset="0"/>
              </a:rPr>
              <a:t>proven</a:t>
            </a:r>
            <a:r>
              <a:rPr lang="zh-CN" altLang="en-US" sz="1787" dirty="0">
                <a:latin typeface="Times New Roman" panose="02020603050405020304" pitchFamily="18" charset="0"/>
                <a:cs typeface="Times New Roman" panose="02020603050405020304" pitchFamily="18" charset="0"/>
              </a:rPr>
              <a:t> </a:t>
            </a:r>
            <a:r>
              <a:rPr lang="en-US" altLang="zh-CN" sz="1787" dirty="0">
                <a:latin typeface="Times New Roman" panose="02020603050405020304" pitchFamily="18" charset="0"/>
                <a:cs typeface="Times New Roman" panose="02020603050405020304" pitchFamily="18" charset="0"/>
              </a:rPr>
              <a:t>otherwise.</a:t>
            </a:r>
          </a:p>
          <a:p>
            <a:pPr marL="0" indent="0">
              <a:lnSpc>
                <a:spcPct val="150000"/>
              </a:lnSpc>
              <a:buClr>
                <a:srgbClr val="2C04F4"/>
              </a:buClr>
              <a:buNone/>
            </a:pPr>
            <a:r>
              <a:rPr lang="en-US" altLang="zh-CN" sz="2112" dirty="0">
                <a:latin typeface="Times New Roman" panose="02020603050405020304" pitchFamily="18" charset="0"/>
                <a:cs typeface="Times New Roman" panose="02020603050405020304" pitchFamily="18" charset="0"/>
              </a:rPr>
              <a:t>Hypothesis 2: Herding effect decreases the fund performance.           </a:t>
            </a:r>
          </a:p>
          <a:p>
            <a:pPr marL="191596" lvl="1" indent="0">
              <a:lnSpc>
                <a:spcPct val="100000"/>
              </a:lnSpc>
              <a:buClr>
                <a:srgbClr val="2C04F4"/>
              </a:buClr>
              <a:buNone/>
            </a:pPr>
            <a:r>
              <a:rPr lang="en-US" altLang="zh-CN" sz="1787" dirty="0">
                <a:latin typeface="Times New Roman" panose="02020603050405020304" pitchFamily="18" charset="0"/>
                <a:cs typeface="Times New Roman" panose="02020603050405020304" pitchFamily="18" charset="0"/>
              </a:rPr>
              <a:t>The herding effect of funds often indicates that fund managers are not confident or lack of skills and experience.</a:t>
            </a:r>
          </a:p>
          <a:p>
            <a:pPr marL="191596" lvl="1" indent="0">
              <a:lnSpc>
                <a:spcPct val="70000"/>
              </a:lnSpc>
              <a:buClr>
                <a:srgbClr val="2C04F4"/>
              </a:buClr>
              <a:buNone/>
            </a:pPr>
            <a:endParaRPr lang="en-US" altLang="zh-CN" sz="1787" dirty="0">
              <a:latin typeface="Times New Roman" panose="02020603050405020304" pitchFamily="18" charset="0"/>
              <a:cs typeface="Times New Roman" panose="02020603050405020304" pitchFamily="18" charset="0"/>
            </a:endParaRPr>
          </a:p>
          <a:p>
            <a:pPr marL="0" indent="0">
              <a:lnSpc>
                <a:spcPct val="100000"/>
              </a:lnSpc>
              <a:buClr>
                <a:srgbClr val="2C04F4"/>
              </a:buClr>
              <a:buNone/>
            </a:pPr>
            <a:r>
              <a:rPr lang="en-US" altLang="zh-CN" sz="2112" dirty="0">
                <a:latin typeface="Times New Roman" panose="02020603050405020304" pitchFamily="18" charset="0"/>
                <a:cs typeface="Times New Roman" panose="02020603050405020304" pitchFamily="18" charset="0"/>
              </a:rPr>
              <a:t>Hypothesis 3: Once the herding effect of a fund is discovered, the market will react with significant aversion.</a:t>
            </a:r>
          </a:p>
          <a:p>
            <a:pPr marL="191596" lvl="1" indent="0">
              <a:lnSpc>
                <a:spcPct val="100000"/>
              </a:lnSpc>
              <a:buClr>
                <a:srgbClr val="2C04F4"/>
              </a:buClr>
              <a:buNone/>
            </a:pPr>
            <a:r>
              <a:rPr lang="en-US" altLang="zh-CN" sz="1787" dirty="0">
                <a:latin typeface="Times New Roman" panose="02020603050405020304" pitchFamily="18" charset="0"/>
                <a:cs typeface="Times New Roman" panose="02020603050405020304" pitchFamily="18" charset="0"/>
              </a:rPr>
              <a:t>Market participants can accurately capture all available information and evaluate the fund reasonably.</a:t>
            </a:r>
          </a:p>
          <a:p>
            <a:endParaRPr lang="zh-CN" altLang="en-US" dirty="0">
              <a:solidFill>
                <a:schemeClr val="tx2"/>
              </a:solidFill>
            </a:endParaRPr>
          </a:p>
        </p:txBody>
      </p:sp>
    </p:spTree>
    <p:extLst>
      <p:ext uri="{BB962C8B-B14F-4D97-AF65-F5344CB8AC3E}">
        <p14:creationId xmlns:p14="http://schemas.microsoft.com/office/powerpoint/2010/main" val="2473197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C4DB6611-16B4-41F5-9E0B-0EE9E1879787}"/>
              </a:ext>
            </a:extLst>
          </p:cNvPr>
          <p:cNvSpPr>
            <a:spLocks noGrp="1"/>
          </p:cNvSpPr>
          <p:nvPr>
            <p:ph type="title"/>
          </p:nvPr>
        </p:nvSpPr>
        <p:spPr>
          <a:xfrm>
            <a:off x="595722" y="793131"/>
            <a:ext cx="8542556" cy="1076847"/>
          </a:xfrm>
        </p:spPr>
        <p:txBody>
          <a:bodyPr/>
          <a:lstStyle/>
          <a:p>
            <a:pPr algn="ctr"/>
            <a:r>
              <a:rPr lang="en-US" altLang="zh-CN" b="1" dirty="0">
                <a:solidFill>
                  <a:schemeClr val="bg2"/>
                </a:solidFill>
                <a:latin typeface="Times New Roman" panose="02020603050405020304" pitchFamily="18" charset="0"/>
                <a:cs typeface="Times New Roman" panose="02020603050405020304" pitchFamily="18" charset="0"/>
              </a:rPr>
              <a:t>Regression Model</a:t>
            </a:r>
            <a:endParaRPr lang="zh-CN" altLang="en-US" b="1" dirty="0">
              <a:solidFill>
                <a:schemeClr val="bg2"/>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内容占位符 7">
                <a:extLst>
                  <a:ext uri="{FF2B5EF4-FFF2-40B4-BE49-F238E27FC236}">
                    <a16:creationId xmlns:a16="http://schemas.microsoft.com/office/drawing/2014/main" id="{9818C349-10CA-473E-B0EA-2492C91D32E5}"/>
                  </a:ext>
                </a:extLst>
              </p:cNvPr>
              <p:cNvSpPr>
                <a:spLocks noGrp="1"/>
              </p:cNvSpPr>
              <p:nvPr>
                <p:ph idx="1"/>
              </p:nvPr>
            </p:nvSpPr>
            <p:spPr>
              <a:xfrm>
                <a:off x="680928" y="1451066"/>
                <a:ext cx="8542556" cy="3534896"/>
              </a:xfrm>
            </p:spPr>
            <p:txBody>
              <a:bodyPr/>
              <a:lstStyle/>
              <a:p>
                <a:pPr marL="0" indent="0">
                  <a:lnSpc>
                    <a:spcPct val="100000"/>
                  </a:lnSpc>
                  <a:buClr>
                    <a:srgbClr val="2C04F4"/>
                  </a:buClr>
                  <a:buNone/>
                </a:pPr>
                <a:r>
                  <a:rPr lang="en-US" altLang="zh-CN" sz="1950" dirty="0">
                    <a:latin typeface="Times New Roman" panose="02020603050405020304" pitchFamily="18" charset="0"/>
                    <a:cs typeface="Times New Roman" panose="02020603050405020304" pitchFamily="18" charset="0"/>
                  </a:rPr>
                  <a:t>Hypothesis 1: </a:t>
                </a:r>
                <a:r>
                  <a:rPr lang="en-US" altLang="zh-CN" sz="1950" dirty="0" smtClean="0">
                    <a:latin typeface="Times New Roman" panose="02020603050405020304" pitchFamily="18" charset="0"/>
                    <a:cs typeface="Times New Roman" panose="02020603050405020304" pitchFamily="18" charset="0"/>
                  </a:rPr>
                  <a:t>Herding effect is mainly </a:t>
                </a:r>
                <a:r>
                  <a:rPr lang="en-US" altLang="zh-CN" sz="1950" b="1" dirty="0" smtClean="0">
                    <a:latin typeface="Times New Roman" panose="02020603050405020304" pitchFamily="18" charset="0"/>
                    <a:cs typeface="Times New Roman" panose="02020603050405020304" pitchFamily="18" charset="0"/>
                  </a:rPr>
                  <a:t>determined</a:t>
                </a:r>
                <a:r>
                  <a:rPr lang="en-US" altLang="zh-CN" sz="1950" dirty="0" smtClean="0">
                    <a:latin typeface="Times New Roman" panose="02020603050405020304" pitchFamily="18" charset="0"/>
                    <a:cs typeface="Times New Roman" panose="02020603050405020304" pitchFamily="18" charset="0"/>
                  </a:rPr>
                  <a:t> by intrinsic characteristics of the fund.	</a:t>
                </a:r>
                <a:r>
                  <a:rPr lang="en-US" altLang="zh-CN" sz="1950" dirty="0">
                    <a:latin typeface="Times New Roman" panose="02020603050405020304" pitchFamily="18" charset="0"/>
                    <a:cs typeface="Times New Roman" panose="02020603050405020304" pitchFamily="18" charset="0"/>
                  </a:rPr>
                  <a:t>	</a:t>
                </a:r>
                <a:endParaRPr lang="en-US" altLang="zh-CN" sz="1950" i="1" dirty="0" smtClean="0">
                  <a:latin typeface="Cambria Math" panose="02040503050406030204" pitchFamily="18" charset="0"/>
                </a:endParaRPr>
              </a:p>
              <a:p>
                <a:pPr marL="0" indent="0">
                  <a:lnSpc>
                    <a:spcPct val="100000"/>
                  </a:lnSpc>
                  <a:buClr>
                    <a:srgbClr val="2C04F4"/>
                  </a:buClr>
                  <a:buNone/>
                </a:pPr>
                <a14:m>
                  <m:oMathPara xmlns:m="http://schemas.openxmlformats.org/officeDocument/2006/math">
                    <m:oMathParaPr>
                      <m:jc m:val="centerGroup"/>
                    </m:oMathParaPr>
                    <m:oMath xmlns:m="http://schemas.openxmlformats.org/officeDocument/2006/math">
                      <m:sSub>
                        <m:sSubPr>
                          <m:ctrlPr>
                            <a:rPr lang="zh-CN" altLang="zh-CN" sz="1950" i="1">
                              <a:latin typeface="Cambria Math" panose="02040503050406030204" pitchFamily="18" charset="0"/>
                            </a:rPr>
                          </m:ctrlPr>
                        </m:sSubPr>
                        <m:e>
                          <m:r>
                            <a:rPr lang="en-US" altLang="zh-CN" sz="1950" i="1">
                              <a:latin typeface="Cambria Math" panose="02040503050406030204" pitchFamily="18" charset="0"/>
                            </a:rPr>
                            <m:t>𝐹𝐻</m:t>
                          </m:r>
                        </m:e>
                        <m:sub>
                          <m:r>
                            <a:rPr lang="en-US" altLang="zh-CN" sz="1950" i="1">
                              <a:latin typeface="Cambria Math" panose="02040503050406030204" pitchFamily="18" charset="0"/>
                            </a:rPr>
                            <m:t>𝑗𝑡</m:t>
                          </m:r>
                        </m:sub>
                      </m:sSub>
                      <m:r>
                        <a:rPr lang="en-US" altLang="zh-CN" sz="1950">
                          <a:latin typeface="Cambria Math" panose="02040503050406030204" pitchFamily="18" charset="0"/>
                        </a:rPr>
                        <m:t>= </m:t>
                      </m:r>
                      <m:sSub>
                        <m:sSubPr>
                          <m:ctrlPr>
                            <a:rPr lang="zh-CN" altLang="zh-CN" sz="1950" b="1" i="1">
                              <a:latin typeface="Cambria Math" panose="02040503050406030204" pitchFamily="18" charset="0"/>
                            </a:rPr>
                          </m:ctrlPr>
                        </m:sSubPr>
                        <m:e>
                          <m:r>
                            <a:rPr lang="en-US" altLang="zh-CN" sz="1950" b="1" i="1">
                              <a:latin typeface="Cambria Math" panose="02040503050406030204" pitchFamily="18" charset="0"/>
                            </a:rPr>
                            <m:t>𝒖</m:t>
                          </m:r>
                        </m:e>
                        <m:sub>
                          <m:r>
                            <a:rPr lang="en-US" altLang="zh-CN" sz="1950" b="1" i="1">
                              <a:latin typeface="Cambria Math" panose="02040503050406030204" pitchFamily="18" charset="0"/>
                            </a:rPr>
                            <m:t>𝒋</m:t>
                          </m:r>
                        </m:sub>
                      </m:sSub>
                      <m:r>
                        <a:rPr lang="en-US" altLang="zh-CN" sz="1950" i="1">
                          <a:latin typeface="Cambria Math" panose="02040503050406030204" pitchFamily="18" charset="0"/>
                        </a:rPr>
                        <m:t>+</m:t>
                      </m:r>
                      <m:sSub>
                        <m:sSubPr>
                          <m:ctrlPr>
                            <a:rPr lang="zh-CN" altLang="zh-CN" sz="1950" i="1">
                              <a:latin typeface="Cambria Math" panose="02040503050406030204" pitchFamily="18" charset="0"/>
                            </a:rPr>
                          </m:ctrlPr>
                        </m:sSubPr>
                        <m:e>
                          <m:r>
                            <a:rPr lang="en-US" altLang="zh-CN" sz="1950" i="1">
                              <a:latin typeface="Cambria Math" panose="02040503050406030204" pitchFamily="18" charset="0"/>
                            </a:rPr>
                            <m:t>𝛾</m:t>
                          </m:r>
                        </m:e>
                        <m:sub>
                          <m:r>
                            <a:rPr lang="en-US" altLang="zh-CN" sz="1950">
                              <a:latin typeface="Cambria Math" panose="02040503050406030204" pitchFamily="18" charset="0"/>
                            </a:rPr>
                            <m:t>1</m:t>
                          </m:r>
                        </m:sub>
                      </m:sSub>
                      <m:r>
                        <a:rPr lang="en-US" altLang="zh-CN" sz="1950" i="1">
                          <a:latin typeface="Cambria Math" panose="02040503050406030204" pitchFamily="18" charset="0"/>
                        </a:rPr>
                        <m:t>𝐹𝑢𝑛𝑑</m:t>
                      </m:r>
                      <m:sSub>
                        <m:sSubPr>
                          <m:ctrlPr>
                            <a:rPr lang="zh-CN" altLang="zh-CN" sz="1950" i="1">
                              <a:latin typeface="Cambria Math" panose="02040503050406030204" pitchFamily="18" charset="0"/>
                            </a:rPr>
                          </m:ctrlPr>
                        </m:sSubPr>
                        <m:e>
                          <m:r>
                            <a:rPr lang="en-US" altLang="zh-CN" sz="1950" i="1">
                              <a:latin typeface="Cambria Math" panose="02040503050406030204" pitchFamily="18" charset="0"/>
                            </a:rPr>
                            <m:t>𝐴𝑔𝑒</m:t>
                          </m:r>
                        </m:e>
                        <m:sub>
                          <m:r>
                            <a:rPr lang="en-US" altLang="zh-CN" sz="1950" i="1">
                              <a:latin typeface="Cambria Math" panose="02040503050406030204" pitchFamily="18" charset="0"/>
                            </a:rPr>
                            <m:t>𝑗𝑡</m:t>
                          </m:r>
                        </m:sub>
                      </m:sSub>
                      <m:r>
                        <a:rPr lang="en-US" altLang="zh-CN" sz="1950">
                          <a:latin typeface="Cambria Math" panose="02040503050406030204" pitchFamily="18" charset="0"/>
                        </a:rPr>
                        <m:t>+</m:t>
                      </m:r>
                      <m:sSub>
                        <m:sSubPr>
                          <m:ctrlPr>
                            <a:rPr lang="zh-CN" altLang="zh-CN" sz="1950" i="1">
                              <a:latin typeface="Cambria Math" panose="02040503050406030204" pitchFamily="18" charset="0"/>
                            </a:rPr>
                          </m:ctrlPr>
                        </m:sSubPr>
                        <m:e>
                          <m:r>
                            <a:rPr lang="en-US" altLang="zh-CN" sz="1950" i="1">
                              <a:latin typeface="Cambria Math" panose="02040503050406030204" pitchFamily="18" charset="0"/>
                            </a:rPr>
                            <m:t>𝛾</m:t>
                          </m:r>
                        </m:e>
                        <m:sub>
                          <m:r>
                            <a:rPr lang="en-US" altLang="zh-CN" sz="1950">
                              <a:latin typeface="Cambria Math" panose="02040503050406030204" pitchFamily="18" charset="0"/>
                            </a:rPr>
                            <m:t>2</m:t>
                          </m:r>
                        </m:sub>
                      </m:sSub>
                      <m:sSub>
                        <m:sSubPr>
                          <m:ctrlPr>
                            <a:rPr lang="zh-CN" altLang="zh-CN" sz="1950" i="1">
                              <a:latin typeface="Cambria Math" panose="02040503050406030204" pitchFamily="18" charset="0"/>
                            </a:rPr>
                          </m:ctrlPr>
                        </m:sSubPr>
                        <m:e>
                          <m:r>
                            <a:rPr lang="en-US" altLang="zh-CN" sz="1950" i="1">
                              <a:latin typeface="Cambria Math" panose="02040503050406030204" pitchFamily="18" charset="0"/>
                            </a:rPr>
                            <m:t>𝐹𝑢𝑛𝑑𝑆𝑖𝑧𝑒</m:t>
                          </m:r>
                        </m:e>
                        <m:sub>
                          <m:r>
                            <a:rPr lang="en-US" altLang="zh-CN" sz="1950" i="1">
                              <a:latin typeface="Cambria Math" panose="02040503050406030204" pitchFamily="18" charset="0"/>
                            </a:rPr>
                            <m:t>𝑗𝑡</m:t>
                          </m:r>
                        </m:sub>
                      </m:sSub>
                      <m:r>
                        <a:rPr lang="en-US" altLang="zh-CN" sz="1950">
                          <a:latin typeface="Cambria Math" panose="02040503050406030204" pitchFamily="18" charset="0"/>
                        </a:rPr>
                        <m:t>+</m:t>
                      </m:r>
                      <m:sSub>
                        <m:sSubPr>
                          <m:ctrlPr>
                            <a:rPr lang="zh-CN" altLang="zh-CN" sz="1950" i="1">
                              <a:latin typeface="Cambria Math" panose="02040503050406030204" pitchFamily="18" charset="0"/>
                            </a:rPr>
                          </m:ctrlPr>
                        </m:sSubPr>
                        <m:e>
                          <m:r>
                            <a:rPr lang="en-US" altLang="zh-CN" sz="1950" i="1">
                              <a:latin typeface="Cambria Math" panose="02040503050406030204" pitchFamily="18" charset="0"/>
                            </a:rPr>
                            <m:t>𝛾</m:t>
                          </m:r>
                        </m:e>
                        <m:sub>
                          <m:r>
                            <a:rPr lang="en-US" altLang="zh-CN" sz="1950">
                              <a:latin typeface="Cambria Math" panose="02040503050406030204" pitchFamily="18" charset="0"/>
                            </a:rPr>
                            <m:t>3</m:t>
                          </m:r>
                        </m:sub>
                      </m:sSub>
                      <m:sSub>
                        <m:sSubPr>
                          <m:ctrlPr>
                            <a:rPr lang="zh-CN" altLang="zh-CN" sz="1950" i="1">
                              <a:latin typeface="Cambria Math" panose="02040503050406030204" pitchFamily="18" charset="0"/>
                            </a:rPr>
                          </m:ctrlPr>
                        </m:sSubPr>
                        <m:e>
                          <m:r>
                            <a:rPr lang="en-US" altLang="zh-CN" sz="1950" i="1">
                              <a:latin typeface="Cambria Math" panose="02040503050406030204" pitchFamily="18" charset="0"/>
                            </a:rPr>
                            <m:t>𝑇𝑢𝑟𝑛𝑜𝑣𝑒𝑟</m:t>
                          </m:r>
                        </m:e>
                        <m:sub>
                          <m:r>
                            <a:rPr lang="en-US" altLang="zh-CN" sz="1950" i="1">
                              <a:latin typeface="Cambria Math" panose="02040503050406030204" pitchFamily="18" charset="0"/>
                            </a:rPr>
                            <m:t>𝑗𝑡</m:t>
                          </m:r>
                          <m:r>
                            <a:rPr lang="en-US" altLang="zh-CN" sz="1950" i="1">
                              <a:latin typeface="Cambria Math" panose="02040503050406030204" pitchFamily="18" charset="0"/>
                            </a:rPr>
                            <m:t>  </m:t>
                          </m:r>
                        </m:sub>
                      </m:sSub>
                    </m:oMath>
                  </m:oMathPara>
                </a14:m>
                <a:endParaRPr lang="en-US" altLang="zh-CN" sz="1950" i="1" dirty="0"/>
              </a:p>
              <a:p>
                <a:pPr marL="0" indent="0">
                  <a:buNone/>
                </a:pPr>
                <a14:m>
                  <m:oMathPara xmlns:m="http://schemas.openxmlformats.org/officeDocument/2006/math">
                    <m:oMathParaPr>
                      <m:jc m:val="centerGroup"/>
                    </m:oMathParaPr>
                    <m:oMath xmlns:m="http://schemas.openxmlformats.org/officeDocument/2006/math">
                      <m:r>
                        <a:rPr lang="en-US" altLang="zh-CN" sz="1950">
                          <a:latin typeface="Cambria Math" panose="02040503050406030204" pitchFamily="18" charset="0"/>
                        </a:rPr>
                        <m:t>+</m:t>
                      </m:r>
                      <m:sSub>
                        <m:sSubPr>
                          <m:ctrlPr>
                            <a:rPr lang="zh-CN" altLang="zh-CN" sz="1950" i="1">
                              <a:latin typeface="Cambria Math" panose="02040503050406030204" pitchFamily="18" charset="0"/>
                            </a:rPr>
                          </m:ctrlPr>
                        </m:sSubPr>
                        <m:e>
                          <m:r>
                            <a:rPr lang="en-US" altLang="zh-CN" sz="1950" i="1">
                              <a:latin typeface="Cambria Math" panose="02040503050406030204" pitchFamily="18" charset="0"/>
                            </a:rPr>
                            <m:t>𝛾</m:t>
                          </m:r>
                        </m:e>
                        <m:sub>
                          <m:r>
                            <a:rPr lang="en-US" altLang="zh-CN" sz="1950">
                              <a:latin typeface="Cambria Math" panose="02040503050406030204" pitchFamily="18" charset="0"/>
                            </a:rPr>
                            <m:t>4</m:t>
                          </m:r>
                        </m:sub>
                      </m:sSub>
                      <m:sSub>
                        <m:sSubPr>
                          <m:ctrlPr>
                            <a:rPr lang="zh-CN" altLang="zh-CN" sz="1950" i="1">
                              <a:latin typeface="Cambria Math" panose="02040503050406030204" pitchFamily="18" charset="0"/>
                            </a:rPr>
                          </m:ctrlPr>
                        </m:sSubPr>
                        <m:e>
                          <m:r>
                            <a:rPr lang="en-US" altLang="zh-CN" sz="1950" i="1">
                              <a:latin typeface="Cambria Math" panose="02040503050406030204" pitchFamily="18" charset="0"/>
                            </a:rPr>
                            <m:t>𝜋</m:t>
                          </m:r>
                        </m:e>
                        <m:sub>
                          <m:r>
                            <a:rPr lang="en-US" altLang="zh-CN" sz="1950" i="1">
                              <a:latin typeface="Cambria Math" panose="02040503050406030204" pitchFamily="18" charset="0"/>
                            </a:rPr>
                            <m:t>𝑗</m:t>
                          </m:r>
                          <m:r>
                            <a:rPr lang="en-US" altLang="zh-CN" sz="1950" i="1">
                              <a:latin typeface="Cambria Math" panose="02040503050406030204" pitchFamily="18" charset="0"/>
                            </a:rPr>
                            <m:t>,</m:t>
                          </m:r>
                          <m:r>
                            <a:rPr lang="en-US" altLang="zh-CN" sz="1950" i="1">
                              <a:latin typeface="Cambria Math" panose="02040503050406030204" pitchFamily="18" charset="0"/>
                            </a:rPr>
                            <m:t>𝑡</m:t>
                          </m:r>
                          <m:r>
                            <a:rPr lang="en-US" altLang="zh-CN" sz="1950" i="1">
                              <a:latin typeface="Cambria Math" panose="02040503050406030204" pitchFamily="18" charset="0"/>
                            </a:rPr>
                            <m:t>−1</m:t>
                          </m:r>
                        </m:sub>
                      </m:sSub>
                      <m:d>
                        <m:dPr>
                          <m:ctrlPr>
                            <a:rPr lang="zh-CN" altLang="zh-CN" sz="1950" i="1">
                              <a:latin typeface="Cambria Math" panose="02040503050406030204" pitchFamily="18" charset="0"/>
                            </a:rPr>
                          </m:ctrlPr>
                        </m:dPr>
                        <m:e>
                          <m:sSub>
                            <m:sSubPr>
                              <m:ctrlPr>
                                <a:rPr lang="zh-CN" altLang="zh-CN" sz="1950" i="1">
                                  <a:latin typeface="Cambria Math" panose="02040503050406030204" pitchFamily="18" charset="0"/>
                                </a:rPr>
                              </m:ctrlPr>
                            </m:sSubPr>
                            <m:e>
                              <m:r>
                                <a:rPr lang="en-US" altLang="zh-CN" sz="1950" i="1">
                                  <a:latin typeface="Cambria Math" panose="02040503050406030204" pitchFamily="18" charset="0"/>
                                </a:rPr>
                                <m:t>𝑅𝑎𝑛𝑘</m:t>
                              </m:r>
                            </m:e>
                            <m:sub>
                              <m:r>
                                <a:rPr lang="en-US" altLang="zh-CN" sz="1950" i="1">
                                  <a:latin typeface="Cambria Math" panose="02040503050406030204" pitchFamily="18" charset="0"/>
                                </a:rPr>
                                <m:t>𝑗</m:t>
                              </m:r>
                              <m:r>
                                <a:rPr lang="en-US" altLang="zh-CN" sz="1950" i="1">
                                  <a:latin typeface="Cambria Math" panose="02040503050406030204" pitchFamily="18" charset="0"/>
                                </a:rPr>
                                <m:t>,</m:t>
                              </m:r>
                              <m:r>
                                <a:rPr lang="en-US" altLang="zh-CN" sz="1950" i="1">
                                  <a:latin typeface="Cambria Math" panose="02040503050406030204" pitchFamily="18" charset="0"/>
                                </a:rPr>
                                <m:t>𝑡</m:t>
                              </m:r>
                              <m:r>
                                <a:rPr lang="en-US" altLang="zh-CN" sz="1950" i="1">
                                  <a:latin typeface="Cambria Math" panose="02040503050406030204" pitchFamily="18" charset="0"/>
                                </a:rPr>
                                <m:t>−1</m:t>
                              </m:r>
                            </m:sub>
                          </m:sSub>
                        </m:e>
                      </m:d>
                      <m:r>
                        <a:rPr lang="en-US" altLang="zh-CN" sz="1950">
                          <a:latin typeface="Cambria Math" panose="02040503050406030204" pitchFamily="18" charset="0"/>
                        </a:rPr>
                        <m:t>+</m:t>
                      </m:r>
                      <m:sSub>
                        <m:sSubPr>
                          <m:ctrlPr>
                            <a:rPr lang="zh-CN" altLang="zh-CN" sz="1950" i="1">
                              <a:latin typeface="Cambria Math" panose="02040503050406030204" pitchFamily="18" charset="0"/>
                            </a:rPr>
                          </m:ctrlPr>
                        </m:sSubPr>
                        <m:e>
                          <m:r>
                            <a:rPr lang="en-US" altLang="zh-CN" sz="1950" i="1">
                              <a:latin typeface="Cambria Math" panose="02040503050406030204" pitchFamily="18" charset="0"/>
                            </a:rPr>
                            <m:t>𝛾</m:t>
                          </m:r>
                        </m:e>
                        <m:sub>
                          <m:r>
                            <a:rPr lang="en-US" altLang="zh-CN" sz="1950">
                              <a:latin typeface="Cambria Math" panose="02040503050406030204" pitchFamily="18" charset="0"/>
                            </a:rPr>
                            <m:t>5</m:t>
                          </m:r>
                        </m:sub>
                      </m:sSub>
                      <m:sSub>
                        <m:sSubPr>
                          <m:ctrlPr>
                            <a:rPr lang="zh-CN" altLang="zh-CN" sz="1950" i="1">
                              <a:latin typeface="Cambria Math" panose="02040503050406030204" pitchFamily="18" charset="0"/>
                            </a:rPr>
                          </m:ctrlPr>
                        </m:sSubPr>
                        <m:e>
                          <m:r>
                            <a:rPr lang="en-US" altLang="zh-CN" sz="1950" i="1">
                              <a:latin typeface="Cambria Math" panose="02040503050406030204" pitchFamily="18" charset="0"/>
                            </a:rPr>
                            <m:t>𝑅𝑖𝑠𝑘</m:t>
                          </m:r>
                        </m:e>
                        <m:sub>
                          <m:r>
                            <a:rPr lang="en-US" altLang="zh-CN" sz="1950" i="1">
                              <a:latin typeface="Cambria Math" panose="02040503050406030204" pitchFamily="18" charset="0"/>
                            </a:rPr>
                            <m:t>𝑗𝑡</m:t>
                          </m:r>
                        </m:sub>
                      </m:sSub>
                      <m:r>
                        <a:rPr lang="en-US" altLang="zh-CN" sz="1950">
                          <a:latin typeface="Cambria Math" panose="02040503050406030204" pitchFamily="18" charset="0"/>
                        </a:rPr>
                        <m:t>+</m:t>
                      </m:r>
                      <m:sSub>
                        <m:sSubPr>
                          <m:ctrlPr>
                            <a:rPr lang="zh-CN" altLang="zh-CN" sz="1950" i="1">
                              <a:latin typeface="Cambria Math" panose="02040503050406030204" pitchFamily="18" charset="0"/>
                            </a:rPr>
                          </m:ctrlPr>
                        </m:sSubPr>
                        <m:e>
                          <m:r>
                            <a:rPr lang="en-US" altLang="zh-CN" sz="1950" i="1">
                              <a:latin typeface="Cambria Math" panose="02040503050406030204" pitchFamily="18" charset="0"/>
                            </a:rPr>
                            <m:t>𝜀</m:t>
                          </m:r>
                        </m:e>
                        <m:sub>
                          <m:r>
                            <a:rPr lang="en-US" altLang="zh-CN" sz="1950" i="1">
                              <a:latin typeface="Cambria Math" panose="02040503050406030204" pitchFamily="18" charset="0"/>
                            </a:rPr>
                            <m:t>𝑗𝑡</m:t>
                          </m:r>
                        </m:sub>
                      </m:sSub>
                    </m:oMath>
                  </m:oMathPara>
                </a14:m>
                <a:endParaRPr lang="zh-CN" altLang="zh-CN" dirty="0"/>
              </a:p>
              <a:p>
                <a:endParaRPr lang="en-US" altLang="zh-CN" dirty="0">
                  <a:solidFill>
                    <a:schemeClr val="tx2"/>
                  </a:solidFill>
                </a:endParaRPr>
              </a:p>
              <a:p>
                <a:endParaRPr lang="en-US" altLang="zh-CN" dirty="0" smtClean="0">
                  <a:solidFill>
                    <a:schemeClr val="tx2"/>
                  </a:solidFill>
                </a:endParaRPr>
              </a:p>
              <a:p>
                <a:pPr marL="0" indent="0">
                  <a:buNone/>
                </a:pPr>
                <a:endParaRPr lang="en-US" altLang="zh-CN" dirty="0">
                  <a:solidFill>
                    <a:schemeClr val="tx2"/>
                  </a:solidFill>
                </a:endParaRPr>
              </a:p>
              <a:p>
                <a:endParaRPr lang="zh-CN" altLang="en-US" dirty="0">
                  <a:solidFill>
                    <a:schemeClr val="tx2"/>
                  </a:solidFill>
                </a:endParaRPr>
              </a:p>
            </p:txBody>
          </p:sp>
        </mc:Choice>
        <mc:Fallback>
          <p:sp>
            <p:nvSpPr>
              <p:cNvPr id="8" name="内容占位符 7">
                <a:extLst>
                  <a:ext uri="{FF2B5EF4-FFF2-40B4-BE49-F238E27FC236}">
                    <a16:creationId xmlns:a16="http://schemas.microsoft.com/office/drawing/2014/main" id="{9818C349-10CA-473E-B0EA-2492C91D32E5}"/>
                  </a:ext>
                </a:extLst>
              </p:cNvPr>
              <p:cNvSpPr>
                <a:spLocks noGrp="1" noRot="1" noChangeAspect="1" noMove="1" noResize="1" noEditPoints="1" noAdjustHandles="1" noChangeArrowheads="1" noChangeShapeType="1" noTextEdit="1"/>
              </p:cNvSpPr>
              <p:nvPr>
                <p:ph idx="1"/>
              </p:nvPr>
            </p:nvSpPr>
            <p:spPr>
              <a:xfrm>
                <a:off x="680928" y="1451066"/>
                <a:ext cx="8542556" cy="3534896"/>
              </a:xfr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FB93ED50-DDCF-43A1-8F67-076CCBA134F2}"/>
                  </a:ext>
                </a:extLst>
              </p:cNvPr>
              <p:cNvGraphicFramePr>
                <a:graphicFrameLocks noGrp="1"/>
              </p:cNvGraphicFramePr>
              <p:nvPr>
                <p:extLst/>
              </p:nvPr>
            </p:nvGraphicFramePr>
            <p:xfrm>
              <a:off x="680928" y="3017873"/>
              <a:ext cx="8088603" cy="2698560"/>
            </p:xfrm>
            <a:graphic>
              <a:graphicData uri="http://schemas.openxmlformats.org/drawingml/2006/table">
                <a:tbl>
                  <a:tblPr firstRow="1" firstCol="1" bandRow="1"/>
                  <a:tblGrid>
                    <a:gridCol w="2696740">
                      <a:extLst>
                        <a:ext uri="{9D8B030D-6E8A-4147-A177-3AD203B41FA5}">
                          <a16:colId xmlns:a16="http://schemas.microsoft.com/office/drawing/2014/main" val="856771760"/>
                        </a:ext>
                      </a:extLst>
                    </a:gridCol>
                    <a:gridCol w="2696740">
                      <a:extLst>
                        <a:ext uri="{9D8B030D-6E8A-4147-A177-3AD203B41FA5}">
                          <a16:colId xmlns:a16="http://schemas.microsoft.com/office/drawing/2014/main" val="2811626620"/>
                        </a:ext>
                      </a:extLst>
                    </a:gridCol>
                    <a:gridCol w="2695123">
                      <a:extLst>
                        <a:ext uri="{9D8B030D-6E8A-4147-A177-3AD203B41FA5}">
                          <a16:colId xmlns:a16="http://schemas.microsoft.com/office/drawing/2014/main" val="2513774647"/>
                        </a:ext>
                      </a:extLst>
                    </a:gridCol>
                  </a:tblGrid>
                  <a:tr h="321068">
                    <a:tc gridSpan="3">
                      <a:txBody>
                        <a:bodyPr/>
                        <a:lstStyle/>
                        <a:p>
                          <a:pPr indent="508000" algn="ctr">
                            <a:lnSpc>
                              <a:spcPct val="150000"/>
                            </a:lnSpc>
                            <a:spcAft>
                              <a:spcPts val="0"/>
                            </a:spcAft>
                          </a:pPr>
                          <a:r>
                            <a:rPr lang="en-US" sz="1300" kern="100" dirty="0">
                              <a:solidFill>
                                <a:srgbClr val="000000"/>
                              </a:solidFill>
                              <a:effectLst/>
                              <a:latin typeface="Times New Roman" panose="02020603050405020304" pitchFamily="18" charset="0"/>
                              <a:ea typeface="仿宋_GB2312"/>
                              <a:cs typeface="Times New Roman" panose="02020603050405020304" pitchFamily="18" charset="0"/>
                            </a:rPr>
                            <a:t>Dependent variable</a:t>
                          </a:r>
                          <a:r>
                            <a:rPr lang="zh-CN" sz="1300" kern="100" dirty="0">
                              <a:solidFill>
                                <a:srgbClr val="000000"/>
                              </a:solidFill>
                              <a:effectLst/>
                              <a:latin typeface="Times New Roman" panose="02020603050405020304" pitchFamily="18" charset="0"/>
                              <a:ea typeface="仿宋_GB2312"/>
                              <a:cs typeface="Times New Roman" panose="02020603050405020304" pitchFamily="18" charset="0"/>
                            </a:rPr>
                            <a:t>：</a:t>
                          </a:r>
                          <a:r>
                            <a:rPr lang="en-US" sz="1300" kern="100" dirty="0">
                              <a:solidFill>
                                <a:srgbClr val="000000"/>
                              </a:solidFill>
                              <a:effectLst/>
                              <a:latin typeface="Times New Roman" panose="02020603050405020304" pitchFamily="18" charset="0"/>
                              <a:ea typeface="仿宋_GB2312"/>
                              <a:cs typeface="Times New Roman" panose="02020603050405020304" pitchFamily="18" charset="0"/>
                            </a:rPr>
                            <a:t>Fund Herding index </a:t>
                          </a:r>
                          <a14:m>
                            <m:oMath xmlns:m="http://schemas.openxmlformats.org/officeDocument/2006/math">
                              <m:sSub>
                                <m:sSubPr>
                                  <m:ctrlPr>
                                    <a:rPr lang="zh-CN" sz="13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300" i="1" kern="100">
                                      <a:solidFill>
                                        <a:srgbClr val="000000"/>
                                      </a:solidFill>
                                      <a:effectLst/>
                                      <a:latin typeface="Cambria Math" panose="02040503050406030204" pitchFamily="18" charset="0"/>
                                      <a:ea typeface="仿宋_GB2312"/>
                                      <a:cs typeface="Times New Roman" panose="02020603050405020304" pitchFamily="18" charset="0"/>
                                    </a:rPr>
                                    <m:t>𝐹𝐻</m:t>
                                  </m:r>
                                </m:e>
                                <m:sub>
                                  <m:r>
                                    <a:rPr lang="en-US" sz="1300" i="1" kern="100">
                                      <a:solidFill>
                                        <a:srgbClr val="000000"/>
                                      </a:solidFill>
                                      <a:effectLst/>
                                      <a:latin typeface="Cambria Math" panose="02040503050406030204" pitchFamily="18" charset="0"/>
                                      <a:ea typeface="仿宋_GB2312"/>
                                      <a:cs typeface="Times New Roman" panose="02020603050405020304" pitchFamily="18" charset="0"/>
                                    </a:rPr>
                                    <m:t>𝑗𝑡</m:t>
                                  </m:r>
                                </m:sub>
                              </m:sSub>
                            </m:oMath>
                          </a14:m>
                          <a:endParaRPr lang="zh-CN" sz="13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408653207"/>
                      </a:ext>
                    </a:extLst>
                  </a:tr>
                  <a:tr h="594265">
                    <a:tc>
                      <a:txBody>
                        <a:bodyPr/>
                        <a:lstStyle/>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sz="1300" b="1" i="1" kern="100" smtClean="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𝑻𝒖𝒓𝒏𝒐𝒗𝒆𝒓</m:t>
                                </m:r>
                              </m:oMath>
                            </m:oMathPara>
                          </a14:m>
                          <a:endParaRPr lang="zh-CN" sz="13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0.130**</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(0.043)</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tc>
                      <a:txBody>
                        <a:bodyPr/>
                        <a:lstStyle/>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0.101**</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(0.043)</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extLst>
                      <a:ext uri="{0D108BD9-81ED-4DB2-BD59-A6C34878D82A}">
                        <a16:rowId xmlns:a16="http://schemas.microsoft.com/office/drawing/2014/main" val="1549221115"/>
                      </a:ext>
                    </a:extLst>
                  </a:tr>
                  <a:tr h="594265">
                    <a:tc>
                      <a:txBody>
                        <a:bodyPr/>
                        <a:lstStyle/>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sz="1300" b="1"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3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𝑹𝒂𝒏𝒌</m:t>
                                    </m:r>
                                  </m:e>
                                  <m:sub>
                                    <m:r>
                                      <a:rPr lang="en-US" sz="13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𝒋</m:t>
                                    </m:r>
                                    <m:r>
                                      <a:rPr lang="en-US" sz="13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sz="13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𝒕</m:t>
                                    </m:r>
                                    <m:r>
                                      <a:rPr lang="en-US" sz="1300" b="1" i="1" kern="100">
                                        <a:solidFill>
                                          <a:srgbClr val="FF0000"/>
                                        </a:solidFill>
                                        <a:effectLst/>
                                        <a:latin typeface="Cambria Math" panose="02040503050406030204" pitchFamily="18" charset="0"/>
                                        <a:ea typeface="微软雅黑" panose="020B0503020204020204" pitchFamily="34" charset="-122"/>
                                        <a:cs typeface="Times New Roman" panose="02020603050405020304" pitchFamily="18" charset="0"/>
                                      </a:rPr>
                                      <m:t>−</m:t>
                                    </m:r>
                                    <m:r>
                                      <a:rPr lang="en-US" sz="13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𝟏</m:t>
                                    </m:r>
                                  </m:sub>
                                </m:sSub>
                              </m:oMath>
                            </m:oMathPara>
                          </a14:m>
                          <a:endParaRPr lang="zh-CN" sz="13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tc>
                      <a:txBody>
                        <a:bodyPr/>
                        <a:lstStyle/>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tc>
                      <a:txBody>
                        <a:bodyPr/>
                        <a:lstStyle/>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-0.139***</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(0.042)</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extLst>
                      <a:ext uri="{0D108BD9-81ED-4DB2-BD59-A6C34878D82A}">
                        <a16:rowId xmlns:a16="http://schemas.microsoft.com/office/drawing/2014/main" val="2452598020"/>
                      </a:ext>
                    </a:extLst>
                  </a:tr>
                  <a:tr h="594265">
                    <a:tc>
                      <a:txBody>
                        <a:bodyPr/>
                        <a:lstStyle/>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sz="1300" b="1"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3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𝝅</m:t>
                                    </m:r>
                                  </m:e>
                                  <m:sub>
                                    <m:r>
                                      <a:rPr lang="en-US" sz="13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𝒋</m:t>
                                    </m:r>
                                    <m:r>
                                      <a:rPr lang="en-US" sz="13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sz="13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𝒕</m:t>
                                    </m:r>
                                    <m:r>
                                      <a:rPr lang="en-US" sz="13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sz="13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𝟏</m:t>
                                    </m:r>
                                  </m:sub>
                                </m:sSub>
                              </m:oMath>
                            </m:oMathPara>
                          </a14:m>
                          <a:endParaRPr lang="zh-CN" sz="13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tc>
                      <a:txBody>
                        <a:bodyPr/>
                        <a:lstStyle/>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0.123**</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(0.044)</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tc>
                      <a:txBody>
                        <a:bodyPr/>
                        <a:lstStyle/>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extLst>
                      <a:ext uri="{0D108BD9-81ED-4DB2-BD59-A6C34878D82A}">
                        <a16:rowId xmlns:a16="http://schemas.microsoft.com/office/drawing/2014/main" val="3416377240"/>
                      </a:ext>
                    </a:extLst>
                  </a:tr>
                  <a:tr h="297132">
                    <a:tc>
                      <a:txBody>
                        <a:bodyPr/>
                        <a:lstStyle/>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sz="13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𝐴𝑑𝑗</m:t>
                                </m:r>
                                <m:r>
                                  <a:rPr lang="en-US" sz="13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 </m:t>
                                </m:r>
                                <m:sSup>
                                  <m:sSupPr>
                                    <m:ctrlPr>
                                      <a:rPr lang="zh-CN" sz="13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13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𝑅</m:t>
                                    </m:r>
                                  </m:e>
                                  <m:sup>
                                    <m:r>
                                      <a:rPr lang="en-US" sz="13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p>
                                </m:sSup>
                              </m:oMath>
                            </m:oMathPara>
                          </a14:m>
                          <a:endParaRPr lang="zh-CN" sz="13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tc>
                      <a:txBody>
                        <a:bodyPr/>
                        <a:lstStyle/>
                        <a:p>
                          <a:pPr marL="228600" indent="254000" algn="ctr">
                            <a:lnSpc>
                              <a:spcPct val="150000"/>
                            </a:lnSpc>
                            <a:spcAft>
                              <a:spcPts val="0"/>
                            </a:spcAft>
                          </a:pPr>
                          <a:r>
                            <a:rPr lang="en-US" sz="1300" kern="100" dirty="0">
                              <a:solidFill>
                                <a:srgbClr val="000000"/>
                              </a:solidFill>
                              <a:effectLst/>
                              <a:latin typeface="Times New Roman" panose="02020603050405020304" pitchFamily="18" charset="0"/>
                              <a:ea typeface="仿宋_GB2312"/>
                              <a:cs typeface="Times New Roman" panose="02020603050405020304" pitchFamily="18" charset="0"/>
                            </a:rPr>
                            <a:t>0.069</a:t>
                          </a:r>
                          <a:endParaRPr lang="zh-CN" sz="13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tc>
                      <a:txBody>
                        <a:bodyPr/>
                        <a:lstStyle/>
                        <a:p>
                          <a:pPr marL="228600" indent="254000" algn="ctr">
                            <a:lnSpc>
                              <a:spcPct val="150000"/>
                            </a:lnSpc>
                            <a:spcAft>
                              <a:spcPts val="0"/>
                            </a:spcAft>
                          </a:pPr>
                          <a:r>
                            <a:rPr lang="en-US" sz="1300" kern="100" dirty="0">
                              <a:solidFill>
                                <a:srgbClr val="000000"/>
                              </a:solidFill>
                              <a:effectLst/>
                              <a:latin typeface="Times New Roman" panose="02020603050405020304" pitchFamily="18" charset="0"/>
                              <a:ea typeface="仿宋_GB2312"/>
                              <a:cs typeface="Times New Roman" panose="02020603050405020304" pitchFamily="18" charset="0"/>
                            </a:rPr>
                            <a:t>0.071</a:t>
                          </a:r>
                          <a:endParaRPr lang="zh-CN" sz="13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extLst>
                      <a:ext uri="{0D108BD9-81ED-4DB2-BD59-A6C34878D82A}">
                        <a16:rowId xmlns:a16="http://schemas.microsoft.com/office/drawing/2014/main" val="56201225"/>
                      </a:ext>
                    </a:extLst>
                  </a:tr>
                  <a:tr h="297132">
                    <a:tc>
                      <a:txBody>
                        <a:bodyPr/>
                        <a:lstStyle/>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sz="13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𝐹</m:t>
                                </m:r>
                                <m:r>
                                  <a:rPr lang="en-US" sz="13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sz="13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𝑡𝑒𝑠𝑡</m:t>
                                </m:r>
                              </m:oMath>
                            </m:oMathPara>
                          </a14:m>
                          <a:endParaRPr lang="zh-CN" sz="13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228600" indent="254000" algn="ctr">
                            <a:lnSpc>
                              <a:spcPct val="150000"/>
                            </a:lnSpc>
                            <a:spcAft>
                              <a:spcPts val="0"/>
                            </a:spcAft>
                          </a:pPr>
                          <a:r>
                            <a:rPr lang="en-US" sz="1300" kern="100" dirty="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3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228600" indent="254000" algn="ctr">
                            <a:lnSpc>
                              <a:spcPct val="150000"/>
                            </a:lnSpc>
                            <a:spcAft>
                              <a:spcPts val="0"/>
                            </a:spcAft>
                          </a:pPr>
                          <a:r>
                            <a:rPr lang="en-US" sz="1300" kern="100" dirty="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3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9965956"/>
                      </a:ext>
                    </a:extLst>
                  </a:tr>
                </a:tbl>
              </a:graphicData>
            </a:graphic>
          </p:graphicFrame>
        </mc:Choice>
        <mc:Fallback xmlns="">
          <p:graphicFrame>
            <p:nvGraphicFramePr>
              <p:cNvPr id="4" name="表格 3">
                <a:extLst>
                  <a:ext uri="{FF2B5EF4-FFF2-40B4-BE49-F238E27FC236}">
                    <a16:creationId xmlns:a16="http://schemas.microsoft.com/office/drawing/2014/main" id="{FB93ED50-DDCF-43A1-8F67-076CCBA134F2}"/>
                  </a:ext>
                </a:extLst>
              </p:cNvPr>
              <p:cNvGraphicFramePr>
                <a:graphicFrameLocks noGrp="1"/>
              </p:cNvGraphicFramePr>
              <p:nvPr>
                <p:extLst/>
              </p:nvPr>
            </p:nvGraphicFramePr>
            <p:xfrm>
              <a:off x="680928" y="3017873"/>
              <a:ext cx="8088603" cy="2698560"/>
            </p:xfrm>
            <a:graphic>
              <a:graphicData uri="http://schemas.openxmlformats.org/drawingml/2006/table">
                <a:tbl>
                  <a:tblPr firstRow="1" firstCol="1" bandRow="1"/>
                  <a:tblGrid>
                    <a:gridCol w="2696740">
                      <a:extLst>
                        <a:ext uri="{9D8B030D-6E8A-4147-A177-3AD203B41FA5}">
                          <a16:colId xmlns:a16="http://schemas.microsoft.com/office/drawing/2014/main" val="856771760"/>
                        </a:ext>
                      </a:extLst>
                    </a:gridCol>
                    <a:gridCol w="2696740">
                      <a:extLst>
                        <a:ext uri="{9D8B030D-6E8A-4147-A177-3AD203B41FA5}">
                          <a16:colId xmlns:a16="http://schemas.microsoft.com/office/drawing/2014/main" val="2811626620"/>
                        </a:ext>
                      </a:extLst>
                    </a:gridCol>
                    <a:gridCol w="2695123">
                      <a:extLst>
                        <a:ext uri="{9D8B030D-6E8A-4147-A177-3AD203B41FA5}">
                          <a16:colId xmlns:a16="http://schemas.microsoft.com/office/drawing/2014/main" val="2513774647"/>
                        </a:ext>
                      </a:extLst>
                    </a:gridCol>
                  </a:tblGrid>
                  <a:tr h="321120">
                    <a:tc gridSpan="3">
                      <a:txBody>
                        <a:bodyPr/>
                        <a:lstStyle/>
                        <a:p>
                          <a:endParaRPr lang="zh-CN"/>
                        </a:p>
                      </a:txBody>
                      <a:tcPr marL="55712" marR="55712"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t="-1887" r="-75" b="-754717"/>
                          </a:stretch>
                        </a:blip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408653207"/>
                      </a:ext>
                    </a:extLst>
                  </a:tr>
                  <a:tr h="594360">
                    <a:tc>
                      <a:txBody>
                        <a:bodyPr/>
                        <a:lstStyle/>
                        <a:p>
                          <a:endParaRPr lang="zh-CN"/>
                        </a:p>
                      </a:txBody>
                      <a:tcPr marL="55712" marR="55712" marT="0" marB="0">
                        <a:lnL>
                          <a:noFill/>
                        </a:lnL>
                        <a:lnR>
                          <a:noFill/>
                        </a:lnR>
                        <a:lnT w="12700" cap="flat" cmpd="sng" algn="ctr">
                          <a:solidFill>
                            <a:srgbClr val="000000"/>
                          </a:solidFill>
                          <a:prstDash val="solid"/>
                          <a:round/>
                          <a:headEnd type="none" w="med" len="med"/>
                          <a:tailEnd type="none" w="med" len="med"/>
                        </a:lnT>
                        <a:lnB>
                          <a:noFill/>
                        </a:lnB>
                        <a:blipFill>
                          <a:blip r:embed="rId3"/>
                          <a:stretch>
                            <a:fillRect t="-55670" r="-200000" b="-312371"/>
                          </a:stretch>
                        </a:blipFill>
                      </a:tcPr>
                    </a:tc>
                    <a:tc>
                      <a:txBody>
                        <a:bodyPr/>
                        <a:lstStyle/>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0.130**</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(0.043)</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tc>
                      <a:txBody>
                        <a:bodyPr/>
                        <a:lstStyle/>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0.101**</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(0.043)</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extLst>
                      <a:ext uri="{0D108BD9-81ED-4DB2-BD59-A6C34878D82A}">
                        <a16:rowId xmlns:a16="http://schemas.microsoft.com/office/drawing/2014/main" val="1549221115"/>
                      </a:ext>
                    </a:extLst>
                  </a:tr>
                  <a:tr h="594360">
                    <a:tc>
                      <a:txBody>
                        <a:bodyPr/>
                        <a:lstStyle/>
                        <a:p>
                          <a:endParaRPr lang="zh-CN"/>
                        </a:p>
                      </a:txBody>
                      <a:tcPr marL="55712" marR="55712" marT="0" marB="0">
                        <a:lnL>
                          <a:noFill/>
                        </a:lnL>
                        <a:lnR>
                          <a:noFill/>
                        </a:lnR>
                        <a:lnT>
                          <a:noFill/>
                        </a:lnT>
                        <a:lnB>
                          <a:noFill/>
                        </a:lnB>
                        <a:blipFill>
                          <a:blip r:embed="rId3"/>
                          <a:stretch>
                            <a:fillRect t="-154082" r="-200000" b="-209184"/>
                          </a:stretch>
                        </a:blipFill>
                      </a:tcPr>
                    </a:tc>
                    <a:tc>
                      <a:txBody>
                        <a:bodyPr/>
                        <a:lstStyle/>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tc>
                      <a:txBody>
                        <a:bodyPr/>
                        <a:lstStyle/>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-0.139***</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(0.042)</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extLst>
                      <a:ext uri="{0D108BD9-81ED-4DB2-BD59-A6C34878D82A}">
                        <a16:rowId xmlns:a16="http://schemas.microsoft.com/office/drawing/2014/main" val="2452598020"/>
                      </a:ext>
                    </a:extLst>
                  </a:tr>
                  <a:tr h="594360">
                    <a:tc>
                      <a:txBody>
                        <a:bodyPr/>
                        <a:lstStyle/>
                        <a:p>
                          <a:endParaRPr lang="zh-CN"/>
                        </a:p>
                      </a:txBody>
                      <a:tcPr marL="55712" marR="55712" marT="0" marB="0">
                        <a:lnL>
                          <a:noFill/>
                        </a:lnL>
                        <a:lnR>
                          <a:noFill/>
                        </a:lnR>
                        <a:lnT>
                          <a:noFill/>
                        </a:lnT>
                        <a:lnB>
                          <a:noFill/>
                        </a:lnB>
                        <a:blipFill>
                          <a:blip r:embed="rId3"/>
                          <a:stretch>
                            <a:fillRect t="-256701" r="-200000" b="-111340"/>
                          </a:stretch>
                        </a:blipFill>
                      </a:tcPr>
                    </a:tc>
                    <a:tc>
                      <a:txBody>
                        <a:bodyPr/>
                        <a:lstStyle/>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0.123**</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(0.044)</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tc>
                      <a:txBody>
                        <a:bodyPr/>
                        <a:lstStyle/>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3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3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extLst>
                      <a:ext uri="{0D108BD9-81ED-4DB2-BD59-A6C34878D82A}">
                        <a16:rowId xmlns:a16="http://schemas.microsoft.com/office/drawing/2014/main" val="3416377240"/>
                      </a:ext>
                    </a:extLst>
                  </a:tr>
                  <a:tr h="297180">
                    <a:tc>
                      <a:txBody>
                        <a:bodyPr/>
                        <a:lstStyle/>
                        <a:p>
                          <a:endParaRPr lang="zh-CN"/>
                        </a:p>
                      </a:txBody>
                      <a:tcPr marL="55712" marR="55712" marT="0" marB="0">
                        <a:lnL>
                          <a:noFill/>
                        </a:lnL>
                        <a:lnR>
                          <a:noFill/>
                        </a:lnR>
                        <a:lnT>
                          <a:noFill/>
                        </a:lnT>
                        <a:lnB>
                          <a:noFill/>
                        </a:lnB>
                        <a:blipFill>
                          <a:blip r:embed="rId3"/>
                          <a:stretch>
                            <a:fillRect t="-706122" r="-200000" b="-120408"/>
                          </a:stretch>
                        </a:blipFill>
                      </a:tcPr>
                    </a:tc>
                    <a:tc>
                      <a:txBody>
                        <a:bodyPr/>
                        <a:lstStyle/>
                        <a:p>
                          <a:pPr marL="228600" indent="254000" algn="ctr">
                            <a:lnSpc>
                              <a:spcPct val="150000"/>
                            </a:lnSpc>
                            <a:spcAft>
                              <a:spcPts val="0"/>
                            </a:spcAft>
                          </a:pPr>
                          <a:r>
                            <a:rPr lang="en-US" sz="1300" kern="100">
                              <a:solidFill>
                                <a:srgbClr val="000000"/>
                              </a:solidFill>
                              <a:effectLst/>
                              <a:latin typeface="Times New Roman" panose="02020603050405020304" pitchFamily="18" charset="0"/>
                              <a:ea typeface="仿宋_GB2312"/>
                              <a:cs typeface="Times New Roman" panose="02020603050405020304" pitchFamily="18" charset="0"/>
                            </a:rPr>
                            <a:t>0.069</a:t>
                          </a:r>
                          <a:endParaRPr lang="zh-CN" sz="13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tc>
                      <a:txBody>
                        <a:bodyPr/>
                        <a:lstStyle/>
                        <a:p>
                          <a:pPr marL="228600" indent="254000" algn="ctr">
                            <a:lnSpc>
                              <a:spcPct val="150000"/>
                            </a:lnSpc>
                            <a:spcAft>
                              <a:spcPts val="0"/>
                            </a:spcAft>
                          </a:pPr>
                          <a:r>
                            <a:rPr lang="en-US" sz="1300" kern="100" dirty="0">
                              <a:solidFill>
                                <a:srgbClr val="000000"/>
                              </a:solidFill>
                              <a:effectLst/>
                              <a:latin typeface="Times New Roman" panose="02020603050405020304" pitchFamily="18" charset="0"/>
                              <a:ea typeface="仿宋_GB2312"/>
                              <a:cs typeface="Times New Roman" panose="02020603050405020304" pitchFamily="18" charset="0"/>
                            </a:rPr>
                            <a:t>0.071</a:t>
                          </a:r>
                          <a:endParaRPr lang="zh-CN" sz="13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a:noFill/>
                        </a:lnB>
                      </a:tcPr>
                    </a:tc>
                    <a:extLst>
                      <a:ext uri="{0D108BD9-81ED-4DB2-BD59-A6C34878D82A}">
                        <a16:rowId xmlns:a16="http://schemas.microsoft.com/office/drawing/2014/main" val="56201225"/>
                      </a:ext>
                    </a:extLst>
                  </a:tr>
                  <a:tr h="297180">
                    <a:tc>
                      <a:txBody>
                        <a:bodyPr/>
                        <a:lstStyle/>
                        <a:p>
                          <a:endParaRPr lang="zh-CN"/>
                        </a:p>
                      </a:txBody>
                      <a:tcPr marL="55712" marR="55712" marT="0" marB="0">
                        <a:lnL>
                          <a:noFill/>
                        </a:lnL>
                        <a:lnR>
                          <a:noFill/>
                        </a:lnR>
                        <a:lnT>
                          <a:noFill/>
                        </a:lnT>
                        <a:lnB w="12700" cap="flat" cmpd="sng" algn="ctr">
                          <a:solidFill>
                            <a:srgbClr val="000000"/>
                          </a:solidFill>
                          <a:prstDash val="solid"/>
                          <a:round/>
                          <a:headEnd type="none" w="med" len="med"/>
                          <a:tailEnd type="none" w="med" len="med"/>
                        </a:lnB>
                        <a:blipFill>
                          <a:blip r:embed="rId3"/>
                          <a:stretch>
                            <a:fillRect t="-806122" r="-200000" b="-20408"/>
                          </a:stretch>
                        </a:blipFill>
                      </a:tcPr>
                    </a:tc>
                    <a:tc>
                      <a:txBody>
                        <a:bodyPr/>
                        <a:lstStyle/>
                        <a:p>
                          <a:pPr marL="228600" indent="254000" algn="ctr">
                            <a:lnSpc>
                              <a:spcPct val="150000"/>
                            </a:lnSpc>
                            <a:spcAft>
                              <a:spcPts val="0"/>
                            </a:spcAft>
                          </a:pPr>
                          <a:r>
                            <a:rPr lang="en-US" sz="1300" kern="10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300" kern="10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228600" indent="254000" algn="ctr">
                            <a:lnSpc>
                              <a:spcPct val="150000"/>
                            </a:lnSpc>
                            <a:spcAft>
                              <a:spcPts val="0"/>
                            </a:spcAft>
                          </a:pPr>
                          <a:r>
                            <a:rPr lang="en-US" sz="1300" kern="100" dirty="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3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712" marR="55712"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9965956"/>
                      </a:ext>
                    </a:extLst>
                  </a:tr>
                </a:tbl>
              </a:graphicData>
            </a:graphic>
          </p:graphicFrame>
        </mc:Fallback>
      </mc:AlternateContent>
      <p:sp>
        <p:nvSpPr>
          <p:cNvPr id="3" name="文本框 2"/>
          <p:cNvSpPr txBox="1"/>
          <p:nvPr/>
        </p:nvSpPr>
        <p:spPr>
          <a:xfrm>
            <a:off x="680928" y="5878066"/>
            <a:ext cx="8542556" cy="735586"/>
          </a:xfrm>
          <a:prstGeom prst="rect">
            <a:avLst/>
          </a:prstGeom>
          <a:noFill/>
          <a:ln w="6350" cap="flat">
            <a:noFill/>
            <a:miter lim="800000"/>
          </a:ln>
        </p:spPr>
        <p:txBody>
          <a:bodyPr wrap="square" lIns="0" tIns="0" rIns="0" bIns="0" rtlCol="0" anchor="t" anchorCtr="0">
            <a:spAutoFit/>
          </a:bodyPr>
          <a:lstStyle/>
          <a:p>
            <a:pPr>
              <a:lnSpc>
                <a:spcPct val="90000"/>
              </a:lnSpc>
              <a:spcBef>
                <a:spcPts val="600"/>
              </a:spcBef>
              <a:buClr>
                <a:schemeClr val="bg2"/>
              </a:buClr>
            </a:pPr>
            <a:r>
              <a:rPr lang="en-US" altLang="zh-CN" sz="1400" dirty="0" smtClean="0">
                <a:latin typeface="Times New Roman" panose="02020603050405020304" pitchFamily="18" charset="0"/>
                <a:cs typeface="Times New Roman" panose="02020603050405020304" pitchFamily="18" charset="0"/>
              </a:rPr>
              <a:t>	(</a:t>
            </a:r>
            <a:r>
              <a:rPr lang="en-US" altLang="zh-CN" sz="1400" dirty="0">
                <a:latin typeface="Times New Roman" panose="02020603050405020304" pitchFamily="18" charset="0"/>
                <a:cs typeface="Times New Roman" panose="02020603050405020304" pitchFamily="18" charset="0"/>
              </a:rPr>
              <a:t>Fixed Effect Model on panel data via Housman Test</a:t>
            </a:r>
            <a:r>
              <a:rPr lang="en-US" altLang="zh-CN" sz="1400" dirty="0" smtClean="0">
                <a:latin typeface="Times New Roman" panose="02020603050405020304" pitchFamily="18" charset="0"/>
                <a:cs typeface="Times New Roman" panose="02020603050405020304" pitchFamily="18" charset="0"/>
              </a:rPr>
              <a:t>)</a:t>
            </a:r>
          </a:p>
          <a:p>
            <a:pPr>
              <a:lnSpc>
                <a:spcPct val="90000"/>
              </a:lnSpc>
              <a:spcBef>
                <a:spcPts val="600"/>
              </a:spcBef>
              <a:buClr>
                <a:schemeClr val="bg2"/>
              </a:buClr>
            </a:pPr>
            <a:r>
              <a:rPr lang="en-US" altLang="zh-CN" sz="1400" dirty="0" smtClean="0">
                <a:latin typeface="Times New Roman" panose="02020603050405020304" pitchFamily="18" charset="0"/>
                <a:cs typeface="Times New Roman" panose="02020603050405020304" pitchFamily="18" charset="0"/>
              </a:rPr>
              <a:t>	Pass </a:t>
            </a:r>
            <a:r>
              <a:rPr lang="en-US" altLang="zh-CN" sz="1400" dirty="0">
                <a:latin typeface="Times New Roman" panose="02020603050405020304" pitchFamily="18" charset="0"/>
                <a:cs typeface="Times New Roman" panose="02020603050405020304" pitchFamily="18" charset="0"/>
              </a:rPr>
              <a:t>the test of </a:t>
            </a:r>
            <a:r>
              <a:rPr lang="en-US" altLang="zh-CN" sz="1400" b="1" dirty="0" err="1" smtClean="0">
                <a:latin typeface="Times New Roman" panose="02020603050405020304" pitchFamily="18" charset="0"/>
                <a:cs typeface="Times New Roman" panose="02020603050405020304" pitchFamily="18" charset="0"/>
              </a:rPr>
              <a:t>multicollinearity</a:t>
            </a:r>
            <a:r>
              <a:rPr lang="zh-CN" altLang="en-US" sz="1400" b="1" dirty="0" smtClean="0">
                <a:latin typeface="Times New Roman" panose="02020603050405020304" pitchFamily="18" charset="0"/>
                <a:cs typeface="Times New Roman" panose="02020603050405020304" pitchFamily="18" charset="0"/>
              </a:rPr>
              <a:t> </a:t>
            </a:r>
            <a:r>
              <a:rPr lang="en-US" altLang="zh-CN" sz="1400" b="1" dirty="0">
                <a:latin typeface="Times New Roman" panose="02020603050405020304" pitchFamily="18" charset="0"/>
                <a:cs typeface="Times New Roman" panose="02020603050405020304" pitchFamily="18" charset="0"/>
              </a:rPr>
              <a:t>and </a:t>
            </a:r>
            <a:r>
              <a:rPr lang="en-US" altLang="zh-CN" sz="1400" b="1" dirty="0" err="1" smtClean="0">
                <a:latin typeface="Times New Roman" panose="02020603050405020304" pitchFamily="18" charset="0"/>
                <a:cs typeface="Times New Roman" panose="02020603050405020304" pitchFamily="18" charset="0"/>
              </a:rPr>
              <a:t>endogeneity</a:t>
            </a:r>
            <a:r>
              <a:rPr lang="en-US" altLang="zh-CN" sz="1400" dirty="0" smtClean="0">
                <a:latin typeface="Times New Roman" panose="02020603050405020304" pitchFamily="18" charset="0"/>
                <a:cs typeface="Times New Roman" panose="02020603050405020304" pitchFamily="18" charset="0"/>
              </a:rPr>
              <a:t>.</a:t>
            </a:r>
            <a:endParaRPr lang="en-US" altLang="zh-CN" sz="1400" dirty="0">
              <a:latin typeface="Times New Roman" panose="02020603050405020304" pitchFamily="18" charset="0"/>
              <a:cs typeface="Times New Roman" panose="02020603050405020304" pitchFamily="18" charset="0"/>
            </a:endParaRPr>
          </a:p>
          <a:p>
            <a:pPr>
              <a:lnSpc>
                <a:spcPct val="90000"/>
              </a:lnSpc>
              <a:spcBef>
                <a:spcPts val="600"/>
              </a:spcBef>
              <a:buClr>
                <a:schemeClr val="bg2"/>
              </a:buClr>
            </a:pPr>
            <a:endParaRPr lang="zh-CN" altLang="en-US" sz="1400" dirty="0" smtClean="0">
              <a:latin typeface="Arial" pitchFamily="34" charset="0"/>
              <a:cs typeface="Arial" pitchFamily="34" charset="0"/>
            </a:endParaRPr>
          </a:p>
        </p:txBody>
      </p:sp>
    </p:spTree>
    <p:extLst>
      <p:ext uri="{BB962C8B-B14F-4D97-AF65-F5344CB8AC3E}">
        <p14:creationId xmlns:p14="http://schemas.microsoft.com/office/powerpoint/2010/main" val="288156973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C4DB6611-16B4-41F5-9E0B-0EE9E1879787}"/>
              </a:ext>
            </a:extLst>
          </p:cNvPr>
          <p:cNvSpPr>
            <a:spLocks noGrp="1"/>
          </p:cNvSpPr>
          <p:nvPr>
            <p:ph type="title"/>
          </p:nvPr>
        </p:nvSpPr>
        <p:spPr>
          <a:xfrm>
            <a:off x="680928" y="945518"/>
            <a:ext cx="8542556" cy="911597"/>
          </a:xfrm>
        </p:spPr>
        <p:txBody>
          <a:bodyPr/>
          <a:lstStyle/>
          <a:p>
            <a:pPr algn="ctr">
              <a:lnSpc>
                <a:spcPct val="100000"/>
              </a:lnSpc>
              <a:spcBef>
                <a:spcPts val="1467"/>
              </a:spcBef>
              <a:buClr>
                <a:srgbClr val="2C04F4"/>
              </a:buClr>
              <a:buSzPct val="100000"/>
            </a:pPr>
            <a:r>
              <a:rPr lang="en-US" altLang="zh-CN" sz="2600" b="1" dirty="0">
                <a:solidFill>
                  <a:schemeClr val="bg2"/>
                </a:solidFill>
                <a:latin typeface="Times New Roman" panose="02020603050405020304" pitchFamily="18" charset="0"/>
                <a:ea typeface="+mn-ea"/>
                <a:cs typeface="Times New Roman" panose="02020603050405020304" pitchFamily="18" charset="0"/>
              </a:rPr>
              <a:t>Result</a:t>
            </a:r>
            <a:endParaRPr lang="zh-CN" altLang="en-US" sz="2600" b="1" dirty="0">
              <a:solidFill>
                <a:schemeClr val="bg2"/>
              </a:solidFill>
              <a:latin typeface="Times New Roman" panose="02020603050405020304" pitchFamily="18" charset="0"/>
              <a:ea typeface="+mn-ea"/>
              <a:cs typeface="Times New Roman" panose="02020603050405020304" pitchFamily="18" charset="0"/>
            </a:endParaRPr>
          </a:p>
        </p:txBody>
      </p:sp>
      <p:sp>
        <p:nvSpPr>
          <p:cNvPr id="8" name="内容占位符 7">
            <a:extLst>
              <a:ext uri="{FF2B5EF4-FFF2-40B4-BE49-F238E27FC236}">
                <a16:creationId xmlns:a16="http://schemas.microsoft.com/office/drawing/2014/main" id="{9818C349-10CA-473E-B0EA-2492C91D32E5}"/>
              </a:ext>
            </a:extLst>
          </p:cNvPr>
          <p:cNvSpPr>
            <a:spLocks noGrp="1"/>
          </p:cNvSpPr>
          <p:nvPr>
            <p:ph idx="1"/>
          </p:nvPr>
        </p:nvSpPr>
        <p:spPr>
          <a:xfrm>
            <a:off x="680928" y="1555774"/>
            <a:ext cx="8542556" cy="3916804"/>
          </a:xfrm>
        </p:spPr>
        <p:txBody>
          <a:bodyPr>
            <a:normAutofit/>
          </a:bodyPr>
          <a:lstStyle/>
          <a:p>
            <a:pPr marL="0" indent="0">
              <a:lnSpc>
                <a:spcPct val="100000"/>
              </a:lnSpc>
              <a:buClr>
                <a:srgbClr val="2C04F4"/>
              </a:buClr>
              <a:buNone/>
            </a:pPr>
            <a:r>
              <a:rPr lang="en-US" altLang="zh-CN" dirty="0">
                <a:latin typeface="Times New Roman" panose="02020603050405020304" pitchFamily="18" charset="0"/>
                <a:cs typeface="Times New Roman" panose="02020603050405020304" pitchFamily="18" charset="0"/>
              </a:rPr>
              <a:t>The turnover rate and the previous performance have significant influence to our index, while other “seemingly related” variables (such as fund age, risk, scale) are not showing significance</a:t>
            </a:r>
            <a:r>
              <a:rPr lang="en-US" altLang="zh-CN" dirty="0" smtClean="0">
                <a:latin typeface="Times New Roman" panose="02020603050405020304" pitchFamily="18" charset="0"/>
                <a:cs typeface="Times New Roman" panose="02020603050405020304" pitchFamily="18" charset="0"/>
              </a:rPr>
              <a:t>.</a:t>
            </a:r>
          </a:p>
          <a:p>
            <a:pPr marL="0" indent="0">
              <a:lnSpc>
                <a:spcPct val="100000"/>
              </a:lnSpc>
              <a:buClr>
                <a:srgbClr val="2C04F4"/>
              </a:buClr>
              <a:buNone/>
            </a:pPr>
            <a:r>
              <a:rPr lang="en-US" altLang="zh-CN" dirty="0">
                <a:latin typeface="Times New Roman" panose="02020603050405020304" pitchFamily="18" charset="0"/>
                <a:cs typeface="Times New Roman" panose="02020603050405020304" pitchFamily="18" charset="0"/>
              </a:rPr>
              <a:t>F test is not very significant and the adjusted R</a:t>
            </a:r>
            <a:r>
              <a:rPr lang="en-US" altLang="zh-CN" baseline="30000" dirty="0">
                <a:latin typeface="Times New Roman" panose="02020603050405020304" pitchFamily="18" charset="0"/>
                <a:cs typeface="Times New Roman" panose="02020603050405020304" pitchFamily="18" charset="0"/>
              </a:rPr>
              <a:t>2</a:t>
            </a:r>
            <a:r>
              <a:rPr lang="en-US" altLang="zh-CN" dirty="0">
                <a:latin typeface="Times New Roman" panose="02020603050405020304" pitchFamily="18" charset="0"/>
                <a:cs typeface="Times New Roman" panose="02020603050405020304" pitchFamily="18" charset="0"/>
              </a:rPr>
              <a:t> is only 0.045, which means the explanatory ability of our model is weak. </a:t>
            </a:r>
          </a:p>
          <a:p>
            <a:pPr marL="368564" lvl="2" indent="0">
              <a:lnSpc>
                <a:spcPct val="100000"/>
              </a:lnSpc>
              <a:spcBef>
                <a:spcPts val="812"/>
              </a:spcBef>
              <a:buClr>
                <a:srgbClr val="2C04F4"/>
              </a:buClr>
              <a:buNone/>
            </a:pPr>
            <a:r>
              <a:rPr lang="en-US" altLang="zh-CN" sz="1950" dirty="0">
                <a:latin typeface="Times New Roman" panose="02020603050405020304" pitchFamily="18" charset="0"/>
                <a:cs typeface="Times New Roman" panose="02020603050405020304" pitchFamily="18" charset="0"/>
              </a:rPr>
              <a:t>This indicates that more in-depth reasons for adopting the herding effect in fund decision-making are not disclosed in the public information.</a:t>
            </a:r>
          </a:p>
          <a:p>
            <a:pPr marL="557144" lvl="2">
              <a:lnSpc>
                <a:spcPct val="100000"/>
              </a:lnSpc>
              <a:spcBef>
                <a:spcPts val="812"/>
              </a:spcBef>
              <a:buClr>
                <a:srgbClr val="2C04F4"/>
              </a:buClr>
            </a:pPr>
            <a:endParaRPr lang="zh-CN" altLang="en-US" sz="1950" dirty="0">
              <a:latin typeface="Times New Roman" panose="02020603050405020304" pitchFamily="18" charset="0"/>
              <a:cs typeface="Times New Roman" panose="02020603050405020304" pitchFamily="18" charset="0"/>
            </a:endParaRPr>
          </a:p>
          <a:p>
            <a:pPr marL="0" indent="0">
              <a:lnSpc>
                <a:spcPct val="100000"/>
              </a:lnSpc>
              <a:buClr>
                <a:srgbClr val="2C04F4"/>
              </a:buClr>
              <a:buNone/>
            </a:pPr>
            <a:r>
              <a:rPr lang="en-US" altLang="zh-CN" dirty="0" smtClean="0">
                <a:solidFill>
                  <a:srgbClr val="2C04F4"/>
                </a:solidFill>
                <a:latin typeface="Times New Roman" panose="02020603050405020304" pitchFamily="18" charset="0"/>
                <a:cs typeface="Times New Roman" panose="02020603050405020304" pitchFamily="18" charset="0"/>
              </a:rPr>
              <a:t>	</a:t>
            </a:r>
            <a:r>
              <a:rPr lang="en-US" altLang="zh-CN" dirty="0">
                <a:solidFill>
                  <a:srgbClr val="2C04F4"/>
                </a:solidFill>
                <a:latin typeface="Times New Roman" panose="02020603050405020304" pitchFamily="18" charset="0"/>
                <a:cs typeface="Times New Roman" panose="02020603050405020304" pitchFamily="18" charset="0"/>
              </a:rPr>
              <a:t>	</a:t>
            </a:r>
            <a:r>
              <a:rPr lang="en-US" altLang="zh-CN" dirty="0" smtClean="0">
                <a:solidFill>
                  <a:srgbClr val="2C04F4"/>
                </a:solidFill>
                <a:latin typeface="Times New Roman" panose="02020603050405020304" pitchFamily="18" charset="0"/>
                <a:cs typeface="Times New Roman" panose="02020603050405020304" pitchFamily="18" charset="0"/>
              </a:rPr>
              <a:t>	</a:t>
            </a:r>
            <a:r>
              <a:rPr lang="en-US" altLang="zh-CN" sz="2600" b="1" dirty="0" smtClean="0">
                <a:solidFill>
                  <a:srgbClr val="2C04F4"/>
                </a:solidFill>
                <a:latin typeface="Times New Roman" panose="02020603050405020304" pitchFamily="18" charset="0"/>
                <a:cs typeface="Times New Roman" panose="02020603050405020304" pitchFamily="18" charset="0"/>
              </a:rPr>
              <a:t>     </a:t>
            </a:r>
            <a:r>
              <a:rPr lang="en-US" altLang="zh-CN" sz="2600" b="1" dirty="0" smtClean="0">
                <a:solidFill>
                  <a:schemeClr val="bg2"/>
                </a:solidFill>
                <a:latin typeface="Times New Roman" panose="02020603050405020304" pitchFamily="18" charset="0"/>
                <a:cs typeface="Times New Roman" panose="02020603050405020304" pitchFamily="18" charset="0"/>
              </a:rPr>
              <a:t>Explanation</a:t>
            </a:r>
            <a:endParaRPr lang="en-US" altLang="zh-CN" sz="2600" b="1" dirty="0">
              <a:solidFill>
                <a:schemeClr val="bg2"/>
              </a:solidFill>
              <a:latin typeface="Times New Roman" panose="02020603050405020304" pitchFamily="18" charset="0"/>
              <a:cs typeface="Times New Roman" panose="02020603050405020304" pitchFamily="18" charset="0"/>
            </a:endParaRPr>
          </a:p>
          <a:p>
            <a:pPr marL="0" indent="0">
              <a:lnSpc>
                <a:spcPct val="100000"/>
              </a:lnSpc>
              <a:buClr>
                <a:srgbClr val="2C04F4"/>
              </a:buClr>
              <a:buNone/>
            </a:pPr>
            <a:r>
              <a:rPr lang="en-US" altLang="zh-CN" dirty="0">
                <a:latin typeface="Times New Roman" panose="02020603050405020304" pitchFamily="18" charset="0"/>
                <a:cs typeface="Times New Roman" panose="02020603050405020304" pitchFamily="18" charset="0"/>
              </a:rPr>
              <a:t>Manager cannot stop investing even in a bad time.</a:t>
            </a:r>
          </a:p>
          <a:p>
            <a:pPr marL="0" indent="0">
              <a:lnSpc>
                <a:spcPct val="100000"/>
              </a:lnSpc>
              <a:buClr>
                <a:srgbClr val="2C04F4"/>
              </a:buClr>
              <a:buNone/>
            </a:pPr>
            <a:r>
              <a:rPr lang="en-US" altLang="zh-CN" dirty="0">
                <a:latin typeface="Times New Roman" panose="02020603050405020304" pitchFamily="18" charset="0"/>
                <a:cs typeface="Times New Roman" panose="02020603050405020304" pitchFamily="18" charset="0"/>
              </a:rPr>
              <a:t>Rank mechanism focuses on short-term performance (&lt; 6 </a:t>
            </a:r>
            <a:r>
              <a:rPr lang="en-US" altLang="zh-CN" dirty="0" err="1">
                <a:latin typeface="Times New Roman" panose="02020603050405020304" pitchFamily="18" charset="0"/>
                <a:cs typeface="Times New Roman" panose="02020603050405020304" pitchFamily="18" charset="0"/>
              </a:rPr>
              <a:t>mth</a:t>
            </a:r>
            <a:r>
              <a:rPr lang="en-US" altLang="zh-CN" dirty="0">
                <a:latin typeface="Times New Roman" panose="02020603050405020304" pitchFamily="18" charset="0"/>
                <a:cs typeface="Times New Roman" panose="02020603050405020304" pitchFamily="18" charset="0"/>
              </a:rPr>
              <a:t>).</a:t>
            </a:r>
            <a:endParaRPr lang="zh-CN" altLang="en-US" sz="1950" dirty="0">
              <a:latin typeface="Times New Roman" panose="02020603050405020304" pitchFamily="18" charset="0"/>
              <a:cs typeface="Times New Roman" panose="02020603050405020304" pitchFamily="18" charset="0"/>
            </a:endParaRPr>
          </a:p>
          <a:p>
            <a:pPr>
              <a:lnSpc>
                <a:spcPct val="100000"/>
              </a:lnSpc>
              <a:buClr>
                <a:srgbClr val="2C04F4"/>
              </a:buClr>
            </a:pPr>
            <a:endParaRPr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343251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C4DB6611-16B4-41F5-9E0B-0EE9E1879787}"/>
              </a:ext>
            </a:extLst>
          </p:cNvPr>
          <p:cNvSpPr>
            <a:spLocks noGrp="1"/>
          </p:cNvSpPr>
          <p:nvPr>
            <p:ph type="title"/>
          </p:nvPr>
        </p:nvSpPr>
        <p:spPr>
          <a:xfrm>
            <a:off x="680928" y="659008"/>
            <a:ext cx="8542556" cy="1076847"/>
          </a:xfrm>
        </p:spPr>
        <p:txBody>
          <a:bodyPr/>
          <a:lstStyle/>
          <a:p>
            <a:pPr algn="ctr"/>
            <a:r>
              <a:rPr lang="en-US" altLang="zh-CN" b="1" dirty="0">
                <a:solidFill>
                  <a:schemeClr val="bg2"/>
                </a:solidFill>
                <a:latin typeface="Times New Roman" panose="02020603050405020304" pitchFamily="18" charset="0"/>
                <a:cs typeface="Times New Roman" panose="02020603050405020304" pitchFamily="18" charset="0"/>
              </a:rPr>
              <a:t>Regression Model</a:t>
            </a:r>
            <a:endParaRPr lang="zh-CN" altLang="en-US" b="1" dirty="0">
              <a:solidFill>
                <a:schemeClr val="bg2"/>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内容占位符 7">
                <a:extLst>
                  <a:ext uri="{FF2B5EF4-FFF2-40B4-BE49-F238E27FC236}">
                    <a16:creationId xmlns:a16="http://schemas.microsoft.com/office/drawing/2014/main" id="{9818C349-10CA-473E-B0EA-2492C91D32E5}"/>
                  </a:ext>
                </a:extLst>
              </p:cNvPr>
              <p:cNvSpPr>
                <a:spLocks noGrp="1"/>
              </p:cNvSpPr>
              <p:nvPr>
                <p:ph idx="1"/>
              </p:nvPr>
            </p:nvSpPr>
            <p:spPr>
              <a:xfrm>
                <a:off x="680928" y="1662346"/>
                <a:ext cx="8542556" cy="3911528"/>
              </a:xfrm>
            </p:spPr>
            <p:txBody>
              <a:bodyPr>
                <a:normAutofit/>
              </a:bodyPr>
              <a:lstStyle/>
              <a:p>
                <a:pPr marL="0" indent="0">
                  <a:lnSpc>
                    <a:spcPct val="70000"/>
                  </a:lnSpc>
                  <a:buClr>
                    <a:srgbClr val="2C04F4"/>
                  </a:buClr>
                  <a:buNone/>
                </a:pPr>
                <a:r>
                  <a:rPr lang="en-US" altLang="zh-CN" dirty="0" smtClean="0">
                    <a:latin typeface="Times New Roman" panose="02020603050405020304" pitchFamily="18" charset="0"/>
                    <a:cs typeface="Times New Roman" panose="02020603050405020304" pitchFamily="18" charset="0"/>
                  </a:rPr>
                  <a:t>Hypothesis 2: Herding effect </a:t>
                </a:r>
                <a:r>
                  <a:rPr lang="en-US" altLang="zh-CN" b="1" dirty="0" smtClean="0">
                    <a:latin typeface="Times New Roman" panose="02020603050405020304" pitchFamily="18" charset="0"/>
                    <a:cs typeface="Times New Roman" panose="02020603050405020304" pitchFamily="18" charset="0"/>
                  </a:rPr>
                  <a:t>decreases the fund performance</a:t>
                </a:r>
                <a:r>
                  <a:rPr lang="en-US" altLang="zh-CN" dirty="0" smtClean="0">
                    <a:latin typeface="Times New Roman" panose="02020603050405020304" pitchFamily="18" charset="0"/>
                    <a:cs typeface="Times New Roman" panose="02020603050405020304" pitchFamily="18" charset="0"/>
                  </a:rPr>
                  <a:t>. </a:t>
                </a:r>
                <a:endParaRPr lang="en-US" altLang="zh-CN" i="1" dirty="0"/>
              </a:p>
              <a:p>
                <a:pPr marL="0" indent="0">
                  <a:buNone/>
                </a:pPr>
                <a:endParaRPr lang="en-US" altLang="zh-CN" i="1" dirty="0"/>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𝜋</m:t>
                          </m:r>
                        </m:e>
                        <m:sub>
                          <m:r>
                            <a:rPr lang="en-US" altLang="zh-CN" i="1">
                              <a:latin typeface="Cambria Math" panose="02040503050406030204" pitchFamily="18" charset="0"/>
                            </a:rPr>
                            <m:t>𝑗𝑡</m:t>
                          </m:r>
                        </m:sub>
                      </m:sSub>
                      <m:r>
                        <a:rPr lang="en-US" altLang="zh-CN" b="0" i="1" smtClean="0">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𝛼</m:t>
                          </m:r>
                        </m:e>
                        <m:sub>
                          <m:r>
                            <a:rPr lang="en-US" altLang="zh-CN">
                              <a:latin typeface="Cambria Math" panose="02040503050406030204" pitchFamily="18" charset="0"/>
                            </a:rPr>
                            <m:t>0</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𝐹𝐻</m:t>
                          </m:r>
                        </m:e>
                        <m:sub>
                          <m:r>
                            <a:rPr lang="en-US" altLang="zh-CN" i="1">
                              <a:latin typeface="Cambria Math" panose="02040503050406030204" pitchFamily="18" charset="0"/>
                            </a:rPr>
                            <m:t>𝑗𝑡</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2</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𝐹𝑢𝑛𝑑𝐴𝑔𝑒</m:t>
                          </m:r>
                        </m:e>
                        <m:sub>
                          <m:r>
                            <a:rPr lang="en-US" altLang="zh-CN" i="1">
                              <a:latin typeface="Cambria Math" panose="02040503050406030204" pitchFamily="18" charset="0"/>
                            </a:rPr>
                            <m:t>𝑗𝑡</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3</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𝐸𝑥𝑝𝑒𝑛𝑠𝑒</m:t>
                          </m:r>
                        </m:e>
                        <m:sub>
                          <m:r>
                            <a:rPr lang="en-US" altLang="zh-CN" i="1">
                              <a:latin typeface="Cambria Math" panose="02040503050406030204" pitchFamily="18" charset="0"/>
                            </a:rPr>
                            <m:t>𝑗𝑡</m:t>
                          </m:r>
                        </m:sub>
                      </m:sSub>
                    </m:oMath>
                  </m:oMathPara>
                </a14:m>
                <a:endParaRPr lang="en-US" altLang="zh-CN" i="1" dirty="0"/>
              </a:p>
              <a:p>
                <a:pPr marL="0" indent="0">
                  <a:lnSpc>
                    <a:spcPct val="100000"/>
                  </a:lnSpc>
                  <a:buNone/>
                </a:pPr>
                <a:r>
                  <a:rPr lang="en-US" altLang="zh-CN" dirty="0"/>
                  <a:t>                            </a:t>
                </a:r>
                <a:r>
                  <a:rPr lang="en-US" altLang="zh-CN" dirty="0" smtClean="0"/>
                  <a:t>		 </a:t>
                </a:r>
                <a14:m>
                  <m:oMath xmlns:m="http://schemas.openxmlformats.org/officeDocument/2006/math">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4</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𝐹𝑢𝑛𝑑𝑆𝑖𝑧𝑒</m:t>
                        </m:r>
                      </m:e>
                      <m:sub>
                        <m:r>
                          <a:rPr lang="en-US" altLang="zh-CN" i="1">
                            <a:latin typeface="Cambria Math" panose="02040503050406030204" pitchFamily="18" charset="0"/>
                          </a:rPr>
                          <m:t>𝑗𝑡</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5</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𝑡𝑒𝑟𝑚</m:t>
                        </m:r>
                      </m:e>
                      <m:sub>
                        <m:r>
                          <a:rPr lang="en-US" altLang="zh-CN" i="1">
                            <a:latin typeface="Cambria Math" panose="02040503050406030204" pitchFamily="18" charset="0"/>
                          </a:rPr>
                          <m:t>𝑗𝑡</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i="1">
                            <a:latin typeface="Cambria Math" panose="02040503050406030204" pitchFamily="18" charset="0"/>
                          </a:rPr>
                          <m:t>6</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𝑡𝑢𝑟𝑛𝑜𝑣𝑒𝑟</m:t>
                        </m:r>
                      </m:e>
                      <m:sub>
                        <m:r>
                          <a:rPr lang="en-US" altLang="zh-CN" i="1">
                            <a:latin typeface="Cambria Math" panose="02040503050406030204" pitchFamily="18" charset="0"/>
                          </a:rPr>
                          <m:t>𝑗𝑡</m:t>
                        </m:r>
                      </m:sub>
                    </m:sSub>
                  </m:oMath>
                </a14:m>
                <a:endParaRPr lang="en-US" altLang="zh-CN" i="1" dirty="0" smtClean="0"/>
              </a:p>
              <a:p>
                <a:pPr marL="0" indent="0">
                  <a:lnSpc>
                    <a:spcPct val="100000"/>
                  </a:lnSpc>
                  <a:buNone/>
                </a:pPr>
                <a14:m>
                  <m:oMathPara xmlns:m="http://schemas.openxmlformats.org/officeDocument/2006/math">
                    <m:oMathParaPr>
                      <m:jc m:val="centerGroup"/>
                    </m:oMathParaPr>
                    <m:oMath xmlns:m="http://schemas.openxmlformats.org/officeDocument/2006/math">
                      <m:r>
                        <a:rPr lang="en-US" altLang="zh-CN" b="0" i="0" smtClean="0">
                          <a:latin typeface="Cambria Math" panose="02040503050406030204" pitchFamily="18" charset="0"/>
                        </a:rPr>
                        <m:t>                </m:t>
                      </m:r>
                      <m:r>
                        <a:rPr lang="en-US" altLang="zh-CN" smtClean="0">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7</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𝜋</m:t>
                          </m:r>
                        </m:e>
                        <m:sub>
                          <m:r>
                            <a:rPr lang="en-US" altLang="zh-CN" i="1">
                              <a:latin typeface="Cambria Math" panose="02040503050406030204" pitchFamily="18" charset="0"/>
                            </a:rPr>
                            <m:t>𝑗</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i="1">
                              <a:latin typeface="Cambria Math" panose="02040503050406030204" pitchFamily="18" charset="0"/>
                            </a:rPr>
                            <m:t>7</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𝑅𝑎𝑛𝑘</m:t>
                          </m:r>
                        </m:e>
                        <m:sub>
                          <m:r>
                            <a:rPr lang="en-US" altLang="zh-CN" i="1">
                              <a:latin typeface="Cambria Math" panose="02040503050406030204" pitchFamily="18" charset="0"/>
                            </a:rPr>
                            <m:t>𝑗</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8</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𝑅𝑖𝑠𝑘</m:t>
                          </m:r>
                        </m:e>
                        <m:sub>
                          <m:r>
                            <a:rPr lang="en-US" altLang="zh-CN" i="1">
                              <a:latin typeface="Cambria Math" panose="02040503050406030204" pitchFamily="18" charset="0"/>
                            </a:rPr>
                            <m:t>𝑗𝑡</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𝜀</m:t>
                          </m:r>
                        </m:e>
                        <m:sub>
                          <m:r>
                            <a:rPr lang="en-US" altLang="zh-CN" i="1">
                              <a:latin typeface="Cambria Math" panose="02040503050406030204" pitchFamily="18" charset="0"/>
                            </a:rPr>
                            <m:t>𝑗𝑡</m:t>
                          </m:r>
                        </m:sub>
                      </m:sSub>
                    </m:oMath>
                  </m:oMathPara>
                </a14:m>
                <a:endParaRPr lang="zh-CN" altLang="zh-CN" dirty="0"/>
              </a:p>
              <a:p>
                <a:endParaRPr lang="zh-CN" altLang="en-US" dirty="0">
                  <a:solidFill>
                    <a:schemeClr val="tx2"/>
                  </a:solidFill>
                </a:endParaRPr>
              </a:p>
            </p:txBody>
          </p:sp>
        </mc:Choice>
        <mc:Fallback>
          <p:sp>
            <p:nvSpPr>
              <p:cNvPr id="8" name="内容占位符 7">
                <a:extLst>
                  <a:ext uri="{FF2B5EF4-FFF2-40B4-BE49-F238E27FC236}">
                    <a16:creationId xmlns:a16="http://schemas.microsoft.com/office/drawing/2014/main" id="{9818C349-10CA-473E-B0EA-2492C91D32E5}"/>
                  </a:ext>
                </a:extLst>
              </p:cNvPr>
              <p:cNvSpPr>
                <a:spLocks noGrp="1" noRot="1" noChangeAspect="1" noMove="1" noResize="1" noEditPoints="1" noAdjustHandles="1" noChangeArrowheads="1" noChangeShapeType="1" noTextEdit="1"/>
              </p:cNvSpPr>
              <p:nvPr>
                <p:ph idx="1"/>
              </p:nvPr>
            </p:nvSpPr>
            <p:spPr>
              <a:xfrm>
                <a:off x="680928" y="1662346"/>
                <a:ext cx="8542556" cy="3911528"/>
              </a:xfr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0700957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内容占位符 3">
                <a:extLst>
                  <a:ext uri="{FF2B5EF4-FFF2-40B4-BE49-F238E27FC236}">
                    <a16:creationId xmlns:a16="http://schemas.microsoft.com/office/drawing/2014/main" id="{934C549B-35D5-4F9E-8794-E58C1F6BA5D7}"/>
                  </a:ext>
                </a:extLst>
              </p:cNvPr>
              <p:cNvGraphicFramePr>
                <a:graphicFrameLocks noGrp="1"/>
              </p:cNvGraphicFramePr>
              <p:nvPr>
                <p:ph idx="1"/>
                <p:extLst>
                  <p:ext uri="{D42A27DB-BD31-4B8C-83A1-F6EECF244321}">
                    <p14:modId xmlns:p14="http://schemas.microsoft.com/office/powerpoint/2010/main" val="1090418309"/>
                  </p:ext>
                </p:extLst>
              </p:nvPr>
            </p:nvGraphicFramePr>
            <p:xfrm>
              <a:off x="631726" y="740939"/>
              <a:ext cx="8435635" cy="4037950"/>
            </p:xfrm>
            <a:graphic>
              <a:graphicData uri="http://schemas.openxmlformats.org/drawingml/2006/table">
                <a:tbl>
                  <a:tblPr firstRow="1" firstCol="1" bandRow="1"/>
                  <a:tblGrid>
                    <a:gridCol w="1262808">
                      <a:extLst>
                        <a:ext uri="{9D8B030D-6E8A-4147-A177-3AD203B41FA5}">
                          <a16:colId xmlns:a16="http://schemas.microsoft.com/office/drawing/2014/main" val="460787220"/>
                        </a:ext>
                      </a:extLst>
                    </a:gridCol>
                    <a:gridCol w="1281314">
                      <a:extLst>
                        <a:ext uri="{9D8B030D-6E8A-4147-A177-3AD203B41FA5}">
                          <a16:colId xmlns:a16="http://schemas.microsoft.com/office/drawing/2014/main" val="1901806402"/>
                        </a:ext>
                      </a:extLst>
                    </a:gridCol>
                    <a:gridCol w="1280411">
                      <a:extLst>
                        <a:ext uri="{9D8B030D-6E8A-4147-A177-3AD203B41FA5}">
                          <a16:colId xmlns:a16="http://schemas.microsoft.com/office/drawing/2014/main" val="1559505428"/>
                        </a:ext>
                      </a:extLst>
                    </a:gridCol>
                    <a:gridCol w="1281314">
                      <a:extLst>
                        <a:ext uri="{9D8B030D-6E8A-4147-A177-3AD203B41FA5}">
                          <a16:colId xmlns:a16="http://schemas.microsoft.com/office/drawing/2014/main" val="1802663377"/>
                        </a:ext>
                      </a:extLst>
                    </a:gridCol>
                    <a:gridCol w="1665348">
                      <a:extLst>
                        <a:ext uri="{9D8B030D-6E8A-4147-A177-3AD203B41FA5}">
                          <a16:colId xmlns:a16="http://schemas.microsoft.com/office/drawing/2014/main" val="443590417"/>
                        </a:ext>
                      </a:extLst>
                    </a:gridCol>
                    <a:gridCol w="1664440">
                      <a:extLst>
                        <a:ext uri="{9D8B030D-6E8A-4147-A177-3AD203B41FA5}">
                          <a16:colId xmlns:a16="http://schemas.microsoft.com/office/drawing/2014/main" val="712234204"/>
                        </a:ext>
                      </a:extLst>
                    </a:gridCol>
                  </a:tblGrid>
                  <a:tr h="300950">
                    <a:tc gridSpan="6">
                      <a:txBody>
                        <a:bodyPr/>
                        <a:lstStyle/>
                        <a:p>
                          <a:pPr indent="50800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Dependent variable</a:t>
                          </a:r>
                          <a:r>
                            <a:rPr lang="zh-CN" sz="1200" kern="100" dirty="0">
                              <a:solidFill>
                                <a:srgbClr val="000000"/>
                              </a:solidFill>
                              <a:effectLst/>
                              <a:latin typeface="Times New Roman" panose="02020603050405020304" pitchFamily="18" charset="0"/>
                              <a:ea typeface="仿宋_GB2312"/>
                              <a:cs typeface="Times New Roman" panose="02020603050405020304" pitchFamily="18" charset="0"/>
                            </a:rPr>
                            <a:t>：</a:t>
                          </a: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Current profit rate </a:t>
                          </a:r>
                          <a14:m>
                            <m:oMath xmlns:m="http://schemas.openxmlformats.org/officeDocument/2006/math">
                              <m:sSub>
                                <m:sSubPr>
                                  <m:ctrlPr>
                                    <a:rPr lang="zh-CN" sz="12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𝜋</m:t>
                                  </m:r>
                                </m:e>
                                <m:sub>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𝑗𝑡</m:t>
                                  </m:r>
                                </m:sub>
                              </m:sSub>
                            </m:oMath>
                          </a14:m>
                          <a:r>
                            <a:rPr lang="en-US" altLang="zh-CN" sz="1200" kern="100" dirty="0" smtClean="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smtClean="0">
                              <a:solidFill>
                                <a:srgbClr val="000000"/>
                              </a:solidFill>
                              <a:effectLst/>
                              <a:latin typeface="Times New Roman" panose="02020603050405020304" pitchFamily="18" charset="0"/>
                              <a:ea typeface="仿宋_GB2312"/>
                              <a:cs typeface="Times New Roman" panose="02020603050405020304" pitchFamily="18" charset="0"/>
                            </a:rPr>
                            <a:t>robustness check conducted same</a:t>
                          </a:r>
                          <a:r>
                            <a:rPr lang="en-US" altLang="zh-CN" sz="1200" kern="100" baseline="0" dirty="0" smtClean="0">
                              <a:solidFill>
                                <a:srgbClr val="000000"/>
                              </a:solidFill>
                              <a:effectLst/>
                              <a:latin typeface="Times New Roman" panose="02020603050405020304" pitchFamily="18" charset="0"/>
                              <a:ea typeface="仿宋_GB2312"/>
                              <a:cs typeface="Times New Roman" panose="02020603050405020304" pitchFamily="18" charset="0"/>
                            </a:rPr>
                            <a:t> as original paper</a:t>
                          </a:r>
                          <a:endParaRPr lang="zh-CN" sz="1200" kern="100" dirty="0">
                            <a:solidFill>
                              <a:srgbClr val="000000"/>
                            </a:solidFill>
                            <a:effectLst/>
                            <a:latin typeface="Times New Roman" panose="02020603050405020304" pitchFamily="18" charset="0"/>
                            <a:ea typeface="仿宋_GB2312"/>
                            <a:cs typeface="Times New Roman" panose="02020603050405020304" pitchFamily="18" charset="0"/>
                          </a:endParaRPr>
                        </a:p>
                      </a:txBody>
                      <a:tcPr marL="26041" marR="26041"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207887566"/>
                      </a:ext>
                    </a:extLst>
                  </a:tr>
                  <a:tr h="557123">
                    <a:tc>
                      <a:txBody>
                        <a:bodyPr/>
                        <a:lstStyle/>
                        <a:p>
                          <a:pPr algn="l">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sz="1200" b="1"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𝑭𝑯</m:t>
                                    </m:r>
                                  </m:e>
                                  <m:sub>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𝒋𝒕</m:t>
                                    </m:r>
                                  </m:sub>
                                </m:sSub>
                              </m:oMath>
                            </m:oMathPara>
                          </a14:m>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0.097***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(0.038)</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0.078**</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(0.038)</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508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0.062**</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508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(0.022)</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50800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745831716"/>
                      </a:ext>
                    </a:extLst>
                  </a:tr>
                  <a:tr h="557123">
                    <a:tc>
                      <a:txBody>
                        <a:bodyPr/>
                        <a:lstStyle/>
                        <a:p>
                          <a:pPr algn="l">
                            <a:lnSpc>
                              <a:spcPct val="150000"/>
                            </a:lnSpc>
                            <a:spcAft>
                              <a:spcPts val="0"/>
                            </a:spcAft>
                          </a:pPr>
                          <a14:m>
                            <m:oMathPara xmlns:m="http://schemas.openxmlformats.org/officeDocument/2006/math">
                              <m:oMathParaPr>
                                <m:jc m:val="centerGroup"/>
                              </m:oMathParaPr>
                              <m:oMath xmlns:m="http://schemas.openxmlformats.org/officeDocument/2006/math">
                                <m:r>
                                  <a:rPr lang="en-US" sz="1200" b="1" i="1" kern="100" smtClean="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𝑻𝒖𝒓𝒏𝒐𝒗𝒆𝒓</m:t>
                                </m:r>
                              </m:oMath>
                            </m:oMathPara>
                          </a14:m>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0.151**</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(0.041)</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0.157**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(0.041)</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0.244***</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(0.041)</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0.074*</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(0.039)</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0.077**</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(0.039)</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extLst>
                      <a:ext uri="{0D108BD9-81ED-4DB2-BD59-A6C34878D82A}">
                        <a16:rowId xmlns:a16="http://schemas.microsoft.com/office/drawing/2014/main" val="483668057"/>
                      </a:ext>
                    </a:extLst>
                  </a:tr>
                  <a:tr h="304870">
                    <a:tc>
                      <a:txBody>
                        <a:bodyPr/>
                        <a:lstStyle/>
                        <a:p>
                          <a:pPr algn="l">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sz="1200" b="1"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𝝅</m:t>
                                    </m:r>
                                  </m:e>
                                  <m:sub>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𝒋</m:t>
                                    </m:r>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𝒕</m:t>
                                    </m:r>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𝟏</m:t>
                                    </m:r>
                                  </m:sub>
                                </m:sSub>
                              </m:oMath>
                            </m:oMathPara>
                          </a14:m>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0.396***</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0.392***</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extLst>
                      <a:ext uri="{0D108BD9-81ED-4DB2-BD59-A6C34878D82A}">
                        <a16:rowId xmlns:a16="http://schemas.microsoft.com/office/drawing/2014/main" val="469244238"/>
                      </a:ext>
                    </a:extLst>
                  </a:tr>
                  <a:tr h="278562">
                    <a:tc>
                      <a:txBody>
                        <a:bodyPr/>
                        <a:lstStyle/>
                        <a:p>
                          <a:pPr algn="l">
                            <a:lnSpc>
                              <a:spcPct val="150000"/>
                            </a:lnSpc>
                            <a:spcAft>
                              <a:spcPts val="0"/>
                            </a:spcAft>
                          </a:pPr>
                          <a:r>
                            <a:rPr lang="en-US" sz="1200" b="1"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(0.050)</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(0.050)</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extLst>
                      <a:ext uri="{0D108BD9-81ED-4DB2-BD59-A6C34878D82A}">
                        <a16:rowId xmlns:a16="http://schemas.microsoft.com/office/drawing/2014/main" val="2085911850"/>
                      </a:ext>
                    </a:extLst>
                  </a:tr>
                  <a:tr h="557123">
                    <a:tc>
                      <a:txBody>
                        <a:bodyPr/>
                        <a:lstStyle/>
                        <a:p>
                          <a:pPr algn="l">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sz="1200" b="1"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𝑹𝒂𝒏𝒌</m:t>
                                    </m:r>
                                  </m:e>
                                  <m:sub>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𝒋</m:t>
                                    </m:r>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𝒕</m:t>
                                    </m:r>
                                    <m:r>
                                      <a:rPr lang="en-US" sz="1200" b="1" i="1" kern="100">
                                        <a:solidFill>
                                          <a:srgbClr val="FF0000"/>
                                        </a:solidFill>
                                        <a:effectLst/>
                                        <a:latin typeface="Cambria Math" panose="02040503050406030204" pitchFamily="18" charset="0"/>
                                        <a:ea typeface="微软雅黑" panose="020B0503020204020204" pitchFamily="34" charset="-122"/>
                                        <a:cs typeface="Times New Roman" panose="02020603050405020304" pitchFamily="18" charset="0"/>
                                      </a:rPr>
                                      <m:t>−</m:t>
                                    </m:r>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𝟏</m:t>
                                    </m:r>
                                  </m:sub>
                                </m:sSub>
                              </m:oMath>
                            </m:oMathPara>
                          </a14:m>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-0.487***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(0.045)</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-0.490***</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(0.045)</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extLst>
                      <a:ext uri="{0D108BD9-81ED-4DB2-BD59-A6C34878D82A}">
                        <a16:rowId xmlns:a16="http://schemas.microsoft.com/office/drawing/2014/main" val="1121564886"/>
                      </a:ext>
                    </a:extLst>
                  </a:tr>
                  <a:tr h="557123">
                    <a:tc>
                      <a:txBody>
                        <a:bodyPr/>
                        <a:lstStyle/>
                        <a:p>
                          <a:pPr algn="l">
                            <a:lnSpc>
                              <a:spcPct val="150000"/>
                            </a:lnSpc>
                            <a:spcAft>
                              <a:spcPts val="0"/>
                            </a:spcAft>
                          </a:pPr>
                          <a14:m>
                            <m:oMathPara xmlns:m="http://schemas.openxmlformats.org/officeDocument/2006/math">
                              <m:oMathParaPr>
                                <m:jc m:val="centerGroup"/>
                              </m:oMathParaPr>
                              <m:oMath xmlns:m="http://schemas.openxmlformats.org/officeDocument/2006/math">
                                <m:r>
                                  <a:rPr lang="en-US" sz="1200" b="1" i="1" kern="100" smtClean="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𝑹𝒊𝒔𝒌</m:t>
                                </m:r>
                              </m:oMath>
                            </m:oMathPara>
                          </a14:m>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0.086**</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0.096**</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0.507***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0.506***</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extLst>
                      <a:ext uri="{0D108BD9-81ED-4DB2-BD59-A6C34878D82A}">
                        <a16:rowId xmlns:a16="http://schemas.microsoft.com/office/drawing/2014/main" val="1353122357"/>
                      </a:ext>
                    </a:extLst>
                  </a:tr>
                  <a:tr h="367952">
                    <a:tc>
                      <a:txBody>
                        <a:bodyPr/>
                        <a:lstStyle/>
                        <a:p>
                          <a:pPr algn="l">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extLst>
                      <a:ext uri="{0D108BD9-81ED-4DB2-BD59-A6C34878D82A}">
                        <a16:rowId xmlns:a16="http://schemas.microsoft.com/office/drawing/2014/main" val="2327325147"/>
                      </a:ext>
                    </a:extLst>
                  </a:tr>
                  <a:tr h="278562">
                    <a:tc>
                      <a:txBody>
                        <a:bodyPr/>
                        <a:lstStyle/>
                        <a:p>
                          <a:pPr algn="l">
                            <a:lnSpc>
                              <a:spcPct val="150000"/>
                            </a:lnSpc>
                            <a:spcAft>
                              <a:spcPts val="0"/>
                            </a:spcAft>
                          </a:pPr>
                          <a14:m>
                            <m:oMathPara xmlns:m="http://schemas.openxmlformats.org/officeDocument/2006/math">
                              <m:oMathParaPr>
                                <m:jc m:val="centerGroup"/>
                              </m:oMathParaPr>
                              <m:oMath xmlns:m="http://schemas.openxmlformats.org/officeDocument/2006/math">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𝐴𝑑𝑗</m:t>
                                </m:r>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 </m:t>
                                </m:r>
                                <m:sSup>
                                  <m:sSupPr>
                                    <m:ctrlPr>
                                      <a:rPr lang="zh-CN" sz="12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𝑅</m:t>
                                    </m:r>
                                  </m:e>
                                  <m:sup>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p>
                                </m:sSup>
                              </m:oMath>
                            </m:oMathPara>
                          </a14:m>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0.186</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0.170</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0.106</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0.269</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0.257</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extLst>
                      <a:ext uri="{0D108BD9-81ED-4DB2-BD59-A6C34878D82A}">
                        <a16:rowId xmlns:a16="http://schemas.microsoft.com/office/drawing/2014/main" val="3758023016"/>
                      </a:ext>
                    </a:extLst>
                  </a:tr>
                  <a:tr h="278562">
                    <a:tc>
                      <a:txBody>
                        <a:bodyPr/>
                        <a:lstStyle/>
                        <a:p>
                          <a:pPr algn="l">
                            <a:lnSpc>
                              <a:spcPct val="150000"/>
                            </a:lnSpc>
                            <a:spcAft>
                              <a:spcPts val="0"/>
                            </a:spcAft>
                          </a:pPr>
                          <a14:m>
                            <m:oMathPara xmlns:m="http://schemas.openxmlformats.org/officeDocument/2006/math">
                              <m:oMathParaPr>
                                <m:jc m:val="centerGroup"/>
                              </m:oMathParaPr>
                              <m:oMath xmlns:m="http://schemas.openxmlformats.org/officeDocument/2006/math">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𝐹</m:t>
                                </m:r>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𝑡𝑒𝑠𝑡</m:t>
                                </m:r>
                              </m:oMath>
                            </m:oMathPara>
                          </a14:m>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228600"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228600" indent="25400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4473409"/>
                      </a:ext>
                    </a:extLst>
                  </a:tr>
                </a:tbl>
              </a:graphicData>
            </a:graphic>
          </p:graphicFrame>
        </mc:Choice>
        <mc:Fallback>
          <p:graphicFrame>
            <p:nvGraphicFramePr>
              <p:cNvPr id="4" name="内容占位符 3">
                <a:extLst>
                  <a:ext uri="{FF2B5EF4-FFF2-40B4-BE49-F238E27FC236}">
                    <a16:creationId xmlns:a16="http://schemas.microsoft.com/office/drawing/2014/main" id="{934C549B-35D5-4F9E-8794-E58C1F6BA5D7}"/>
                  </a:ext>
                </a:extLst>
              </p:cNvPr>
              <p:cNvGraphicFramePr>
                <a:graphicFrameLocks noGrp="1"/>
              </p:cNvGraphicFramePr>
              <p:nvPr>
                <p:ph idx="1"/>
                <p:extLst>
                  <p:ext uri="{D42A27DB-BD31-4B8C-83A1-F6EECF244321}">
                    <p14:modId xmlns:p14="http://schemas.microsoft.com/office/powerpoint/2010/main" val="1090418309"/>
                  </p:ext>
                </p:extLst>
              </p:nvPr>
            </p:nvGraphicFramePr>
            <p:xfrm>
              <a:off x="631726" y="740939"/>
              <a:ext cx="8435635" cy="4037950"/>
            </p:xfrm>
            <a:graphic>
              <a:graphicData uri="http://schemas.openxmlformats.org/drawingml/2006/table">
                <a:tbl>
                  <a:tblPr firstRow="1" firstCol="1" bandRow="1"/>
                  <a:tblGrid>
                    <a:gridCol w="1262808">
                      <a:extLst>
                        <a:ext uri="{9D8B030D-6E8A-4147-A177-3AD203B41FA5}">
                          <a16:colId xmlns:a16="http://schemas.microsoft.com/office/drawing/2014/main" val="460787220"/>
                        </a:ext>
                      </a:extLst>
                    </a:gridCol>
                    <a:gridCol w="1281314">
                      <a:extLst>
                        <a:ext uri="{9D8B030D-6E8A-4147-A177-3AD203B41FA5}">
                          <a16:colId xmlns:a16="http://schemas.microsoft.com/office/drawing/2014/main" val="1901806402"/>
                        </a:ext>
                      </a:extLst>
                    </a:gridCol>
                    <a:gridCol w="1280411">
                      <a:extLst>
                        <a:ext uri="{9D8B030D-6E8A-4147-A177-3AD203B41FA5}">
                          <a16:colId xmlns:a16="http://schemas.microsoft.com/office/drawing/2014/main" val="1559505428"/>
                        </a:ext>
                      </a:extLst>
                    </a:gridCol>
                    <a:gridCol w="1281314">
                      <a:extLst>
                        <a:ext uri="{9D8B030D-6E8A-4147-A177-3AD203B41FA5}">
                          <a16:colId xmlns:a16="http://schemas.microsoft.com/office/drawing/2014/main" val="1802663377"/>
                        </a:ext>
                      </a:extLst>
                    </a:gridCol>
                    <a:gridCol w="1665348">
                      <a:extLst>
                        <a:ext uri="{9D8B030D-6E8A-4147-A177-3AD203B41FA5}">
                          <a16:colId xmlns:a16="http://schemas.microsoft.com/office/drawing/2014/main" val="443590417"/>
                        </a:ext>
                      </a:extLst>
                    </a:gridCol>
                    <a:gridCol w="1664440">
                      <a:extLst>
                        <a:ext uri="{9D8B030D-6E8A-4147-A177-3AD203B41FA5}">
                          <a16:colId xmlns:a16="http://schemas.microsoft.com/office/drawing/2014/main" val="712234204"/>
                        </a:ext>
                      </a:extLst>
                    </a:gridCol>
                  </a:tblGrid>
                  <a:tr h="300950">
                    <a:tc gridSpan="6">
                      <a:txBody>
                        <a:bodyPr/>
                        <a:lstStyle/>
                        <a:p>
                          <a:endParaRPr lang="zh-CN"/>
                        </a:p>
                      </a:txBody>
                      <a:tcPr marL="26041" marR="26041"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t="-2041" r="-72" b="-1273469"/>
                          </a:stretch>
                        </a:blip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207887566"/>
                      </a:ext>
                    </a:extLst>
                  </a:tr>
                  <a:tr h="557123">
                    <a:tc>
                      <a:txBody>
                        <a:bodyPr/>
                        <a:lstStyle/>
                        <a:p>
                          <a:endParaRPr lang="zh-CN"/>
                        </a:p>
                      </a:txBody>
                      <a:tcPr marL="26041" marR="26041" marT="0" marB="0">
                        <a:lnL>
                          <a:noFill/>
                        </a:lnL>
                        <a:lnR>
                          <a:noFill/>
                        </a:lnR>
                        <a:lnT w="12700" cap="flat" cmpd="sng" algn="ctr">
                          <a:solidFill>
                            <a:srgbClr val="000000"/>
                          </a:solidFill>
                          <a:prstDash val="solid"/>
                          <a:round/>
                          <a:headEnd type="none" w="med" len="med"/>
                          <a:tailEnd type="none" w="med" len="med"/>
                        </a:lnT>
                        <a:lnB>
                          <a:noFill/>
                        </a:lnB>
                        <a:blipFill>
                          <a:blip r:embed="rId2"/>
                          <a:stretch>
                            <a:fillRect t="-54348" r="-569565" b="-578261"/>
                          </a:stretch>
                        </a:blipFill>
                      </a:tcPr>
                    </a:tc>
                    <a:tc>
                      <a:txBody>
                        <a:bodyPr/>
                        <a:lstStyle/>
                        <a:p>
                          <a:pPr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0.097***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(0.038)</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0.078**</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(0.038)</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508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0.062**</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508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(0.022)</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50800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745831716"/>
                      </a:ext>
                    </a:extLst>
                  </a:tr>
                  <a:tr h="557123">
                    <a:tc>
                      <a:txBody>
                        <a:bodyPr/>
                        <a:lstStyle/>
                        <a:p>
                          <a:endParaRPr lang="zh-CN"/>
                        </a:p>
                      </a:txBody>
                      <a:tcPr marL="26041" marR="26041" marT="0" marB="0">
                        <a:lnL>
                          <a:noFill/>
                        </a:lnL>
                        <a:lnR>
                          <a:noFill/>
                        </a:lnR>
                        <a:lnT>
                          <a:noFill/>
                        </a:lnT>
                        <a:lnB>
                          <a:noFill/>
                        </a:lnB>
                        <a:blipFill>
                          <a:blip r:embed="rId2"/>
                          <a:stretch>
                            <a:fillRect t="-156044" r="-569565" b="-484615"/>
                          </a:stretch>
                        </a:blipFill>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0.151**</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(0.041)</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0.157**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(0.041)</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0.244***</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(0.041)</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0.074*</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(0.039)</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0.077**</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(0.039)</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extLst>
                      <a:ext uri="{0D108BD9-81ED-4DB2-BD59-A6C34878D82A}">
                        <a16:rowId xmlns:a16="http://schemas.microsoft.com/office/drawing/2014/main" val="483668057"/>
                      </a:ext>
                    </a:extLst>
                  </a:tr>
                  <a:tr h="304870">
                    <a:tc>
                      <a:txBody>
                        <a:bodyPr/>
                        <a:lstStyle/>
                        <a:p>
                          <a:endParaRPr lang="zh-CN"/>
                        </a:p>
                      </a:txBody>
                      <a:tcPr marL="26041" marR="26041" marT="0" marB="0">
                        <a:lnL>
                          <a:noFill/>
                        </a:lnL>
                        <a:lnR>
                          <a:noFill/>
                        </a:lnR>
                        <a:lnT>
                          <a:noFill/>
                        </a:lnT>
                        <a:lnB>
                          <a:noFill/>
                        </a:lnB>
                        <a:blipFill>
                          <a:blip r:embed="rId2"/>
                          <a:stretch>
                            <a:fillRect t="-466000" r="-569565" b="-782000"/>
                          </a:stretch>
                        </a:blipFill>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0.396***</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0.392***</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extLst>
                      <a:ext uri="{0D108BD9-81ED-4DB2-BD59-A6C34878D82A}">
                        <a16:rowId xmlns:a16="http://schemas.microsoft.com/office/drawing/2014/main" val="469244238"/>
                      </a:ext>
                    </a:extLst>
                  </a:tr>
                  <a:tr h="278562">
                    <a:tc>
                      <a:txBody>
                        <a:bodyPr/>
                        <a:lstStyle/>
                        <a:p>
                          <a:pPr algn="l">
                            <a:lnSpc>
                              <a:spcPct val="150000"/>
                            </a:lnSpc>
                            <a:spcAft>
                              <a:spcPts val="0"/>
                            </a:spcAft>
                          </a:pPr>
                          <a:r>
                            <a:rPr lang="en-US" sz="1200" b="1"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(0.050)</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(0.050)</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extLst>
                      <a:ext uri="{0D108BD9-81ED-4DB2-BD59-A6C34878D82A}">
                        <a16:rowId xmlns:a16="http://schemas.microsoft.com/office/drawing/2014/main" val="2085911850"/>
                      </a:ext>
                    </a:extLst>
                  </a:tr>
                  <a:tr h="557123">
                    <a:tc>
                      <a:txBody>
                        <a:bodyPr/>
                        <a:lstStyle/>
                        <a:p>
                          <a:endParaRPr lang="zh-CN"/>
                        </a:p>
                      </a:txBody>
                      <a:tcPr marL="26041" marR="26041" marT="0" marB="0">
                        <a:lnL>
                          <a:noFill/>
                        </a:lnL>
                        <a:lnR>
                          <a:noFill/>
                        </a:lnR>
                        <a:lnT>
                          <a:noFill/>
                        </a:lnT>
                        <a:lnB>
                          <a:noFill/>
                        </a:lnB>
                        <a:blipFill>
                          <a:blip r:embed="rId2"/>
                          <a:stretch>
                            <a:fillRect t="-357609" r="-569565" b="-275000"/>
                          </a:stretch>
                        </a:blipFill>
                      </a:tcPr>
                    </a:tc>
                    <a:tc>
                      <a:txBody>
                        <a:bodyPr/>
                        <a:lstStyle/>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-0.487***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(0.045)</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-0.490***</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(0.045)</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extLst>
                      <a:ext uri="{0D108BD9-81ED-4DB2-BD59-A6C34878D82A}">
                        <a16:rowId xmlns:a16="http://schemas.microsoft.com/office/drawing/2014/main" val="1121564886"/>
                      </a:ext>
                    </a:extLst>
                  </a:tr>
                  <a:tr h="557123">
                    <a:tc>
                      <a:txBody>
                        <a:bodyPr/>
                        <a:lstStyle/>
                        <a:p>
                          <a:endParaRPr lang="zh-CN"/>
                        </a:p>
                      </a:txBody>
                      <a:tcPr marL="26041" marR="26041" marT="0" marB="0">
                        <a:lnL>
                          <a:noFill/>
                        </a:lnL>
                        <a:lnR>
                          <a:noFill/>
                        </a:lnR>
                        <a:lnT>
                          <a:noFill/>
                        </a:lnT>
                        <a:lnB>
                          <a:noFill/>
                        </a:lnB>
                        <a:blipFill>
                          <a:blip r:embed="rId2"/>
                          <a:stretch>
                            <a:fillRect t="-462637" r="-569565" b="-178022"/>
                          </a:stretch>
                        </a:blipFill>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0.086**</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0.096**</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0.507***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0.506***</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extLst>
                      <a:ext uri="{0D108BD9-81ED-4DB2-BD59-A6C34878D82A}">
                        <a16:rowId xmlns:a16="http://schemas.microsoft.com/office/drawing/2014/main" val="1353122357"/>
                      </a:ext>
                    </a:extLst>
                  </a:tr>
                  <a:tr h="367952">
                    <a:tc>
                      <a:txBody>
                        <a:bodyPr/>
                        <a:lstStyle/>
                        <a:p>
                          <a:pPr algn="l">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extLst>
                      <a:ext uri="{0D108BD9-81ED-4DB2-BD59-A6C34878D82A}">
                        <a16:rowId xmlns:a16="http://schemas.microsoft.com/office/drawing/2014/main" val="2327325147"/>
                      </a:ext>
                    </a:extLst>
                  </a:tr>
                  <a:tr h="278562">
                    <a:tc>
                      <a:txBody>
                        <a:bodyPr/>
                        <a:lstStyle/>
                        <a:p>
                          <a:endParaRPr lang="zh-CN"/>
                        </a:p>
                      </a:txBody>
                      <a:tcPr marL="26041" marR="26041" marT="0" marB="0">
                        <a:lnL>
                          <a:noFill/>
                        </a:lnL>
                        <a:lnR>
                          <a:noFill/>
                        </a:lnR>
                        <a:lnT>
                          <a:noFill/>
                        </a:lnT>
                        <a:lnB>
                          <a:noFill/>
                        </a:lnB>
                        <a:blipFill>
                          <a:blip r:embed="rId2"/>
                          <a:stretch>
                            <a:fillRect t="-1273333" r="-569565" b="-124444"/>
                          </a:stretch>
                        </a:blipFill>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0.186</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0.170</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0.106</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0.269</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tc>
                      <a:txBody>
                        <a:bodyPr/>
                        <a:lstStyle/>
                        <a:p>
                          <a:pPr marL="228600"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0.257</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a:noFill/>
                        </a:lnB>
                      </a:tcPr>
                    </a:tc>
                    <a:extLst>
                      <a:ext uri="{0D108BD9-81ED-4DB2-BD59-A6C34878D82A}">
                        <a16:rowId xmlns:a16="http://schemas.microsoft.com/office/drawing/2014/main" val="3758023016"/>
                      </a:ext>
                    </a:extLst>
                  </a:tr>
                  <a:tr h="278562">
                    <a:tc>
                      <a:txBody>
                        <a:bodyPr/>
                        <a:lstStyle/>
                        <a:p>
                          <a:endParaRPr lang="zh-CN"/>
                        </a:p>
                      </a:txBody>
                      <a:tcPr marL="26041" marR="26041" marT="0" marB="0">
                        <a:lnL>
                          <a:noFill/>
                        </a:lnL>
                        <a:lnR>
                          <a:noFill/>
                        </a:lnR>
                        <a:lnT>
                          <a:noFill/>
                        </a:lnT>
                        <a:lnB w="12700" cap="flat" cmpd="sng" algn="ctr">
                          <a:solidFill>
                            <a:srgbClr val="000000"/>
                          </a:solidFill>
                          <a:prstDash val="solid"/>
                          <a:round/>
                          <a:headEnd type="none" w="med" len="med"/>
                          <a:tailEnd type="none" w="med" len="med"/>
                        </a:lnB>
                        <a:blipFill>
                          <a:blip r:embed="rId2"/>
                          <a:stretch>
                            <a:fillRect t="-1343478" r="-569565" b="-21739"/>
                          </a:stretch>
                        </a:blipFill>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228600"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228600" indent="25400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6041" marR="26041"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34473409"/>
                      </a:ext>
                    </a:extLst>
                  </a:tr>
                </a:tbl>
              </a:graphicData>
            </a:graphic>
          </p:graphicFrame>
        </mc:Fallback>
      </mc:AlternateContent>
      <mc:AlternateContent xmlns:mc="http://schemas.openxmlformats.org/markup-compatibility/2006">
        <mc:Choice xmlns:a14="http://schemas.microsoft.com/office/drawing/2010/main" Requires="a14">
          <p:sp>
            <p:nvSpPr>
              <p:cNvPr id="2" name="矩形 1"/>
              <p:cNvSpPr/>
              <p:nvPr/>
            </p:nvSpPr>
            <p:spPr>
              <a:xfrm>
                <a:off x="301064" y="4778889"/>
                <a:ext cx="9613068" cy="1870256"/>
              </a:xfrm>
              <a:prstGeom prst="rect">
                <a:avLst/>
              </a:prstGeom>
            </p:spPr>
            <p:txBody>
              <a:bodyPr wrap="square">
                <a:spAutoFit/>
              </a:bodyPr>
              <a:lstStyle/>
              <a:p>
                <a:endParaRPr lang="en-US" altLang="zh-CN" dirty="0">
                  <a:solidFill>
                    <a:schemeClr val="tx2"/>
                  </a:solidFill>
                </a:endParaRPr>
              </a:p>
              <a:p>
                <a:pPr>
                  <a:buClr>
                    <a:srgbClr val="2C04F4"/>
                  </a:buClr>
                </a:pPr>
                <a:r>
                  <a:rPr lang="en-US" altLang="zh-CN" dirty="0">
                    <a:latin typeface="Times New Roman" panose="02020603050405020304" pitchFamily="18" charset="0"/>
                    <a:cs typeface="Times New Roman" panose="02020603050405020304" pitchFamily="18" charset="0"/>
                  </a:rPr>
                  <a:t>The </a:t>
                </a:r>
                <a:r>
                  <a:rPr lang="en-US" altLang="zh-CN" dirty="0">
                    <a:latin typeface="Times New Roman" panose="02020603050405020304" pitchFamily="18" charset="0"/>
                    <a:cs typeface="Times New Roman" panose="02020603050405020304" pitchFamily="18" charset="0"/>
                  </a:rPr>
                  <a:t>factors significantly affecting the fund's profit rate are the herding effect index </a:t>
                </a:r>
                <a14:m>
                  <m:oMath xmlns:m="http://schemas.openxmlformats.org/officeDocument/2006/math">
                    <m:sSub>
                      <m:sSubPr>
                        <m:ctrlPr>
                          <a:rPr lang="zh-CN" altLang="zh-CN" i="1">
                            <a:latin typeface="Cambria Math" panose="02040503050406030204" pitchFamily="18" charset="0"/>
                            <a:cs typeface="Times New Roman" panose="02020603050405020304" pitchFamily="18" charset="0"/>
                          </a:rPr>
                        </m:ctrlPr>
                      </m:sSubPr>
                      <m:e>
                        <m:r>
                          <a:rPr lang="en-US" altLang="zh-CN">
                            <a:latin typeface="Cambria Math" panose="02040503050406030204" pitchFamily="18" charset="0"/>
                            <a:cs typeface="Times New Roman" panose="02020603050405020304" pitchFamily="18" charset="0"/>
                          </a:rPr>
                          <m:t>𝐹𝐻</m:t>
                        </m:r>
                      </m:e>
                      <m:sub>
                        <m:r>
                          <a:rPr lang="en-US" altLang="zh-CN">
                            <a:latin typeface="Cambria Math" panose="02040503050406030204" pitchFamily="18" charset="0"/>
                            <a:cs typeface="Times New Roman" panose="02020603050405020304" pitchFamily="18" charset="0"/>
                          </a:rPr>
                          <m:t>𝑗𝑡</m:t>
                        </m:r>
                      </m:sub>
                    </m:sSub>
                  </m:oMath>
                </a14:m>
                <a:r>
                  <a:rPr lang="en-US" altLang="zh-CN" dirty="0">
                    <a:latin typeface="Times New Roman" panose="02020603050405020304" pitchFamily="18" charset="0"/>
                    <a:cs typeface="Times New Roman" panose="02020603050405020304" pitchFamily="18" charset="0"/>
                  </a:rPr>
                  <a:t>, fund turnover rate and previous rank or profit rate. </a:t>
                </a:r>
                <a:endParaRPr lang="en-US" altLang="zh-CN" dirty="0">
                  <a:latin typeface="Times New Roman" panose="02020603050405020304" pitchFamily="18" charset="0"/>
                  <a:cs typeface="Times New Roman" panose="02020603050405020304" pitchFamily="18" charset="0"/>
                </a:endParaRPr>
              </a:p>
              <a:p>
                <a:pPr>
                  <a:buClr>
                    <a:srgbClr val="2C04F4"/>
                  </a:buClr>
                </a:pPr>
                <a:endParaRPr lang="en-US" altLang="zh-CN" dirty="0">
                  <a:latin typeface="Times New Roman" panose="02020603050405020304" pitchFamily="18" charset="0"/>
                  <a:cs typeface="Times New Roman" panose="02020603050405020304" pitchFamily="18" charset="0"/>
                </a:endParaRPr>
              </a:p>
              <a:p>
                <a:pPr>
                  <a:buClr>
                    <a:srgbClr val="2C04F4"/>
                  </a:buClr>
                </a:pPr>
                <a:r>
                  <a:rPr lang="en-US" altLang="zh-CN" dirty="0">
                    <a:latin typeface="Times New Roman" panose="02020603050405020304" pitchFamily="18" charset="0"/>
                    <a:cs typeface="Times New Roman" panose="02020603050405020304" pitchFamily="18" charset="0"/>
                  </a:rPr>
                  <a:t>Funds </a:t>
                </a:r>
                <a:r>
                  <a:rPr lang="en-US" altLang="zh-CN" dirty="0">
                    <a:latin typeface="Times New Roman" panose="02020603050405020304" pitchFamily="18" charset="0"/>
                    <a:cs typeface="Times New Roman" panose="02020603050405020304" pitchFamily="18" charset="0"/>
                  </a:rPr>
                  <a:t>who choose their stock picking and holding strategy similar to the “leader” funds will obtained the greater the profit rate in the current period. </a:t>
                </a:r>
                <a:r>
                  <a:rPr lang="en-US" altLang="zh-CN" dirty="0" smtClean="0">
                    <a:latin typeface="Times New Roman" panose="02020603050405020304" pitchFamily="18" charset="0"/>
                    <a:cs typeface="Times New Roman" panose="02020603050405020304" pitchFamily="18" charset="0"/>
                  </a:rPr>
                  <a:t> Hypothesis </a:t>
                </a:r>
                <a:r>
                  <a:rPr lang="en-US" altLang="zh-CN" dirty="0">
                    <a:latin typeface="Times New Roman" panose="02020603050405020304" pitchFamily="18" charset="0"/>
                    <a:cs typeface="Times New Roman" panose="02020603050405020304" pitchFamily="18" charset="0"/>
                  </a:rPr>
                  <a:t>rejected.</a:t>
                </a:r>
                <a:endParaRPr lang="en-US" altLang="zh-CN" dirty="0">
                  <a:latin typeface="Times New Roman" panose="02020603050405020304" pitchFamily="18" charset="0"/>
                  <a:cs typeface="Times New Roman" panose="02020603050405020304" pitchFamily="18" charset="0"/>
                </a:endParaRPr>
              </a:p>
            </p:txBody>
          </p:sp>
        </mc:Choice>
        <mc:Fallback>
          <p:sp>
            <p:nvSpPr>
              <p:cNvPr id="2" name="矩形 1"/>
              <p:cNvSpPr>
                <a:spLocks noRot="1" noChangeAspect="1" noMove="1" noResize="1" noEditPoints="1" noAdjustHandles="1" noChangeArrowheads="1" noChangeShapeType="1" noTextEdit="1"/>
              </p:cNvSpPr>
              <p:nvPr/>
            </p:nvSpPr>
            <p:spPr>
              <a:xfrm>
                <a:off x="301064" y="4778889"/>
                <a:ext cx="9613068" cy="1870256"/>
              </a:xfrm>
              <a:prstGeom prst="rect">
                <a:avLst/>
              </a:prstGeom>
              <a:blipFill>
                <a:blip r:embed="rId3"/>
                <a:stretch>
                  <a:fillRect l="-571" b="-48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9167574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C4DB6611-16B4-41F5-9E0B-0EE9E1879787}"/>
              </a:ext>
            </a:extLst>
          </p:cNvPr>
          <p:cNvSpPr>
            <a:spLocks noGrp="1"/>
          </p:cNvSpPr>
          <p:nvPr>
            <p:ph type="title"/>
          </p:nvPr>
        </p:nvSpPr>
        <p:spPr>
          <a:xfrm>
            <a:off x="680928" y="659008"/>
            <a:ext cx="8542556" cy="1076847"/>
          </a:xfrm>
        </p:spPr>
        <p:txBody>
          <a:bodyPr/>
          <a:lstStyle/>
          <a:p>
            <a:pPr algn="ctr"/>
            <a:r>
              <a:rPr lang="en-US" altLang="zh-CN" b="1" dirty="0">
                <a:solidFill>
                  <a:schemeClr val="bg2"/>
                </a:solidFill>
                <a:latin typeface="Times New Roman" panose="02020603050405020304" pitchFamily="18" charset="0"/>
                <a:cs typeface="Times New Roman" panose="02020603050405020304" pitchFamily="18" charset="0"/>
              </a:rPr>
              <a:t>Regression Model</a:t>
            </a:r>
            <a:endParaRPr lang="zh-CN" altLang="en-US" b="1" dirty="0">
              <a:solidFill>
                <a:schemeClr val="bg2"/>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内容占位符 7">
                <a:extLst>
                  <a:ext uri="{FF2B5EF4-FFF2-40B4-BE49-F238E27FC236}">
                    <a16:creationId xmlns:a16="http://schemas.microsoft.com/office/drawing/2014/main" id="{9818C349-10CA-473E-B0EA-2492C91D32E5}"/>
                  </a:ext>
                </a:extLst>
              </p:cNvPr>
              <p:cNvSpPr>
                <a:spLocks noGrp="1"/>
              </p:cNvSpPr>
              <p:nvPr>
                <p:ph idx="1"/>
              </p:nvPr>
            </p:nvSpPr>
            <p:spPr>
              <a:xfrm>
                <a:off x="680928" y="1515614"/>
                <a:ext cx="8542556" cy="4154137"/>
              </a:xfrm>
            </p:spPr>
            <p:txBody>
              <a:bodyPr>
                <a:normAutofit/>
              </a:bodyPr>
              <a:lstStyle/>
              <a:p>
                <a:pPr marL="0" indent="0">
                  <a:lnSpc>
                    <a:spcPct val="120000"/>
                  </a:lnSpc>
                  <a:buClr>
                    <a:srgbClr val="2C04F4"/>
                  </a:buClr>
                  <a:buNone/>
                </a:pPr>
                <a:r>
                  <a:rPr lang="en-US" altLang="zh-CN" dirty="0">
                    <a:latin typeface="Times New Roman" panose="02020603050405020304" pitchFamily="18" charset="0"/>
                    <a:cs typeface="Times New Roman" panose="02020603050405020304" pitchFamily="18" charset="0"/>
                  </a:rPr>
                  <a:t>Hypothesis 3: Once the herding effect of a fund is discovered, the </a:t>
                </a:r>
                <a:r>
                  <a:rPr lang="en-US" altLang="zh-CN" b="1" dirty="0">
                    <a:latin typeface="Times New Roman" panose="02020603050405020304" pitchFamily="18" charset="0"/>
                    <a:cs typeface="Times New Roman" panose="02020603050405020304" pitchFamily="18" charset="0"/>
                  </a:rPr>
                  <a:t>market will react </a:t>
                </a:r>
                <a:r>
                  <a:rPr lang="en-US" altLang="zh-CN" dirty="0">
                    <a:latin typeface="Times New Roman" panose="02020603050405020304" pitchFamily="18" charset="0"/>
                    <a:cs typeface="Times New Roman" panose="02020603050405020304" pitchFamily="18" charset="0"/>
                  </a:rPr>
                  <a:t>with significant aversion.</a:t>
                </a:r>
              </a:p>
              <a:p>
                <a:pPr marL="0" indent="0">
                  <a:buNone/>
                </a:pPr>
                <a:endParaRPr lang="en-US" altLang="zh-CN" i="1" dirty="0"/>
              </a:p>
              <a:p>
                <a:pPr marL="0" indent="0">
                  <a:lnSpc>
                    <a:spcPct val="120000"/>
                  </a:lnSpc>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𝑗𝑡</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𝛼</m:t>
                          </m:r>
                        </m:e>
                        <m:sub>
                          <m:r>
                            <a:rPr lang="en-US" altLang="zh-CN">
                              <a:latin typeface="Cambria Math" panose="02040503050406030204" pitchFamily="18" charset="0"/>
                            </a:rPr>
                            <m:t>0</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1</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𝐹𝐻</m:t>
                          </m:r>
                        </m:e>
                        <m:sub>
                          <m:r>
                            <a:rPr lang="en-US" altLang="zh-CN" i="1">
                              <a:latin typeface="Cambria Math" panose="02040503050406030204" pitchFamily="18" charset="0"/>
                            </a:rPr>
                            <m:t>𝑗𝑡</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2</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𝐹𝑢𝑛𝑑𝐴𝑔𝑒</m:t>
                          </m:r>
                        </m:e>
                        <m:sub>
                          <m:r>
                            <a:rPr lang="en-US" altLang="zh-CN" i="1">
                              <a:latin typeface="Cambria Math" panose="02040503050406030204" pitchFamily="18" charset="0"/>
                            </a:rPr>
                            <m:t>𝑗𝑡</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3</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𝐸𝑥𝑝𝑒𝑛𝑠𝑒</m:t>
                          </m:r>
                        </m:e>
                        <m:sub>
                          <m:r>
                            <a:rPr lang="en-US" altLang="zh-CN" i="1">
                              <a:latin typeface="Cambria Math" panose="02040503050406030204" pitchFamily="18" charset="0"/>
                            </a:rPr>
                            <m:t>𝑗𝑡</m:t>
                          </m:r>
                        </m:sub>
                      </m:sSub>
                    </m:oMath>
                  </m:oMathPara>
                </a14:m>
                <a:endParaRPr lang="en-US" altLang="zh-CN" i="1" dirty="0"/>
              </a:p>
              <a:p>
                <a:pPr marL="0" indent="0">
                  <a:lnSpc>
                    <a:spcPct val="120000"/>
                  </a:lnSpc>
                  <a:buNone/>
                </a:pPr>
                <a:r>
                  <a:rPr lang="en-US" altLang="zh-CN" dirty="0"/>
                  <a:t>			   </a:t>
                </a:r>
                <a14:m>
                  <m:oMath xmlns:m="http://schemas.openxmlformats.org/officeDocument/2006/math">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4</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𝐹𝑢𝑛𝑑𝑆𝑖𝑧𝑒</m:t>
                        </m:r>
                      </m:e>
                      <m:sub>
                        <m:r>
                          <a:rPr lang="en-US" altLang="zh-CN" i="1">
                            <a:latin typeface="Cambria Math" panose="02040503050406030204" pitchFamily="18" charset="0"/>
                          </a:rPr>
                          <m:t>𝑗𝑡</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5</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𝑡𝑒𝑟𝑚</m:t>
                        </m:r>
                      </m:e>
                      <m:sub>
                        <m:r>
                          <a:rPr lang="en-US" altLang="zh-CN" i="1">
                            <a:latin typeface="Cambria Math" panose="02040503050406030204" pitchFamily="18" charset="0"/>
                          </a:rPr>
                          <m:t>𝑗𝑡</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6</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𝑇𝑢𝑟𝑛𝑜𝑣𝑒𝑟</m:t>
                        </m:r>
                      </m:e>
                      <m:sub>
                        <m:r>
                          <a:rPr lang="en-US" altLang="zh-CN" i="1">
                            <a:latin typeface="Cambria Math" panose="02040503050406030204" pitchFamily="18" charset="0"/>
                          </a:rPr>
                          <m:t>𝑗𝑡</m:t>
                        </m:r>
                      </m:sub>
                    </m:sSub>
                  </m:oMath>
                </a14:m>
                <a:r>
                  <a:rPr lang="en-US" altLang="zh-CN" i="1" dirty="0"/>
                  <a:t>		</a:t>
                </a:r>
                <a14:m>
                  <m:oMath xmlns:m="http://schemas.openxmlformats.org/officeDocument/2006/math">
                    <m:r>
                      <a:rPr lang="en-US" altLang="zh-CN" b="0" i="1" smtClean="0">
                        <a:latin typeface="Cambria Math" panose="02040503050406030204" pitchFamily="18" charset="0"/>
                      </a:rPr>
                      <m:t>                           </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7</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𝜋</m:t>
                        </m:r>
                      </m:e>
                      <m:sub>
                        <m:r>
                          <a:rPr lang="en-US" altLang="zh-CN" i="1">
                            <a:latin typeface="Cambria Math" panose="02040503050406030204" pitchFamily="18" charset="0"/>
                          </a:rPr>
                          <m:t>𝑗𝑡</m:t>
                        </m:r>
                      </m:sub>
                    </m:sSub>
                    <m:d>
                      <m:dPr>
                        <m:ctrlPr>
                          <a:rPr lang="en-US"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a:latin typeface="Cambria Math" panose="02040503050406030204" pitchFamily="18" charset="0"/>
                              </a:rPr>
                              <m:t>7</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𝑅𝑎𝑛𝑘</m:t>
                            </m:r>
                          </m:e>
                          <m:sub>
                            <m:r>
                              <a:rPr lang="en-US" altLang="zh-CN" i="1">
                                <a:latin typeface="Cambria Math" panose="02040503050406030204" pitchFamily="18" charset="0"/>
                              </a:rPr>
                              <m:t>𝑗𝑡</m:t>
                            </m:r>
                          </m:sub>
                        </m:sSub>
                      </m:e>
                    </m:d>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𝛾</m:t>
                        </m:r>
                      </m:e>
                      <m:sub>
                        <m:r>
                          <a:rPr lang="en-US" altLang="zh-CN" i="1">
                            <a:latin typeface="Cambria Math" panose="02040503050406030204" pitchFamily="18" charset="0"/>
                          </a:rPr>
                          <m:t>8</m:t>
                        </m:r>
                      </m:sub>
                    </m:sSub>
                    <m:sSub>
                      <m:sSubPr>
                        <m:ctrlPr>
                          <a:rPr lang="zh-CN" altLang="zh-CN" i="1">
                            <a:latin typeface="Cambria Math" panose="02040503050406030204" pitchFamily="18" charset="0"/>
                          </a:rPr>
                        </m:ctrlPr>
                      </m:sSubPr>
                      <m:e>
                        <m:r>
                          <a:rPr lang="en-US" altLang="zh-CN" i="1">
                            <a:latin typeface="Cambria Math" panose="02040503050406030204" pitchFamily="18" charset="0"/>
                          </a:rPr>
                          <m:t>𝑅𝑖𝑠𝑘</m:t>
                        </m:r>
                      </m:e>
                      <m:sub>
                        <m:r>
                          <a:rPr lang="en-US" altLang="zh-CN" i="1">
                            <a:latin typeface="Cambria Math" panose="02040503050406030204" pitchFamily="18" charset="0"/>
                          </a:rPr>
                          <m:t>𝑗𝑡</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𝜀</m:t>
                        </m:r>
                      </m:e>
                      <m:sub>
                        <m:r>
                          <a:rPr lang="en-US" altLang="zh-CN" i="1">
                            <a:latin typeface="Cambria Math" panose="02040503050406030204" pitchFamily="18" charset="0"/>
                          </a:rPr>
                          <m:t>𝑗𝑡</m:t>
                        </m:r>
                      </m:sub>
                    </m:sSub>
                    <m:r>
                      <a:rPr lang="en-US" altLang="zh-CN" b="0" i="1" smtClean="0">
                        <a:latin typeface="Cambria Math" panose="02040503050406030204" pitchFamily="18" charset="0"/>
                      </a:rPr>
                      <m:t> </m:t>
                    </m:r>
                  </m:oMath>
                </a14:m>
                <a:endParaRPr lang="en-US" altLang="zh-CN" dirty="0"/>
              </a:p>
              <a:p>
                <a:pPr marL="0" indent="0">
                  <a:buNone/>
                </a:pPr>
                <a:endParaRPr lang="en-US" altLang="zh-CN" dirty="0"/>
              </a:p>
              <a:p>
                <a:pPr marL="0" indent="0">
                  <a:lnSpc>
                    <a:spcPct val="120000"/>
                  </a:lnSpc>
                  <a:buClr>
                    <a:srgbClr val="2C04F4"/>
                  </a:buClr>
                  <a:buNone/>
                </a:pPr>
                <a14:m>
                  <m:oMath xmlns:m="http://schemas.openxmlformats.org/officeDocument/2006/math">
                    <m:r>
                      <a:rPr lang="en-US" altLang="zh-CN">
                        <a:latin typeface="Cambria Math" panose="02040503050406030204" pitchFamily="18" charset="0"/>
                        <a:cs typeface="Times New Roman" panose="02020603050405020304" pitchFamily="18" charset="0"/>
                      </a:rPr>
                      <m:t>△</m:t>
                    </m:r>
                    <m:sSub>
                      <m:sSubPr>
                        <m:ctrlPr>
                          <a:rPr lang="zh-CN" altLang="zh-CN" i="1">
                            <a:latin typeface="Cambria Math" panose="02040503050406030204" pitchFamily="18" charset="0"/>
                            <a:cs typeface="Times New Roman" panose="02020603050405020304" pitchFamily="18" charset="0"/>
                          </a:rPr>
                        </m:ctrlPr>
                      </m:sSubPr>
                      <m:e>
                        <m:r>
                          <a:rPr lang="en-US" altLang="zh-CN">
                            <a:latin typeface="Cambria Math" panose="02040503050406030204" pitchFamily="18" charset="0"/>
                            <a:cs typeface="Times New Roman" panose="02020603050405020304" pitchFamily="18" charset="0"/>
                          </a:rPr>
                          <m:t>𝑃</m:t>
                        </m:r>
                      </m:e>
                      <m:sub>
                        <m:r>
                          <a:rPr lang="en-US" altLang="zh-CN">
                            <a:latin typeface="Cambria Math" panose="02040503050406030204" pitchFamily="18" charset="0"/>
                            <a:cs typeface="Times New Roman" panose="02020603050405020304" pitchFamily="18" charset="0"/>
                          </a:rPr>
                          <m:t>𝑗𝑡</m:t>
                        </m:r>
                      </m:sub>
                    </m:sSub>
                  </m:oMath>
                </a14:m>
                <a:r>
                  <a:rPr lang="en-US" altLang="zh-CN" dirty="0">
                    <a:latin typeface="Times New Roman" panose="02020603050405020304" pitchFamily="18" charset="0"/>
                    <a:cs typeface="Times New Roman" panose="02020603050405020304" pitchFamily="18" charset="0"/>
                  </a:rPr>
                  <a:t> - the fund's relative price changes (Compared to Shanghai </a:t>
                </a:r>
                <a:r>
                  <a:rPr lang="en-US" altLang="zh-CN" dirty="0" smtClean="0">
                    <a:latin typeface="Times New Roman" panose="02020603050405020304" pitchFamily="18" charset="0"/>
                    <a:cs typeface="Times New Roman" panose="02020603050405020304" pitchFamily="18" charset="0"/>
                  </a:rPr>
                  <a:t>Composite </a:t>
                </a:r>
                <a:r>
                  <a:rPr lang="en-US" altLang="zh-CN" dirty="0">
                    <a:latin typeface="Times New Roman" panose="02020603050405020304" pitchFamily="18" charset="0"/>
                    <a:cs typeface="Times New Roman" panose="02020603050405020304" pitchFamily="18" charset="0"/>
                  </a:rPr>
                  <a:t>Index</a:t>
                </a:r>
                <a:r>
                  <a:rPr lang="en-US" altLang="zh-CN" dirty="0" smtClean="0">
                    <a:latin typeface="Times New Roman" panose="02020603050405020304" pitchFamily="18" charset="0"/>
                    <a:cs typeface="Times New Roman" panose="02020603050405020304" pitchFamily="18" charset="0"/>
                  </a:rPr>
                  <a:t>)</a:t>
                </a:r>
              </a:p>
              <a:p>
                <a:pPr marL="0" indent="0">
                  <a:lnSpc>
                    <a:spcPct val="120000"/>
                  </a:lnSpc>
                  <a:buClr>
                    <a:srgbClr val="2C04F4"/>
                  </a:buClr>
                  <a:buNone/>
                </a:pPr>
                <a:r>
                  <a:rPr lang="en-US" altLang="zh-CN" dirty="0" smtClean="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for a period of time after the financial </a:t>
                </a:r>
                <a:r>
                  <a:rPr lang="en-US" altLang="zh-CN" dirty="0" smtClean="0">
                    <a:latin typeface="Times New Roman" panose="02020603050405020304" pitchFamily="18" charset="0"/>
                    <a:cs typeface="Times New Roman" panose="02020603050405020304" pitchFamily="18" charset="0"/>
                  </a:rPr>
                  <a:t>report </a:t>
                </a:r>
                <a:r>
                  <a:rPr lang="en-US" altLang="zh-CN" dirty="0">
                    <a:latin typeface="Times New Roman" panose="02020603050405020304" pitchFamily="18" charset="0"/>
                    <a:cs typeface="Times New Roman" panose="02020603050405020304" pitchFamily="18" charset="0"/>
                  </a:rPr>
                  <a:t>was published.</a:t>
                </a:r>
              </a:p>
              <a:p>
                <a:pPr marL="0" indent="0">
                  <a:buNone/>
                </a:pPr>
                <a:endParaRPr lang="en-US" altLang="zh-CN" dirty="0"/>
              </a:p>
              <a:p>
                <a:pPr marL="0" indent="0">
                  <a:buNone/>
                </a:pPr>
                <a:endParaRPr lang="en-US" altLang="zh-CN" dirty="0">
                  <a:solidFill>
                    <a:schemeClr val="tx2"/>
                  </a:solidFill>
                </a:endParaRPr>
              </a:p>
              <a:p>
                <a:pPr marL="0" indent="0">
                  <a:buNone/>
                </a:pPr>
                <a:endParaRPr lang="en-US" altLang="zh-CN" dirty="0">
                  <a:solidFill>
                    <a:schemeClr val="tx2"/>
                  </a:solidFill>
                </a:endParaRPr>
              </a:p>
              <a:p>
                <a:endParaRPr lang="en-US" altLang="zh-CN" dirty="0">
                  <a:solidFill>
                    <a:schemeClr val="tx2"/>
                  </a:solidFill>
                </a:endParaRPr>
              </a:p>
              <a:p>
                <a:pPr marL="0" indent="0">
                  <a:buNone/>
                </a:pPr>
                <a:endParaRPr lang="en-US" altLang="zh-CN" dirty="0">
                  <a:solidFill>
                    <a:schemeClr val="tx2"/>
                  </a:solidFill>
                </a:endParaRPr>
              </a:p>
              <a:p>
                <a:endParaRPr lang="zh-CN" altLang="en-US" dirty="0">
                  <a:solidFill>
                    <a:schemeClr val="tx2"/>
                  </a:solidFill>
                </a:endParaRPr>
              </a:p>
            </p:txBody>
          </p:sp>
        </mc:Choice>
        <mc:Fallback>
          <p:sp>
            <p:nvSpPr>
              <p:cNvPr id="8" name="内容占位符 7">
                <a:extLst>
                  <a:ext uri="{FF2B5EF4-FFF2-40B4-BE49-F238E27FC236}">
                    <a16:creationId xmlns:a16="http://schemas.microsoft.com/office/drawing/2014/main" id="{9818C349-10CA-473E-B0EA-2492C91D32E5}"/>
                  </a:ext>
                </a:extLst>
              </p:cNvPr>
              <p:cNvSpPr>
                <a:spLocks noGrp="1" noRot="1" noChangeAspect="1" noMove="1" noResize="1" noEditPoints="1" noAdjustHandles="1" noChangeArrowheads="1" noChangeShapeType="1" noTextEdit="1"/>
              </p:cNvSpPr>
              <p:nvPr>
                <p:ph idx="1"/>
              </p:nvPr>
            </p:nvSpPr>
            <p:spPr>
              <a:xfrm>
                <a:off x="680928" y="1515614"/>
                <a:ext cx="8542556" cy="4154137"/>
              </a:xfr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033992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内容占位符 3">
                <a:extLst>
                  <a:ext uri="{FF2B5EF4-FFF2-40B4-BE49-F238E27FC236}">
                    <a16:creationId xmlns:a16="http://schemas.microsoft.com/office/drawing/2014/main" id="{5C9EB33D-D6BA-4725-870C-3CDBCA58FB01}"/>
                  </a:ext>
                </a:extLst>
              </p:cNvPr>
              <p:cNvGraphicFramePr>
                <a:graphicFrameLocks noGrp="1"/>
              </p:cNvGraphicFramePr>
              <p:nvPr>
                <p:ph idx="1"/>
                <p:extLst/>
              </p:nvPr>
            </p:nvGraphicFramePr>
            <p:xfrm>
              <a:off x="924580" y="880534"/>
              <a:ext cx="7944371" cy="3086566"/>
            </p:xfrm>
            <a:graphic>
              <a:graphicData uri="http://schemas.openxmlformats.org/drawingml/2006/table">
                <a:tbl>
                  <a:tblPr firstRow="1" firstCol="1" bandRow="1"/>
                  <a:tblGrid>
                    <a:gridCol w="1558750">
                      <a:extLst>
                        <a:ext uri="{9D8B030D-6E8A-4147-A177-3AD203B41FA5}">
                          <a16:colId xmlns:a16="http://schemas.microsoft.com/office/drawing/2014/main" val="399477976"/>
                        </a:ext>
                      </a:extLst>
                    </a:gridCol>
                    <a:gridCol w="1689230">
                      <a:extLst>
                        <a:ext uri="{9D8B030D-6E8A-4147-A177-3AD203B41FA5}">
                          <a16:colId xmlns:a16="http://schemas.microsoft.com/office/drawing/2014/main" val="3695105300"/>
                        </a:ext>
                      </a:extLst>
                    </a:gridCol>
                    <a:gridCol w="1689230">
                      <a:extLst>
                        <a:ext uri="{9D8B030D-6E8A-4147-A177-3AD203B41FA5}">
                          <a16:colId xmlns:a16="http://schemas.microsoft.com/office/drawing/2014/main" val="152337750"/>
                        </a:ext>
                      </a:extLst>
                    </a:gridCol>
                    <a:gridCol w="1298666">
                      <a:extLst>
                        <a:ext uri="{9D8B030D-6E8A-4147-A177-3AD203B41FA5}">
                          <a16:colId xmlns:a16="http://schemas.microsoft.com/office/drawing/2014/main" val="3182336302"/>
                        </a:ext>
                      </a:extLst>
                    </a:gridCol>
                    <a:gridCol w="1708495">
                      <a:extLst>
                        <a:ext uri="{9D8B030D-6E8A-4147-A177-3AD203B41FA5}">
                          <a16:colId xmlns:a16="http://schemas.microsoft.com/office/drawing/2014/main" val="1832406161"/>
                        </a:ext>
                      </a:extLst>
                    </a:gridCol>
                  </a:tblGrid>
                  <a:tr h="300950">
                    <a:tc>
                      <a:txBody>
                        <a:bodyPr/>
                        <a:lstStyle/>
                        <a:p>
                          <a:pPr indent="381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indent="38100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Dependent variable</a:t>
                          </a:r>
                          <a:r>
                            <a:rPr lang="zh-CN" sz="1200" kern="100" dirty="0">
                              <a:solidFill>
                                <a:srgbClr val="000000"/>
                              </a:solidFill>
                              <a:effectLst/>
                              <a:latin typeface="Times New Roman" panose="02020603050405020304" pitchFamily="18" charset="0"/>
                              <a:ea typeface="仿宋_GB2312"/>
                              <a:cs typeface="Times New Roman" panose="02020603050405020304" pitchFamily="18" charset="0"/>
                            </a:rPr>
                            <a:t>：</a:t>
                          </a: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Quote change </a:t>
                          </a:r>
                          <a14:m>
                            <m:oMath xmlns:m="http://schemas.openxmlformats.org/officeDocument/2006/math">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sz="12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𝑃</m:t>
                                  </m:r>
                                </m:e>
                                <m:sub>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𝑗𝑡</m:t>
                                  </m:r>
                                </m:sub>
                              </m:sSub>
                            </m:oMath>
                          </a14:m>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a:txBody>
                        <a:bodyPr/>
                        <a:lstStyle/>
                        <a:p>
                          <a:pPr indent="381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761434"/>
                      </a:ext>
                    </a:extLst>
                  </a:tr>
                  <a:tr h="557123">
                    <a:tc>
                      <a:txBody>
                        <a:bodyPr/>
                        <a:lstStyle/>
                        <a:p>
                          <a:pPr algn="l">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sz="1200" b="1" i="1" kern="100"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b="1" i="1" kern="100">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𝑭𝑯</m:t>
                                    </m:r>
                                  </m:e>
                                  <m:sub>
                                    <m:r>
                                      <a:rPr lang="en-US" sz="1200" b="1" i="1" kern="100">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𝒋𝒕</m:t>
                                    </m:r>
                                  </m:sub>
                                </m:sSub>
                              </m:oMath>
                            </m:oMathPara>
                          </a14:m>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508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-0.049</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p>
                          <a:pPr indent="508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(0.040)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508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-0.056</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p>
                          <a:pPr indent="508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(0.040)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-0.050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p>
                          <a:pPr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(0.040)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-0.052</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p>
                          <a:pPr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(0.040)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741625999"/>
                      </a:ext>
                    </a:extLst>
                  </a:tr>
                  <a:tr h="557123">
                    <a:tc>
                      <a:txBody>
                        <a:bodyPr/>
                        <a:lstStyle/>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sz="1200" b="1"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𝝅</m:t>
                                    </m:r>
                                  </m:e>
                                  <m:sub>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𝒋</m:t>
                                    </m:r>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𝒕</m:t>
                                    </m:r>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𝟏</m:t>
                                    </m:r>
                                  </m:sub>
                                </m:sSub>
                              </m:oMath>
                            </m:oMathPara>
                          </a14:m>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0.224***</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(0.042)</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0.222***</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(0.042)</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extLst>
                      <a:ext uri="{0D108BD9-81ED-4DB2-BD59-A6C34878D82A}">
                        <a16:rowId xmlns:a16="http://schemas.microsoft.com/office/drawing/2014/main" val="1449552505"/>
                      </a:ext>
                    </a:extLst>
                  </a:tr>
                  <a:tr h="557123">
                    <a:tc>
                      <a:txBody>
                        <a:bodyPr/>
                        <a:lstStyle/>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sz="1200" b="1"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𝑹𝒂𝒏𝒌</m:t>
                                    </m:r>
                                  </m:e>
                                  <m:sub>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𝒋</m:t>
                                    </m:r>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𝒕</m:t>
                                    </m:r>
                                    <m:r>
                                      <a:rPr lang="en-US" sz="1200" b="1" i="1" kern="100">
                                        <a:solidFill>
                                          <a:srgbClr val="FF0000"/>
                                        </a:solidFill>
                                        <a:effectLst/>
                                        <a:latin typeface="Cambria Math" panose="02040503050406030204" pitchFamily="18" charset="0"/>
                                        <a:ea typeface="微软雅黑" panose="020B0503020204020204" pitchFamily="34" charset="-122"/>
                                        <a:cs typeface="Times New Roman" panose="02020603050405020304" pitchFamily="18" charset="0"/>
                                      </a:rPr>
                                      <m:t>−</m:t>
                                    </m:r>
                                    <m:r>
                                      <a:rPr lang="en-US" sz="1200" b="1"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𝟏</m:t>
                                    </m:r>
                                  </m:sub>
                                </m:sSub>
                              </m:oMath>
                            </m:oMathPara>
                          </a14:m>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-0.385***</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(0.045)</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-0.386***</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(0.045)</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extLst>
                      <a:ext uri="{0D108BD9-81ED-4DB2-BD59-A6C34878D82A}">
                        <a16:rowId xmlns:a16="http://schemas.microsoft.com/office/drawing/2014/main" val="2272922582"/>
                      </a:ext>
                    </a:extLst>
                  </a:tr>
                  <a:tr h="557123">
                    <a:tc>
                      <a:txBody>
                        <a:bodyPr/>
                        <a:lstStyle/>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sz="1200" b="1" i="1" kern="100" smtClean="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𝑹𝒊𝒔𝒌</m:t>
                                </m:r>
                              </m:oMath>
                            </m:oMathPara>
                          </a14:m>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-0.180***</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-0.204***</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-0.453***</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-0.464***</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extLst>
                      <a:ext uri="{0D108BD9-81ED-4DB2-BD59-A6C34878D82A}">
                        <a16:rowId xmlns:a16="http://schemas.microsoft.com/office/drawing/2014/main" val="1505129107"/>
                      </a:ext>
                    </a:extLst>
                  </a:tr>
                  <a:tr h="278562">
                    <a:tc>
                      <a:txBody>
                        <a:bodyPr/>
                        <a:lstStyle/>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𝐴𝑑𝑗</m:t>
                                </m:r>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 </m:t>
                                </m:r>
                                <m:sSup>
                                  <m:sSupPr>
                                    <m:ctrlPr>
                                      <a:rPr lang="zh-CN" sz="1200" i="1" kern="100">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𝑅</m:t>
                                    </m:r>
                                  </m:e>
                                  <m:sup>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2</m:t>
                                    </m:r>
                                  </m:sup>
                                </m:sSup>
                              </m:oMath>
                            </m:oMathPara>
                          </a14:m>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marL="228600"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0.070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marL="228600"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0.128</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0.189</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0.191</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extLst>
                      <a:ext uri="{0D108BD9-81ED-4DB2-BD59-A6C34878D82A}">
                        <a16:rowId xmlns:a16="http://schemas.microsoft.com/office/drawing/2014/main" val="3601503077"/>
                      </a:ext>
                    </a:extLst>
                  </a:tr>
                  <a:tr h="278562">
                    <a:tc>
                      <a:txBody>
                        <a:bodyPr/>
                        <a:lstStyle/>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𝐹</m:t>
                                </m:r>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sz="1200" i="1" kern="100">
                                    <a:solidFill>
                                      <a:srgbClr val="000000"/>
                                    </a:solidFill>
                                    <a:effectLst/>
                                    <a:latin typeface="Cambria Math" panose="02040503050406030204" pitchFamily="18" charset="0"/>
                                    <a:ea typeface="宋体" panose="02010600030101010101" pitchFamily="2" charset="-122"/>
                                    <a:cs typeface="Times New Roman" panose="02020603050405020304" pitchFamily="18" charset="0"/>
                                  </a:rPr>
                                  <m:t>𝑡𝑒𝑠𝑡</m:t>
                                </m:r>
                              </m:oMath>
                            </m:oMathPara>
                          </a14:m>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228600"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228600"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9591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5234756"/>
                      </a:ext>
                    </a:extLst>
                  </a:tr>
                </a:tbl>
              </a:graphicData>
            </a:graphic>
          </p:graphicFrame>
        </mc:Choice>
        <mc:Fallback xmlns="">
          <p:graphicFrame>
            <p:nvGraphicFramePr>
              <p:cNvPr id="4" name="内容占位符 3">
                <a:extLst>
                  <a:ext uri="{FF2B5EF4-FFF2-40B4-BE49-F238E27FC236}">
                    <a16:creationId xmlns:a16="http://schemas.microsoft.com/office/drawing/2014/main" id="{5C9EB33D-D6BA-4725-870C-3CDBCA58FB01}"/>
                  </a:ext>
                </a:extLst>
              </p:cNvPr>
              <p:cNvGraphicFramePr>
                <a:graphicFrameLocks noGrp="1"/>
              </p:cNvGraphicFramePr>
              <p:nvPr>
                <p:ph idx="1"/>
                <p:extLst/>
              </p:nvPr>
            </p:nvGraphicFramePr>
            <p:xfrm>
              <a:off x="924580" y="880534"/>
              <a:ext cx="7944371" cy="3086566"/>
            </p:xfrm>
            <a:graphic>
              <a:graphicData uri="http://schemas.openxmlformats.org/drawingml/2006/table">
                <a:tbl>
                  <a:tblPr firstRow="1" firstCol="1" bandRow="1"/>
                  <a:tblGrid>
                    <a:gridCol w="1558750">
                      <a:extLst>
                        <a:ext uri="{9D8B030D-6E8A-4147-A177-3AD203B41FA5}">
                          <a16:colId xmlns:a16="http://schemas.microsoft.com/office/drawing/2014/main" val="399477976"/>
                        </a:ext>
                      </a:extLst>
                    </a:gridCol>
                    <a:gridCol w="1689230">
                      <a:extLst>
                        <a:ext uri="{9D8B030D-6E8A-4147-A177-3AD203B41FA5}">
                          <a16:colId xmlns:a16="http://schemas.microsoft.com/office/drawing/2014/main" val="3695105300"/>
                        </a:ext>
                      </a:extLst>
                    </a:gridCol>
                    <a:gridCol w="1689230">
                      <a:extLst>
                        <a:ext uri="{9D8B030D-6E8A-4147-A177-3AD203B41FA5}">
                          <a16:colId xmlns:a16="http://schemas.microsoft.com/office/drawing/2014/main" val="152337750"/>
                        </a:ext>
                      </a:extLst>
                    </a:gridCol>
                    <a:gridCol w="1298666">
                      <a:extLst>
                        <a:ext uri="{9D8B030D-6E8A-4147-A177-3AD203B41FA5}">
                          <a16:colId xmlns:a16="http://schemas.microsoft.com/office/drawing/2014/main" val="3182336302"/>
                        </a:ext>
                      </a:extLst>
                    </a:gridCol>
                    <a:gridCol w="1708495">
                      <a:extLst>
                        <a:ext uri="{9D8B030D-6E8A-4147-A177-3AD203B41FA5}">
                          <a16:colId xmlns:a16="http://schemas.microsoft.com/office/drawing/2014/main" val="1832406161"/>
                        </a:ext>
                      </a:extLst>
                    </a:gridCol>
                  </a:tblGrid>
                  <a:tr h="300950">
                    <a:tc>
                      <a:txBody>
                        <a:bodyPr/>
                        <a:lstStyle/>
                        <a:p>
                          <a:pPr indent="381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endParaRPr lang="zh-CN"/>
                        </a:p>
                      </a:txBody>
                      <a:tcPr marL="27842" marR="27842"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2"/>
                          <a:stretch>
                            <a:fillRect l="-33333" t="-2041" r="-36589" b="-955102"/>
                          </a:stretch>
                        </a:blipFill>
                      </a:tcPr>
                    </a:tc>
                    <a:tc hMerge="1">
                      <a:txBody>
                        <a:bodyPr/>
                        <a:lstStyle/>
                        <a:p>
                          <a:endParaRPr lang="zh-CN" altLang="en-US"/>
                        </a:p>
                      </a:txBody>
                      <a:tcPr/>
                    </a:tc>
                    <a:tc hMerge="1">
                      <a:txBody>
                        <a:bodyPr/>
                        <a:lstStyle/>
                        <a:p>
                          <a:endParaRPr lang="zh-CN" altLang="en-US"/>
                        </a:p>
                      </a:txBody>
                      <a:tcPr/>
                    </a:tc>
                    <a:tc>
                      <a:txBody>
                        <a:bodyPr/>
                        <a:lstStyle/>
                        <a:p>
                          <a:pPr indent="381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 </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761434"/>
                      </a:ext>
                    </a:extLst>
                  </a:tr>
                  <a:tr h="557123">
                    <a:tc>
                      <a:txBody>
                        <a:bodyPr/>
                        <a:lstStyle/>
                        <a:p>
                          <a:endParaRPr lang="zh-CN"/>
                        </a:p>
                      </a:txBody>
                      <a:tcPr marL="27842" marR="27842" marT="0" marB="0">
                        <a:lnL>
                          <a:noFill/>
                        </a:lnL>
                        <a:lnR>
                          <a:noFill/>
                        </a:lnR>
                        <a:lnT w="12700" cap="flat" cmpd="sng" algn="ctr">
                          <a:solidFill>
                            <a:srgbClr val="000000"/>
                          </a:solidFill>
                          <a:prstDash val="solid"/>
                          <a:round/>
                          <a:headEnd type="none" w="med" len="med"/>
                          <a:tailEnd type="none" w="med" len="med"/>
                        </a:lnT>
                        <a:lnB>
                          <a:noFill/>
                        </a:lnB>
                        <a:blipFill>
                          <a:blip r:embed="rId2"/>
                          <a:stretch>
                            <a:fillRect t="-54348" r="-409766" b="-408696"/>
                          </a:stretch>
                        </a:blipFill>
                      </a:tcPr>
                    </a:tc>
                    <a:tc>
                      <a:txBody>
                        <a:bodyPr/>
                        <a:lstStyle/>
                        <a:p>
                          <a:pPr indent="508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-0.049</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p>
                          <a:pPr indent="508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(0.040)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508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-0.056</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p>
                          <a:pPr indent="508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(0.040)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-0.050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p>
                          <a:pPr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(0.040)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-0.052</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p>
                          <a:pPr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(0.040)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741625999"/>
                      </a:ext>
                    </a:extLst>
                  </a:tr>
                  <a:tr h="557123">
                    <a:tc>
                      <a:txBody>
                        <a:bodyPr/>
                        <a:lstStyle/>
                        <a:p>
                          <a:endParaRPr lang="zh-CN"/>
                        </a:p>
                      </a:txBody>
                      <a:tcPr marL="27842" marR="27842" marT="0" marB="0">
                        <a:lnL>
                          <a:noFill/>
                        </a:lnL>
                        <a:lnR>
                          <a:noFill/>
                        </a:lnR>
                        <a:lnT>
                          <a:noFill/>
                        </a:lnT>
                        <a:lnB>
                          <a:noFill/>
                        </a:lnB>
                        <a:blipFill>
                          <a:blip r:embed="rId2"/>
                          <a:stretch>
                            <a:fillRect t="-156044" r="-409766" b="-313187"/>
                          </a:stretch>
                        </a:blipFill>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0.224***</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(0.042)</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0.222***</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(0.042)</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extLst>
                      <a:ext uri="{0D108BD9-81ED-4DB2-BD59-A6C34878D82A}">
                        <a16:rowId xmlns:a16="http://schemas.microsoft.com/office/drawing/2014/main" val="1449552505"/>
                      </a:ext>
                    </a:extLst>
                  </a:tr>
                  <a:tr h="557123">
                    <a:tc>
                      <a:txBody>
                        <a:bodyPr/>
                        <a:lstStyle/>
                        <a:p>
                          <a:endParaRPr lang="zh-CN"/>
                        </a:p>
                      </a:txBody>
                      <a:tcPr marL="27842" marR="27842" marT="0" marB="0">
                        <a:lnL>
                          <a:noFill/>
                        </a:lnL>
                        <a:lnR>
                          <a:noFill/>
                        </a:lnR>
                        <a:lnT>
                          <a:noFill/>
                        </a:lnT>
                        <a:lnB>
                          <a:noFill/>
                        </a:lnB>
                        <a:blipFill>
                          <a:blip r:embed="rId2"/>
                          <a:stretch>
                            <a:fillRect t="-253261" r="-409766" b="-209783"/>
                          </a:stretch>
                        </a:blipFill>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 </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-0.385***</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(0.045)</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-0.386***</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(0.045)</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extLst>
                      <a:ext uri="{0D108BD9-81ED-4DB2-BD59-A6C34878D82A}">
                        <a16:rowId xmlns:a16="http://schemas.microsoft.com/office/drawing/2014/main" val="2272922582"/>
                      </a:ext>
                    </a:extLst>
                  </a:tr>
                  <a:tr h="557123">
                    <a:tc>
                      <a:txBody>
                        <a:bodyPr/>
                        <a:lstStyle/>
                        <a:p>
                          <a:endParaRPr lang="zh-CN"/>
                        </a:p>
                      </a:txBody>
                      <a:tcPr marL="27842" marR="27842" marT="0" marB="0">
                        <a:lnL>
                          <a:noFill/>
                        </a:lnL>
                        <a:lnR>
                          <a:noFill/>
                        </a:lnR>
                        <a:lnT>
                          <a:noFill/>
                        </a:lnT>
                        <a:lnB>
                          <a:noFill/>
                        </a:lnB>
                        <a:blipFill>
                          <a:blip r:embed="rId2"/>
                          <a:stretch>
                            <a:fillRect t="-357143" r="-409766" b="-112088"/>
                          </a:stretch>
                        </a:blipFill>
                      </a:tcPr>
                    </a:tc>
                    <a:tc>
                      <a:txBody>
                        <a:bodyPr/>
                        <a:lstStyle/>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-0.180***</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-0.204***</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marL="228600" indent="25400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-0.453***</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-0.464***</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p>
                          <a:pPr indent="295910" algn="ctr">
                            <a:lnSpc>
                              <a:spcPct val="150000"/>
                            </a:lnSpc>
                            <a:spcAft>
                              <a:spcPts val="0"/>
                            </a:spcAft>
                          </a:pPr>
                          <a:r>
                            <a:rPr lang="en-US" sz="1200" kern="100" dirty="0">
                              <a:solidFill>
                                <a:srgbClr val="FF0000"/>
                              </a:solidFill>
                              <a:effectLst/>
                              <a:latin typeface="Times New Roman" panose="02020603050405020304" pitchFamily="18" charset="0"/>
                              <a:ea typeface="仿宋_GB2312"/>
                              <a:cs typeface="Times New Roman" panose="02020603050405020304" pitchFamily="18" charset="0"/>
                            </a:rPr>
                            <a:t>(0.047)</a:t>
                          </a:r>
                          <a:endParaRPr lang="zh-CN" sz="12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extLst>
                      <a:ext uri="{0D108BD9-81ED-4DB2-BD59-A6C34878D82A}">
                        <a16:rowId xmlns:a16="http://schemas.microsoft.com/office/drawing/2014/main" val="1505129107"/>
                      </a:ext>
                    </a:extLst>
                  </a:tr>
                  <a:tr h="278562">
                    <a:tc>
                      <a:txBody>
                        <a:bodyPr/>
                        <a:lstStyle/>
                        <a:p>
                          <a:endParaRPr lang="zh-CN"/>
                        </a:p>
                      </a:txBody>
                      <a:tcPr marL="27842" marR="27842" marT="0" marB="0">
                        <a:lnL>
                          <a:noFill/>
                        </a:lnL>
                        <a:lnR>
                          <a:noFill/>
                        </a:lnR>
                        <a:lnT>
                          <a:noFill/>
                        </a:lnT>
                        <a:lnB>
                          <a:noFill/>
                        </a:lnB>
                        <a:blipFill>
                          <a:blip r:embed="rId2"/>
                          <a:stretch>
                            <a:fillRect t="-904348" r="-409766" b="-121739"/>
                          </a:stretch>
                        </a:blipFill>
                      </a:tcPr>
                    </a:tc>
                    <a:tc>
                      <a:txBody>
                        <a:bodyPr/>
                        <a:lstStyle/>
                        <a:p>
                          <a:pPr marL="228600"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0.070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marL="228600"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0.128</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0.189</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0.191</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a:noFill/>
                        </a:lnB>
                      </a:tcPr>
                    </a:tc>
                    <a:extLst>
                      <a:ext uri="{0D108BD9-81ED-4DB2-BD59-A6C34878D82A}">
                        <a16:rowId xmlns:a16="http://schemas.microsoft.com/office/drawing/2014/main" val="3601503077"/>
                      </a:ext>
                    </a:extLst>
                  </a:tr>
                  <a:tr h="278562">
                    <a:tc>
                      <a:txBody>
                        <a:bodyPr/>
                        <a:lstStyle/>
                        <a:p>
                          <a:endParaRPr lang="zh-CN"/>
                        </a:p>
                      </a:txBody>
                      <a:tcPr marL="27842" marR="27842" marT="0" marB="0">
                        <a:lnL>
                          <a:noFill/>
                        </a:lnL>
                        <a:lnR>
                          <a:noFill/>
                        </a:lnR>
                        <a:lnT>
                          <a:noFill/>
                        </a:lnT>
                        <a:lnB w="12700" cap="flat" cmpd="sng" algn="ctr">
                          <a:solidFill>
                            <a:srgbClr val="000000"/>
                          </a:solidFill>
                          <a:prstDash val="solid"/>
                          <a:round/>
                          <a:headEnd type="none" w="med" len="med"/>
                          <a:tailEnd type="none" w="med" len="med"/>
                        </a:lnB>
                        <a:blipFill>
                          <a:blip r:embed="rId2"/>
                          <a:stretch>
                            <a:fillRect t="-1004348" r="-409766" b="-21739"/>
                          </a:stretch>
                        </a:blipFill>
                      </a:tcPr>
                    </a:tc>
                    <a:tc>
                      <a:txBody>
                        <a:bodyPr/>
                        <a:lstStyle/>
                        <a:p>
                          <a:pPr marL="228600"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marL="228600" indent="25400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95910" algn="ctr">
                            <a:lnSpc>
                              <a:spcPct val="150000"/>
                            </a:lnSpc>
                            <a:spcAft>
                              <a:spcPts val="0"/>
                            </a:spcAft>
                          </a:pPr>
                          <a:r>
                            <a:rPr lang="en-US" sz="1200" kern="10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indent="295910" algn="ctr">
                            <a:lnSpc>
                              <a:spcPct val="150000"/>
                            </a:lnSpc>
                            <a:spcAft>
                              <a:spcPts val="0"/>
                            </a:spcAft>
                          </a:pPr>
                          <a:r>
                            <a:rPr lang="en-US" sz="1200" kern="100" dirty="0">
                              <a:solidFill>
                                <a:srgbClr val="000000"/>
                              </a:solidFill>
                              <a:effectLst/>
                              <a:latin typeface="Times New Roman" panose="02020603050405020304" pitchFamily="18" charset="0"/>
                              <a:ea typeface="仿宋_GB2312"/>
                              <a:cs typeface="Times New Roman" panose="02020603050405020304" pitchFamily="18" charset="0"/>
                            </a:rPr>
                            <a:t>0.000</a:t>
                          </a:r>
                          <a:endParaRPr lang="zh-CN" sz="12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27842" marR="27842"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5234756"/>
                      </a:ext>
                    </a:extLst>
                  </a:tr>
                </a:tbl>
              </a:graphicData>
            </a:graphic>
          </p:graphicFrame>
        </mc:Fallback>
      </mc:AlternateContent>
      <p:sp>
        <p:nvSpPr>
          <p:cNvPr id="2" name="矩形 1"/>
          <p:cNvSpPr/>
          <p:nvPr/>
        </p:nvSpPr>
        <p:spPr>
          <a:xfrm>
            <a:off x="924580" y="4259213"/>
            <a:ext cx="7782007" cy="1467709"/>
          </a:xfrm>
          <a:prstGeom prst="rect">
            <a:avLst/>
          </a:prstGeom>
        </p:spPr>
        <p:txBody>
          <a:bodyPr wrap="square">
            <a:spAutoFit/>
          </a:bodyPr>
          <a:lstStyle/>
          <a:p>
            <a:pPr>
              <a:lnSpc>
                <a:spcPct val="110000"/>
              </a:lnSpc>
              <a:buClr>
                <a:srgbClr val="2C04F4"/>
              </a:buClr>
            </a:pPr>
            <a:r>
              <a:rPr lang="en-US" altLang="zh-CN" sz="1625" dirty="0">
                <a:latin typeface="Times New Roman" panose="02020603050405020304" pitchFamily="18" charset="0"/>
                <a:cs typeface="Times New Roman" panose="02020603050405020304" pitchFamily="18" charset="0"/>
              </a:rPr>
              <a:t>The variables that have a significant impact on the current fund market are the fund risk, the current rank and the current profit rate, and other control variables do not show significant correlation. </a:t>
            </a:r>
          </a:p>
          <a:p>
            <a:pPr>
              <a:lnSpc>
                <a:spcPct val="110000"/>
              </a:lnSpc>
              <a:buClr>
                <a:srgbClr val="2C04F4"/>
              </a:buClr>
            </a:pPr>
            <a:endParaRPr lang="en-US" altLang="zh-CN" sz="1625" dirty="0">
              <a:latin typeface="Times New Roman" panose="02020603050405020304" pitchFamily="18" charset="0"/>
              <a:cs typeface="Times New Roman" panose="02020603050405020304" pitchFamily="18" charset="0"/>
            </a:endParaRPr>
          </a:p>
          <a:p>
            <a:pPr>
              <a:lnSpc>
                <a:spcPct val="110000"/>
              </a:lnSpc>
              <a:buClr>
                <a:srgbClr val="2C04F4"/>
              </a:buClr>
            </a:pPr>
            <a:r>
              <a:rPr lang="en-US" altLang="zh-CN" sz="1625" dirty="0">
                <a:latin typeface="Times New Roman" panose="02020603050405020304" pitchFamily="18" charset="0"/>
                <a:cs typeface="Times New Roman" panose="02020603050405020304" pitchFamily="18" charset="0"/>
              </a:rPr>
              <a:t>The herding effect index we care about does not show a significant effect to fund price. </a:t>
            </a:r>
            <a:endParaRPr lang="zh-CN" altLang="en-US" sz="162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955064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C4DB6611-16B4-41F5-9E0B-0EE9E1879787}"/>
              </a:ext>
            </a:extLst>
          </p:cNvPr>
          <p:cNvSpPr>
            <a:spLocks noGrp="1"/>
          </p:cNvSpPr>
          <p:nvPr>
            <p:ph type="title"/>
          </p:nvPr>
        </p:nvSpPr>
        <p:spPr>
          <a:xfrm>
            <a:off x="680928" y="909514"/>
            <a:ext cx="8542556" cy="1076847"/>
          </a:xfrm>
        </p:spPr>
        <p:txBody>
          <a:bodyPr/>
          <a:lstStyle/>
          <a:p>
            <a:pPr algn="ctr"/>
            <a:r>
              <a:rPr lang="en-US" altLang="zh-CN" b="1" dirty="0">
                <a:solidFill>
                  <a:schemeClr val="bg2"/>
                </a:solidFill>
                <a:latin typeface="Times New Roman" panose="02020603050405020304" pitchFamily="18" charset="0"/>
                <a:cs typeface="Times New Roman" panose="02020603050405020304" pitchFamily="18" charset="0"/>
              </a:rPr>
              <a:t>Result</a:t>
            </a:r>
            <a:endParaRPr lang="zh-CN" altLang="en-US" b="1" dirty="0">
              <a:solidFill>
                <a:schemeClr val="bg2"/>
              </a:solidFill>
              <a:latin typeface="Times New Roman" panose="02020603050405020304" pitchFamily="18" charset="0"/>
              <a:cs typeface="Times New Roman" panose="02020603050405020304" pitchFamily="18" charset="0"/>
            </a:endParaRPr>
          </a:p>
        </p:txBody>
      </p:sp>
      <p:sp>
        <p:nvSpPr>
          <p:cNvPr id="8" name="内容占位符 7">
            <a:extLst>
              <a:ext uri="{FF2B5EF4-FFF2-40B4-BE49-F238E27FC236}">
                <a16:creationId xmlns:a16="http://schemas.microsoft.com/office/drawing/2014/main" id="{9818C349-10CA-473E-B0EA-2492C91D32E5}"/>
              </a:ext>
            </a:extLst>
          </p:cNvPr>
          <p:cNvSpPr>
            <a:spLocks noGrp="1"/>
          </p:cNvSpPr>
          <p:nvPr>
            <p:ph idx="1"/>
          </p:nvPr>
        </p:nvSpPr>
        <p:spPr>
          <a:xfrm>
            <a:off x="680928" y="1662346"/>
            <a:ext cx="8542556" cy="3534896"/>
          </a:xfrm>
        </p:spPr>
        <p:txBody>
          <a:bodyPr/>
          <a:lstStyle/>
          <a:p>
            <a:pPr marL="0" indent="0">
              <a:lnSpc>
                <a:spcPct val="110000"/>
              </a:lnSpc>
              <a:buClr>
                <a:srgbClr val="2C04F4"/>
              </a:buClr>
              <a:buNone/>
            </a:pPr>
            <a:r>
              <a:rPr lang="en-US" altLang="zh-CN" sz="2112" dirty="0">
                <a:latin typeface="Times New Roman" panose="02020603050405020304" pitchFamily="18" charset="0"/>
                <a:cs typeface="Times New Roman" panose="02020603050405020304" pitchFamily="18" charset="0"/>
              </a:rPr>
              <a:t>The variables that have a significant impact on the current fund market are the fund risk, the current rank and the current profit rate, and other control variables do not show significant correlation. </a:t>
            </a:r>
          </a:p>
          <a:p>
            <a:pPr marL="0" indent="0">
              <a:lnSpc>
                <a:spcPct val="110000"/>
              </a:lnSpc>
              <a:buClr>
                <a:srgbClr val="2C04F4"/>
              </a:buClr>
              <a:buNone/>
            </a:pPr>
            <a:endParaRPr lang="en-US" altLang="zh-CN" sz="2112" dirty="0">
              <a:latin typeface="Times New Roman" panose="02020603050405020304" pitchFamily="18" charset="0"/>
              <a:cs typeface="Times New Roman" panose="02020603050405020304" pitchFamily="18" charset="0"/>
            </a:endParaRPr>
          </a:p>
          <a:p>
            <a:pPr marL="0" indent="0">
              <a:lnSpc>
                <a:spcPct val="110000"/>
              </a:lnSpc>
              <a:buClr>
                <a:srgbClr val="2C04F4"/>
              </a:buClr>
              <a:buNone/>
            </a:pPr>
            <a:r>
              <a:rPr lang="en-US" altLang="zh-CN" sz="2112" dirty="0">
                <a:latin typeface="Times New Roman" panose="02020603050405020304" pitchFamily="18" charset="0"/>
                <a:cs typeface="Times New Roman" panose="02020603050405020304" pitchFamily="18" charset="0"/>
              </a:rPr>
              <a:t>The herding effect index we care about does not show a significant effect to fund price. </a:t>
            </a:r>
            <a:endParaRPr lang="zh-CN" altLang="en-US" sz="2112"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738818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C4DB6611-16B4-41F5-9E0B-0EE9E1879787}"/>
              </a:ext>
            </a:extLst>
          </p:cNvPr>
          <p:cNvSpPr>
            <a:spLocks noGrp="1"/>
          </p:cNvSpPr>
          <p:nvPr>
            <p:ph type="title"/>
          </p:nvPr>
        </p:nvSpPr>
        <p:spPr>
          <a:xfrm>
            <a:off x="680928" y="945518"/>
            <a:ext cx="8542556" cy="1076847"/>
          </a:xfrm>
        </p:spPr>
        <p:txBody>
          <a:bodyPr/>
          <a:lstStyle/>
          <a:p>
            <a:pPr algn="ctr"/>
            <a:r>
              <a:rPr lang="en-US" altLang="zh-CN" b="1" dirty="0">
                <a:solidFill>
                  <a:schemeClr val="bg2"/>
                </a:solidFill>
                <a:latin typeface="Times New Roman" panose="02020603050405020304" pitchFamily="18" charset="0"/>
                <a:cs typeface="Times New Roman" panose="02020603050405020304" pitchFamily="18" charset="0"/>
              </a:rPr>
              <a:t>Hypothesis</a:t>
            </a:r>
            <a:r>
              <a:rPr lang="en-US" altLang="zh-CN" b="1" dirty="0">
                <a:solidFill>
                  <a:schemeClr val="bg2"/>
                </a:solidFill>
              </a:rPr>
              <a:t> </a:t>
            </a:r>
            <a:r>
              <a:rPr lang="en-US" altLang="zh-CN" b="1" dirty="0">
                <a:solidFill>
                  <a:schemeClr val="bg2"/>
                </a:solidFill>
                <a:latin typeface="Times New Roman" panose="02020603050405020304" pitchFamily="18" charset="0"/>
                <a:cs typeface="Times New Roman" panose="02020603050405020304" pitchFamily="18" charset="0"/>
              </a:rPr>
              <a:t>Check</a:t>
            </a:r>
            <a:endParaRPr lang="zh-CN" altLang="en-US" b="1" dirty="0">
              <a:solidFill>
                <a:schemeClr val="bg2"/>
              </a:solidFill>
              <a:latin typeface="Times New Roman" panose="02020603050405020304" pitchFamily="18" charset="0"/>
              <a:cs typeface="Times New Roman" panose="02020603050405020304" pitchFamily="18" charset="0"/>
            </a:endParaRPr>
          </a:p>
        </p:txBody>
      </p:sp>
      <p:sp>
        <p:nvSpPr>
          <p:cNvPr id="8" name="内容占位符 7">
            <a:extLst>
              <a:ext uri="{FF2B5EF4-FFF2-40B4-BE49-F238E27FC236}">
                <a16:creationId xmlns:a16="http://schemas.microsoft.com/office/drawing/2014/main" id="{9818C349-10CA-473E-B0EA-2492C91D32E5}"/>
              </a:ext>
            </a:extLst>
          </p:cNvPr>
          <p:cNvSpPr>
            <a:spLocks noGrp="1"/>
          </p:cNvSpPr>
          <p:nvPr>
            <p:ph idx="1"/>
          </p:nvPr>
        </p:nvSpPr>
        <p:spPr>
          <a:xfrm>
            <a:off x="680928" y="1570638"/>
            <a:ext cx="8542556" cy="3534896"/>
          </a:xfrm>
        </p:spPr>
        <p:txBody>
          <a:bodyPr/>
          <a:lstStyle/>
          <a:p>
            <a:pPr marL="0" indent="0">
              <a:lnSpc>
                <a:spcPct val="100000"/>
              </a:lnSpc>
              <a:buClr>
                <a:srgbClr val="2C04F4"/>
              </a:buClr>
              <a:buNone/>
            </a:pPr>
            <a:r>
              <a:rPr lang="en-US" altLang="zh-CN" sz="2112" dirty="0">
                <a:latin typeface="Times New Roman" panose="02020603050405020304" pitchFamily="18" charset="0"/>
                <a:cs typeface="Times New Roman" panose="02020603050405020304" pitchFamily="18" charset="0"/>
              </a:rPr>
              <a:t>Hypothesis 1: Herding effect is mainly determined by intrinsic characteristics of the fund.</a:t>
            </a:r>
          </a:p>
          <a:p>
            <a:pPr marL="191596" lvl="1" indent="0">
              <a:lnSpc>
                <a:spcPct val="100000"/>
              </a:lnSpc>
              <a:buClr>
                <a:srgbClr val="2C04F4"/>
              </a:buClr>
              <a:buNone/>
            </a:pPr>
            <a:r>
              <a:rPr lang="en-US" altLang="zh-CN" sz="1787" dirty="0">
                <a:latin typeface="Times New Roman" panose="02020603050405020304" pitchFamily="18" charset="0"/>
                <a:cs typeface="Times New Roman" panose="02020603050405020304" pitchFamily="18" charset="0"/>
              </a:rPr>
              <a:t>Rejected</a:t>
            </a:r>
          </a:p>
          <a:p>
            <a:pPr marL="191596" lvl="1" indent="0">
              <a:lnSpc>
                <a:spcPct val="100000"/>
              </a:lnSpc>
              <a:buClr>
                <a:srgbClr val="2C04F4"/>
              </a:buClr>
              <a:buNone/>
            </a:pPr>
            <a:endParaRPr lang="en-US" altLang="zh-CN" sz="1787" dirty="0">
              <a:latin typeface="Times New Roman" panose="02020603050405020304" pitchFamily="18" charset="0"/>
              <a:cs typeface="Times New Roman" panose="02020603050405020304" pitchFamily="18" charset="0"/>
            </a:endParaRPr>
          </a:p>
          <a:p>
            <a:pPr marL="0" indent="0">
              <a:lnSpc>
                <a:spcPct val="100000"/>
              </a:lnSpc>
              <a:buClr>
                <a:srgbClr val="2C04F4"/>
              </a:buClr>
              <a:buNone/>
            </a:pPr>
            <a:r>
              <a:rPr lang="en-US" altLang="zh-CN" sz="2112" dirty="0">
                <a:latin typeface="Times New Roman" panose="02020603050405020304" pitchFamily="18" charset="0"/>
                <a:cs typeface="Times New Roman" panose="02020603050405020304" pitchFamily="18" charset="0"/>
              </a:rPr>
              <a:t>Hypothesis 2: Herding effect decreases the fund performance.           </a:t>
            </a:r>
          </a:p>
          <a:p>
            <a:pPr marL="191596" lvl="1" indent="0">
              <a:lnSpc>
                <a:spcPct val="100000"/>
              </a:lnSpc>
              <a:buClr>
                <a:srgbClr val="2C04F4"/>
              </a:buClr>
              <a:buNone/>
            </a:pPr>
            <a:r>
              <a:rPr lang="en-US" altLang="zh-CN" sz="1787" dirty="0">
                <a:latin typeface="Times New Roman" panose="02020603050405020304" pitchFamily="18" charset="0"/>
                <a:cs typeface="Times New Roman" panose="02020603050405020304" pitchFamily="18" charset="0"/>
              </a:rPr>
              <a:t>Rejected</a:t>
            </a:r>
          </a:p>
          <a:p>
            <a:pPr marL="191596" lvl="1" indent="0">
              <a:lnSpc>
                <a:spcPct val="100000"/>
              </a:lnSpc>
              <a:buClr>
                <a:srgbClr val="2C04F4"/>
              </a:buClr>
              <a:buNone/>
            </a:pPr>
            <a:endParaRPr lang="en-US" altLang="zh-CN" sz="1787" dirty="0">
              <a:latin typeface="Times New Roman" panose="02020603050405020304" pitchFamily="18" charset="0"/>
              <a:cs typeface="Times New Roman" panose="02020603050405020304" pitchFamily="18" charset="0"/>
            </a:endParaRPr>
          </a:p>
          <a:p>
            <a:pPr marL="0" indent="0">
              <a:lnSpc>
                <a:spcPct val="100000"/>
              </a:lnSpc>
              <a:buClr>
                <a:srgbClr val="2C04F4"/>
              </a:buClr>
              <a:buNone/>
            </a:pPr>
            <a:r>
              <a:rPr lang="en-US" altLang="zh-CN" sz="2112" dirty="0">
                <a:latin typeface="Times New Roman" panose="02020603050405020304" pitchFamily="18" charset="0"/>
                <a:cs typeface="Times New Roman" panose="02020603050405020304" pitchFamily="18" charset="0"/>
              </a:rPr>
              <a:t>Hypothesis 3: Once the herding effect of a fund is discovered, the market will react with significant aversion.</a:t>
            </a:r>
          </a:p>
          <a:p>
            <a:pPr marL="191596" lvl="1" indent="0">
              <a:lnSpc>
                <a:spcPct val="100000"/>
              </a:lnSpc>
              <a:buClr>
                <a:srgbClr val="2C04F4"/>
              </a:buClr>
              <a:buNone/>
            </a:pPr>
            <a:r>
              <a:rPr lang="en-US" altLang="zh-CN" sz="1787" dirty="0">
                <a:latin typeface="Times New Roman" panose="02020603050405020304" pitchFamily="18" charset="0"/>
                <a:cs typeface="Times New Roman" panose="02020603050405020304" pitchFamily="18" charset="0"/>
              </a:rPr>
              <a:t>Rejected</a:t>
            </a:r>
          </a:p>
          <a:p>
            <a:pPr lvl="1">
              <a:lnSpc>
                <a:spcPct val="100000"/>
              </a:lnSpc>
              <a:buClr>
                <a:srgbClr val="2C04F4"/>
              </a:buClr>
            </a:pPr>
            <a:endParaRPr lang="en-US" altLang="zh-CN" sz="1787" dirty="0">
              <a:latin typeface="Times New Roman" panose="02020603050405020304" pitchFamily="18" charset="0"/>
              <a:cs typeface="Times New Roman" panose="02020603050405020304" pitchFamily="18" charset="0"/>
            </a:endParaRPr>
          </a:p>
          <a:p>
            <a:endParaRPr lang="en-US" altLang="zh-CN" dirty="0">
              <a:solidFill>
                <a:schemeClr val="tx2"/>
              </a:solidFill>
            </a:endParaRPr>
          </a:p>
          <a:p>
            <a:endParaRPr lang="zh-CN" altLang="en-US" dirty="0">
              <a:solidFill>
                <a:schemeClr val="tx2"/>
              </a:solidFill>
            </a:endParaRPr>
          </a:p>
        </p:txBody>
      </p:sp>
    </p:spTree>
    <p:extLst>
      <p:ext uri="{BB962C8B-B14F-4D97-AF65-F5344CB8AC3E}">
        <p14:creationId xmlns:p14="http://schemas.microsoft.com/office/powerpoint/2010/main" val="322609396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C4DB6611-16B4-41F5-9E0B-0EE9E1879787}"/>
              </a:ext>
            </a:extLst>
          </p:cNvPr>
          <p:cNvSpPr>
            <a:spLocks noGrp="1"/>
          </p:cNvSpPr>
          <p:nvPr>
            <p:ph type="title"/>
          </p:nvPr>
        </p:nvSpPr>
        <p:spPr>
          <a:xfrm>
            <a:off x="559718" y="983586"/>
            <a:ext cx="8542556" cy="1076847"/>
          </a:xfrm>
        </p:spPr>
        <p:txBody>
          <a:bodyPr/>
          <a:lstStyle/>
          <a:p>
            <a:pPr algn="ctr"/>
            <a:r>
              <a:rPr lang="en-US" altLang="zh-CN" b="1" dirty="0" smtClean="0">
                <a:solidFill>
                  <a:schemeClr val="bg2"/>
                </a:solidFill>
                <a:latin typeface="Times New Roman" panose="02020603050405020304" pitchFamily="18" charset="0"/>
                <a:cs typeface="Times New Roman" panose="02020603050405020304" pitchFamily="18" charset="0"/>
              </a:rPr>
              <a:t>Explanation</a:t>
            </a:r>
            <a:endParaRPr lang="zh-CN" altLang="en-US" b="1" dirty="0">
              <a:solidFill>
                <a:schemeClr val="bg2"/>
              </a:solidFill>
              <a:latin typeface="Times New Roman" panose="02020603050405020304" pitchFamily="18" charset="0"/>
              <a:cs typeface="Times New Roman" panose="02020603050405020304" pitchFamily="18" charset="0"/>
            </a:endParaRPr>
          </a:p>
        </p:txBody>
      </p:sp>
      <p:sp>
        <p:nvSpPr>
          <p:cNvPr id="8" name="内容占位符 7">
            <a:extLst>
              <a:ext uri="{FF2B5EF4-FFF2-40B4-BE49-F238E27FC236}">
                <a16:creationId xmlns:a16="http://schemas.microsoft.com/office/drawing/2014/main" id="{9818C349-10CA-473E-B0EA-2492C91D32E5}"/>
              </a:ext>
            </a:extLst>
          </p:cNvPr>
          <p:cNvSpPr>
            <a:spLocks noGrp="1"/>
          </p:cNvSpPr>
          <p:nvPr>
            <p:ph idx="1"/>
          </p:nvPr>
        </p:nvSpPr>
        <p:spPr>
          <a:xfrm>
            <a:off x="680928" y="1522010"/>
            <a:ext cx="8542556" cy="3534896"/>
          </a:xfrm>
        </p:spPr>
        <p:txBody>
          <a:bodyPr/>
          <a:lstStyle/>
          <a:p>
            <a:pPr marL="0" indent="0">
              <a:lnSpc>
                <a:spcPct val="100000"/>
              </a:lnSpc>
              <a:buClr>
                <a:srgbClr val="2C04F4"/>
              </a:buClr>
              <a:buNone/>
            </a:pPr>
            <a:r>
              <a:rPr lang="en-US" altLang="zh-CN" sz="2112" dirty="0">
                <a:latin typeface="Times New Roman" panose="02020603050405020304" pitchFamily="18" charset="0"/>
                <a:cs typeface="Times New Roman" panose="02020603050405020304" pitchFamily="18" charset="0"/>
              </a:rPr>
              <a:t>The investor component in A-share market is different from the US stock market.</a:t>
            </a:r>
          </a:p>
          <a:p>
            <a:pPr marL="0" indent="0">
              <a:lnSpc>
                <a:spcPct val="100000"/>
              </a:lnSpc>
              <a:buClr>
                <a:srgbClr val="2C04F4"/>
              </a:buClr>
              <a:buNone/>
            </a:pPr>
            <a:r>
              <a:rPr lang="en-US" altLang="zh-CN" sz="2112" dirty="0">
                <a:latin typeface="Times New Roman" panose="02020603050405020304" pitchFamily="18" charset="0"/>
                <a:cs typeface="Times New Roman" panose="02020603050405020304" pitchFamily="18" charset="0"/>
              </a:rPr>
              <a:t>Policy impact: trading-day policy is “T+1” in China but “T+0” in US.</a:t>
            </a:r>
          </a:p>
          <a:p>
            <a:pPr marL="0" indent="0">
              <a:lnSpc>
                <a:spcPct val="100000"/>
              </a:lnSpc>
              <a:buClr>
                <a:srgbClr val="2C04F4"/>
              </a:buClr>
              <a:buNone/>
            </a:pPr>
            <a:r>
              <a:rPr lang="en-US" altLang="zh-CN" sz="2112" dirty="0" smtClean="0">
                <a:latin typeface="Times New Roman" panose="02020603050405020304" pitchFamily="18" charset="0"/>
                <a:cs typeface="Times New Roman" panose="02020603050405020304" pitchFamily="18" charset="0"/>
              </a:rPr>
              <a:t>China's </a:t>
            </a:r>
            <a:r>
              <a:rPr lang="en-US" altLang="zh-CN" sz="2112" dirty="0">
                <a:latin typeface="Times New Roman" panose="02020603050405020304" pitchFamily="18" charset="0"/>
                <a:cs typeface="Times New Roman" panose="02020603050405020304" pitchFamily="18" charset="0"/>
              </a:rPr>
              <a:t>financial market is still developing, and information disclosure channels need to be developed.</a:t>
            </a:r>
          </a:p>
          <a:p>
            <a:pPr marL="0" indent="0">
              <a:lnSpc>
                <a:spcPct val="100000"/>
              </a:lnSpc>
              <a:buClr>
                <a:srgbClr val="2C04F4"/>
              </a:buClr>
              <a:buNone/>
            </a:pPr>
            <a:r>
              <a:rPr lang="en-US" altLang="zh-CN" sz="2112" dirty="0">
                <a:latin typeface="Times New Roman" panose="02020603050405020304" pitchFamily="18" charset="0"/>
                <a:cs typeface="Times New Roman" panose="02020603050405020304" pitchFamily="18" charset="0"/>
              </a:rPr>
              <a:t>Fund manager's evaluation system has a misleading effect.</a:t>
            </a:r>
          </a:p>
          <a:p>
            <a:pPr>
              <a:lnSpc>
                <a:spcPct val="100000"/>
              </a:lnSpc>
              <a:buClr>
                <a:srgbClr val="2C04F4"/>
              </a:buClr>
            </a:pPr>
            <a:endParaRPr lang="en-US" altLang="zh-CN" sz="2112" dirty="0">
              <a:latin typeface="Times New Roman" panose="02020603050405020304" pitchFamily="18" charset="0"/>
              <a:cs typeface="Times New Roman" panose="02020603050405020304" pitchFamily="18" charset="0"/>
            </a:endParaRPr>
          </a:p>
          <a:p>
            <a:endParaRPr lang="en-US" altLang="zh-CN" b="1" dirty="0"/>
          </a:p>
          <a:p>
            <a:endParaRPr lang="en-US" altLang="zh-CN" dirty="0">
              <a:solidFill>
                <a:schemeClr val="tx2"/>
              </a:solidFill>
            </a:endParaRPr>
          </a:p>
          <a:p>
            <a:endParaRPr lang="zh-CN" altLang="en-US" dirty="0">
              <a:solidFill>
                <a:schemeClr val="tx2"/>
              </a:solidFill>
            </a:endParaRPr>
          </a:p>
        </p:txBody>
      </p:sp>
    </p:spTree>
    <p:extLst>
      <p:ext uri="{BB962C8B-B14F-4D97-AF65-F5344CB8AC3E}">
        <p14:creationId xmlns:p14="http://schemas.microsoft.com/office/powerpoint/2010/main" val="225130344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C4DB6611-16B4-41F5-9E0B-0EE9E1879787}"/>
              </a:ext>
            </a:extLst>
          </p:cNvPr>
          <p:cNvSpPr>
            <a:spLocks noGrp="1"/>
          </p:cNvSpPr>
          <p:nvPr>
            <p:ph type="title"/>
          </p:nvPr>
        </p:nvSpPr>
        <p:spPr>
          <a:xfrm>
            <a:off x="559718" y="945518"/>
            <a:ext cx="8542556" cy="1076847"/>
          </a:xfrm>
        </p:spPr>
        <p:txBody>
          <a:bodyPr/>
          <a:lstStyle/>
          <a:p>
            <a:pPr algn="ctr"/>
            <a:r>
              <a:rPr lang="en-US" altLang="zh-CN" b="1" dirty="0">
                <a:solidFill>
                  <a:schemeClr val="bg2"/>
                </a:solidFill>
                <a:latin typeface="Times New Roman" panose="02020603050405020304" pitchFamily="18" charset="0"/>
                <a:cs typeface="Times New Roman" panose="02020603050405020304" pitchFamily="18" charset="0"/>
              </a:rPr>
              <a:t>Solution</a:t>
            </a:r>
            <a:endParaRPr lang="zh-CN" altLang="en-US" b="1" dirty="0">
              <a:solidFill>
                <a:schemeClr val="bg2"/>
              </a:solidFill>
              <a:latin typeface="Times New Roman" panose="02020603050405020304" pitchFamily="18" charset="0"/>
              <a:cs typeface="Times New Roman" panose="02020603050405020304" pitchFamily="18" charset="0"/>
            </a:endParaRPr>
          </a:p>
        </p:txBody>
      </p:sp>
      <p:sp>
        <p:nvSpPr>
          <p:cNvPr id="8" name="内容占位符 7">
            <a:extLst>
              <a:ext uri="{FF2B5EF4-FFF2-40B4-BE49-F238E27FC236}">
                <a16:creationId xmlns:a16="http://schemas.microsoft.com/office/drawing/2014/main" id="{9818C349-10CA-473E-B0EA-2492C91D32E5}"/>
              </a:ext>
            </a:extLst>
          </p:cNvPr>
          <p:cNvSpPr>
            <a:spLocks noGrp="1"/>
          </p:cNvSpPr>
          <p:nvPr>
            <p:ph idx="1"/>
          </p:nvPr>
        </p:nvSpPr>
        <p:spPr>
          <a:xfrm>
            <a:off x="680928" y="1735855"/>
            <a:ext cx="8542556" cy="3534896"/>
          </a:xfrm>
        </p:spPr>
        <p:txBody>
          <a:bodyPr/>
          <a:lstStyle/>
          <a:p>
            <a:pPr marL="0" indent="0">
              <a:lnSpc>
                <a:spcPct val="100000"/>
              </a:lnSpc>
              <a:buClr>
                <a:srgbClr val="2C04F4"/>
              </a:buClr>
              <a:buNone/>
            </a:pPr>
            <a:r>
              <a:rPr lang="en-US" altLang="zh-CN" sz="2112" dirty="0">
                <a:latin typeface="Times New Roman" panose="02020603050405020304" pitchFamily="18" charset="0"/>
                <a:cs typeface="Times New Roman" panose="02020603050405020304" pitchFamily="18" charset="0"/>
              </a:rPr>
              <a:t>Strengthen the education of A-share retail investors.</a:t>
            </a:r>
          </a:p>
          <a:p>
            <a:pPr marL="0" indent="0">
              <a:lnSpc>
                <a:spcPct val="100000"/>
              </a:lnSpc>
              <a:buClr>
                <a:srgbClr val="2C04F4"/>
              </a:buClr>
              <a:buNone/>
            </a:pPr>
            <a:endParaRPr lang="en-US" altLang="zh-CN" sz="2112" dirty="0">
              <a:latin typeface="Times New Roman" panose="02020603050405020304" pitchFamily="18" charset="0"/>
              <a:cs typeface="Times New Roman" panose="02020603050405020304" pitchFamily="18" charset="0"/>
            </a:endParaRPr>
          </a:p>
          <a:p>
            <a:pPr marL="0" indent="0">
              <a:lnSpc>
                <a:spcPct val="100000"/>
              </a:lnSpc>
              <a:buClr>
                <a:srgbClr val="2C04F4"/>
              </a:buClr>
              <a:buNone/>
            </a:pPr>
            <a:r>
              <a:rPr lang="en-US" altLang="zh-CN" sz="2112" dirty="0">
                <a:latin typeface="Times New Roman" panose="02020603050405020304" pitchFamily="18" charset="0"/>
                <a:cs typeface="Times New Roman" panose="02020603050405020304" pitchFamily="18" charset="0"/>
              </a:rPr>
              <a:t>Reform for the fund manager's evaluation system to focus more on long-term and value investment.</a:t>
            </a:r>
          </a:p>
          <a:p>
            <a:pPr marL="0" indent="0">
              <a:lnSpc>
                <a:spcPct val="100000"/>
              </a:lnSpc>
              <a:buClr>
                <a:srgbClr val="2C04F4"/>
              </a:buClr>
              <a:buNone/>
            </a:pPr>
            <a:endParaRPr lang="en-US" altLang="zh-CN" sz="2112" dirty="0">
              <a:latin typeface="Times New Roman" panose="02020603050405020304" pitchFamily="18" charset="0"/>
              <a:cs typeface="Times New Roman" panose="02020603050405020304" pitchFamily="18" charset="0"/>
            </a:endParaRPr>
          </a:p>
          <a:p>
            <a:pPr marL="0" indent="0">
              <a:lnSpc>
                <a:spcPct val="100000"/>
              </a:lnSpc>
              <a:buClr>
                <a:srgbClr val="2C04F4"/>
              </a:buClr>
              <a:buNone/>
            </a:pPr>
            <a:r>
              <a:rPr lang="en-US" altLang="zh-CN" sz="2112" dirty="0">
                <a:latin typeface="Times New Roman" panose="02020603050405020304" pitchFamily="18" charset="0"/>
                <a:cs typeface="Times New Roman" panose="02020603050405020304" pitchFamily="18" charset="0"/>
              </a:rPr>
              <a:t>Further improve the information disclosure policy of A-share listed companies and establish an effective supervision mechanism.</a:t>
            </a:r>
            <a:endParaRPr lang="zh-CN" altLang="zh-CN" sz="2112" dirty="0">
              <a:latin typeface="Times New Roman" panose="02020603050405020304" pitchFamily="18" charset="0"/>
              <a:cs typeface="Times New Roman" panose="02020603050405020304" pitchFamily="18" charset="0"/>
            </a:endParaRPr>
          </a:p>
          <a:p>
            <a:pPr>
              <a:lnSpc>
                <a:spcPct val="100000"/>
              </a:lnSpc>
              <a:buClr>
                <a:srgbClr val="2C04F4"/>
              </a:buClr>
            </a:pPr>
            <a:endParaRPr lang="zh-CN" altLang="en-US" sz="2112"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750159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C4DB6611-16B4-41F5-9E0B-0EE9E1879787}"/>
              </a:ext>
            </a:extLst>
          </p:cNvPr>
          <p:cNvSpPr>
            <a:spLocks noGrp="1"/>
          </p:cNvSpPr>
          <p:nvPr>
            <p:ph type="title"/>
          </p:nvPr>
        </p:nvSpPr>
        <p:spPr>
          <a:xfrm>
            <a:off x="673994" y="945518"/>
            <a:ext cx="8542556" cy="1076847"/>
          </a:xfrm>
        </p:spPr>
        <p:txBody>
          <a:bodyPr/>
          <a:lstStyle/>
          <a:p>
            <a:pPr algn="ctr"/>
            <a:r>
              <a:rPr lang="en-US" altLang="zh-CN" b="1" dirty="0">
                <a:solidFill>
                  <a:schemeClr val="bg2"/>
                </a:solidFill>
                <a:latin typeface="Times New Roman" panose="02020603050405020304" pitchFamily="18" charset="0"/>
                <a:cs typeface="Times New Roman" panose="02020603050405020304" pitchFamily="18" charset="0"/>
              </a:rPr>
              <a:t>Summary</a:t>
            </a:r>
            <a:endParaRPr lang="zh-CN" altLang="en-US" b="1" dirty="0">
              <a:solidFill>
                <a:schemeClr val="bg2"/>
              </a:solidFill>
              <a:latin typeface="Times New Roman" panose="02020603050405020304" pitchFamily="18" charset="0"/>
              <a:cs typeface="Times New Roman" panose="02020603050405020304" pitchFamily="18" charset="0"/>
            </a:endParaRPr>
          </a:p>
        </p:txBody>
      </p:sp>
      <p:sp>
        <p:nvSpPr>
          <p:cNvPr id="8" name="内容占位符 7">
            <a:extLst>
              <a:ext uri="{FF2B5EF4-FFF2-40B4-BE49-F238E27FC236}">
                <a16:creationId xmlns:a16="http://schemas.microsoft.com/office/drawing/2014/main" id="{9818C349-10CA-473E-B0EA-2492C91D32E5}"/>
              </a:ext>
            </a:extLst>
          </p:cNvPr>
          <p:cNvSpPr>
            <a:spLocks noGrp="1"/>
          </p:cNvSpPr>
          <p:nvPr>
            <p:ph idx="1"/>
          </p:nvPr>
        </p:nvSpPr>
        <p:spPr>
          <a:xfrm>
            <a:off x="403512" y="1707984"/>
            <a:ext cx="9097386" cy="4622059"/>
          </a:xfrm>
        </p:spPr>
        <p:txBody>
          <a:bodyPr>
            <a:normAutofit/>
          </a:bodyPr>
          <a:lstStyle/>
          <a:p>
            <a:pPr>
              <a:lnSpc>
                <a:spcPct val="100000"/>
              </a:lnSpc>
              <a:buClr>
                <a:srgbClr val="2C04F4"/>
              </a:buClr>
              <a:buFont typeface="Wingdings" panose="05000000000000000000" pitchFamily="2" charset="2"/>
              <a:buChar char="Ø"/>
            </a:pPr>
            <a:r>
              <a:rPr lang="en-US" altLang="zh-CN" sz="2112" dirty="0">
                <a:latin typeface="Times New Roman" panose="02020603050405020304" pitchFamily="18" charset="0"/>
                <a:cs typeface="Times New Roman" panose="02020603050405020304" pitchFamily="18" charset="0"/>
              </a:rPr>
              <a:t>We define the index of the herding effect and found that it has excellent characteristics and can clearly distinguish our fund samples.</a:t>
            </a:r>
          </a:p>
          <a:p>
            <a:pPr>
              <a:lnSpc>
                <a:spcPct val="100000"/>
              </a:lnSpc>
              <a:buClr>
                <a:srgbClr val="2C04F4"/>
              </a:buClr>
              <a:buFont typeface="Wingdings" panose="05000000000000000000" pitchFamily="2" charset="2"/>
              <a:buChar char="Ø"/>
            </a:pPr>
            <a:r>
              <a:rPr lang="en-US" altLang="zh-CN" sz="2112" dirty="0">
                <a:latin typeface="Times New Roman" panose="02020603050405020304" pitchFamily="18" charset="0"/>
                <a:cs typeface="Times New Roman" panose="02020603050405020304" pitchFamily="18" charset="0"/>
              </a:rPr>
              <a:t>The fund with relatively significant herding effect has the distinctive feature of high turnover rate, high previous profit rates and ranks at top while the other features are not significant. </a:t>
            </a:r>
          </a:p>
          <a:p>
            <a:pPr>
              <a:lnSpc>
                <a:spcPct val="150000"/>
              </a:lnSpc>
              <a:buClr>
                <a:srgbClr val="2C04F4"/>
              </a:buClr>
              <a:buFont typeface="Wingdings" panose="05000000000000000000" pitchFamily="2" charset="2"/>
              <a:buChar char="Ø"/>
            </a:pPr>
            <a:r>
              <a:rPr lang="en-US" altLang="zh-CN" sz="2112" dirty="0">
                <a:latin typeface="Times New Roman" panose="02020603050405020304" pitchFamily="18" charset="0"/>
                <a:cs typeface="Times New Roman" panose="02020603050405020304" pitchFamily="18" charset="0"/>
              </a:rPr>
              <a:t>Higher herding effect index can also significantly increase the fund's profit rate.</a:t>
            </a:r>
          </a:p>
          <a:p>
            <a:pPr>
              <a:lnSpc>
                <a:spcPct val="150000"/>
              </a:lnSpc>
              <a:buClr>
                <a:srgbClr val="2C04F4"/>
              </a:buClr>
              <a:buFont typeface="Wingdings" panose="05000000000000000000" pitchFamily="2" charset="2"/>
              <a:buChar char="Ø"/>
            </a:pPr>
            <a:r>
              <a:rPr lang="en-US" altLang="zh-CN" sz="2112" dirty="0">
                <a:latin typeface="Times New Roman" panose="02020603050405020304" pitchFamily="18" charset="0"/>
                <a:cs typeface="Times New Roman" panose="02020603050405020304" pitchFamily="18" charset="0"/>
              </a:rPr>
              <a:t>The market lack a response to the herding behavior.</a:t>
            </a:r>
            <a:endParaRPr lang="zh-CN" altLang="en-US" sz="2112"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464921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799080" y="2637706"/>
            <a:ext cx="8316924"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Motivation</a:t>
            </a:r>
          </a:p>
          <a:p>
            <a:pPr marL="821884" lvl="1" indent="-342921">
              <a:lnSpc>
                <a:spcPts val="2800"/>
              </a:lnSpc>
              <a:buFont typeface="Wingdings" panose="05000000000000000000" pitchFamily="2" charset="2"/>
              <a:buChar char="Ø"/>
            </a:pPr>
            <a:r>
              <a:rPr lang="en-US" altLang="zh-CN" sz="1600" dirty="0" smtClean="0">
                <a:latin typeface="Times New Roman" panose="02020603050405020304" pitchFamily="18" charset="0"/>
                <a:ea typeface="等线" panose="02010600030101010101" pitchFamily="2" charset="-122"/>
              </a:rPr>
              <a:t>Why Machine Learning</a:t>
            </a: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Methodology</a:t>
            </a: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An Empirical Study of China Equities</a:t>
            </a:r>
          </a:p>
          <a:p>
            <a:pPr marL="821884" lvl="1" indent="-342921">
              <a:lnSpc>
                <a:spcPts val="2800"/>
              </a:lnSpc>
              <a:buFont typeface="Wingdings" panose="05000000000000000000" pitchFamily="2" charset="2"/>
              <a:buChar char="Ø"/>
            </a:pPr>
            <a:r>
              <a:rPr lang="en-US" altLang="zh-CN" sz="1600" b="1" dirty="0" smtClean="0">
                <a:latin typeface="Times New Roman" panose="02020603050405020304" pitchFamily="18" charset="0"/>
                <a:ea typeface="等线" panose="02010600030101010101" pitchFamily="2" charset="-122"/>
              </a:rPr>
              <a:t>Data</a:t>
            </a:r>
          </a:p>
          <a:p>
            <a:pPr marL="821884" lvl="1" indent="-342921">
              <a:lnSpc>
                <a:spcPts val="2800"/>
              </a:lnSpc>
              <a:buFont typeface="Wingdings" panose="05000000000000000000" pitchFamily="2" charset="2"/>
              <a:buChar char="Ø"/>
            </a:pPr>
            <a:r>
              <a:rPr lang="en-US" altLang="zh-CN" sz="1600" b="1" dirty="0" smtClean="0">
                <a:latin typeface="Times New Roman" panose="02020603050405020304" pitchFamily="18" charset="0"/>
                <a:ea typeface="等线" panose="02010600030101010101" pitchFamily="2" charset="-122"/>
              </a:rPr>
              <a:t>Model Performance</a:t>
            </a:r>
            <a:endParaRPr lang="en-US" altLang="zh-CN" sz="1600" b="1"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600" b="1" dirty="0" smtClean="0">
                <a:latin typeface="Times New Roman" panose="02020603050405020304" pitchFamily="18" charset="0"/>
                <a:ea typeface="等线" panose="02010600030101010101" pitchFamily="2" charset="-122"/>
              </a:rPr>
              <a:t>Predictor Importance</a:t>
            </a:r>
          </a:p>
          <a:p>
            <a:pPr marL="821884" lvl="1" indent="-342921">
              <a:lnSpc>
                <a:spcPts val="2800"/>
              </a:lnSpc>
              <a:buFont typeface="Wingdings" panose="05000000000000000000" pitchFamily="2" charset="2"/>
              <a:buChar char="Ø"/>
            </a:pPr>
            <a:r>
              <a:rPr lang="en-US" altLang="zh-CN" sz="1600" dirty="0" smtClean="0">
                <a:latin typeface="Times New Roman" panose="02020603050405020304" pitchFamily="18" charset="0"/>
                <a:ea typeface="等线" panose="02010600030101010101" pitchFamily="2" charset="-122"/>
              </a:rPr>
              <a:t>Machine Learning Portfolio</a:t>
            </a: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Conclusion</a:t>
            </a: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Appendix</a:t>
            </a: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343694" y="15919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Roadmap</a:t>
            </a:r>
            <a:endParaRPr lang="en-US" altLang="zh-CN" sz="2400" dirty="0">
              <a:solidFill>
                <a:schemeClr val="bg1"/>
              </a:solidFill>
            </a:endParaRPr>
          </a:p>
        </p:txBody>
      </p:sp>
      <p:sp>
        <p:nvSpPr>
          <p:cNvPr id="4" name="副标题 2">
            <a:extLst>
              <a:ext uri="{FF2B5EF4-FFF2-40B4-BE49-F238E27FC236}">
                <a16:creationId xmlns:a16="http://schemas.microsoft.com/office/drawing/2014/main" id="{D58463AA-4233-438A-9833-79ED7914084E}"/>
              </a:ext>
            </a:extLst>
          </p:cNvPr>
          <p:cNvSpPr txBox="1">
            <a:spLocks/>
          </p:cNvSpPr>
          <p:nvPr/>
        </p:nvSpPr>
        <p:spPr>
          <a:xfrm>
            <a:off x="-300776" y="909514"/>
            <a:ext cx="10516636" cy="780214"/>
          </a:xfrm>
          <a:prstGeom prst="rect">
            <a:avLst/>
          </a:prstGeom>
        </p:spPr>
        <p:txBody>
          <a:bodyPr/>
          <a:lstStyle>
            <a:lvl1pPr marL="188580" indent="-188580" algn="l" defTabSz="957984" rtl="0" eaLnBrk="1" latinLnBrk="0" hangingPunct="1">
              <a:lnSpc>
                <a:spcPct val="90000"/>
              </a:lnSpc>
              <a:spcBef>
                <a:spcPts val="1467"/>
              </a:spcBef>
              <a:buClr>
                <a:schemeClr val="bg2"/>
              </a:buClr>
              <a:buSzPct val="100000"/>
              <a:buFont typeface="Arial" pitchFamily="34" charset="0"/>
              <a:buChar char="■"/>
              <a:defRPr sz="1700" kern="1200">
                <a:solidFill>
                  <a:schemeClr val="tx1"/>
                </a:solidFill>
                <a:latin typeface="Palatino Linotype" panose="02040502050505030304" pitchFamily="18" charset="0"/>
                <a:ea typeface="+mn-ea"/>
                <a:cs typeface="Arial" pitchFamily="34" charset="0"/>
              </a:defRPr>
            </a:lvl1pPr>
            <a:lvl2pPr marL="325715" indent="-134119" algn="l" defTabSz="957984" rtl="0" eaLnBrk="1" latinLnBrk="0" hangingPunct="1">
              <a:lnSpc>
                <a:spcPct val="90000"/>
              </a:lnSpc>
              <a:spcBef>
                <a:spcPts val="943"/>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2pPr>
            <a:lvl3pPr marL="512937" indent="-188580" algn="l" defTabSz="957984" rtl="0" eaLnBrk="1" latinLnBrk="0" hangingPunct="1">
              <a:lnSpc>
                <a:spcPct val="90000"/>
              </a:lnSpc>
              <a:spcBef>
                <a:spcPts val="629"/>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3pPr>
            <a:lvl4pPr marL="663800" indent="-143698" algn="l" defTabSz="957984" rtl="0" eaLnBrk="1" latinLnBrk="0" hangingPunct="1">
              <a:lnSpc>
                <a:spcPct val="90000"/>
              </a:lnSpc>
              <a:spcBef>
                <a:spcPts val="210"/>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4pPr>
            <a:lvl5pPr marL="807121" indent="-143321" algn="l" defTabSz="957984" rtl="0" eaLnBrk="1" latinLnBrk="0" hangingPunct="1">
              <a:lnSpc>
                <a:spcPct val="90000"/>
              </a:lnSpc>
              <a:spcBef>
                <a:spcPts val="105"/>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5pPr>
            <a:lvl6pPr marL="2634458"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13451"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92442"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71435"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9pPr>
          </a:lstStyle>
          <a:p>
            <a:pPr marL="0" indent="0" algn="ctr" defTabSz="957925">
              <a:lnSpc>
                <a:spcPts val="2800"/>
              </a:lnSpc>
              <a:spcBef>
                <a:spcPct val="0"/>
              </a:spcBef>
              <a:buNone/>
            </a:pPr>
            <a:r>
              <a:rPr lang="en-US" altLang="zh-CN" sz="2400" b="1" dirty="0">
                <a:solidFill>
                  <a:schemeClr val="bg2"/>
                </a:solidFill>
                <a:latin typeface="Times New Roman" panose="02020603050405020304" pitchFamily="18" charset="0"/>
                <a:ea typeface="等线" panose="02010600030101010101" pitchFamily="2" charset="-122"/>
              </a:rPr>
              <a:t>Empirical asset pricing via machine learning </a:t>
            </a:r>
            <a:r>
              <a:rPr lang="en-US" altLang="zh-CN" sz="2400" b="1" dirty="0" smtClean="0">
                <a:solidFill>
                  <a:schemeClr val="bg2"/>
                </a:solidFill>
                <a:latin typeface="Times New Roman" panose="02020603050405020304" pitchFamily="18" charset="0"/>
                <a:ea typeface="等线" panose="02010600030101010101" pitchFamily="2" charset="-122"/>
              </a:rPr>
              <a:t>in the Chinese Stock Market</a:t>
            </a:r>
            <a:endParaRPr lang="en-US" altLang="zh-CN" sz="2400" b="1" dirty="0">
              <a:solidFill>
                <a:schemeClr val="bg2"/>
              </a:solidFill>
              <a:latin typeface="Times New Roman" panose="02020603050405020304" pitchFamily="18" charset="0"/>
              <a:ea typeface="等线" panose="02010600030101010101" pitchFamily="2" charset="-122"/>
            </a:endParaRPr>
          </a:p>
          <a:p>
            <a:pPr marL="0" indent="0" algn="ctr" defTabSz="957925">
              <a:lnSpc>
                <a:spcPts val="2800"/>
              </a:lnSpc>
              <a:spcBef>
                <a:spcPct val="0"/>
              </a:spcBef>
              <a:buNone/>
            </a:pPr>
            <a:endParaRPr lang="en-US" altLang="zh-CN" sz="2400" b="1" dirty="0" smtClean="0">
              <a:solidFill>
                <a:schemeClr val="bg2"/>
              </a:solidFill>
              <a:latin typeface="Times New Roman" panose="02020603050405020304" pitchFamily="18" charset="0"/>
              <a:ea typeface="等线" panose="02010600030101010101" pitchFamily="2" charset="-122"/>
            </a:endParaRPr>
          </a:p>
          <a:p>
            <a:pPr marL="0" indent="0" algn="ctr" defTabSz="957925">
              <a:lnSpc>
                <a:spcPts val="2800"/>
              </a:lnSpc>
              <a:spcBef>
                <a:spcPct val="0"/>
              </a:spcBef>
              <a:buNone/>
            </a:pPr>
            <a:r>
              <a:rPr lang="en-US" altLang="zh-CN" sz="2400" b="1" dirty="0" err="1" smtClean="0">
                <a:solidFill>
                  <a:schemeClr val="bg2"/>
                </a:solidFill>
                <a:latin typeface="Times New Roman" panose="02020603050405020304" pitchFamily="18" charset="0"/>
                <a:ea typeface="等线" panose="02010600030101010101" pitchFamily="2" charset="-122"/>
              </a:rPr>
              <a:t>Jaehyuk</a:t>
            </a:r>
            <a:r>
              <a:rPr lang="en-US" altLang="zh-CN" sz="2400" b="1" dirty="0" smtClean="0">
                <a:solidFill>
                  <a:schemeClr val="bg2"/>
                </a:solidFill>
                <a:latin typeface="Times New Roman" panose="02020603050405020304" pitchFamily="18" charset="0"/>
                <a:ea typeface="等线" panose="02010600030101010101" pitchFamily="2" charset="-122"/>
              </a:rPr>
              <a:t> Choi, Jian Zhou, </a:t>
            </a:r>
            <a:r>
              <a:rPr lang="en-US" altLang="zh-CN" sz="2400" b="1" dirty="0">
                <a:solidFill>
                  <a:schemeClr val="bg2"/>
                </a:solidFill>
                <a:latin typeface="Times New Roman" panose="02020603050405020304" pitchFamily="18" charset="0"/>
                <a:ea typeface="等线" panose="02010600030101010101" pitchFamily="2" charset="-122"/>
              </a:rPr>
              <a:t>Bo </a:t>
            </a:r>
            <a:r>
              <a:rPr lang="en-US" altLang="zh-CN" sz="2400" b="1" dirty="0" smtClean="0">
                <a:solidFill>
                  <a:schemeClr val="bg2"/>
                </a:solidFill>
                <a:latin typeface="Times New Roman" panose="02020603050405020304" pitchFamily="18" charset="0"/>
                <a:ea typeface="等线" panose="02010600030101010101" pitchFamily="2" charset="-122"/>
              </a:rPr>
              <a:t>Pang</a:t>
            </a:r>
          </a:p>
          <a:p>
            <a:pPr marL="0" indent="0" algn="ctr" defTabSz="957925">
              <a:lnSpc>
                <a:spcPts val="2800"/>
              </a:lnSpc>
              <a:spcBef>
                <a:spcPct val="0"/>
              </a:spcBef>
              <a:buNone/>
            </a:pPr>
            <a:endParaRPr lang="en-US" altLang="zh-CN" sz="2400" b="1" dirty="0" smtClean="0">
              <a:solidFill>
                <a:schemeClr val="bg2"/>
              </a:solidFill>
              <a:latin typeface="Times New Roman" panose="02020603050405020304" pitchFamily="18" charset="0"/>
              <a:ea typeface="等线" panose="02010600030101010101" pitchFamily="2" charset="-122"/>
            </a:endParaRPr>
          </a:p>
          <a:p>
            <a:pPr marL="0" indent="0" algn="ctr" defTabSz="957925">
              <a:lnSpc>
                <a:spcPts val="2800"/>
              </a:lnSpc>
              <a:spcBef>
                <a:spcPct val="0"/>
              </a:spcBef>
              <a:buNone/>
            </a:pPr>
            <a:r>
              <a:rPr lang="en-US" altLang="zh-CN" sz="2400" b="1" dirty="0" smtClean="0">
                <a:solidFill>
                  <a:schemeClr val="bg2"/>
                </a:solidFill>
                <a:latin typeface="Times New Roman" panose="02020603050405020304" pitchFamily="18" charset="0"/>
                <a:ea typeface="等线" panose="02010600030101010101" pitchFamily="2" charset="-122"/>
              </a:rPr>
              <a:t>(</a:t>
            </a:r>
            <a:r>
              <a:rPr lang="en-US" altLang="zh-CN" sz="2400" b="1" dirty="0" err="1" smtClean="0">
                <a:solidFill>
                  <a:schemeClr val="bg2"/>
                </a:solidFill>
                <a:latin typeface="Times New Roman" panose="02020603050405020304" pitchFamily="18" charset="0"/>
                <a:ea typeface="等线" panose="02010600030101010101" pitchFamily="2" charset="-122"/>
              </a:rPr>
              <a:t>Xiu</a:t>
            </a:r>
            <a:r>
              <a:rPr lang="en-US" altLang="zh-CN" sz="2400" b="1" dirty="0" smtClean="0">
                <a:solidFill>
                  <a:schemeClr val="bg2"/>
                </a:solidFill>
                <a:latin typeface="Times New Roman" panose="02020603050405020304" pitchFamily="18" charset="0"/>
                <a:ea typeface="等线" panose="02010600030101010101" pitchFamily="2" charset="-122"/>
              </a:rPr>
              <a:t> &amp; Belly, 2018, JF)</a:t>
            </a:r>
            <a:endParaRPr lang="zh-CN" altLang="en-US" sz="2400" b="1" dirty="0">
              <a:solidFill>
                <a:schemeClr val="bg2"/>
              </a:solidFill>
              <a:latin typeface="Times New Roman" panose="02020603050405020304" pitchFamily="18" charset="0"/>
              <a:ea typeface="等线" panose="02010600030101010101" pitchFamily="2" charset="-122"/>
            </a:endParaRPr>
          </a:p>
        </p:txBody>
      </p:sp>
    </p:spTree>
    <p:extLst>
      <p:ext uri="{BB962C8B-B14F-4D97-AF65-F5344CB8AC3E}">
        <p14:creationId xmlns:p14="http://schemas.microsoft.com/office/powerpoint/2010/main" val="173580449"/>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405039" y="801502"/>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Measure Equity Risk Premium</a:t>
            </a:r>
            <a:endParaRPr lang="en-US" altLang="zh-CN" sz="1800" b="1" dirty="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Measurement of equity risk premium is one of the key research agendas in modern empirical asset pricing research</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It is fundamentally a problem of prediction – the risk premium is the condition expectation of a future excess return</a:t>
            </a:r>
          </a:p>
          <a:p>
            <a:pPr marL="1300846" lvl="2"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The Y is expected excess return</a:t>
            </a:r>
          </a:p>
          <a:p>
            <a:pPr marL="1300846" lvl="2"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The X are factors of stock characteristics</a:t>
            </a:r>
            <a:endParaRPr lang="en-US" altLang="zh-CN" sz="14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Why Machine Learning</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Unknown Functional Form</a:t>
            </a:r>
          </a:p>
          <a:p>
            <a:pPr marL="1300846" lvl="2"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Linear or nonlinear? Which nonlinear form? Predictor interactions?</a:t>
            </a:r>
            <a:endParaRPr lang="en-US" altLang="zh-CN" sz="1400" dirty="0">
              <a:latin typeface="Times New Roman" panose="02020603050405020304" pitchFamily="18" charset="0"/>
              <a:ea typeface="等线" panose="02010600030101010101" pitchFamily="2" charset="-122"/>
            </a:endParaRPr>
          </a:p>
          <a:p>
            <a:pPr marL="1300846" lvl="2"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Solution: Machine Learning’s flexible function models can easily accommodate various model settings</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How to Tame the Predictor Zoo?</a:t>
            </a:r>
          </a:p>
          <a:p>
            <a:pPr marL="1300846" lvl="2"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Researchers have proposed hundreds of stock characteristics and dozens of macroeconomic variables in the literature</a:t>
            </a:r>
          </a:p>
          <a:p>
            <a:pPr marL="1300846" lvl="2"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Green et al(2013) list 330 stock-level predictors in published or circulated drafts.</a:t>
            </a:r>
          </a:p>
          <a:p>
            <a:pPr marL="1300846" lvl="2"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Solution: Machine learning condense redundant variation among predictors by variable selection and dimension reduction </a:t>
            </a:r>
            <a:endParaRPr lang="en-US" altLang="zh-CN" sz="1400" dirty="0">
              <a:latin typeface="Times New Roman" panose="02020603050405020304" pitchFamily="18" charset="0"/>
              <a:ea typeface="等线" panose="02010600030101010101" pitchFamily="2" charset="-122"/>
            </a:endParaRPr>
          </a:p>
          <a:p>
            <a:pPr marL="1300846" lvl="2" indent="-342921">
              <a:lnSpc>
                <a:spcPts val="2800"/>
              </a:lnSpc>
              <a:buFont typeface="Wingdings" panose="05000000000000000000" pitchFamily="2" charset="2"/>
              <a:buChar char="Ø"/>
            </a:pPr>
            <a:endParaRPr lang="en-US" altLang="zh-CN" sz="1400" dirty="0" smtClean="0">
              <a:latin typeface="Times New Roman" panose="02020603050405020304" pitchFamily="18" charset="0"/>
              <a:ea typeface="等线" panose="02010600030101010101" pitchFamily="2" charset="-122"/>
            </a:endParaRPr>
          </a:p>
          <a:p>
            <a:pPr marL="1300846" lvl="2" indent="-342921">
              <a:lnSpc>
                <a:spcPts val="2800"/>
              </a:lnSpc>
              <a:buFont typeface="Wingdings" panose="05000000000000000000" pitchFamily="2" charset="2"/>
              <a:buChar char="Ø"/>
            </a:pPr>
            <a:endParaRPr lang="en-US" altLang="zh-CN" sz="1400"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59525" y="153430"/>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Motivation</a:t>
            </a:r>
            <a:endParaRPr lang="en-US" altLang="zh-CN" sz="2400" dirty="0">
              <a:solidFill>
                <a:schemeClr val="bg1"/>
              </a:solidFill>
            </a:endParaRPr>
          </a:p>
        </p:txBody>
      </p:sp>
    </p:spTree>
    <p:extLst>
      <p:ext uri="{BB962C8B-B14F-4D97-AF65-F5344CB8AC3E}">
        <p14:creationId xmlns:p14="http://schemas.microsoft.com/office/powerpoint/2010/main" val="3383860890"/>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415702" y="1045339"/>
            <a:ext cx="8604956"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Whether machine learning can improve the accuracy of stock return prediction in the Chinese stock market, given a set of predictors?</a:t>
            </a: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We replicate </a:t>
            </a:r>
            <a:r>
              <a:rPr lang="en-US" altLang="zh-CN" sz="1800" dirty="0" err="1" smtClean="0">
                <a:latin typeface="Times New Roman" panose="02020603050405020304" pitchFamily="18" charset="0"/>
                <a:ea typeface="等线" panose="02010600030101010101" pitchFamily="2" charset="-122"/>
              </a:rPr>
              <a:t>Gu</a:t>
            </a:r>
            <a:r>
              <a:rPr lang="en-US" altLang="zh-CN" sz="1800" dirty="0" smtClean="0">
                <a:latin typeface="Times New Roman" panose="02020603050405020304" pitchFamily="18" charset="0"/>
                <a:ea typeface="等线" panose="02010600030101010101" pitchFamily="2" charset="-122"/>
              </a:rPr>
              <a:t> et al.(2020) analysis to a novel dataset in China</a:t>
            </a:r>
          </a:p>
          <a:p>
            <a:pPr marL="1300846" lvl="2"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Construct 89 predictive characteristics in China(Green et al., 2017)</a:t>
            </a:r>
          </a:p>
          <a:p>
            <a:pPr marL="1300846" lvl="2"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Test a canon of machine learning toolkits, including penalized linear models, dimension reduction, tree models, and neural networks</a:t>
            </a:r>
          </a:p>
          <a:p>
            <a:pPr marL="1300846" lvl="2"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Novel regularization method: dropout in neural network</a:t>
            </a:r>
            <a:endParaRPr lang="en-US" altLang="zh-CN" sz="18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Main </a:t>
            </a:r>
            <a:r>
              <a:rPr lang="en-US" altLang="zh-CN" sz="1800" dirty="0">
                <a:latin typeface="Times New Roman" panose="02020603050405020304" pitchFamily="18" charset="0"/>
                <a:ea typeface="等线" panose="02010600030101010101" pitchFamily="2" charset="-122"/>
              </a:rPr>
              <a:t>findings of the thesis</a:t>
            </a:r>
          </a:p>
          <a:p>
            <a:pPr marL="1300846" lvl="2"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Machine learning can achieve high numerical and ranking(classification) accuracy simultaneously</a:t>
            </a:r>
          </a:p>
          <a:p>
            <a:pPr marL="1300846" lvl="2"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All models agree on a small set of critical predictors</a:t>
            </a:r>
          </a:p>
          <a:p>
            <a:pPr marL="1300846" lvl="2"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Tradability constraints in China pose additional caveats to the application of machine learning to asset pricing</a:t>
            </a:r>
            <a:endParaRPr lang="en-US" altLang="zh-CN" sz="1800" dirty="0">
              <a:latin typeface="Times New Roman" panose="02020603050405020304" pitchFamily="18" charset="0"/>
              <a:ea typeface="等线" panose="02010600030101010101" pitchFamily="2" charset="-122"/>
            </a:endParaRPr>
          </a:p>
          <a:p>
            <a:pPr marL="1300846" lvl="2" indent="-342921">
              <a:lnSpc>
                <a:spcPts val="2800"/>
              </a:lnSpc>
              <a:buFont typeface="Wingdings" panose="05000000000000000000" pitchFamily="2" charset="2"/>
              <a:buChar char="Ø"/>
            </a:pPr>
            <a:endParaRPr lang="en-US" altLang="zh-CN" sz="1400" dirty="0" smtClean="0">
              <a:latin typeface="Times New Roman" panose="02020603050405020304" pitchFamily="18" charset="0"/>
              <a:ea typeface="等线" panose="02010600030101010101" pitchFamily="2" charset="-122"/>
            </a:endParaRPr>
          </a:p>
          <a:p>
            <a:pPr marL="1300846" lvl="2" indent="-342921">
              <a:lnSpc>
                <a:spcPts val="2800"/>
              </a:lnSpc>
              <a:buFont typeface="Wingdings" panose="05000000000000000000" pitchFamily="2" charset="2"/>
              <a:buChar char="Ø"/>
            </a:pPr>
            <a:endParaRPr lang="en-US" altLang="zh-CN" sz="1400"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259525" y="153430"/>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Summary of the paper</a:t>
            </a:r>
            <a:endParaRPr lang="en-US" altLang="zh-CN" sz="2400" dirty="0">
              <a:solidFill>
                <a:schemeClr val="bg1"/>
              </a:solidFill>
            </a:endParaRPr>
          </a:p>
        </p:txBody>
      </p:sp>
    </p:spTree>
    <p:extLst>
      <p:ext uri="{BB962C8B-B14F-4D97-AF65-F5344CB8AC3E}">
        <p14:creationId xmlns:p14="http://schemas.microsoft.com/office/powerpoint/2010/main" val="3765548458"/>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bwMode="auto">
          <a:xfrm>
            <a:off x="259525" y="153430"/>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err="1">
                <a:solidFill>
                  <a:schemeClr val="bg1"/>
                </a:solidFill>
              </a:rPr>
              <a:t>Algo</a:t>
            </a:r>
            <a:r>
              <a:rPr lang="en-US" altLang="zh-CN" sz="2400" dirty="0">
                <a:solidFill>
                  <a:schemeClr val="bg1"/>
                </a:solidFill>
              </a:rPr>
              <a:t> </a:t>
            </a:r>
            <a:r>
              <a:rPr lang="en-US" altLang="zh-CN" sz="2400" dirty="0" smtClean="0">
                <a:solidFill>
                  <a:schemeClr val="bg1"/>
                </a:solidFill>
              </a:rPr>
              <a:t>Methodology</a:t>
            </a:r>
            <a:endParaRPr lang="en-US" altLang="zh-CN" sz="2400" dirty="0">
              <a:solidFill>
                <a:schemeClr val="bg1"/>
              </a:solidFill>
            </a:endParaRPr>
          </a:p>
        </p:txBody>
      </p:sp>
      <p:sp>
        <p:nvSpPr>
          <p:cNvPr id="8" name="标题 1">
            <a:extLst>
              <a:ext uri="{FF2B5EF4-FFF2-40B4-BE49-F238E27FC236}">
                <a16:creationId xmlns:a16="http://schemas.microsoft.com/office/drawing/2014/main" id="{A3C71D49-1CFF-4704-AE93-7F736EAECB98}"/>
              </a:ext>
            </a:extLst>
          </p:cNvPr>
          <p:cNvSpPr txBox="1">
            <a:spLocks/>
          </p:cNvSpPr>
          <p:nvPr/>
        </p:nvSpPr>
        <p:spPr bwMode="auto">
          <a:xfrm>
            <a:off x="418059" y="801502"/>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An Overarching Model</a:t>
            </a:r>
          </a:p>
          <a:p>
            <a:pPr lvl="1" algn="ctr">
              <a:lnSpc>
                <a:spcPts val="2800"/>
              </a:lnSpc>
            </a:pPr>
            <a:r>
              <a:rPr lang="en-US" altLang="zh-CN" sz="2000" b="1" dirty="0" smtClean="0">
                <a:solidFill>
                  <a:schemeClr val="bg2"/>
                </a:solidFill>
                <a:latin typeface="Times New Roman" panose="02020603050405020304" pitchFamily="18" charset="0"/>
                <a:ea typeface="等线" panose="02010600030101010101" pitchFamily="2" charset="-122"/>
              </a:rPr>
              <a:t>R</a:t>
            </a:r>
            <a:r>
              <a:rPr lang="en-US" altLang="zh-CN" sz="2000" b="1" baseline="-25000" dirty="0" smtClean="0">
                <a:solidFill>
                  <a:schemeClr val="bg2"/>
                </a:solidFill>
                <a:latin typeface="Times New Roman" panose="02020603050405020304" pitchFamily="18" charset="0"/>
                <a:ea typeface="等线" panose="02010600030101010101" pitchFamily="2" charset="-122"/>
              </a:rPr>
              <a:t>i,t+1</a:t>
            </a:r>
            <a:r>
              <a:rPr lang="en-US" altLang="zh-CN" sz="2000" b="1" dirty="0" smtClean="0">
                <a:solidFill>
                  <a:schemeClr val="bg2"/>
                </a:solidFill>
                <a:latin typeface="Times New Roman" panose="02020603050405020304" pitchFamily="18" charset="0"/>
                <a:ea typeface="等线" panose="02010600030101010101" pitchFamily="2" charset="-122"/>
              </a:rPr>
              <a:t> = E</a:t>
            </a:r>
            <a:r>
              <a:rPr lang="en-US" altLang="zh-CN" sz="2000" b="1" baseline="-25000" dirty="0" smtClean="0">
                <a:solidFill>
                  <a:schemeClr val="bg2"/>
                </a:solidFill>
                <a:latin typeface="Times New Roman" panose="02020603050405020304" pitchFamily="18" charset="0"/>
                <a:ea typeface="等线" panose="02010600030101010101" pitchFamily="2" charset="-122"/>
              </a:rPr>
              <a:t>t</a:t>
            </a:r>
            <a:r>
              <a:rPr lang="en-US" altLang="zh-CN" sz="2000" b="1" dirty="0" smtClean="0">
                <a:solidFill>
                  <a:schemeClr val="bg2"/>
                </a:solidFill>
                <a:latin typeface="Times New Roman" panose="02020603050405020304" pitchFamily="18" charset="0"/>
                <a:ea typeface="等线" panose="02010600030101010101" pitchFamily="2" charset="-122"/>
              </a:rPr>
              <a:t>(</a:t>
            </a:r>
            <a:r>
              <a:rPr lang="en-US" altLang="zh-CN" sz="2000" b="1" dirty="0">
                <a:solidFill>
                  <a:schemeClr val="bg2"/>
                </a:solidFill>
                <a:latin typeface="Times New Roman" panose="02020603050405020304" pitchFamily="18" charset="0"/>
                <a:ea typeface="等线" panose="02010600030101010101" pitchFamily="2" charset="-122"/>
              </a:rPr>
              <a:t>r</a:t>
            </a:r>
            <a:r>
              <a:rPr lang="en-US" altLang="zh-CN" sz="2000" b="1" baseline="-25000" dirty="0">
                <a:solidFill>
                  <a:schemeClr val="bg2"/>
                </a:solidFill>
                <a:latin typeface="Times New Roman" panose="02020603050405020304" pitchFamily="18" charset="0"/>
                <a:ea typeface="等线" panose="02010600030101010101" pitchFamily="2" charset="-122"/>
              </a:rPr>
              <a:t>i,t+1</a:t>
            </a:r>
            <a:r>
              <a:rPr lang="en-US" altLang="zh-CN" sz="2000" b="1" dirty="0" smtClean="0">
                <a:solidFill>
                  <a:schemeClr val="bg2"/>
                </a:solidFill>
                <a:latin typeface="Times New Roman" panose="02020603050405020304" pitchFamily="18" charset="0"/>
                <a:ea typeface="等线" panose="02010600030101010101" pitchFamily="2" charset="-122"/>
              </a:rPr>
              <a:t>) + </a:t>
            </a:r>
            <a:r>
              <a:rPr lang="el-GR" altLang="zh-CN" sz="2000" b="1" dirty="0">
                <a:solidFill>
                  <a:schemeClr val="bg2"/>
                </a:solidFill>
                <a:latin typeface="Times New Roman" panose="02020603050405020304" pitchFamily="18" charset="0"/>
                <a:ea typeface="等线" panose="02010600030101010101" pitchFamily="2" charset="-122"/>
              </a:rPr>
              <a:t>ε</a:t>
            </a:r>
            <a:r>
              <a:rPr lang="en-US" altLang="zh-CN" sz="2000" b="1" baseline="-25000" dirty="0">
                <a:solidFill>
                  <a:schemeClr val="bg2"/>
                </a:solidFill>
                <a:latin typeface="Times New Roman" panose="02020603050405020304" pitchFamily="18" charset="0"/>
                <a:ea typeface="等线" panose="02010600030101010101" pitchFamily="2" charset="-122"/>
              </a:rPr>
              <a:t>i,t+1</a:t>
            </a:r>
            <a:endParaRPr lang="en-US" altLang="zh-CN" sz="2000" b="1" baseline="-25000" dirty="0" smtClean="0">
              <a:solidFill>
                <a:schemeClr val="bg2"/>
              </a:solidFill>
              <a:latin typeface="Times New Roman" panose="02020603050405020304" pitchFamily="18" charset="0"/>
              <a:ea typeface="等线" panose="02010600030101010101" pitchFamily="2" charset="-122"/>
            </a:endParaRPr>
          </a:p>
          <a:p>
            <a:pPr lvl="1" algn="ctr">
              <a:lnSpc>
                <a:spcPts val="2800"/>
              </a:lnSpc>
            </a:pPr>
            <a:r>
              <a:rPr lang="en-US" altLang="zh-CN" sz="2000" b="1" dirty="0" smtClean="0">
                <a:solidFill>
                  <a:schemeClr val="bg2"/>
                </a:solidFill>
                <a:latin typeface="Times New Roman" panose="02020603050405020304" pitchFamily="18" charset="0"/>
                <a:ea typeface="等线" panose="02010600030101010101" pitchFamily="2" charset="-122"/>
              </a:rPr>
              <a:t>E</a:t>
            </a:r>
            <a:r>
              <a:rPr lang="en-US" altLang="zh-CN" sz="2000" b="1" baseline="-25000" dirty="0" smtClean="0">
                <a:solidFill>
                  <a:schemeClr val="bg2"/>
                </a:solidFill>
                <a:latin typeface="Times New Roman" panose="02020603050405020304" pitchFamily="18" charset="0"/>
                <a:ea typeface="等线" panose="02010600030101010101" pitchFamily="2" charset="-122"/>
              </a:rPr>
              <a:t>t</a:t>
            </a:r>
            <a:r>
              <a:rPr lang="en-US" altLang="zh-CN" sz="2000" b="1" dirty="0" smtClean="0">
                <a:solidFill>
                  <a:schemeClr val="bg2"/>
                </a:solidFill>
                <a:latin typeface="Times New Roman" panose="02020603050405020304" pitchFamily="18" charset="0"/>
                <a:ea typeface="等线" panose="02010600030101010101" pitchFamily="2" charset="-122"/>
              </a:rPr>
              <a:t>(r</a:t>
            </a:r>
            <a:r>
              <a:rPr lang="en-US" altLang="zh-CN" sz="2000" b="1" baseline="-25000" dirty="0" smtClean="0">
                <a:solidFill>
                  <a:schemeClr val="bg2"/>
                </a:solidFill>
                <a:latin typeface="Times New Roman" panose="02020603050405020304" pitchFamily="18" charset="0"/>
                <a:ea typeface="等线" panose="02010600030101010101" pitchFamily="2" charset="-122"/>
              </a:rPr>
              <a:t>i,t+1</a:t>
            </a:r>
            <a:r>
              <a:rPr lang="en-US" altLang="zh-CN" sz="2000" b="1" dirty="0" smtClean="0">
                <a:solidFill>
                  <a:schemeClr val="bg2"/>
                </a:solidFill>
                <a:latin typeface="Times New Roman" panose="02020603050405020304" pitchFamily="18" charset="0"/>
                <a:ea typeface="等线" panose="02010600030101010101" pitchFamily="2" charset="-122"/>
              </a:rPr>
              <a:t>) = g*(</a:t>
            </a:r>
            <a:r>
              <a:rPr lang="en-US" altLang="zh-CN" sz="2000" b="1" dirty="0" err="1" smtClean="0">
                <a:solidFill>
                  <a:schemeClr val="bg2"/>
                </a:solidFill>
                <a:latin typeface="Times New Roman" panose="02020603050405020304" pitchFamily="18" charset="0"/>
                <a:ea typeface="等线" panose="02010600030101010101" pitchFamily="2" charset="-122"/>
              </a:rPr>
              <a:t>z</a:t>
            </a:r>
            <a:r>
              <a:rPr lang="en-US" altLang="zh-CN" sz="2000" b="1" baseline="-25000" dirty="0" err="1" smtClean="0">
                <a:solidFill>
                  <a:schemeClr val="bg2"/>
                </a:solidFill>
                <a:latin typeface="Times New Roman" panose="02020603050405020304" pitchFamily="18" charset="0"/>
                <a:ea typeface="等线" panose="02010600030101010101" pitchFamily="2" charset="-122"/>
              </a:rPr>
              <a:t>i</a:t>
            </a:r>
            <a:r>
              <a:rPr lang="en-US" altLang="zh-CN" sz="2000" b="1" dirty="0" err="1" smtClean="0">
                <a:solidFill>
                  <a:schemeClr val="bg2"/>
                </a:solidFill>
                <a:latin typeface="Times New Roman" panose="02020603050405020304" pitchFamily="18" charset="0"/>
                <a:ea typeface="等线" panose="02010600030101010101" pitchFamily="2" charset="-122"/>
              </a:rPr>
              <a:t>,t</a:t>
            </a:r>
            <a:r>
              <a:rPr lang="en-US" altLang="zh-CN" sz="2000" b="1" dirty="0" smtClean="0">
                <a:solidFill>
                  <a:schemeClr val="bg2"/>
                </a:solidFill>
                <a:latin typeface="Times New Roman" panose="02020603050405020304" pitchFamily="18" charset="0"/>
                <a:ea typeface="等线" panose="02010600030101010101" pitchFamily="2" charset="-122"/>
              </a:rPr>
              <a:t>)</a:t>
            </a:r>
            <a:endParaRPr lang="en-US" altLang="zh-CN" sz="2000" b="1" dirty="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Our objective is to </a:t>
            </a:r>
          </a:p>
          <a:p>
            <a:pPr marL="1300846" lvl="2"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Isolate a representation of  </a:t>
            </a:r>
            <a:r>
              <a:rPr lang="en-US" altLang="zh-CN" sz="1400" b="1" dirty="0" smtClean="0">
                <a:solidFill>
                  <a:schemeClr val="bg2"/>
                </a:solidFill>
                <a:latin typeface="Times New Roman" panose="02020603050405020304" pitchFamily="18" charset="0"/>
                <a:ea typeface="等线" panose="02010600030101010101" pitchFamily="2" charset="-122"/>
              </a:rPr>
              <a:t>E</a:t>
            </a:r>
            <a:r>
              <a:rPr lang="en-US" altLang="zh-CN" sz="1400" b="1" baseline="-25000" dirty="0" smtClean="0">
                <a:solidFill>
                  <a:schemeClr val="bg2"/>
                </a:solidFill>
                <a:latin typeface="Times New Roman" panose="02020603050405020304" pitchFamily="18" charset="0"/>
                <a:ea typeface="等线" panose="02010600030101010101" pitchFamily="2" charset="-122"/>
              </a:rPr>
              <a:t>t</a:t>
            </a:r>
            <a:r>
              <a:rPr lang="en-US" altLang="zh-CN" sz="1400" b="1" dirty="0" smtClean="0">
                <a:solidFill>
                  <a:schemeClr val="bg2"/>
                </a:solidFill>
                <a:latin typeface="Times New Roman" panose="02020603050405020304" pitchFamily="18" charset="0"/>
                <a:ea typeface="等线" panose="02010600030101010101" pitchFamily="2" charset="-122"/>
              </a:rPr>
              <a:t>(r</a:t>
            </a:r>
            <a:r>
              <a:rPr lang="en-US" altLang="zh-CN" sz="1400" b="1" baseline="-25000" dirty="0" smtClean="0">
                <a:solidFill>
                  <a:schemeClr val="bg2"/>
                </a:solidFill>
                <a:latin typeface="Times New Roman" panose="02020603050405020304" pitchFamily="18" charset="0"/>
                <a:ea typeface="等线" panose="02010600030101010101" pitchFamily="2" charset="-122"/>
              </a:rPr>
              <a:t>i,t+1</a:t>
            </a:r>
            <a:r>
              <a:rPr lang="en-US" altLang="zh-CN" sz="1400" b="1" dirty="0">
                <a:solidFill>
                  <a:schemeClr val="bg2"/>
                </a:solidFill>
                <a:latin typeface="Times New Roman" panose="02020603050405020304" pitchFamily="18" charset="0"/>
                <a:ea typeface="等线" panose="02010600030101010101" pitchFamily="2" charset="-122"/>
              </a:rPr>
              <a:t>) </a:t>
            </a:r>
            <a:r>
              <a:rPr lang="en-US" altLang="zh-CN" sz="1400" b="1" dirty="0" smtClean="0">
                <a:solidFill>
                  <a:schemeClr val="bg2"/>
                </a:solidFill>
                <a:latin typeface="Times New Roman" panose="02020603050405020304" pitchFamily="18" charset="0"/>
                <a:ea typeface="等线" panose="02010600030101010101" pitchFamily="2" charset="-122"/>
              </a:rPr>
              <a:t> </a:t>
            </a:r>
            <a:r>
              <a:rPr lang="en-US" altLang="zh-CN" sz="1400" dirty="0" smtClean="0">
                <a:latin typeface="Times New Roman" panose="02020603050405020304" pitchFamily="18" charset="0"/>
                <a:ea typeface="等线" panose="02010600030101010101" pitchFamily="2" charset="-122"/>
              </a:rPr>
              <a:t>as a function of predictors that maximizes the out-of-sample explanatory power for realized</a:t>
            </a:r>
            <a:r>
              <a:rPr lang="en-US" altLang="zh-CN" sz="1400" b="1" dirty="0" smtClean="0">
                <a:solidFill>
                  <a:schemeClr val="bg2"/>
                </a:solidFill>
                <a:latin typeface="Times New Roman" panose="02020603050405020304" pitchFamily="18" charset="0"/>
                <a:ea typeface="等线" panose="02010600030101010101" pitchFamily="2" charset="-122"/>
              </a:rPr>
              <a:t> </a:t>
            </a:r>
            <a:r>
              <a:rPr lang="en-US" altLang="zh-CN" sz="1400" b="1" dirty="0">
                <a:solidFill>
                  <a:schemeClr val="bg2"/>
                </a:solidFill>
                <a:latin typeface="Times New Roman" panose="02020603050405020304" pitchFamily="18" charset="0"/>
                <a:ea typeface="等线" panose="02010600030101010101" pitchFamily="2" charset="-122"/>
              </a:rPr>
              <a:t>r</a:t>
            </a:r>
            <a:r>
              <a:rPr lang="en-US" altLang="zh-CN" sz="1400" b="1" baseline="-25000" dirty="0">
                <a:solidFill>
                  <a:schemeClr val="bg2"/>
                </a:solidFill>
                <a:latin typeface="Times New Roman" panose="02020603050405020304" pitchFamily="18" charset="0"/>
                <a:ea typeface="等线" panose="02010600030101010101" pitchFamily="2" charset="-122"/>
              </a:rPr>
              <a:t>i,t+1</a:t>
            </a:r>
            <a:endParaRPr lang="en-US" altLang="zh-CN" sz="1400" dirty="0" smtClean="0">
              <a:latin typeface="Times New Roman" panose="02020603050405020304" pitchFamily="18" charset="0"/>
              <a:ea typeface="等线" panose="02010600030101010101" pitchFamily="2" charset="-122"/>
            </a:endParaRPr>
          </a:p>
          <a:p>
            <a:pPr marL="1300846" lvl="2"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Identify models that can best approximate function g*</a:t>
            </a:r>
            <a:endParaRPr lang="en-US" altLang="zh-CN" sz="14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Benchmark Models</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Pool regressions on lagged stock characteristics associated with </a:t>
            </a:r>
            <a:r>
              <a:rPr lang="en-US" altLang="zh-CN" sz="1400" dirty="0" err="1" smtClean="0">
                <a:latin typeface="Times New Roman" panose="02020603050405020304" pitchFamily="18" charset="0"/>
                <a:ea typeface="等线" panose="02010600030101010101" pitchFamily="2" charset="-122"/>
              </a:rPr>
              <a:t>Fama</a:t>
            </a:r>
            <a:r>
              <a:rPr lang="en-US" altLang="zh-CN" sz="1400" dirty="0" smtClean="0">
                <a:latin typeface="Times New Roman" panose="02020603050405020304" pitchFamily="18" charset="0"/>
                <a:ea typeface="等线" panose="02010600030101010101" pitchFamily="2" charset="-122"/>
              </a:rPr>
              <a:t>-French factors and momentum factors</a:t>
            </a:r>
          </a:p>
          <a:p>
            <a:pPr marL="1300846" lvl="2"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Includes beta, size, book-to-market, profitability, investment and momentum</a:t>
            </a:r>
          </a:p>
          <a:p>
            <a:pPr marL="1300846" lvl="2"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OLS-4: 3 factors + momentum</a:t>
            </a:r>
          </a:p>
          <a:p>
            <a:pPr marL="1300846" lvl="2"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OLS-6: 5 factors + momentum</a:t>
            </a:r>
            <a:endParaRPr lang="en-US" altLang="zh-CN" sz="14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Linear Models</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Ordinary Least Square (OLS) on all stock characteristics</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Penalized Linear Model – Elastic Net (</a:t>
            </a:r>
            <a:r>
              <a:rPr lang="en-US" altLang="zh-CN" sz="1400" dirty="0" err="1" smtClean="0">
                <a:latin typeface="Times New Roman" panose="02020603050405020304" pitchFamily="18" charset="0"/>
                <a:ea typeface="等线" panose="02010600030101010101" pitchFamily="2" charset="-122"/>
              </a:rPr>
              <a:t>ENet</a:t>
            </a:r>
            <a:r>
              <a:rPr lang="en-US" altLang="zh-CN" sz="1400" dirty="0" smtClean="0">
                <a:latin typeface="Times New Roman" panose="02020603050405020304" pitchFamily="18" charset="0"/>
                <a:ea typeface="等线" panose="02010600030101010101" pitchFamily="2" charset="-122"/>
              </a:rPr>
              <a:t>)</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Dimensionality Reduced Linear Model:  Principal Component Regression (PCR), Partial Least Square Regression (PLS)</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200" b="1" dirty="0" smtClean="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200" b="1" dirty="0">
              <a:solidFill>
                <a:schemeClr val="bg2"/>
              </a:solidFill>
              <a:latin typeface="Times New Roman" panose="02020603050405020304" pitchFamily="18" charset="0"/>
              <a:ea typeface="等线" panose="02010600030101010101" pitchFamily="2" charset="-122"/>
            </a:endParaRPr>
          </a:p>
          <a:p>
            <a:pPr marL="1300846" lvl="2" indent="-342921">
              <a:lnSpc>
                <a:spcPts val="2800"/>
              </a:lnSpc>
              <a:buFont typeface="Wingdings" panose="05000000000000000000" pitchFamily="2" charset="2"/>
              <a:buChar char="Ø"/>
            </a:pPr>
            <a:endParaRPr lang="en-US" altLang="zh-CN" sz="1400" dirty="0" smtClean="0">
              <a:latin typeface="Times New Roman" panose="02020603050405020304" pitchFamily="18" charset="0"/>
              <a:ea typeface="等线" panose="02010600030101010101" pitchFamily="2" charset="-122"/>
            </a:endParaRPr>
          </a:p>
          <a:p>
            <a:pPr marL="1300846" lvl="2" indent="-342921">
              <a:lnSpc>
                <a:spcPts val="2800"/>
              </a:lnSpc>
              <a:buFont typeface="Wingdings" panose="05000000000000000000" pitchFamily="2" charset="2"/>
              <a:buChar char="Ø"/>
            </a:pPr>
            <a:endParaRPr lang="en-US" altLang="zh-CN" sz="1400"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Tree>
    <p:extLst>
      <p:ext uri="{BB962C8B-B14F-4D97-AF65-F5344CB8AC3E}">
        <p14:creationId xmlns:p14="http://schemas.microsoft.com/office/powerpoint/2010/main" val="587023521"/>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bwMode="auto">
          <a:xfrm>
            <a:off x="259525" y="153430"/>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err="1" smtClean="0">
                <a:solidFill>
                  <a:schemeClr val="bg1"/>
                </a:solidFill>
              </a:rPr>
              <a:t>Algo</a:t>
            </a:r>
            <a:r>
              <a:rPr lang="en-US" altLang="zh-CN" sz="2400" dirty="0" smtClean="0">
                <a:solidFill>
                  <a:schemeClr val="bg1"/>
                </a:solidFill>
              </a:rPr>
              <a:t> Methodology</a:t>
            </a:r>
            <a:endParaRPr lang="en-US" altLang="zh-CN" sz="2400" dirty="0">
              <a:solidFill>
                <a:schemeClr val="bg1"/>
              </a:solidFill>
            </a:endParaRPr>
          </a:p>
        </p:txBody>
      </p:sp>
      <p:sp>
        <p:nvSpPr>
          <p:cNvPr id="8" name="标题 1">
            <a:extLst>
              <a:ext uri="{FF2B5EF4-FFF2-40B4-BE49-F238E27FC236}">
                <a16:creationId xmlns:a16="http://schemas.microsoft.com/office/drawing/2014/main" id="{A3C71D49-1CFF-4704-AE93-7F736EAECB98}"/>
              </a:ext>
            </a:extLst>
          </p:cNvPr>
          <p:cNvSpPr txBox="1">
            <a:spLocks/>
          </p:cNvSpPr>
          <p:nvPr/>
        </p:nvSpPr>
        <p:spPr bwMode="auto">
          <a:xfrm>
            <a:off x="418059" y="801502"/>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Nonlinear Models</a:t>
            </a:r>
          </a:p>
          <a:p>
            <a:pPr marL="821884" lvl="1"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Allowing Nonlinearities and Interactions</a:t>
            </a:r>
          </a:p>
          <a:p>
            <a:pPr marL="1300846" lvl="2" indent="-342921">
              <a:lnSpc>
                <a:spcPts val="2800"/>
              </a:lnSpc>
              <a:buFont typeface="Wingdings" panose="05000000000000000000" pitchFamily="2" charset="2"/>
              <a:buChar char="Ø"/>
            </a:pPr>
            <a:r>
              <a:rPr lang="en-US" altLang="zh-CN" sz="1400" b="1" dirty="0">
                <a:latin typeface="Times New Roman" panose="02020603050405020304" pitchFamily="18" charset="0"/>
                <a:ea typeface="等线" panose="02010600030101010101" pitchFamily="2" charset="-122"/>
              </a:rPr>
              <a:t>Ensemble Tree Models</a:t>
            </a:r>
          </a:p>
          <a:p>
            <a:pPr marL="1779809" lvl="3"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Boosting – Gradient Boosted Regression Trees (GBRT)</a:t>
            </a:r>
          </a:p>
          <a:p>
            <a:pPr marL="1779809" lvl="3" indent="-342921">
              <a:lnSpc>
                <a:spcPts val="2800"/>
              </a:lnSpc>
              <a:buFont typeface="Wingdings" panose="05000000000000000000" pitchFamily="2" charset="2"/>
              <a:buChar char="Ø"/>
            </a:pPr>
            <a:r>
              <a:rPr lang="en-US" altLang="zh-CN" sz="1400" dirty="0">
                <a:latin typeface="Times New Roman" panose="02020603050405020304" pitchFamily="18" charset="0"/>
                <a:ea typeface="等线" panose="02010600030101010101" pitchFamily="2" charset="-122"/>
              </a:rPr>
              <a:t>Bagging – Random Forest (RF)</a:t>
            </a:r>
          </a:p>
          <a:p>
            <a:pPr marL="1300846" lvl="2" indent="-342921">
              <a:lnSpc>
                <a:spcPts val="2800"/>
              </a:lnSpc>
              <a:buFont typeface="Wingdings" panose="05000000000000000000" pitchFamily="2" charset="2"/>
              <a:buChar char="Ø"/>
            </a:pPr>
            <a:r>
              <a:rPr lang="en-US" altLang="zh-CN" sz="1400" b="1" dirty="0" smtClean="0">
                <a:latin typeface="Times New Roman" panose="02020603050405020304" pitchFamily="18" charset="0"/>
                <a:ea typeface="等线" panose="02010600030101010101" pitchFamily="2" charset="-122"/>
              </a:rPr>
              <a:t>Neural Networks (NN)</a:t>
            </a:r>
          </a:p>
          <a:p>
            <a:pPr marL="1779809" lvl="3"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1 – 6 fully connected hidden layers with </a:t>
            </a:r>
            <a:r>
              <a:rPr lang="en-US" altLang="zh-CN" sz="1400" dirty="0" err="1" smtClean="0">
                <a:latin typeface="Times New Roman" panose="02020603050405020304" pitchFamily="18" charset="0"/>
                <a:ea typeface="等线" panose="02010600030101010101" pitchFamily="2" charset="-122"/>
              </a:rPr>
              <a:t>ReLU</a:t>
            </a:r>
            <a:r>
              <a:rPr lang="en-US" altLang="zh-CN" sz="1400" dirty="0" smtClean="0">
                <a:latin typeface="Times New Roman" panose="02020603050405020304" pitchFamily="18" charset="0"/>
                <a:ea typeface="等线" panose="02010600030101010101" pitchFamily="2" charset="-122"/>
              </a:rPr>
              <a:t> activation function (NN1, NN2, …, NN6)</a:t>
            </a:r>
            <a:endParaRPr lang="en-US" altLang="zh-CN" sz="1400" dirty="0">
              <a:latin typeface="Times New Roman" panose="02020603050405020304" pitchFamily="18" charset="0"/>
              <a:ea typeface="等线" panose="02010600030101010101" pitchFamily="2" charset="-122"/>
            </a:endParaRPr>
          </a:p>
          <a:p>
            <a:pPr marL="1779809" lvl="3"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To counter overfitting</a:t>
            </a:r>
          </a:p>
          <a:p>
            <a:pPr marL="2258772" lvl="4"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Batch normalization, early stopping, ensemble</a:t>
            </a:r>
          </a:p>
          <a:p>
            <a:pPr marL="2258772" lvl="4" indent="-342921">
              <a:lnSpc>
                <a:spcPts val="2800"/>
              </a:lnSpc>
              <a:buFont typeface="Wingdings" panose="05000000000000000000" pitchFamily="2" charset="2"/>
              <a:buChar char="Ø"/>
            </a:pPr>
            <a:r>
              <a:rPr lang="en-US" altLang="zh-CN" sz="1400" dirty="0" smtClean="0">
                <a:latin typeface="Times New Roman" panose="02020603050405020304" pitchFamily="18" charset="0"/>
                <a:ea typeface="等线" panose="02010600030101010101" pitchFamily="2" charset="-122"/>
              </a:rPr>
              <a:t>Novel regularization methods: dropout layers (Srivastava et al., 2014)</a:t>
            </a:r>
            <a:endParaRPr lang="en-US" altLang="zh-CN" sz="14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200" b="1" dirty="0" smtClean="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200" b="1" dirty="0">
              <a:solidFill>
                <a:schemeClr val="bg2"/>
              </a:solidFill>
              <a:latin typeface="Times New Roman" panose="02020603050405020304" pitchFamily="18" charset="0"/>
              <a:ea typeface="等线" panose="02010600030101010101" pitchFamily="2" charset="-122"/>
            </a:endParaRPr>
          </a:p>
          <a:p>
            <a:pPr marL="1300846" lvl="2" indent="-342921">
              <a:lnSpc>
                <a:spcPts val="2800"/>
              </a:lnSpc>
              <a:buFont typeface="Wingdings" panose="05000000000000000000" pitchFamily="2" charset="2"/>
              <a:buChar char="Ø"/>
            </a:pPr>
            <a:endParaRPr lang="en-US" altLang="zh-CN" sz="1400" dirty="0" smtClean="0">
              <a:latin typeface="Times New Roman" panose="02020603050405020304" pitchFamily="18" charset="0"/>
              <a:ea typeface="等线" panose="02010600030101010101" pitchFamily="2" charset="-122"/>
            </a:endParaRPr>
          </a:p>
          <a:p>
            <a:pPr marL="1300846" lvl="2" indent="-342921">
              <a:lnSpc>
                <a:spcPts val="2800"/>
              </a:lnSpc>
              <a:buFont typeface="Wingdings" panose="05000000000000000000" pitchFamily="2" charset="2"/>
              <a:buChar char="Ø"/>
            </a:pPr>
            <a:endParaRPr lang="en-US" altLang="zh-CN" sz="1400"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6236" y="4441659"/>
            <a:ext cx="5997460" cy="1981372"/>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3789" y="1003103"/>
            <a:ext cx="2679815" cy="1894353"/>
          </a:xfrm>
          <a:prstGeom prst="rect">
            <a:avLst/>
          </a:prstGeom>
        </p:spPr>
      </p:pic>
    </p:spTree>
    <p:extLst>
      <p:ext uri="{BB962C8B-B14F-4D97-AF65-F5344CB8AC3E}">
        <p14:creationId xmlns:p14="http://schemas.microsoft.com/office/powerpoint/2010/main" val="428255573"/>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bwMode="auto">
          <a:xfrm>
            <a:off x="259525" y="153430"/>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Performance Evaluation</a:t>
            </a:r>
            <a:endParaRPr lang="en-US" altLang="zh-CN" sz="2400" dirty="0">
              <a:solidFill>
                <a:schemeClr val="bg1"/>
              </a:solidFill>
            </a:endParaRPr>
          </a:p>
        </p:txBody>
      </p:sp>
      <mc:AlternateContent xmlns:mc="http://schemas.openxmlformats.org/markup-compatibility/2006" xmlns:a14="http://schemas.microsoft.com/office/drawing/2010/main">
        <mc:Choice Requires="a14">
          <p:sp>
            <p:nvSpPr>
              <p:cNvPr id="6" name="标题 1">
                <a:extLst>
                  <a:ext uri="{FF2B5EF4-FFF2-40B4-BE49-F238E27FC236}">
                    <a16:creationId xmlns:a16="http://schemas.microsoft.com/office/drawing/2014/main" id="{A3C71D49-1CFF-4704-AE93-7F736EAECB98}"/>
                  </a:ext>
                </a:extLst>
              </p:cNvPr>
              <p:cNvSpPr txBox="1">
                <a:spLocks/>
              </p:cNvSpPr>
              <p:nvPr/>
            </p:nvSpPr>
            <p:spPr bwMode="auto">
              <a:xfrm>
                <a:off x="415702" y="935515"/>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Out-of-sample R square (R2)</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To assess numerical accuracy for individual excess stock return forecasts, we calculate the out-of-sample R2 as</a:t>
                </a:r>
              </a:p>
              <a:p>
                <a:pPr algn="ctr">
                  <a:lnSpc>
                    <a:spcPts val="2800"/>
                  </a:lnSpc>
                </a:pPr>
                <a:r>
                  <a:rPr lang="en-US" altLang="zh-CN" sz="1800" b="1" dirty="0" smtClean="0">
                    <a:solidFill>
                      <a:schemeClr val="bg2"/>
                    </a:solidFill>
                    <a:latin typeface="Times New Roman" panose="02020603050405020304" pitchFamily="18" charset="0"/>
                    <a:ea typeface="等线" panose="02010600030101010101" pitchFamily="2" charset="-122"/>
                  </a:rPr>
                  <a:t>R</a:t>
                </a:r>
                <a:r>
                  <a:rPr lang="en-US" altLang="zh-CN" sz="1800" b="1" baseline="30000" dirty="0" smtClean="0">
                    <a:solidFill>
                      <a:schemeClr val="bg2"/>
                    </a:solidFill>
                    <a:latin typeface="Times New Roman" panose="02020603050405020304" pitchFamily="18" charset="0"/>
                    <a:ea typeface="等线" panose="02010600030101010101" pitchFamily="2" charset="-122"/>
                  </a:rPr>
                  <a:t>2</a:t>
                </a:r>
                <a:r>
                  <a:rPr lang="en-US" altLang="zh-CN" sz="1800" b="1" baseline="-25000" dirty="0" smtClean="0">
                    <a:solidFill>
                      <a:schemeClr val="bg2"/>
                    </a:solidFill>
                    <a:latin typeface="Times New Roman" panose="02020603050405020304" pitchFamily="18" charset="0"/>
                    <a:ea typeface="等线" panose="02010600030101010101" pitchFamily="2" charset="-122"/>
                  </a:rPr>
                  <a:t>oos</a:t>
                </a:r>
                <a:r>
                  <a:rPr lang="en-US" altLang="zh-CN" sz="1800" b="1" dirty="0" smtClean="0">
                    <a:solidFill>
                      <a:schemeClr val="bg2"/>
                    </a:solidFill>
                    <a:latin typeface="Times New Roman" panose="02020603050405020304" pitchFamily="18" charset="0"/>
                    <a:ea typeface="等线" panose="02010600030101010101" pitchFamily="2" charset="-122"/>
                  </a:rPr>
                  <a:t> </a:t>
                </a:r>
                <a:r>
                  <a:rPr lang="en-US" altLang="zh-CN" sz="1800" b="1" dirty="0">
                    <a:solidFill>
                      <a:schemeClr val="bg2"/>
                    </a:solidFill>
                    <a:latin typeface="Times New Roman" panose="02020603050405020304" pitchFamily="18" charset="0"/>
                    <a:ea typeface="等线" panose="02010600030101010101" pitchFamily="2" charset="-122"/>
                  </a:rPr>
                  <a:t>= </a:t>
                </a:r>
                <a:r>
                  <a:rPr lang="en-US" altLang="zh-CN" sz="1800" b="1" dirty="0" smtClean="0">
                    <a:solidFill>
                      <a:schemeClr val="bg2"/>
                    </a:solidFill>
                    <a:latin typeface="Times New Roman" panose="02020603050405020304" pitchFamily="18" charset="0"/>
                    <a:ea typeface="等线" panose="02010600030101010101" pitchFamily="2" charset="-122"/>
                  </a:rPr>
                  <a:t> 1 - </a:t>
                </a:r>
                <a14:m>
                  <m:oMath xmlns:m="http://schemas.openxmlformats.org/officeDocument/2006/math">
                    <m:f>
                      <m:fPr>
                        <m:ctrlPr>
                          <a:rPr lang="en-US" altLang="zh-CN" sz="1800" b="1" i="1" smtClean="0">
                            <a:solidFill>
                              <a:schemeClr val="bg2"/>
                            </a:solidFill>
                            <a:latin typeface="Cambria Math" panose="02040503050406030204" pitchFamily="18" charset="0"/>
                            <a:ea typeface="等线" panose="02010600030101010101" pitchFamily="2" charset="-122"/>
                          </a:rPr>
                        </m:ctrlPr>
                      </m:fPr>
                      <m:num>
                        <m:nary>
                          <m:naryPr>
                            <m:chr m:val="∑"/>
                            <m:limLoc m:val="subSup"/>
                            <m:ctrlPr>
                              <a:rPr lang="en-US" altLang="zh-CN" sz="1800" b="1" i="1" smtClean="0">
                                <a:solidFill>
                                  <a:schemeClr val="bg2"/>
                                </a:solidFill>
                                <a:latin typeface="Cambria Math" panose="02040503050406030204" pitchFamily="18" charset="0"/>
                                <a:ea typeface="等线" panose="02010600030101010101" pitchFamily="2" charset="-122"/>
                              </a:rPr>
                            </m:ctrlPr>
                          </m:naryPr>
                          <m:sub>
                            <m:r>
                              <m:rPr>
                                <m:brk m:alnAt="25"/>
                              </m:rPr>
                              <a:rPr lang="en-US" altLang="zh-CN" sz="1800" b="1" i="1" smtClean="0">
                                <a:solidFill>
                                  <a:schemeClr val="bg2"/>
                                </a:solidFill>
                                <a:latin typeface="Cambria Math" panose="02040503050406030204" pitchFamily="18" charset="0"/>
                                <a:ea typeface="等线" panose="02010600030101010101" pitchFamily="2" charset="-122"/>
                              </a:rPr>
                              <m:t>𝑰</m:t>
                            </m:r>
                            <m:r>
                              <a:rPr lang="en-US" altLang="zh-CN" sz="1800" b="1" i="1" smtClean="0">
                                <a:solidFill>
                                  <a:schemeClr val="bg2"/>
                                </a:solidFill>
                                <a:latin typeface="Cambria Math" panose="02040503050406030204" pitchFamily="18" charset="0"/>
                                <a:ea typeface="等线" panose="02010600030101010101" pitchFamily="2" charset="-122"/>
                              </a:rPr>
                              <m:t>,</m:t>
                            </m:r>
                            <m:r>
                              <a:rPr lang="en-US" altLang="zh-CN" sz="1800" b="1" i="1" smtClean="0">
                                <a:solidFill>
                                  <a:schemeClr val="bg2"/>
                                </a:solidFill>
                                <a:latin typeface="Cambria Math" panose="02040503050406030204" pitchFamily="18" charset="0"/>
                                <a:ea typeface="等线" panose="02010600030101010101" pitchFamily="2" charset="-122"/>
                              </a:rPr>
                              <m:t>𝑻</m:t>
                            </m:r>
                          </m:sub>
                          <m:sup/>
                          <m:e>
                            <m:r>
                              <m:rPr>
                                <m:nor/>
                              </m:rPr>
                              <a:rPr lang="en-US" altLang="zh-CN" sz="1800" b="1" i="0" smtClean="0">
                                <a:solidFill>
                                  <a:schemeClr val="bg2"/>
                                </a:solidFill>
                                <a:latin typeface="Cambria Math" panose="02040503050406030204" pitchFamily="18" charset="0"/>
                                <a:ea typeface="等线" panose="02010600030101010101" pitchFamily="2" charset="-122"/>
                              </a:rPr>
                              <m:t>(</m:t>
                            </m:r>
                            <m:r>
                              <m:rPr>
                                <m:nor/>
                              </m:rPr>
                              <a:rPr lang="en-US" altLang="zh-CN" sz="1800" b="1" dirty="0" smtClean="0">
                                <a:solidFill>
                                  <a:schemeClr val="bg2"/>
                                </a:solidFill>
                                <a:latin typeface="Times New Roman" panose="02020603050405020304" pitchFamily="18" charset="0"/>
                                <a:ea typeface="等线" panose="02010600030101010101" pitchFamily="2" charset="-122"/>
                              </a:rPr>
                              <m:t>r</m:t>
                            </m:r>
                            <m:r>
                              <m:rPr>
                                <m:nor/>
                              </m:rPr>
                              <a:rPr lang="en-US" altLang="zh-CN" sz="1800" b="1" baseline="-25000" dirty="0" smtClean="0">
                                <a:solidFill>
                                  <a:schemeClr val="bg2"/>
                                </a:solidFill>
                                <a:latin typeface="Times New Roman" panose="02020603050405020304" pitchFamily="18" charset="0"/>
                                <a:ea typeface="等线" panose="02010600030101010101" pitchFamily="2" charset="-122"/>
                              </a:rPr>
                              <m:t>i</m:t>
                            </m:r>
                            <m:r>
                              <m:rPr>
                                <m:nor/>
                              </m:rPr>
                              <a:rPr lang="en-US" altLang="zh-CN" sz="1800" b="1" baseline="-25000" dirty="0" smtClean="0">
                                <a:solidFill>
                                  <a:schemeClr val="bg2"/>
                                </a:solidFill>
                                <a:latin typeface="Times New Roman" panose="02020603050405020304" pitchFamily="18" charset="0"/>
                                <a:ea typeface="等线" panose="02010600030101010101" pitchFamily="2" charset="-122"/>
                              </a:rPr>
                              <m:t>,</m:t>
                            </m:r>
                            <m:r>
                              <m:rPr>
                                <m:nor/>
                              </m:rPr>
                              <a:rPr lang="en-US" altLang="zh-CN" sz="1800" b="1" baseline="-25000" dirty="0" smtClean="0">
                                <a:solidFill>
                                  <a:schemeClr val="bg2"/>
                                </a:solidFill>
                                <a:latin typeface="Times New Roman" panose="02020603050405020304" pitchFamily="18" charset="0"/>
                                <a:ea typeface="等线" panose="02010600030101010101" pitchFamily="2" charset="-122"/>
                              </a:rPr>
                              <m:t>t</m:t>
                            </m:r>
                            <m:r>
                              <m:rPr>
                                <m:nor/>
                              </m:rPr>
                              <a:rPr lang="en-US" altLang="zh-CN" sz="1800" b="1" baseline="-25000" dirty="0" smtClean="0">
                                <a:solidFill>
                                  <a:schemeClr val="bg2"/>
                                </a:solidFill>
                                <a:latin typeface="Times New Roman" panose="02020603050405020304" pitchFamily="18" charset="0"/>
                                <a:ea typeface="等线" panose="02010600030101010101" pitchFamily="2" charset="-122"/>
                              </a:rPr>
                              <m:t>+1</m:t>
                            </m:r>
                          </m:e>
                        </m:nary>
                        <m:r>
                          <a:rPr lang="en-US" altLang="zh-CN" sz="1800" b="1" i="1" smtClean="0">
                            <a:solidFill>
                              <a:schemeClr val="bg2"/>
                            </a:solidFill>
                            <a:latin typeface="Cambria Math" panose="02040503050406030204" pitchFamily="18" charset="0"/>
                            <a:ea typeface="等线" panose="02010600030101010101" pitchFamily="2" charset="-122"/>
                          </a:rPr>
                          <m:t>−</m:t>
                        </m:r>
                        <m:r>
                          <m:rPr>
                            <m:nor/>
                          </m:rPr>
                          <a:rPr lang="en-US" altLang="zh-CN" sz="1800" b="1" i="0" smtClean="0">
                            <a:solidFill>
                              <a:schemeClr val="bg2"/>
                            </a:solidFill>
                            <a:latin typeface="Cambria Math" panose="02040503050406030204" pitchFamily="18" charset="0"/>
                            <a:ea typeface="等线" panose="02010600030101010101" pitchFamily="2" charset="-122"/>
                          </a:rPr>
                          <m:t>r</m:t>
                        </m:r>
                        <m:r>
                          <a:rPr lang="en-US" altLang="zh-CN" sz="1800" b="1" i="1" smtClean="0">
                            <a:solidFill>
                              <a:schemeClr val="bg2"/>
                            </a:solidFill>
                            <a:latin typeface="Cambria Math" panose="02040503050406030204" pitchFamily="18" charset="0"/>
                            <a:ea typeface="等线" panose="02010600030101010101" pitchFamily="2" charset="-122"/>
                          </a:rPr>
                          <m:t>^</m:t>
                        </m:r>
                        <m:r>
                          <m:rPr>
                            <m:nor/>
                          </m:rPr>
                          <a:rPr lang="en-US" altLang="zh-CN" sz="1800" b="1" baseline="-25000" dirty="0">
                            <a:solidFill>
                              <a:schemeClr val="bg2"/>
                            </a:solidFill>
                            <a:latin typeface="Times New Roman" panose="02020603050405020304" pitchFamily="18" charset="0"/>
                            <a:ea typeface="等线" panose="02010600030101010101" pitchFamily="2" charset="-122"/>
                          </a:rPr>
                          <m:t>i</m:t>
                        </m:r>
                        <m:r>
                          <m:rPr>
                            <m:nor/>
                          </m:rPr>
                          <a:rPr lang="en-US" altLang="zh-CN" sz="1800" b="1" baseline="-25000" dirty="0">
                            <a:solidFill>
                              <a:schemeClr val="bg2"/>
                            </a:solidFill>
                            <a:latin typeface="Times New Roman" panose="02020603050405020304" pitchFamily="18" charset="0"/>
                            <a:ea typeface="等线" panose="02010600030101010101" pitchFamily="2" charset="-122"/>
                          </a:rPr>
                          <m:t>,</m:t>
                        </m:r>
                        <m:r>
                          <m:rPr>
                            <m:nor/>
                          </m:rPr>
                          <a:rPr lang="en-US" altLang="zh-CN" sz="1800" b="1" baseline="-25000" dirty="0">
                            <a:solidFill>
                              <a:schemeClr val="bg2"/>
                            </a:solidFill>
                            <a:latin typeface="Times New Roman" panose="02020603050405020304" pitchFamily="18" charset="0"/>
                            <a:ea typeface="等线" panose="02010600030101010101" pitchFamily="2" charset="-122"/>
                          </a:rPr>
                          <m:t>t</m:t>
                        </m:r>
                        <m:r>
                          <m:rPr>
                            <m:nor/>
                          </m:rPr>
                          <a:rPr lang="en-US" altLang="zh-CN" sz="1800" b="1" baseline="-25000" dirty="0">
                            <a:solidFill>
                              <a:schemeClr val="bg2"/>
                            </a:solidFill>
                            <a:latin typeface="Times New Roman" panose="02020603050405020304" pitchFamily="18" charset="0"/>
                            <a:ea typeface="等线" panose="02010600030101010101" pitchFamily="2" charset="-122"/>
                          </a:rPr>
                          <m:t>+1</m:t>
                        </m:r>
                        <m:r>
                          <a:rPr lang="en-US" altLang="zh-CN" sz="1800" b="1" i="1" smtClean="0">
                            <a:solidFill>
                              <a:schemeClr val="bg2"/>
                            </a:solidFill>
                            <a:latin typeface="Cambria Math" panose="02040503050406030204" pitchFamily="18" charset="0"/>
                            <a:ea typeface="等线" panose="02010600030101010101" pitchFamily="2" charset="-122"/>
                          </a:rPr>
                          <m:t>)</m:t>
                        </m:r>
                        <m:r>
                          <a:rPr lang="en-US" altLang="zh-CN" sz="1800" b="1" i="1" baseline="30000" smtClean="0">
                            <a:solidFill>
                              <a:schemeClr val="bg2"/>
                            </a:solidFill>
                            <a:latin typeface="Cambria Math" panose="02040503050406030204" pitchFamily="18" charset="0"/>
                            <a:ea typeface="等线" panose="02010600030101010101" pitchFamily="2" charset="-122"/>
                          </a:rPr>
                          <m:t>𝟐</m:t>
                        </m:r>
                      </m:num>
                      <m:den>
                        <m:nary>
                          <m:naryPr>
                            <m:chr m:val="∑"/>
                            <m:limLoc m:val="subSup"/>
                            <m:ctrlPr>
                              <a:rPr lang="en-US" altLang="zh-CN" sz="1800" b="1" i="1">
                                <a:solidFill>
                                  <a:schemeClr val="bg2"/>
                                </a:solidFill>
                                <a:latin typeface="Cambria Math" panose="02040503050406030204" pitchFamily="18" charset="0"/>
                                <a:ea typeface="等线" panose="02010600030101010101" pitchFamily="2" charset="-122"/>
                              </a:rPr>
                            </m:ctrlPr>
                          </m:naryPr>
                          <m:sub>
                            <m:r>
                              <m:rPr>
                                <m:brk m:alnAt="25"/>
                              </m:rPr>
                              <a:rPr lang="en-US" altLang="zh-CN" sz="1800" b="1" i="1" smtClean="0">
                                <a:solidFill>
                                  <a:schemeClr val="bg2"/>
                                </a:solidFill>
                                <a:latin typeface="Cambria Math" panose="02040503050406030204" pitchFamily="18" charset="0"/>
                                <a:ea typeface="等线" panose="02010600030101010101" pitchFamily="2" charset="-122"/>
                              </a:rPr>
                              <m:t>𝑰</m:t>
                            </m:r>
                            <m:r>
                              <a:rPr lang="en-US" altLang="zh-CN" sz="1800" b="1" i="1" smtClean="0">
                                <a:solidFill>
                                  <a:schemeClr val="bg2"/>
                                </a:solidFill>
                                <a:latin typeface="Cambria Math" panose="02040503050406030204" pitchFamily="18" charset="0"/>
                                <a:ea typeface="等线" panose="02010600030101010101" pitchFamily="2" charset="-122"/>
                              </a:rPr>
                              <m:t>,</m:t>
                            </m:r>
                            <m:r>
                              <a:rPr lang="en-US" altLang="zh-CN" sz="1800" b="1" i="1" smtClean="0">
                                <a:solidFill>
                                  <a:schemeClr val="bg2"/>
                                </a:solidFill>
                                <a:latin typeface="Cambria Math" panose="02040503050406030204" pitchFamily="18" charset="0"/>
                                <a:ea typeface="等线" panose="02010600030101010101" pitchFamily="2" charset="-122"/>
                              </a:rPr>
                              <m:t>𝑻</m:t>
                            </m:r>
                          </m:sub>
                          <m:sup/>
                          <m:e>
                            <m:r>
                              <m:rPr>
                                <m:nor/>
                              </m:rPr>
                              <a:rPr lang="en-US" altLang="zh-CN" sz="1800" b="1" i="0" smtClean="0">
                                <a:solidFill>
                                  <a:schemeClr val="bg2"/>
                                </a:solidFill>
                                <a:latin typeface="Cambria Math" panose="02040503050406030204" pitchFamily="18" charset="0"/>
                                <a:ea typeface="等线" panose="02010600030101010101" pitchFamily="2" charset="-122"/>
                              </a:rPr>
                              <m:t>(</m:t>
                            </m:r>
                            <m:r>
                              <m:rPr>
                                <m:nor/>
                              </m:rPr>
                              <a:rPr lang="en-US" altLang="zh-CN" sz="1800" b="1" dirty="0">
                                <a:solidFill>
                                  <a:schemeClr val="bg2"/>
                                </a:solidFill>
                                <a:latin typeface="Times New Roman" panose="02020603050405020304" pitchFamily="18" charset="0"/>
                                <a:ea typeface="等线" panose="02010600030101010101" pitchFamily="2" charset="-122"/>
                              </a:rPr>
                              <m:t>r</m:t>
                            </m:r>
                            <m:r>
                              <m:rPr>
                                <m:nor/>
                              </m:rPr>
                              <a:rPr lang="en-US" altLang="zh-CN" sz="1800" b="1" baseline="-25000" dirty="0">
                                <a:solidFill>
                                  <a:schemeClr val="bg2"/>
                                </a:solidFill>
                                <a:latin typeface="Times New Roman" panose="02020603050405020304" pitchFamily="18" charset="0"/>
                                <a:ea typeface="等线" panose="02010600030101010101" pitchFamily="2" charset="-122"/>
                              </a:rPr>
                              <m:t>i</m:t>
                            </m:r>
                            <m:r>
                              <m:rPr>
                                <m:nor/>
                              </m:rPr>
                              <a:rPr lang="en-US" altLang="zh-CN" sz="1800" b="1" baseline="-25000" dirty="0">
                                <a:solidFill>
                                  <a:schemeClr val="bg2"/>
                                </a:solidFill>
                                <a:latin typeface="Times New Roman" panose="02020603050405020304" pitchFamily="18" charset="0"/>
                                <a:ea typeface="等线" panose="02010600030101010101" pitchFamily="2" charset="-122"/>
                              </a:rPr>
                              <m:t>,</m:t>
                            </m:r>
                            <m:r>
                              <m:rPr>
                                <m:nor/>
                              </m:rPr>
                              <a:rPr lang="en-US" altLang="zh-CN" sz="1800" b="1" baseline="-25000" dirty="0">
                                <a:solidFill>
                                  <a:schemeClr val="bg2"/>
                                </a:solidFill>
                                <a:latin typeface="Times New Roman" panose="02020603050405020304" pitchFamily="18" charset="0"/>
                                <a:ea typeface="等线" panose="02010600030101010101" pitchFamily="2" charset="-122"/>
                              </a:rPr>
                              <m:t>t</m:t>
                            </m:r>
                            <m:r>
                              <m:rPr>
                                <m:nor/>
                              </m:rPr>
                              <a:rPr lang="en-US" altLang="zh-CN" sz="1800" b="1" baseline="-25000" dirty="0">
                                <a:solidFill>
                                  <a:schemeClr val="bg2"/>
                                </a:solidFill>
                                <a:latin typeface="Times New Roman" panose="02020603050405020304" pitchFamily="18" charset="0"/>
                                <a:ea typeface="等线" panose="02010600030101010101" pitchFamily="2" charset="-122"/>
                              </a:rPr>
                              <m:t>+1</m:t>
                            </m:r>
                          </m:e>
                        </m:nary>
                        <m:r>
                          <a:rPr lang="en-US" altLang="zh-CN" sz="1800" b="1" i="1" smtClean="0">
                            <a:solidFill>
                              <a:schemeClr val="bg2"/>
                            </a:solidFill>
                            <a:latin typeface="Cambria Math" panose="02040503050406030204" pitchFamily="18" charset="0"/>
                            <a:ea typeface="等线" panose="02010600030101010101" pitchFamily="2" charset="-122"/>
                          </a:rPr>
                          <m:t>−</m:t>
                        </m:r>
                        <m:r>
                          <m:rPr>
                            <m:nor/>
                          </m:rPr>
                          <a:rPr lang="en-US" altLang="zh-CN" sz="1800" b="1" dirty="0">
                            <a:solidFill>
                              <a:schemeClr val="bg2"/>
                            </a:solidFill>
                            <a:latin typeface="Times New Roman" panose="02020603050405020304" pitchFamily="18" charset="0"/>
                            <a:ea typeface="等线" panose="02010600030101010101" pitchFamily="2" charset="-122"/>
                          </a:rPr>
                          <m:t>r</m:t>
                        </m:r>
                        <m:r>
                          <a:rPr lang="en-US" altLang="zh-CN" sz="1800" b="1" i="1" dirty="0" smtClean="0">
                            <a:solidFill>
                              <a:schemeClr val="bg2"/>
                            </a:solidFill>
                            <a:latin typeface="Cambria Math" panose="02040503050406030204" pitchFamily="18" charset="0"/>
                            <a:ea typeface="等线" panose="02010600030101010101" pitchFamily="2" charset="-122"/>
                          </a:rPr>
                          <m:t>¯</m:t>
                        </m:r>
                        <m:r>
                          <m:rPr>
                            <m:nor/>
                          </m:rPr>
                          <a:rPr lang="en-US" altLang="zh-CN" sz="1800" b="1" baseline="-25000" dirty="0">
                            <a:solidFill>
                              <a:schemeClr val="bg2"/>
                            </a:solidFill>
                            <a:latin typeface="Times New Roman" panose="02020603050405020304" pitchFamily="18" charset="0"/>
                            <a:ea typeface="等线" panose="02010600030101010101" pitchFamily="2" charset="-122"/>
                          </a:rPr>
                          <m:t>i</m:t>
                        </m:r>
                        <m:r>
                          <m:rPr>
                            <m:nor/>
                          </m:rPr>
                          <a:rPr lang="en-US" altLang="zh-CN" sz="1800" b="1" baseline="-25000" dirty="0">
                            <a:solidFill>
                              <a:schemeClr val="bg2"/>
                            </a:solidFill>
                            <a:latin typeface="Times New Roman" panose="02020603050405020304" pitchFamily="18" charset="0"/>
                            <a:ea typeface="等线" panose="02010600030101010101" pitchFamily="2" charset="-122"/>
                          </a:rPr>
                          <m:t>,</m:t>
                        </m:r>
                        <m:r>
                          <m:rPr>
                            <m:nor/>
                          </m:rPr>
                          <a:rPr lang="en-US" altLang="zh-CN" sz="1800" b="1" baseline="-25000" dirty="0">
                            <a:solidFill>
                              <a:schemeClr val="bg2"/>
                            </a:solidFill>
                            <a:latin typeface="Times New Roman" panose="02020603050405020304" pitchFamily="18" charset="0"/>
                            <a:ea typeface="等线" panose="02010600030101010101" pitchFamily="2" charset="-122"/>
                          </a:rPr>
                          <m:t>t</m:t>
                        </m:r>
                        <m:r>
                          <m:rPr>
                            <m:nor/>
                          </m:rPr>
                          <a:rPr lang="en-US" altLang="zh-CN" sz="1800" b="1" baseline="-25000" dirty="0">
                            <a:solidFill>
                              <a:schemeClr val="bg2"/>
                            </a:solidFill>
                            <a:latin typeface="Times New Roman" panose="02020603050405020304" pitchFamily="18" charset="0"/>
                            <a:ea typeface="等线" panose="02010600030101010101" pitchFamily="2" charset="-122"/>
                          </a:rPr>
                          <m:t>+1</m:t>
                        </m:r>
                        <m:r>
                          <a:rPr lang="en-US" altLang="zh-CN" sz="1800" b="1" i="1" smtClean="0">
                            <a:solidFill>
                              <a:schemeClr val="bg2"/>
                            </a:solidFill>
                            <a:latin typeface="Cambria Math" panose="02040503050406030204" pitchFamily="18" charset="0"/>
                            <a:ea typeface="等线" panose="02010600030101010101" pitchFamily="2" charset="-122"/>
                          </a:rPr>
                          <m:t>)</m:t>
                        </m:r>
                        <m:r>
                          <a:rPr lang="en-US" altLang="zh-CN" sz="1800" b="1" i="1" baseline="30000" smtClean="0">
                            <a:solidFill>
                              <a:schemeClr val="bg2"/>
                            </a:solidFill>
                            <a:latin typeface="Cambria Math" panose="02040503050406030204" pitchFamily="18" charset="0"/>
                            <a:ea typeface="等线" panose="02010600030101010101" pitchFamily="2" charset="-122"/>
                          </a:rPr>
                          <m:t>𝟐</m:t>
                        </m:r>
                      </m:den>
                    </m:f>
                  </m:oMath>
                </a14:m>
                <a:endParaRPr lang="en-US" altLang="zh-CN" sz="1800" b="1" baseline="-250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Rank Information Coefficient (Rank IC)</a:t>
                </a: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Commonly used in Quantitative Finance Track</a:t>
                </a: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To assess ranking accuracy and practical implications of models (decile portfolio), we report</a:t>
                </a:r>
              </a:p>
              <a:p>
                <a:pPr algn="ctr">
                  <a:lnSpc>
                    <a:spcPts val="2800"/>
                  </a:lnSpc>
                </a:pPr>
                <a:r>
                  <a:rPr lang="en-US" altLang="zh-CN" sz="1800" b="1" dirty="0" err="1" smtClean="0">
                    <a:solidFill>
                      <a:schemeClr val="bg2"/>
                    </a:solidFill>
                    <a:latin typeface="Times New Roman" panose="02020603050405020304" pitchFamily="18" charset="0"/>
                    <a:ea typeface="等线" panose="02010600030101010101" pitchFamily="2" charset="-122"/>
                  </a:rPr>
                  <a:t>RankIC</a:t>
                </a:r>
                <a:r>
                  <a:rPr lang="en-US" altLang="zh-CN" sz="1800" b="1" baseline="-25000" dirty="0" err="1" smtClean="0">
                    <a:solidFill>
                      <a:schemeClr val="bg2"/>
                    </a:solidFill>
                    <a:latin typeface="Times New Roman" panose="02020603050405020304" pitchFamily="18" charset="0"/>
                    <a:ea typeface="等线" panose="02010600030101010101" pitchFamily="2" charset="-122"/>
                  </a:rPr>
                  <a:t>oos</a:t>
                </a:r>
                <a:r>
                  <a:rPr lang="en-US" altLang="zh-CN" sz="1800" b="1" dirty="0" smtClean="0">
                    <a:solidFill>
                      <a:schemeClr val="bg2"/>
                    </a:solidFill>
                    <a:latin typeface="Times New Roman" panose="02020603050405020304" pitchFamily="18" charset="0"/>
                    <a:ea typeface="等线" panose="02010600030101010101" pitchFamily="2" charset="-122"/>
                  </a:rPr>
                  <a:t> </a:t>
                </a:r>
                <a:r>
                  <a:rPr lang="en-US" altLang="zh-CN" sz="1800" b="1" dirty="0">
                    <a:solidFill>
                      <a:schemeClr val="bg2"/>
                    </a:solidFill>
                    <a:latin typeface="Times New Roman" panose="02020603050405020304" pitchFamily="18" charset="0"/>
                    <a:ea typeface="等线" panose="02010600030101010101" pitchFamily="2" charset="-122"/>
                  </a:rPr>
                  <a:t>=  </a:t>
                </a:r>
                <a:r>
                  <a:rPr lang="en-US" altLang="zh-CN" sz="1800" b="1" dirty="0" err="1" smtClean="0">
                    <a:solidFill>
                      <a:schemeClr val="bg2"/>
                    </a:solidFill>
                    <a:latin typeface="Times New Roman" panose="02020603050405020304" pitchFamily="18" charset="0"/>
                    <a:ea typeface="等线" panose="02010600030101010101" pitchFamily="2" charset="-122"/>
                  </a:rPr>
                  <a:t>Corr</a:t>
                </a:r>
                <a:r>
                  <a:rPr lang="en-US" altLang="zh-CN" sz="1800" b="1" dirty="0" smtClean="0">
                    <a:solidFill>
                      <a:schemeClr val="bg2"/>
                    </a:solidFill>
                    <a:latin typeface="Times New Roman" panose="02020603050405020304" pitchFamily="18" charset="0"/>
                    <a:ea typeface="等线" panose="02010600030101010101" pitchFamily="2" charset="-122"/>
                  </a:rPr>
                  <a:t>(Rank(</a:t>
                </a:r>
                <a:r>
                  <a:rPr lang="en-US" altLang="zh-CN" sz="1800" b="1" dirty="0">
                    <a:solidFill>
                      <a:schemeClr val="bg2"/>
                    </a:solidFill>
                    <a:latin typeface="Times New Roman" panose="02020603050405020304" pitchFamily="18" charset="0"/>
                    <a:ea typeface="等线" panose="02010600030101010101" pitchFamily="2" charset="-122"/>
                  </a:rPr>
                  <a:t>r</a:t>
                </a:r>
                <a:r>
                  <a:rPr lang="en-US" altLang="zh-CN" sz="1800" b="1" baseline="-25000" dirty="0">
                    <a:solidFill>
                      <a:schemeClr val="bg2"/>
                    </a:solidFill>
                    <a:latin typeface="Times New Roman" panose="02020603050405020304" pitchFamily="18" charset="0"/>
                    <a:ea typeface="等线" panose="02010600030101010101" pitchFamily="2" charset="-122"/>
                  </a:rPr>
                  <a:t>i,t+1</a:t>
                </a:r>
                <a:r>
                  <a:rPr lang="en-US" altLang="zh-CN" sz="1800" b="1" dirty="0" smtClean="0">
                    <a:solidFill>
                      <a:schemeClr val="bg2"/>
                    </a:solidFill>
                    <a:latin typeface="Times New Roman" panose="02020603050405020304" pitchFamily="18" charset="0"/>
                    <a:ea typeface="等线" panose="02010600030101010101" pitchFamily="2" charset="-122"/>
                  </a:rPr>
                  <a:t>), Rank(</a:t>
                </a:r>
                <a:r>
                  <a:rPr lang="en-US" altLang="zh-CN" sz="1800" b="1" dirty="0">
                    <a:solidFill>
                      <a:schemeClr val="bg2"/>
                    </a:solidFill>
                    <a:latin typeface="Times New Roman" panose="02020603050405020304" pitchFamily="18" charset="0"/>
                    <a:ea typeface="等线" panose="02010600030101010101" pitchFamily="2" charset="-122"/>
                  </a:rPr>
                  <a:t>r</a:t>
                </a:r>
                <a14:m>
                  <m:oMath xmlns:m="http://schemas.openxmlformats.org/officeDocument/2006/math">
                    <m:r>
                      <a:rPr lang="en-US" altLang="zh-CN" sz="1800" b="1" i="1">
                        <a:solidFill>
                          <a:schemeClr val="bg2"/>
                        </a:solidFill>
                        <a:latin typeface="Cambria Math" panose="02040503050406030204" pitchFamily="18" charset="0"/>
                        <a:ea typeface="等线" panose="02010600030101010101" pitchFamily="2" charset="-122"/>
                      </a:rPr>
                      <m:t>^</m:t>
                    </m:r>
                  </m:oMath>
                </a14:m>
                <a:r>
                  <a:rPr lang="en-US" altLang="zh-CN" sz="1800" b="1" baseline="-25000" dirty="0">
                    <a:solidFill>
                      <a:schemeClr val="bg2"/>
                    </a:solidFill>
                    <a:latin typeface="Times New Roman" panose="02020603050405020304" pitchFamily="18" charset="0"/>
                    <a:ea typeface="等线" panose="02010600030101010101" pitchFamily="2" charset="-122"/>
                  </a:rPr>
                  <a:t>i,t+1</a:t>
                </a:r>
                <a:r>
                  <a:rPr lang="en-US" altLang="zh-CN" sz="1800" b="1" dirty="0" smtClean="0">
                    <a:solidFill>
                      <a:schemeClr val="bg2"/>
                    </a:solidFill>
                    <a:latin typeface="Times New Roman" panose="02020603050405020304" pitchFamily="18" charset="0"/>
                    <a:ea typeface="等线" panose="02010600030101010101" pitchFamily="2" charset="-122"/>
                  </a:rPr>
                  <a:t>))</a:t>
                </a:r>
              </a:p>
              <a:p>
                <a:pPr>
                  <a:lnSpc>
                    <a:spcPts val="2800"/>
                  </a:lnSpc>
                </a:pPr>
                <a:r>
                  <a:rPr lang="en-US" altLang="zh-CN" sz="1800" dirty="0" smtClean="0">
                    <a:latin typeface="Times New Roman" panose="02020603050405020304" pitchFamily="18" charset="0"/>
                    <a:ea typeface="等线" panose="02010600030101010101" pitchFamily="2" charset="-122"/>
                  </a:rPr>
                  <a:t>Where Rank(r) is the rank variable of returns </a:t>
                </a:r>
              </a:p>
              <a:p>
                <a:endParaRPr lang="en-US" altLang="zh-CN" sz="1800" b="1" dirty="0">
                  <a:latin typeface="Times New Roman" panose="02020603050405020304" pitchFamily="18" charset="0"/>
                  <a:ea typeface="等线" panose="02010600030101010101" pitchFamily="2" charset="-122"/>
                </a:endParaRPr>
              </a:p>
            </p:txBody>
          </p:sp>
        </mc:Choice>
        <mc:Fallback xmlns="">
          <p:sp>
            <p:nvSpPr>
              <p:cNvPr id="6" name="标题 1">
                <a:extLst>
                  <a:ext uri="{FF2B5EF4-FFF2-40B4-BE49-F238E27FC236}">
                    <a16:creationId xmlns:a16="http://schemas.microsoft.com/office/drawing/2014/main" id="{A3C71D49-1CFF-4704-AE93-7F736EAECB98}"/>
                  </a:ext>
                </a:extLst>
              </p:cNvPr>
              <p:cNvSpPr txBox="1">
                <a:spLocks noRot="1" noChangeAspect="1" noMove="1" noResize="1" noEditPoints="1" noAdjustHandles="1" noChangeArrowheads="1" noChangeShapeType="1" noTextEdit="1"/>
              </p:cNvSpPr>
              <p:nvPr/>
            </p:nvSpPr>
            <p:spPr bwMode="auto">
              <a:xfrm>
                <a:off x="415702" y="935515"/>
                <a:ext cx="9368110" cy="1327252"/>
              </a:xfrm>
              <a:prstGeom prst="rect">
                <a:avLst/>
              </a:prstGeom>
              <a:blipFill>
                <a:blip r:embed="rId2"/>
                <a:stretch>
                  <a:fillRect l="-1496" t="-2294" r="-586" b="-202752"/>
                </a:stretch>
              </a:blipFill>
              <a:ln w="9525">
                <a:noFill/>
                <a:miter lim="800000"/>
                <a:headEnd/>
                <a:tailEnd/>
              </a:ln>
            </p:spPr>
            <p:txBody>
              <a:bodyPr/>
              <a:lstStyle/>
              <a:p>
                <a:r>
                  <a:rPr lang="zh-CN" altLang="en-US">
                    <a:noFill/>
                  </a:rPr>
                  <a:t> </a:t>
                </a:r>
              </a:p>
            </p:txBody>
          </p:sp>
        </mc:Fallback>
      </mc:AlternateContent>
    </p:spTree>
    <p:extLst>
      <p:ext uri="{BB962C8B-B14F-4D97-AF65-F5344CB8AC3E}">
        <p14:creationId xmlns:p14="http://schemas.microsoft.com/office/powerpoint/2010/main" val="2578165043"/>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bwMode="auto">
          <a:xfrm>
            <a:off x="259525" y="153430"/>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Data</a:t>
            </a:r>
            <a:endParaRPr lang="en-US" altLang="zh-CN" sz="2400" dirty="0">
              <a:solidFill>
                <a:schemeClr val="bg1"/>
              </a:solidFill>
            </a:endParaRPr>
          </a:p>
        </p:txBody>
      </p:sp>
      <p:sp>
        <p:nvSpPr>
          <p:cNvPr id="6" name="标题 1">
            <a:extLst>
              <a:ext uri="{FF2B5EF4-FFF2-40B4-BE49-F238E27FC236}">
                <a16:creationId xmlns:a16="http://schemas.microsoft.com/office/drawing/2014/main" id="{A3C71D49-1CFF-4704-AE93-7F736EAECB98}"/>
              </a:ext>
            </a:extLst>
          </p:cNvPr>
          <p:cNvSpPr txBox="1">
            <a:spLocks/>
          </p:cNvSpPr>
          <p:nvPr/>
        </p:nvSpPr>
        <p:spPr bwMode="auto">
          <a:xfrm>
            <a:off x="415702" y="935515"/>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Stocks</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All firms listed in the Shanghai/Shenzhen Exchange excluding IPO stocks (IPO within 6 months)</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Our sample begins in January 2010 and ends in December 2020, totaling 11 years</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Risk-free rate: 3-month </a:t>
            </a:r>
            <a:r>
              <a:rPr lang="en-US" altLang="zh-CN" sz="1800" dirty="0" err="1" smtClean="0">
                <a:latin typeface="Times New Roman" panose="02020603050405020304" pitchFamily="18" charset="0"/>
                <a:ea typeface="等线" panose="02010600030101010101" pitchFamily="2" charset="-122"/>
              </a:rPr>
              <a:t>govt</a:t>
            </a:r>
            <a:r>
              <a:rPr lang="en-US" altLang="zh-CN" sz="1800" dirty="0" smtClean="0">
                <a:latin typeface="Times New Roman" panose="02020603050405020304" pitchFamily="18" charset="0"/>
                <a:ea typeface="等线" panose="02010600030101010101" pitchFamily="2" charset="-122"/>
              </a:rPr>
              <a:t> bond YTM</a:t>
            </a:r>
            <a:endParaRPr lang="en-US" altLang="zh-CN" sz="18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Predictors</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Novel dataset in China: 89 stock characteristics based on literature (Green et al., 2017)</a:t>
            </a:r>
            <a:endParaRPr lang="en-US" altLang="zh-CN" sz="18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600" dirty="0" smtClean="0">
                <a:latin typeface="Times New Roman" panose="02020603050405020304" pitchFamily="18" charset="0"/>
                <a:ea typeface="等线" panose="02010600030101010101" pitchFamily="2" charset="-122"/>
              </a:rPr>
              <a:t>Categorize into price trends, liquidity variables, risk measures, valuation ratios and fundamental signals</a:t>
            </a:r>
            <a:endParaRPr lang="en-US" altLang="zh-CN" sz="1600" dirty="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600" dirty="0" smtClean="0">
                <a:latin typeface="Times New Roman" panose="02020603050405020304" pitchFamily="18" charset="0"/>
                <a:ea typeface="等线" panose="02010600030101010101" pitchFamily="2" charset="-122"/>
              </a:rPr>
              <a:t>Each of the characteristics is claimed to possess predictive power</a:t>
            </a:r>
          </a:p>
          <a:p>
            <a:pPr marL="821884" lvl="1" indent="-342921">
              <a:lnSpc>
                <a:spcPts val="2800"/>
              </a:lnSpc>
              <a:buFont typeface="Wingdings" panose="05000000000000000000" pitchFamily="2" charset="2"/>
              <a:buChar char="Ø"/>
            </a:pPr>
            <a:r>
              <a:rPr lang="en-US" altLang="zh-CN" sz="1600" dirty="0" smtClean="0">
                <a:latin typeface="Times New Roman" panose="02020603050405020304" pitchFamily="18" charset="0"/>
                <a:ea typeface="等线" panose="02010600030101010101" pitchFamily="2" charset="-122"/>
              </a:rPr>
              <a:t>We cross-</a:t>
            </a:r>
            <a:r>
              <a:rPr lang="en-US" altLang="zh-CN" sz="1600" dirty="0" err="1" smtClean="0">
                <a:latin typeface="Times New Roman" panose="02020603050405020304" pitchFamily="18" charset="0"/>
                <a:ea typeface="等线" panose="02010600030101010101" pitchFamily="2" charset="-122"/>
              </a:rPr>
              <a:t>sectionally</a:t>
            </a:r>
            <a:r>
              <a:rPr lang="en-US" altLang="zh-CN" sz="1600" dirty="0" smtClean="0">
                <a:latin typeface="Times New Roman" panose="02020603050405020304" pitchFamily="18" charset="0"/>
                <a:ea typeface="等线" panose="02010600030101010101" pitchFamily="2" charset="-122"/>
              </a:rPr>
              <a:t> rank all stock characteristics period-by-period and map them into the [-1,1] interval</a:t>
            </a:r>
          </a:p>
          <a:p>
            <a:pPr marL="821884" lvl="1" indent="-342921">
              <a:lnSpc>
                <a:spcPts val="2800"/>
              </a:lnSpc>
              <a:buFont typeface="Wingdings" panose="05000000000000000000" pitchFamily="2" charset="2"/>
              <a:buChar char="Ø"/>
            </a:pPr>
            <a:r>
              <a:rPr lang="en-US" altLang="zh-CN" sz="1600" dirty="0" smtClean="0">
                <a:latin typeface="Times New Roman" panose="02020603050405020304" pitchFamily="18" charset="0"/>
                <a:ea typeface="等线" panose="02010600030101010101" pitchFamily="2" charset="-122"/>
              </a:rPr>
              <a:t>Fill missing values by cross-section median, roll forward quarterly characteristics by 4 months, and monthly or more frequent characteristics by 1 month</a:t>
            </a:r>
            <a:endParaRPr lang="en-US" altLang="zh-CN" sz="16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7 macro variables selected from Welch and </a:t>
            </a:r>
            <a:r>
              <a:rPr lang="en-US" altLang="zh-CN" sz="1800" dirty="0" err="1">
                <a:latin typeface="Times New Roman" panose="02020603050405020304" pitchFamily="18" charset="0"/>
                <a:ea typeface="等线" panose="02010600030101010101" pitchFamily="2" charset="-122"/>
              </a:rPr>
              <a:t>Goyal</a:t>
            </a:r>
            <a:r>
              <a:rPr lang="en-US" altLang="zh-CN" sz="1800" dirty="0">
                <a:latin typeface="Times New Roman" panose="02020603050405020304" pitchFamily="18" charset="0"/>
                <a:ea typeface="等线" panose="02010600030101010101" pitchFamily="2" charset="-122"/>
              </a:rPr>
              <a:t> (2008</a:t>
            </a:r>
            <a:r>
              <a:rPr lang="en-US" altLang="zh-CN" sz="1800" dirty="0" smtClean="0">
                <a:latin typeface="Times New Roman" panose="02020603050405020304" pitchFamily="18" charset="0"/>
                <a:ea typeface="等线" panose="02010600030101010101" pitchFamily="2" charset="-122"/>
              </a:rPr>
              <a:t>)</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Industry dummy variable</a:t>
            </a:r>
            <a:endParaRPr lang="en-US" altLang="zh-CN" sz="1800" dirty="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Tree>
    <p:extLst>
      <p:ext uri="{BB962C8B-B14F-4D97-AF65-F5344CB8AC3E}">
        <p14:creationId xmlns:p14="http://schemas.microsoft.com/office/powerpoint/2010/main" val="1294990440"/>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bwMode="auto">
          <a:xfrm>
            <a:off x="259525" y="117426"/>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Sample Splitting and Tuning</a:t>
            </a:r>
            <a:endParaRPr lang="en-US" altLang="zh-CN" sz="2400" dirty="0">
              <a:solidFill>
                <a:schemeClr val="bg1"/>
              </a:solidFill>
            </a:endParaRPr>
          </a:p>
        </p:txBody>
      </p:sp>
      <p:sp>
        <p:nvSpPr>
          <p:cNvPr id="6" name="标题 1">
            <a:extLst>
              <a:ext uri="{FF2B5EF4-FFF2-40B4-BE49-F238E27FC236}">
                <a16:creationId xmlns:a16="http://schemas.microsoft.com/office/drawing/2014/main" id="{A3C71D49-1CFF-4704-AE93-7F736EAECB98}"/>
              </a:ext>
            </a:extLst>
          </p:cNvPr>
          <p:cNvSpPr txBox="1">
            <a:spLocks/>
          </p:cNvSpPr>
          <p:nvPr/>
        </p:nvSpPr>
        <p:spPr bwMode="auto">
          <a:xfrm>
            <a:off x="415702" y="935515"/>
            <a:ext cx="3276364"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Train Validation Test Split</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The first training window is 2010-2013. Then we recursively increase the training window.</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Use the next year as validation data; Predict the year after next</a:t>
            </a:r>
            <a:endParaRPr lang="en-US" altLang="zh-CN" sz="18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Performance on Individual Stocks</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Machine learning achieves good numerical and ranking accuracy simultaneously</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Results are robust when retrain quarterly/monthly (Appendix)</a:t>
            </a:r>
            <a:endParaRPr lang="en-US" altLang="zh-CN" sz="1800" dirty="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4114" y="815760"/>
            <a:ext cx="5184576" cy="2413938"/>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6269" y="3452486"/>
            <a:ext cx="6085528" cy="2941474"/>
          </a:xfrm>
          <a:prstGeom prst="rect">
            <a:avLst/>
          </a:prstGeom>
        </p:spPr>
      </p:pic>
    </p:spTree>
    <p:extLst>
      <p:ext uri="{BB962C8B-B14F-4D97-AF65-F5344CB8AC3E}">
        <p14:creationId xmlns:p14="http://schemas.microsoft.com/office/powerpoint/2010/main" val="2884866071"/>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bwMode="auto">
          <a:xfrm>
            <a:off x="259525" y="127592"/>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Decile Portfolios</a:t>
            </a:r>
            <a:endParaRPr lang="en-US" altLang="zh-CN" sz="2400" dirty="0">
              <a:solidFill>
                <a:schemeClr val="bg1"/>
              </a:solidFill>
            </a:endParaRPr>
          </a:p>
        </p:txBody>
      </p:sp>
      <p:sp>
        <p:nvSpPr>
          <p:cNvPr id="6" name="标题 1">
            <a:extLst>
              <a:ext uri="{FF2B5EF4-FFF2-40B4-BE49-F238E27FC236}">
                <a16:creationId xmlns:a16="http://schemas.microsoft.com/office/drawing/2014/main" id="{A3C71D49-1CFF-4704-AE93-7F736EAECB98}"/>
              </a:ext>
            </a:extLst>
          </p:cNvPr>
          <p:cNvSpPr txBox="1">
            <a:spLocks/>
          </p:cNvSpPr>
          <p:nvPr/>
        </p:nvSpPr>
        <p:spPr bwMode="auto">
          <a:xfrm>
            <a:off x="259524" y="842185"/>
            <a:ext cx="9085169"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Construct decile portfolios based on model predictions; Decile 10 are formed by stocks with top 10% predicted returns; Decile 1 are with bottom 10%</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OLS: low numerical accuracy but high ranking accuracy</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Machine learning models have higher numerical accuracy</a:t>
            </a: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pic>
        <p:nvPicPr>
          <p:cNvPr id="8" name="图片 7"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931" y="2484692"/>
            <a:ext cx="8616751" cy="4092115"/>
          </a:xfrm>
          <a:prstGeom prst="rect">
            <a:avLst/>
          </a:prstGeom>
        </p:spPr>
      </p:pic>
    </p:spTree>
    <p:extLst>
      <p:ext uri="{BB962C8B-B14F-4D97-AF65-F5344CB8AC3E}">
        <p14:creationId xmlns:p14="http://schemas.microsoft.com/office/powerpoint/2010/main" val="4141369340"/>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bwMode="auto">
          <a:xfrm>
            <a:off x="259525" y="136649"/>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Which Predictors Matter?</a:t>
            </a:r>
            <a:endParaRPr lang="en-US" altLang="zh-CN" sz="2400" dirty="0">
              <a:solidFill>
                <a:schemeClr val="bg1"/>
              </a:solidFill>
            </a:endParaRPr>
          </a:p>
        </p:txBody>
      </p:sp>
      <p:sp>
        <p:nvSpPr>
          <p:cNvPr id="6" name="标题 1">
            <a:extLst>
              <a:ext uri="{FF2B5EF4-FFF2-40B4-BE49-F238E27FC236}">
                <a16:creationId xmlns:a16="http://schemas.microsoft.com/office/drawing/2014/main" id="{A3C71D49-1CFF-4704-AE93-7F736EAECB98}"/>
              </a:ext>
            </a:extLst>
          </p:cNvPr>
          <p:cNvSpPr txBox="1">
            <a:spLocks/>
          </p:cNvSpPr>
          <p:nvPr/>
        </p:nvSpPr>
        <p:spPr bwMode="auto">
          <a:xfrm>
            <a:off x="259524" y="842185"/>
            <a:ext cx="9085169"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Set the predictor of interest to 0; Make predictions based on the processed data; Compare the R2 to the original R2</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R2 reduction reflects predictor importance =&gt; Rank predictor importance within a model =&gt; Average the rank across models</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Models agree on similar sets of critical predictors, but feature importance in models with high numerical accuracy are distributed more evenly (Appendix)</a:t>
            </a: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930" y="3212117"/>
            <a:ext cx="4212468" cy="3133913"/>
          </a:xfrm>
          <a:prstGeom prst="rect">
            <a:avLst/>
          </a:prstGeom>
        </p:spPr>
      </p:pic>
    </p:spTree>
    <p:extLst>
      <p:ext uri="{BB962C8B-B14F-4D97-AF65-F5344CB8AC3E}">
        <p14:creationId xmlns:p14="http://schemas.microsoft.com/office/powerpoint/2010/main" val="2352764916"/>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bwMode="auto">
          <a:xfrm>
            <a:off x="259525" y="127592"/>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Which Predictors Matter?</a:t>
            </a:r>
          </a:p>
        </p:txBody>
      </p:sp>
      <p:sp>
        <p:nvSpPr>
          <p:cNvPr id="6" name="标题 1">
            <a:extLst>
              <a:ext uri="{FF2B5EF4-FFF2-40B4-BE49-F238E27FC236}">
                <a16:creationId xmlns:a16="http://schemas.microsoft.com/office/drawing/2014/main" id="{A3C71D49-1CFF-4704-AE93-7F736EAECB98}"/>
              </a:ext>
            </a:extLst>
          </p:cNvPr>
          <p:cNvSpPr txBox="1">
            <a:spLocks/>
          </p:cNvSpPr>
          <p:nvPr/>
        </p:nvSpPr>
        <p:spPr bwMode="auto">
          <a:xfrm>
            <a:off x="415702" y="909514"/>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4.1 </a:t>
            </a:r>
            <a:r>
              <a:rPr lang="en-US" altLang="zh-CN" sz="1800" b="1" dirty="0" smtClean="0">
                <a:solidFill>
                  <a:schemeClr val="bg2"/>
                </a:solidFill>
                <a:latin typeface="Times New Roman" panose="02020603050405020304" pitchFamily="18" charset="0"/>
                <a:ea typeface="等线" panose="02010600030101010101" pitchFamily="2" charset="-122"/>
              </a:rPr>
              <a:t>Data</a:t>
            </a: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4.2 </a:t>
            </a:r>
            <a:r>
              <a:rPr lang="en-US" altLang="zh-CN" sz="1800" b="1" dirty="0">
                <a:solidFill>
                  <a:schemeClr val="bg2"/>
                </a:solidFill>
                <a:latin typeface="Times New Roman" panose="02020603050405020304" pitchFamily="18" charset="0"/>
                <a:ea typeface="等线" panose="02010600030101010101" pitchFamily="2" charset="-122"/>
              </a:rPr>
              <a:t>Train-validation-test </a:t>
            </a:r>
            <a:r>
              <a:rPr lang="en-US" altLang="zh-CN" sz="1800" b="1" dirty="0" smtClean="0">
                <a:solidFill>
                  <a:schemeClr val="bg2"/>
                </a:solidFill>
                <a:latin typeface="Times New Roman" panose="02020603050405020304" pitchFamily="18" charset="0"/>
                <a:ea typeface="等线" panose="02010600030101010101" pitchFamily="2" charset="-122"/>
              </a:rPr>
              <a:t>Split</a:t>
            </a: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4.3 </a:t>
            </a:r>
            <a:r>
              <a:rPr lang="en-US" altLang="zh-CN" sz="1800" b="1" dirty="0">
                <a:solidFill>
                  <a:schemeClr val="bg2"/>
                </a:solidFill>
                <a:latin typeface="Times New Roman" panose="02020603050405020304" pitchFamily="18" charset="0"/>
                <a:ea typeface="等线" panose="02010600030101010101" pitchFamily="2" charset="-122"/>
              </a:rPr>
              <a:t>Stock Return Forecast </a:t>
            </a:r>
            <a:r>
              <a:rPr lang="en-US" altLang="zh-CN" sz="1800" b="1" dirty="0" smtClean="0">
                <a:solidFill>
                  <a:schemeClr val="bg2"/>
                </a:solidFill>
                <a:latin typeface="Times New Roman" panose="02020603050405020304" pitchFamily="18" charset="0"/>
                <a:ea typeface="等线" panose="02010600030101010101" pitchFamily="2" charset="-122"/>
              </a:rPr>
              <a:t>Accuracy</a:t>
            </a: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4.4 </a:t>
            </a:r>
            <a:r>
              <a:rPr lang="en-US" altLang="zh-CN" sz="1800" b="1" dirty="0">
                <a:solidFill>
                  <a:schemeClr val="bg2"/>
                </a:solidFill>
                <a:latin typeface="Times New Roman" panose="02020603050405020304" pitchFamily="18" charset="0"/>
                <a:ea typeface="等线" panose="02010600030101010101" pitchFamily="2" charset="-122"/>
              </a:rPr>
              <a:t>Predictor </a:t>
            </a:r>
            <a:r>
              <a:rPr lang="en-US" altLang="zh-CN" sz="1800" b="1" dirty="0" smtClean="0">
                <a:solidFill>
                  <a:schemeClr val="bg2"/>
                </a:solidFill>
                <a:latin typeface="Times New Roman" panose="02020603050405020304" pitchFamily="18" charset="0"/>
                <a:ea typeface="等线" panose="02010600030101010101" pitchFamily="2" charset="-122"/>
              </a:rPr>
              <a:t>Importance</a:t>
            </a: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pic>
        <p:nvPicPr>
          <p:cNvPr id="4" name="图片 3"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525" y="2628407"/>
            <a:ext cx="4277768" cy="3711110"/>
          </a:xfrm>
          <a:prstGeom prst="rect">
            <a:avLst/>
          </a:prstGeom>
        </p:spPr>
      </p:pic>
      <p:pic>
        <p:nvPicPr>
          <p:cNvPr id="5" name="图片 4" descr="屏幕剪辑"/>
          <p:cNvPicPr>
            <a:picLocks noChangeAspect="1"/>
          </p:cNvPicPr>
          <p:nvPr/>
        </p:nvPicPr>
        <p:blipFill rotWithShape="1">
          <a:blip r:embed="rId3">
            <a:extLst>
              <a:ext uri="{28A0092B-C50C-407E-A947-70E740481C1C}">
                <a14:useLocalDpi xmlns:a14="http://schemas.microsoft.com/office/drawing/2010/main" val="0"/>
              </a:ext>
            </a:extLst>
          </a:blip>
          <a:srcRect t="5159" r="2120"/>
          <a:stretch/>
        </p:blipFill>
        <p:spPr>
          <a:xfrm>
            <a:off x="4537293" y="801501"/>
            <a:ext cx="4982673" cy="5538015"/>
          </a:xfrm>
          <a:prstGeom prst="rect">
            <a:avLst/>
          </a:prstGeom>
        </p:spPr>
      </p:pic>
    </p:spTree>
    <p:extLst>
      <p:ext uri="{BB962C8B-B14F-4D97-AF65-F5344CB8AC3E}">
        <p14:creationId xmlns:p14="http://schemas.microsoft.com/office/powerpoint/2010/main" val="2723687357"/>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bwMode="auto">
          <a:xfrm>
            <a:off x="259525" y="136649"/>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Can We Trade What Models Learn?</a:t>
            </a:r>
            <a:endParaRPr lang="en-US" altLang="zh-CN" sz="2400" dirty="0">
              <a:solidFill>
                <a:schemeClr val="bg1"/>
              </a:solidFill>
            </a:endParaRPr>
          </a:p>
        </p:txBody>
      </p:sp>
      <p:sp>
        <p:nvSpPr>
          <p:cNvPr id="6" name="标题 1">
            <a:extLst>
              <a:ext uri="{FF2B5EF4-FFF2-40B4-BE49-F238E27FC236}">
                <a16:creationId xmlns:a16="http://schemas.microsoft.com/office/drawing/2014/main" id="{A3C71D49-1CFF-4704-AE93-7F736EAECB98}"/>
              </a:ext>
            </a:extLst>
          </p:cNvPr>
          <p:cNvSpPr txBox="1">
            <a:spLocks/>
          </p:cNvSpPr>
          <p:nvPr/>
        </p:nvSpPr>
        <p:spPr bwMode="auto">
          <a:xfrm>
            <a:off x="259524" y="842185"/>
            <a:ext cx="9085169"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Tradability Constraints</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R2 reduction reflects predictor importance =&gt; Rank predictor importance within a model =&gt; Average the rank across models</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Models agree on similar sets of critical predictors, but feature importance in models with high numerical accuracy are distributed more evenly (Appendix)</a:t>
            </a: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Avoid </a:t>
            </a:r>
            <a:r>
              <a:rPr lang="en-US" altLang="zh-CN" sz="1800" b="1" dirty="0">
                <a:solidFill>
                  <a:schemeClr val="bg2"/>
                </a:solidFill>
                <a:latin typeface="Times New Roman" panose="02020603050405020304" pitchFamily="18" charset="0"/>
                <a:ea typeface="等线" panose="02010600030101010101" pitchFamily="2" charset="-122"/>
              </a:rPr>
              <a:t>Paper Gains</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Exclude IPO stocks in training set</a:t>
            </a:r>
          </a:p>
          <a:p>
            <a:pPr marL="821884" lvl="1" indent="-342921">
              <a:lnSpc>
                <a:spcPts val="2800"/>
              </a:lnSpc>
              <a:buFont typeface="Wingdings" panose="05000000000000000000" pitchFamily="2" charset="2"/>
              <a:buChar char="Ø"/>
            </a:pPr>
            <a:r>
              <a:rPr lang="en-US" altLang="zh-CN" sz="1600" dirty="0" smtClean="0">
                <a:latin typeface="Times New Roman" panose="02020603050405020304" pitchFamily="18" charset="0"/>
                <a:ea typeface="等线" panose="02010600030101010101" pitchFamily="2" charset="-122"/>
              </a:rPr>
              <a:t>The average impact on Sharpe ratios decrease to 0.16</a:t>
            </a:r>
            <a:endParaRPr lang="en-US" altLang="zh-CN" sz="16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Mimic the real trading environment in </a:t>
            </a:r>
            <a:r>
              <a:rPr lang="en-US" altLang="zh-CN" sz="1800" dirty="0" err="1" smtClean="0">
                <a:latin typeface="Times New Roman" panose="02020603050405020304" pitchFamily="18" charset="0"/>
                <a:ea typeface="等线" panose="02010600030101010101" pitchFamily="2" charset="-122"/>
              </a:rPr>
              <a:t>backtesting</a:t>
            </a:r>
            <a:endParaRPr lang="en-US" altLang="zh-CN" sz="1800" dirty="0" smtClean="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600" dirty="0" smtClean="0">
                <a:latin typeface="Times New Roman" panose="02020603050405020304" pitchFamily="18" charset="0"/>
                <a:ea typeface="等线" panose="02010600030101010101" pitchFamily="2" charset="-122"/>
              </a:rPr>
              <a:t>Excludes IPO/Suspended/Price limit stocks and any other </a:t>
            </a:r>
            <a:r>
              <a:rPr lang="en-US" altLang="zh-CN" sz="1600" dirty="0" err="1" smtClean="0">
                <a:latin typeface="Times New Roman" panose="02020603050405020304" pitchFamily="18" charset="0"/>
                <a:ea typeface="等线" panose="02010600030101010101" pitchFamily="2" charset="-122"/>
              </a:rPr>
              <a:t>untradable</a:t>
            </a:r>
            <a:r>
              <a:rPr lang="en-US" altLang="zh-CN" sz="1600" dirty="0" smtClean="0">
                <a:latin typeface="Times New Roman" panose="02020603050405020304" pitchFamily="18" charset="0"/>
                <a:ea typeface="等线" panose="02010600030101010101" pitchFamily="2" charset="-122"/>
              </a:rPr>
              <a:t> stocks</a:t>
            </a:r>
            <a:endParaRPr lang="en-US" altLang="zh-CN" sz="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Tree>
    <p:extLst>
      <p:ext uri="{BB962C8B-B14F-4D97-AF65-F5344CB8AC3E}">
        <p14:creationId xmlns:p14="http://schemas.microsoft.com/office/powerpoint/2010/main" val="2581919444"/>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bwMode="auto">
          <a:xfrm>
            <a:off x="259525" y="127592"/>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Machine Learning Portfolio</a:t>
            </a:r>
            <a:endParaRPr lang="en-US" altLang="zh-CN" sz="2400" dirty="0">
              <a:solidFill>
                <a:schemeClr val="bg1"/>
              </a:solidFill>
            </a:endParaRPr>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109" y="1375466"/>
            <a:ext cx="3223539" cy="4511431"/>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6042" y="651504"/>
            <a:ext cx="3154953" cy="5883150"/>
          </a:xfrm>
          <a:prstGeom prst="rect">
            <a:avLst/>
          </a:prstGeom>
        </p:spPr>
      </p:pic>
      <p:pic>
        <p:nvPicPr>
          <p:cNvPr id="7" name="图片 6"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10331" y="580266"/>
            <a:ext cx="3010161" cy="5959356"/>
          </a:xfrm>
          <a:prstGeom prst="rect">
            <a:avLst/>
          </a:prstGeom>
        </p:spPr>
      </p:pic>
    </p:spTree>
    <p:extLst>
      <p:ext uri="{BB962C8B-B14F-4D97-AF65-F5344CB8AC3E}">
        <p14:creationId xmlns:p14="http://schemas.microsoft.com/office/powerpoint/2010/main" val="1347734973"/>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bwMode="auto">
          <a:xfrm>
            <a:off x="259525" y="127592"/>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Machine Learning Portfolio: Ideal Sharpe Versus Realizable </a:t>
            </a:r>
            <a:r>
              <a:rPr lang="en-US" altLang="zh-CN" sz="2400" dirty="0" smtClean="0">
                <a:solidFill>
                  <a:schemeClr val="bg1"/>
                </a:solidFill>
              </a:rPr>
              <a:t>Sharpe </a:t>
            </a:r>
            <a:endParaRPr lang="en-US" altLang="zh-CN" sz="2400" dirty="0">
              <a:solidFill>
                <a:schemeClr val="bg1"/>
              </a:solidFill>
            </a:endParaRPr>
          </a:p>
        </p:txBody>
      </p:sp>
      <p:pic>
        <p:nvPicPr>
          <p:cNvPr id="4" name="图片 3"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525" y="873510"/>
            <a:ext cx="4599511" cy="5411189"/>
          </a:xfrm>
          <a:prstGeom prst="rect">
            <a:avLst/>
          </a:prstGeom>
        </p:spPr>
      </p:pic>
      <p:pic>
        <p:nvPicPr>
          <p:cNvPr id="5" name="图片 4"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7080" y="835993"/>
            <a:ext cx="4736183" cy="5448706"/>
          </a:xfrm>
          <a:prstGeom prst="rect">
            <a:avLst/>
          </a:prstGeom>
        </p:spPr>
      </p:pic>
    </p:spTree>
    <p:extLst>
      <p:ext uri="{BB962C8B-B14F-4D97-AF65-F5344CB8AC3E}">
        <p14:creationId xmlns:p14="http://schemas.microsoft.com/office/powerpoint/2010/main" val="462070075"/>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bwMode="auto">
          <a:xfrm>
            <a:off x="259525" y="127592"/>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err="1" smtClean="0">
                <a:solidFill>
                  <a:schemeClr val="bg1"/>
                </a:solidFill>
              </a:rPr>
              <a:t>ⅠV</a:t>
            </a:r>
            <a:r>
              <a:rPr lang="en-US" altLang="zh-CN" sz="2400" dirty="0" smtClean="0">
                <a:solidFill>
                  <a:schemeClr val="bg1"/>
                </a:solidFill>
              </a:rPr>
              <a:t>. Stock Return Forecast, and V. Machine Learning Portfolio</a:t>
            </a:r>
            <a:endParaRPr lang="en-US" altLang="zh-CN" sz="2400" dirty="0">
              <a:solidFill>
                <a:schemeClr val="bg1"/>
              </a:solidFill>
            </a:endParaRPr>
          </a:p>
        </p:txBody>
      </p:sp>
      <p:sp>
        <p:nvSpPr>
          <p:cNvPr id="6" name="标题 1">
            <a:extLst>
              <a:ext uri="{FF2B5EF4-FFF2-40B4-BE49-F238E27FC236}">
                <a16:creationId xmlns:a16="http://schemas.microsoft.com/office/drawing/2014/main" id="{A3C71D49-1CFF-4704-AE93-7F736EAECB98}"/>
              </a:ext>
            </a:extLst>
          </p:cNvPr>
          <p:cNvSpPr txBox="1">
            <a:spLocks/>
          </p:cNvSpPr>
          <p:nvPr/>
        </p:nvSpPr>
        <p:spPr bwMode="auto">
          <a:xfrm>
            <a:off x="121261" y="719444"/>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5. </a:t>
            </a:r>
            <a:r>
              <a:rPr lang="en-US" altLang="zh-CN" sz="1800" b="1" dirty="0">
                <a:solidFill>
                  <a:schemeClr val="bg2"/>
                </a:solidFill>
                <a:latin typeface="Times New Roman" panose="02020603050405020304" pitchFamily="18" charset="0"/>
                <a:ea typeface="等线" panose="02010600030101010101" pitchFamily="2" charset="-122"/>
              </a:rPr>
              <a:t>Machine Learning Portfolio: Cumulative Return of Long/short Legs</a:t>
            </a: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6262" y="1089534"/>
            <a:ext cx="4163325" cy="5446018"/>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753" y="4365898"/>
            <a:ext cx="5154862" cy="1769200"/>
          </a:xfrm>
          <a:prstGeom prst="rect">
            <a:avLst/>
          </a:prstGeom>
        </p:spPr>
      </p:pic>
      <p:sp>
        <p:nvSpPr>
          <p:cNvPr id="7" name="文本框 6"/>
          <p:cNvSpPr txBox="1"/>
          <p:nvPr/>
        </p:nvSpPr>
        <p:spPr>
          <a:xfrm>
            <a:off x="402859" y="1383070"/>
            <a:ext cx="4765371" cy="2591479"/>
          </a:xfrm>
          <a:prstGeom prst="rect">
            <a:avLst/>
          </a:prstGeom>
          <a:noFill/>
          <a:ln w="6350" cap="flat">
            <a:noFill/>
            <a:miter lim="800000"/>
          </a:ln>
        </p:spPr>
        <p:txBody>
          <a:bodyPr wrap="square" lIns="0" tIns="0" rIns="0" bIns="0" rtlCol="0" anchor="t" anchorCtr="0">
            <a:spAutoFit/>
          </a:bodyPr>
          <a:lstStyle/>
          <a:p>
            <a:pPr>
              <a:lnSpc>
                <a:spcPct val="90000"/>
              </a:lnSpc>
              <a:spcBef>
                <a:spcPts val="600"/>
              </a:spcBef>
              <a:buClr>
                <a:schemeClr val="bg2"/>
              </a:buClr>
            </a:pPr>
            <a:r>
              <a:rPr lang="en-US" altLang="zh-CN" sz="1600" dirty="0">
                <a:latin typeface="Times New Roman" panose="02020603050405020304" pitchFamily="18" charset="0"/>
                <a:ea typeface="华光楷体_CNKI" panose="02000500000000000000" pitchFamily="2" charset="-122"/>
                <a:cs typeface="Times New Roman" panose="02020603050405020304" pitchFamily="18" charset="0"/>
              </a:rPr>
              <a:t>Given that machine learning models learn some </a:t>
            </a:r>
            <a:r>
              <a:rPr lang="en-US" altLang="zh-CN" sz="1600" dirty="0" err="1" smtClean="0">
                <a:latin typeface="Times New Roman" panose="02020603050405020304" pitchFamily="18" charset="0"/>
                <a:ea typeface="华光楷体_CNKI" panose="02000500000000000000" pitchFamily="2" charset="-122"/>
                <a:cs typeface="Times New Roman" panose="02020603050405020304" pitchFamily="18" charset="0"/>
              </a:rPr>
              <a:t>untradable</a:t>
            </a:r>
            <a:r>
              <a:rPr lang="en-US" altLang="zh-CN" sz="1600" dirty="0" smtClean="0">
                <a:latin typeface="Times New Roman" panose="02020603050405020304" pitchFamily="18" charset="0"/>
                <a:ea typeface="华光楷体_CNKI" panose="02000500000000000000" pitchFamily="2" charset="-122"/>
                <a:cs typeface="Times New Roman" panose="02020603050405020304" pitchFamily="18" charset="0"/>
              </a:rPr>
              <a:t> features</a:t>
            </a:r>
            <a:r>
              <a:rPr lang="en-US" altLang="zh-CN" sz="1600" dirty="0">
                <a:latin typeface="Times New Roman" panose="02020603050405020304" pitchFamily="18" charset="0"/>
                <a:ea typeface="华光楷体_CNKI" panose="02000500000000000000" pitchFamily="2" charset="-122"/>
                <a:cs typeface="Times New Roman" panose="02020603050405020304" pitchFamily="18" charset="0"/>
              </a:rPr>
              <a:t>, such as buying </a:t>
            </a:r>
            <a:r>
              <a:rPr lang="en-US" altLang="zh-CN" sz="1600" dirty="0" smtClean="0">
                <a:latin typeface="Times New Roman" panose="02020603050405020304" pitchFamily="18" charset="0"/>
                <a:ea typeface="华光楷体_CNKI" panose="02000500000000000000" pitchFamily="2" charset="-122"/>
                <a:cs typeface="Times New Roman" panose="02020603050405020304" pitchFamily="18" charset="0"/>
              </a:rPr>
              <a:t>IPO stocks </a:t>
            </a:r>
            <a:r>
              <a:rPr lang="en-US" altLang="zh-CN" sz="1600" dirty="0">
                <a:latin typeface="Times New Roman" panose="02020603050405020304" pitchFamily="18" charset="0"/>
                <a:ea typeface="华光楷体_CNKI" panose="02000500000000000000" pitchFamily="2" charset="-122"/>
                <a:cs typeface="Times New Roman" panose="02020603050405020304" pitchFamily="18" charset="0"/>
              </a:rPr>
              <a:t>or stocks that are on price limits for the whole trading period, we mimic the </a:t>
            </a:r>
            <a:r>
              <a:rPr lang="en-US" altLang="zh-CN" sz="1600" dirty="0" smtClean="0">
                <a:latin typeface="Times New Roman" panose="02020603050405020304" pitchFamily="18" charset="0"/>
                <a:ea typeface="华光楷体_CNKI" panose="02000500000000000000" pitchFamily="2" charset="-122"/>
                <a:cs typeface="Times New Roman" panose="02020603050405020304" pitchFamily="18" charset="0"/>
              </a:rPr>
              <a:t>real-live trading </a:t>
            </a:r>
            <a:r>
              <a:rPr lang="en-US" altLang="zh-CN" sz="1600" dirty="0">
                <a:latin typeface="Times New Roman" panose="02020603050405020304" pitchFamily="18" charset="0"/>
                <a:ea typeface="华光楷体_CNKI" panose="02000500000000000000" pitchFamily="2" charset="-122"/>
                <a:cs typeface="Times New Roman" panose="02020603050405020304" pitchFamily="18" charset="0"/>
              </a:rPr>
              <a:t>environment and add tradability constraints as much as possible in the </a:t>
            </a:r>
            <a:r>
              <a:rPr lang="en-US" altLang="zh-CN" sz="1600" dirty="0" err="1">
                <a:latin typeface="Times New Roman" panose="02020603050405020304" pitchFamily="18" charset="0"/>
                <a:ea typeface="华光楷体_CNKI" panose="02000500000000000000" pitchFamily="2" charset="-122"/>
                <a:cs typeface="Times New Roman" panose="02020603050405020304" pitchFamily="18" charset="0"/>
              </a:rPr>
              <a:t>backtesting</a:t>
            </a:r>
            <a:r>
              <a:rPr lang="en-US" altLang="zh-CN" sz="1600" dirty="0" smtClean="0">
                <a:latin typeface="Times New Roman" panose="02020603050405020304" pitchFamily="18" charset="0"/>
                <a:ea typeface="华光楷体_CNKI" panose="02000500000000000000" pitchFamily="2" charset="-122"/>
                <a:cs typeface="Times New Roman" panose="02020603050405020304" pitchFamily="18" charset="0"/>
              </a:rPr>
              <a:t>.</a:t>
            </a:r>
          </a:p>
          <a:p>
            <a:pPr>
              <a:lnSpc>
                <a:spcPct val="90000"/>
              </a:lnSpc>
              <a:spcBef>
                <a:spcPts val="600"/>
              </a:spcBef>
              <a:buClr>
                <a:schemeClr val="bg2"/>
              </a:buClr>
            </a:pPr>
            <a:endParaRPr lang="en-US" altLang="zh-CN" sz="1600" dirty="0">
              <a:latin typeface="Times New Roman" panose="02020603050405020304" pitchFamily="18" charset="0"/>
              <a:ea typeface="华光楷体_CNKI" panose="02000500000000000000" pitchFamily="2" charset="-122"/>
              <a:cs typeface="Times New Roman" panose="02020603050405020304" pitchFamily="18" charset="0"/>
            </a:endParaRPr>
          </a:p>
          <a:p>
            <a:pPr>
              <a:lnSpc>
                <a:spcPct val="90000"/>
              </a:lnSpc>
              <a:spcBef>
                <a:spcPts val="600"/>
              </a:spcBef>
              <a:buClr>
                <a:schemeClr val="bg2"/>
              </a:buClr>
            </a:pPr>
            <a:r>
              <a:rPr lang="en-US" altLang="zh-CN" sz="1600" dirty="0">
                <a:latin typeface="Times New Roman" panose="02020603050405020304" pitchFamily="18" charset="0"/>
                <a:ea typeface="华光楷体_CNKI" panose="02000500000000000000" pitchFamily="2" charset="-122"/>
                <a:cs typeface="Times New Roman" panose="02020603050405020304" pitchFamily="18" charset="0"/>
              </a:rPr>
              <a:t>We build a long-short decile portfolio. To be more specific, we long the stocks </a:t>
            </a:r>
            <a:r>
              <a:rPr lang="en-US" altLang="zh-CN" sz="1600" dirty="0" smtClean="0">
                <a:latin typeface="Times New Roman" panose="02020603050405020304" pitchFamily="18" charset="0"/>
                <a:ea typeface="华光楷体_CNKI" panose="02000500000000000000" pitchFamily="2" charset="-122"/>
                <a:cs typeface="Times New Roman" panose="02020603050405020304" pitchFamily="18" charset="0"/>
              </a:rPr>
              <a:t>whose predicted </a:t>
            </a:r>
            <a:r>
              <a:rPr lang="en-US" altLang="zh-CN" sz="1600" dirty="0">
                <a:latin typeface="Times New Roman" panose="02020603050405020304" pitchFamily="18" charset="0"/>
                <a:ea typeface="华光楷体_CNKI" panose="02000500000000000000" pitchFamily="2" charset="-122"/>
                <a:cs typeface="Times New Roman" panose="02020603050405020304" pitchFamily="18" charset="0"/>
              </a:rPr>
              <a:t>returns rank top 10% in the stock pool and short the bottom 10% of stocks with </a:t>
            </a:r>
            <a:r>
              <a:rPr lang="en-US" altLang="zh-CN" sz="1600" dirty="0" smtClean="0">
                <a:latin typeface="Times New Roman" panose="02020603050405020304" pitchFamily="18" charset="0"/>
                <a:ea typeface="华光楷体_CNKI" panose="02000500000000000000" pitchFamily="2" charset="-122"/>
                <a:cs typeface="Times New Roman" panose="02020603050405020304" pitchFamily="18" charset="0"/>
              </a:rPr>
              <a:t>the lowest </a:t>
            </a:r>
            <a:r>
              <a:rPr lang="en-US" altLang="zh-CN" sz="1600" dirty="0">
                <a:latin typeface="Times New Roman" panose="02020603050405020304" pitchFamily="18" charset="0"/>
                <a:ea typeface="华光楷体_CNKI" panose="02000500000000000000" pitchFamily="2" charset="-122"/>
                <a:cs typeface="Times New Roman" panose="02020603050405020304" pitchFamily="18" charset="0"/>
              </a:rPr>
              <a:t>predicted returns.</a:t>
            </a:r>
            <a:endParaRPr lang="zh-CN" altLang="en-US" sz="1600" dirty="0" smtClean="0">
              <a:latin typeface="Times New Roman" panose="02020603050405020304" pitchFamily="18" charset="0"/>
              <a:ea typeface="华光楷体_CNKI" panose="02000500000000000000" pitchFamily="2" charset="-122"/>
              <a:cs typeface="Times New Roman" panose="02020603050405020304" pitchFamily="18" charset="0"/>
            </a:endParaRPr>
          </a:p>
        </p:txBody>
      </p:sp>
    </p:spTree>
    <p:extLst>
      <p:ext uri="{BB962C8B-B14F-4D97-AF65-F5344CB8AC3E}">
        <p14:creationId xmlns:p14="http://schemas.microsoft.com/office/powerpoint/2010/main" val="3529052351"/>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a:spLocks/>
          </p:cNvSpPr>
          <p:nvPr/>
        </p:nvSpPr>
        <p:spPr bwMode="auto">
          <a:xfrm>
            <a:off x="259525" y="127592"/>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Conclusion</a:t>
            </a:r>
            <a:endParaRPr lang="en-US" altLang="zh-CN" sz="2400" dirty="0">
              <a:solidFill>
                <a:schemeClr val="bg1"/>
              </a:solidFill>
            </a:endParaRPr>
          </a:p>
        </p:txBody>
      </p:sp>
      <p:sp>
        <p:nvSpPr>
          <p:cNvPr id="6" name="标题 1">
            <a:extLst>
              <a:ext uri="{FF2B5EF4-FFF2-40B4-BE49-F238E27FC236}">
                <a16:creationId xmlns:a16="http://schemas.microsoft.com/office/drawing/2014/main" id="{A3C71D49-1CFF-4704-AE93-7F736EAECB98}"/>
              </a:ext>
            </a:extLst>
          </p:cNvPr>
          <p:cNvSpPr txBox="1">
            <a:spLocks/>
          </p:cNvSpPr>
          <p:nvPr/>
        </p:nvSpPr>
        <p:spPr bwMode="auto">
          <a:xfrm>
            <a:off x="6087" y="286846"/>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7" name="文本框 6"/>
          <p:cNvSpPr txBox="1"/>
          <p:nvPr/>
        </p:nvSpPr>
        <p:spPr>
          <a:xfrm>
            <a:off x="253752" y="928671"/>
            <a:ext cx="9373883" cy="5850832"/>
          </a:xfrm>
          <a:prstGeom prst="rect">
            <a:avLst/>
          </a:prstGeom>
          <a:noFill/>
          <a:ln w="6350" cap="flat">
            <a:noFill/>
            <a:miter lim="800000"/>
          </a:ln>
        </p:spPr>
        <p:txBody>
          <a:bodyPr wrap="square" lIns="0" tIns="0" rIns="0" bIns="0" rtlCol="0" anchor="t" anchorCtr="0">
            <a:spAutoFit/>
          </a:bodyPr>
          <a:lstStyle/>
          <a:p>
            <a:pPr marL="342900" indent="-342900">
              <a:lnSpc>
                <a:spcPct val="90000"/>
              </a:lnSpc>
              <a:spcBef>
                <a:spcPts val="600"/>
              </a:spcBef>
              <a:buClr>
                <a:schemeClr val="bg2"/>
              </a:buClr>
              <a:buFont typeface="Wingdings" panose="05000000000000000000" pitchFamily="2" charset="2"/>
              <a:buChar char="Ø"/>
            </a:pPr>
            <a:r>
              <a:rPr lang="en-US" altLang="zh-CN" sz="2400" dirty="0" smtClean="0">
                <a:latin typeface="Times New Roman" panose="02020603050405020304" pitchFamily="18" charset="0"/>
                <a:ea typeface="华光楷体_CNKI" panose="02000500000000000000" pitchFamily="2" charset="-122"/>
                <a:cs typeface="Times New Roman" panose="02020603050405020304" pitchFamily="18" charset="0"/>
              </a:rPr>
              <a:t>We replicate </a:t>
            </a:r>
            <a:r>
              <a:rPr lang="en-US" altLang="zh-CN" sz="2400" dirty="0" err="1" smtClean="0">
                <a:latin typeface="Times New Roman" panose="02020603050405020304" pitchFamily="18" charset="0"/>
                <a:ea typeface="华光楷体_CNKI" panose="02000500000000000000" pitchFamily="2" charset="-122"/>
                <a:cs typeface="Times New Roman" panose="02020603050405020304" pitchFamily="18" charset="0"/>
              </a:rPr>
              <a:t>Gu</a:t>
            </a:r>
            <a:r>
              <a:rPr lang="en-US" altLang="zh-CN" sz="2400" dirty="0" smtClean="0">
                <a:latin typeface="Times New Roman" panose="02020603050405020304" pitchFamily="18" charset="0"/>
                <a:ea typeface="华光楷体_CNKI" panose="02000500000000000000" pitchFamily="2" charset="-122"/>
                <a:cs typeface="Times New Roman" panose="02020603050405020304" pitchFamily="18" charset="0"/>
              </a:rPr>
              <a:t> et al(2020) and demonstrate the potentials of machine learning in empirical asset pricing in the Chinese stock market.</a:t>
            </a:r>
          </a:p>
          <a:p>
            <a:pPr marL="342900" indent="-342900">
              <a:lnSpc>
                <a:spcPct val="90000"/>
              </a:lnSpc>
              <a:spcBef>
                <a:spcPts val="600"/>
              </a:spcBef>
              <a:buClr>
                <a:schemeClr val="bg2"/>
              </a:buClr>
              <a:buFont typeface="Wingdings" panose="05000000000000000000" pitchFamily="2" charset="2"/>
              <a:buChar char="Ø"/>
            </a:pPr>
            <a:endParaRPr lang="en-US" altLang="zh-CN" sz="2400" dirty="0">
              <a:latin typeface="Times New Roman" panose="02020603050405020304" pitchFamily="18" charset="0"/>
              <a:ea typeface="华光楷体_CNKI" panose="02000500000000000000" pitchFamily="2" charset="-122"/>
              <a:cs typeface="Times New Roman" panose="02020603050405020304" pitchFamily="18" charset="0"/>
            </a:endParaRPr>
          </a:p>
          <a:p>
            <a:pPr marL="342900" indent="-342900">
              <a:lnSpc>
                <a:spcPct val="90000"/>
              </a:lnSpc>
              <a:spcBef>
                <a:spcPts val="600"/>
              </a:spcBef>
              <a:buClr>
                <a:schemeClr val="bg2"/>
              </a:buClr>
              <a:buFont typeface="Wingdings" panose="05000000000000000000" pitchFamily="2" charset="2"/>
              <a:buChar char="Ø"/>
            </a:pPr>
            <a:r>
              <a:rPr lang="en-US" altLang="zh-CN" sz="2400" dirty="0" smtClean="0">
                <a:latin typeface="Times New Roman" panose="02020603050405020304" pitchFamily="18" charset="0"/>
                <a:ea typeface="华光楷体_CNKI" panose="02000500000000000000" pitchFamily="2" charset="-122"/>
                <a:cs typeface="Times New Roman" panose="02020603050405020304" pitchFamily="18" charset="0"/>
              </a:rPr>
              <a:t>Machine learning achieves </a:t>
            </a:r>
            <a:r>
              <a:rPr lang="en-US" altLang="zh-CN" sz="2400" b="1" dirty="0" smtClean="0">
                <a:latin typeface="Times New Roman" panose="02020603050405020304" pitchFamily="18" charset="0"/>
                <a:ea typeface="华光楷体_CNKI" panose="02000500000000000000" pitchFamily="2" charset="-122"/>
                <a:cs typeface="Times New Roman" panose="02020603050405020304" pitchFamily="18" charset="0"/>
              </a:rPr>
              <a:t>good numerical accuracy and ranking accuracy simultaneously</a:t>
            </a:r>
          </a:p>
          <a:p>
            <a:pPr marL="342900" indent="-342900">
              <a:lnSpc>
                <a:spcPct val="90000"/>
              </a:lnSpc>
              <a:spcBef>
                <a:spcPts val="600"/>
              </a:spcBef>
              <a:buClr>
                <a:schemeClr val="bg2"/>
              </a:buClr>
              <a:buFont typeface="Wingdings" panose="05000000000000000000" pitchFamily="2" charset="2"/>
              <a:buChar char="Ø"/>
            </a:pPr>
            <a:endParaRPr lang="en-US" altLang="zh-CN" sz="2400" dirty="0" smtClean="0">
              <a:latin typeface="Times New Roman" panose="02020603050405020304" pitchFamily="18" charset="0"/>
              <a:ea typeface="华光楷体_CNKI" panose="02000500000000000000" pitchFamily="2" charset="-122"/>
              <a:cs typeface="Times New Roman" panose="02020603050405020304" pitchFamily="18" charset="0"/>
            </a:endParaRPr>
          </a:p>
          <a:p>
            <a:pPr marL="342900" indent="-342900">
              <a:lnSpc>
                <a:spcPct val="90000"/>
              </a:lnSpc>
              <a:spcBef>
                <a:spcPts val="600"/>
              </a:spcBef>
              <a:buClr>
                <a:schemeClr val="bg2"/>
              </a:buClr>
              <a:buFont typeface="Wingdings" panose="05000000000000000000" pitchFamily="2" charset="2"/>
              <a:buChar char="Ø"/>
            </a:pPr>
            <a:r>
              <a:rPr lang="en-US" altLang="zh-CN" sz="2400" dirty="0" smtClean="0">
                <a:latin typeface="Times New Roman" panose="02020603050405020304" pitchFamily="18" charset="0"/>
                <a:ea typeface="华光楷体_CNKI" panose="02000500000000000000" pitchFamily="2" charset="-122"/>
                <a:cs typeface="Times New Roman" panose="02020603050405020304" pitchFamily="18" charset="0"/>
              </a:rPr>
              <a:t>All </a:t>
            </a:r>
            <a:r>
              <a:rPr lang="en-US" altLang="zh-CN" sz="2400" dirty="0">
                <a:latin typeface="Times New Roman" panose="02020603050405020304" pitchFamily="18" charset="0"/>
                <a:ea typeface="华光楷体_CNKI" panose="02000500000000000000" pitchFamily="2" charset="-122"/>
                <a:cs typeface="Times New Roman" panose="02020603050405020304" pitchFamily="18" charset="0"/>
              </a:rPr>
              <a:t>machine learning models agree on </a:t>
            </a:r>
            <a:r>
              <a:rPr lang="en-US" altLang="zh-CN" sz="2400" b="1" dirty="0">
                <a:latin typeface="Times New Roman" panose="02020603050405020304" pitchFamily="18" charset="0"/>
                <a:ea typeface="华光楷体_CNKI" panose="02000500000000000000" pitchFamily="2" charset="-122"/>
                <a:cs typeface="Times New Roman" panose="02020603050405020304" pitchFamily="18" charset="0"/>
              </a:rPr>
              <a:t>a small set of influential predictors, </a:t>
            </a:r>
            <a:r>
              <a:rPr lang="en-US" altLang="zh-CN" sz="2400" b="1" dirty="0" smtClean="0">
                <a:latin typeface="Times New Roman" panose="02020603050405020304" pitchFamily="18" charset="0"/>
                <a:ea typeface="华光楷体_CNKI" panose="02000500000000000000" pitchFamily="2" charset="-122"/>
                <a:cs typeface="Times New Roman" panose="02020603050405020304" pitchFamily="18" charset="0"/>
              </a:rPr>
              <a:t>among which </a:t>
            </a:r>
            <a:r>
              <a:rPr lang="en-US" altLang="zh-CN" sz="2400" b="1" dirty="0">
                <a:latin typeface="Times New Roman" panose="02020603050405020304" pitchFamily="18" charset="0"/>
                <a:ea typeface="华光楷体_CNKI" panose="02000500000000000000" pitchFamily="2" charset="-122"/>
                <a:cs typeface="Times New Roman" panose="02020603050405020304" pitchFamily="18" charset="0"/>
              </a:rPr>
              <a:t>liquidity variables </a:t>
            </a:r>
            <a:r>
              <a:rPr lang="en-US" altLang="zh-CN" sz="2400" dirty="0">
                <a:latin typeface="Times New Roman" panose="02020603050405020304" pitchFamily="18" charset="0"/>
                <a:ea typeface="华光楷体_CNKI" panose="02000500000000000000" pitchFamily="2" charset="-122"/>
                <a:cs typeface="Times New Roman" panose="02020603050405020304" pitchFamily="18" charset="0"/>
              </a:rPr>
              <a:t>are the most important </a:t>
            </a:r>
            <a:r>
              <a:rPr lang="en-US" altLang="zh-CN" sz="2400" dirty="0" smtClean="0">
                <a:latin typeface="Times New Roman" panose="02020603050405020304" pitchFamily="18" charset="0"/>
                <a:ea typeface="华光楷体_CNKI" panose="02000500000000000000" pitchFamily="2" charset="-122"/>
                <a:cs typeface="Times New Roman" panose="02020603050405020304" pitchFamily="18" charset="0"/>
              </a:rPr>
              <a:t>predictors.</a:t>
            </a:r>
          </a:p>
          <a:p>
            <a:pPr marL="342900" indent="-342900">
              <a:lnSpc>
                <a:spcPct val="90000"/>
              </a:lnSpc>
              <a:spcBef>
                <a:spcPts val="600"/>
              </a:spcBef>
              <a:buClr>
                <a:schemeClr val="bg2"/>
              </a:buClr>
              <a:buFont typeface="Wingdings" panose="05000000000000000000" pitchFamily="2" charset="2"/>
              <a:buChar char="Ø"/>
            </a:pPr>
            <a:endParaRPr lang="en-US" altLang="zh-CN" sz="2400" dirty="0">
              <a:latin typeface="Times New Roman" panose="02020603050405020304" pitchFamily="18" charset="0"/>
              <a:ea typeface="华光楷体_CNKI" panose="02000500000000000000" pitchFamily="2" charset="-122"/>
              <a:cs typeface="Times New Roman" panose="02020603050405020304" pitchFamily="18" charset="0"/>
            </a:endParaRPr>
          </a:p>
          <a:p>
            <a:pPr marL="342900" indent="-342900">
              <a:lnSpc>
                <a:spcPct val="90000"/>
              </a:lnSpc>
              <a:spcBef>
                <a:spcPts val="600"/>
              </a:spcBef>
              <a:buClr>
                <a:schemeClr val="bg2"/>
              </a:buClr>
              <a:buFont typeface="Wingdings" panose="05000000000000000000" pitchFamily="2" charset="2"/>
              <a:buChar char="Ø"/>
            </a:pPr>
            <a:r>
              <a:rPr lang="en-US" altLang="zh-CN" sz="2400" dirty="0" smtClean="0">
                <a:latin typeface="Times New Roman" panose="02020603050405020304" pitchFamily="18" charset="0"/>
                <a:ea typeface="华光楷体_CNKI" panose="02000500000000000000" pitchFamily="2" charset="-122"/>
                <a:cs typeface="Times New Roman" panose="02020603050405020304" pitchFamily="18" charset="0"/>
              </a:rPr>
              <a:t>Machine </a:t>
            </a:r>
            <a:r>
              <a:rPr lang="en-US" altLang="zh-CN" sz="2400" dirty="0">
                <a:latin typeface="Times New Roman" panose="02020603050405020304" pitchFamily="18" charset="0"/>
                <a:ea typeface="华光楷体_CNKI" panose="02000500000000000000" pitchFamily="2" charset="-122"/>
                <a:cs typeface="Times New Roman" panose="02020603050405020304" pitchFamily="18" charset="0"/>
              </a:rPr>
              <a:t>learning shows its skills </a:t>
            </a:r>
            <a:r>
              <a:rPr lang="en-US" altLang="zh-CN" sz="2400" b="1" dirty="0">
                <a:latin typeface="Times New Roman" panose="02020603050405020304" pitchFamily="18" charset="0"/>
                <a:ea typeface="华光楷体_CNKI" panose="02000500000000000000" pitchFamily="2" charset="-122"/>
                <a:cs typeface="Times New Roman" panose="02020603050405020304" pitchFamily="18" charset="0"/>
              </a:rPr>
              <a:t>by learning some China-specific </a:t>
            </a:r>
            <a:r>
              <a:rPr lang="en-US" altLang="zh-CN" sz="2400" b="1" dirty="0" smtClean="0">
                <a:latin typeface="Times New Roman" panose="02020603050405020304" pitchFamily="18" charset="0"/>
                <a:ea typeface="华光楷体_CNKI" panose="02000500000000000000" pitchFamily="2" charset="-122"/>
                <a:cs typeface="Times New Roman" panose="02020603050405020304" pitchFamily="18" charset="0"/>
              </a:rPr>
              <a:t>price patterns </a:t>
            </a:r>
            <a:r>
              <a:rPr lang="en-US" altLang="zh-CN" sz="2400" b="1" dirty="0">
                <a:latin typeface="Times New Roman" panose="02020603050405020304" pitchFamily="18" charset="0"/>
                <a:ea typeface="华光楷体_CNKI" panose="02000500000000000000" pitchFamily="2" charset="-122"/>
                <a:cs typeface="Times New Roman" panose="02020603050405020304" pitchFamily="18" charset="0"/>
              </a:rPr>
              <a:t>such as bullish IPO stocks</a:t>
            </a:r>
            <a:r>
              <a:rPr lang="en-US" altLang="zh-CN" sz="2400" dirty="0">
                <a:latin typeface="Times New Roman" panose="02020603050405020304" pitchFamily="18" charset="0"/>
                <a:ea typeface="华光楷体_CNKI" panose="02000500000000000000" pitchFamily="2" charset="-122"/>
                <a:cs typeface="Times New Roman" panose="02020603050405020304" pitchFamily="18" charset="0"/>
              </a:rPr>
              <a:t>, but such stocks are not tradable due to lack of liquidity</a:t>
            </a:r>
            <a:r>
              <a:rPr lang="en-US" altLang="zh-CN" sz="2400" dirty="0" smtClean="0">
                <a:latin typeface="Times New Roman" panose="02020603050405020304" pitchFamily="18" charset="0"/>
                <a:ea typeface="华光楷体_CNKI" panose="02000500000000000000" pitchFamily="2" charset="-122"/>
                <a:cs typeface="Times New Roman" panose="02020603050405020304" pitchFamily="18" charset="0"/>
              </a:rPr>
              <a:t>.</a:t>
            </a:r>
            <a:endParaRPr lang="en-US" altLang="zh-CN" sz="1800" dirty="0">
              <a:latin typeface="Times New Roman" panose="02020603050405020304" pitchFamily="18" charset="0"/>
              <a:ea typeface="华光楷体_CNKI" panose="02000500000000000000" pitchFamily="2" charset="-122"/>
              <a:cs typeface="Times New Roman" panose="02020603050405020304" pitchFamily="18" charset="0"/>
            </a:endParaRPr>
          </a:p>
          <a:p>
            <a:pPr marL="285750" indent="-285750">
              <a:lnSpc>
                <a:spcPct val="90000"/>
              </a:lnSpc>
              <a:spcBef>
                <a:spcPts val="600"/>
              </a:spcBef>
              <a:buClr>
                <a:schemeClr val="bg2"/>
              </a:buClr>
              <a:buFont typeface="Wingdings" panose="05000000000000000000" pitchFamily="2" charset="2"/>
              <a:buChar char="Ø"/>
            </a:pPr>
            <a:endParaRPr lang="en-US" altLang="zh-CN" sz="1800" dirty="0" smtClean="0">
              <a:latin typeface="Times New Roman" panose="02020603050405020304" pitchFamily="18" charset="0"/>
              <a:ea typeface="华光楷体_CNKI" panose="02000500000000000000" pitchFamily="2" charset="-122"/>
              <a:cs typeface="Times New Roman" panose="02020603050405020304" pitchFamily="18" charset="0"/>
            </a:endParaRPr>
          </a:p>
          <a:p>
            <a:pPr marL="342900" indent="-342900">
              <a:lnSpc>
                <a:spcPct val="90000"/>
              </a:lnSpc>
              <a:spcBef>
                <a:spcPts val="600"/>
              </a:spcBef>
              <a:buClr>
                <a:schemeClr val="bg2"/>
              </a:buClr>
              <a:buFont typeface="Wingdings" panose="05000000000000000000" pitchFamily="2" charset="2"/>
              <a:buChar char="Ø"/>
            </a:pPr>
            <a:r>
              <a:rPr lang="en-US" altLang="zh-CN" sz="2400" dirty="0">
                <a:latin typeface="Times New Roman" panose="02020603050405020304" pitchFamily="18" charset="0"/>
                <a:ea typeface="华光楷体_CNKI" panose="02000500000000000000" pitchFamily="2" charset="-122"/>
                <a:cs typeface="Times New Roman" panose="02020603050405020304" pitchFamily="18" charset="0"/>
              </a:rPr>
              <a:t>Tradability constraints, some of which are China specific, have great impacts on </a:t>
            </a:r>
            <a:r>
              <a:rPr lang="en-US" altLang="zh-CN" sz="2400" b="1" dirty="0">
                <a:latin typeface="Times New Roman" panose="02020603050405020304" pitchFamily="18" charset="0"/>
                <a:ea typeface="华光楷体_CNKI" panose="02000500000000000000" pitchFamily="2" charset="-122"/>
                <a:cs typeface="Times New Roman" panose="02020603050405020304" pitchFamily="18" charset="0"/>
              </a:rPr>
              <a:t>machine learning portfolios in </a:t>
            </a:r>
            <a:r>
              <a:rPr lang="en-US" altLang="zh-CN" sz="2400" b="1" dirty="0" err="1">
                <a:latin typeface="Times New Roman" panose="02020603050405020304" pitchFamily="18" charset="0"/>
                <a:ea typeface="华光楷体_CNKI" panose="02000500000000000000" pitchFamily="2" charset="-122"/>
                <a:cs typeface="Times New Roman" panose="02020603050405020304" pitchFamily="18" charset="0"/>
              </a:rPr>
              <a:t>backtesting</a:t>
            </a:r>
            <a:r>
              <a:rPr lang="en-US" altLang="zh-CN" sz="2400" b="1" dirty="0">
                <a:latin typeface="Times New Roman" panose="02020603050405020304" pitchFamily="18" charset="0"/>
                <a:ea typeface="华光楷体_CNKI" panose="02000500000000000000" pitchFamily="2" charset="-122"/>
                <a:cs typeface="Times New Roman" panose="02020603050405020304" pitchFamily="18" charset="0"/>
              </a:rPr>
              <a:t>.</a:t>
            </a:r>
          </a:p>
        </p:txBody>
      </p:sp>
    </p:spTree>
    <p:extLst>
      <p:ext uri="{BB962C8B-B14F-4D97-AF65-F5344CB8AC3E}">
        <p14:creationId xmlns:p14="http://schemas.microsoft.com/office/powerpoint/2010/main" val="2718385157"/>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856452" y="1917626"/>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Introduction </a:t>
            </a:r>
            <a:r>
              <a:rPr lang="en-US" altLang="zh-CN" sz="1800" b="1" dirty="0">
                <a:solidFill>
                  <a:schemeClr val="bg2"/>
                </a:solidFill>
                <a:latin typeface="Times New Roman" panose="02020603050405020304" pitchFamily="18" charset="0"/>
                <a:ea typeface="等线" panose="02010600030101010101" pitchFamily="2" charset="-122"/>
              </a:rPr>
              <a:t>and Problem Statement </a:t>
            </a: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Research </a:t>
            </a:r>
            <a:r>
              <a:rPr lang="en-US" altLang="zh-CN" sz="1800" b="1" dirty="0">
                <a:solidFill>
                  <a:schemeClr val="bg2"/>
                </a:solidFill>
                <a:latin typeface="Times New Roman" panose="02020603050405020304" pitchFamily="18" charset="0"/>
                <a:ea typeface="等线" panose="02010600030101010101" pitchFamily="2" charset="-122"/>
              </a:rPr>
              <a:t>Content </a:t>
            </a: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200" b="1" dirty="0" smtClean="0">
                <a:solidFill>
                  <a:schemeClr val="bg2"/>
                </a:solidFill>
                <a:latin typeface="Times New Roman" panose="02020603050405020304" pitchFamily="18" charset="0"/>
                <a:ea typeface="等线" panose="02010600030101010101" pitchFamily="2" charset="-122"/>
              </a:rPr>
              <a:t>The </a:t>
            </a:r>
            <a:r>
              <a:rPr lang="en-US" altLang="zh-CN" sz="1200" b="1" dirty="0">
                <a:solidFill>
                  <a:schemeClr val="bg2"/>
                </a:solidFill>
                <a:latin typeface="Times New Roman" panose="02020603050405020304" pitchFamily="18" charset="0"/>
                <a:ea typeface="等线" panose="02010600030101010101" pitchFamily="2" charset="-122"/>
              </a:rPr>
              <a:t>impact of data assets on company stock prices and its </a:t>
            </a:r>
            <a:r>
              <a:rPr lang="en-US" altLang="zh-CN" sz="1200" b="1" dirty="0" smtClean="0">
                <a:solidFill>
                  <a:schemeClr val="bg2"/>
                </a:solidFill>
                <a:latin typeface="Times New Roman" panose="02020603050405020304" pitchFamily="18" charset="0"/>
                <a:ea typeface="等线" panose="02010600030101010101" pitchFamily="2" charset="-122"/>
              </a:rPr>
              <a:t>mechanism</a:t>
            </a:r>
          </a:p>
          <a:p>
            <a:pPr marL="821884" lvl="1" indent="-342921">
              <a:lnSpc>
                <a:spcPts val="2800"/>
              </a:lnSpc>
              <a:buFont typeface="Wingdings" panose="05000000000000000000" pitchFamily="2" charset="2"/>
              <a:buChar char="Ø"/>
            </a:pPr>
            <a:r>
              <a:rPr lang="en-US" altLang="zh-CN" sz="1200" b="1" dirty="0" smtClean="0">
                <a:solidFill>
                  <a:schemeClr val="bg2"/>
                </a:solidFill>
                <a:latin typeface="Times New Roman" panose="02020603050405020304" pitchFamily="18" charset="0"/>
                <a:ea typeface="等线" panose="02010600030101010101" pitchFamily="2" charset="-122"/>
              </a:rPr>
              <a:t>Research </a:t>
            </a:r>
            <a:r>
              <a:rPr lang="en-US" altLang="zh-CN" sz="1200" b="1" dirty="0">
                <a:solidFill>
                  <a:schemeClr val="bg2"/>
                </a:solidFill>
                <a:latin typeface="Times New Roman" panose="02020603050405020304" pitchFamily="18" charset="0"/>
                <a:ea typeface="等线" panose="02010600030101010101" pitchFamily="2" charset="-122"/>
              </a:rPr>
              <a:t>on data asset valuation methods and accounting </a:t>
            </a:r>
            <a:r>
              <a:rPr lang="en-US" altLang="zh-CN" sz="1200" b="1" dirty="0" smtClean="0">
                <a:solidFill>
                  <a:schemeClr val="bg2"/>
                </a:solidFill>
                <a:latin typeface="Times New Roman" panose="02020603050405020304" pitchFamily="18" charset="0"/>
                <a:ea typeface="等线" panose="02010600030101010101" pitchFamily="2" charset="-122"/>
              </a:rPr>
              <a:t>confirmation</a:t>
            </a:r>
          </a:p>
          <a:p>
            <a:pPr marL="821884" lvl="1" indent="-342921">
              <a:lnSpc>
                <a:spcPts val="2800"/>
              </a:lnSpc>
              <a:buFont typeface="Wingdings" panose="05000000000000000000" pitchFamily="2" charset="2"/>
              <a:buChar char="Ø"/>
            </a:pPr>
            <a:r>
              <a:rPr lang="en-US" altLang="zh-CN" sz="1200" b="1" dirty="0" smtClean="0">
                <a:solidFill>
                  <a:schemeClr val="bg2"/>
                </a:solidFill>
                <a:latin typeface="Times New Roman" panose="02020603050405020304" pitchFamily="18" charset="0"/>
                <a:ea typeface="等线" panose="02010600030101010101" pitchFamily="2" charset="-122"/>
              </a:rPr>
              <a:t>Research </a:t>
            </a:r>
            <a:r>
              <a:rPr lang="en-US" altLang="zh-CN" sz="1200" b="1" dirty="0">
                <a:solidFill>
                  <a:schemeClr val="bg2"/>
                </a:solidFill>
                <a:latin typeface="Times New Roman" panose="02020603050405020304" pitchFamily="18" charset="0"/>
                <a:ea typeface="等线" panose="02010600030101010101" pitchFamily="2" charset="-122"/>
              </a:rPr>
              <a:t>on the practical application of data asset </a:t>
            </a:r>
            <a:r>
              <a:rPr lang="en-US" altLang="zh-CN" sz="1200" b="1" dirty="0" smtClean="0">
                <a:solidFill>
                  <a:schemeClr val="bg2"/>
                </a:solidFill>
                <a:latin typeface="Times New Roman" panose="02020603050405020304" pitchFamily="18" charset="0"/>
                <a:ea typeface="等线" panose="02010600030101010101" pitchFamily="2" charset="-122"/>
              </a:rPr>
              <a:t>valuation</a:t>
            </a:r>
          </a:p>
          <a:p>
            <a:pPr marL="821884" lvl="1" indent="-342921">
              <a:lnSpc>
                <a:spcPts val="2800"/>
              </a:lnSpc>
              <a:buFont typeface="Wingdings" panose="05000000000000000000" pitchFamily="2" charset="2"/>
              <a:buChar char="Ø"/>
            </a:pPr>
            <a:r>
              <a:rPr lang="en-US" altLang="zh-CN" sz="1200" b="1" dirty="0" smtClean="0">
                <a:solidFill>
                  <a:schemeClr val="bg2"/>
                </a:solidFill>
                <a:latin typeface="Times New Roman" panose="02020603050405020304" pitchFamily="18" charset="0"/>
                <a:ea typeface="等线" panose="02010600030101010101" pitchFamily="2" charset="-122"/>
              </a:rPr>
              <a:t>Research </a:t>
            </a:r>
            <a:r>
              <a:rPr lang="en-US" altLang="zh-CN" sz="1200" b="1" dirty="0">
                <a:solidFill>
                  <a:schemeClr val="bg2"/>
                </a:solidFill>
                <a:latin typeface="Times New Roman" panose="02020603050405020304" pitchFamily="18" charset="0"/>
                <a:ea typeface="等线" panose="02010600030101010101" pitchFamily="2" charset="-122"/>
              </a:rPr>
              <a:t>on the impact of data asset information disclosure on investor decision-making and regulation </a:t>
            </a:r>
            <a:endParaRPr lang="en-US" altLang="zh-CN" sz="12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Literature Review and Research Methods </a:t>
            </a:r>
          </a:p>
          <a:p>
            <a:pPr marL="821884" lvl="1" indent="-342921">
              <a:lnSpc>
                <a:spcPts val="2800"/>
              </a:lnSpc>
              <a:buFont typeface="Wingdings" panose="05000000000000000000" pitchFamily="2" charset="2"/>
              <a:buChar char="Ø"/>
            </a:pPr>
            <a:r>
              <a:rPr lang="en-US" altLang="zh-CN" sz="1200" b="1" dirty="0" smtClean="0">
                <a:solidFill>
                  <a:schemeClr val="bg2"/>
                </a:solidFill>
                <a:latin typeface="Times New Roman" panose="02020603050405020304" pitchFamily="18" charset="0"/>
                <a:ea typeface="等线" panose="02010600030101010101" pitchFamily="2" charset="-122"/>
              </a:rPr>
              <a:t>The </a:t>
            </a:r>
            <a:r>
              <a:rPr lang="en-US" altLang="zh-CN" sz="1200" b="1" dirty="0">
                <a:solidFill>
                  <a:schemeClr val="bg2"/>
                </a:solidFill>
                <a:latin typeface="Times New Roman" panose="02020603050405020304" pitchFamily="18" charset="0"/>
                <a:ea typeface="等线" panose="02010600030101010101" pitchFamily="2" charset="-122"/>
              </a:rPr>
              <a:t>Impact of Data Assets on Company Stock Prices and its </a:t>
            </a:r>
            <a:r>
              <a:rPr lang="en-US" altLang="zh-CN" sz="1200" b="1" dirty="0" smtClean="0">
                <a:solidFill>
                  <a:schemeClr val="bg2"/>
                </a:solidFill>
                <a:latin typeface="Times New Roman" panose="02020603050405020304" pitchFamily="18" charset="0"/>
                <a:ea typeface="等线" panose="02010600030101010101" pitchFamily="2" charset="-122"/>
              </a:rPr>
              <a:t>Mechanisms</a:t>
            </a:r>
          </a:p>
          <a:p>
            <a:pPr marL="821884" lvl="1" indent="-342921">
              <a:lnSpc>
                <a:spcPts val="2800"/>
              </a:lnSpc>
              <a:buFont typeface="Wingdings" panose="05000000000000000000" pitchFamily="2" charset="2"/>
              <a:buChar char="Ø"/>
            </a:pPr>
            <a:r>
              <a:rPr lang="en-US" altLang="zh-CN" sz="1200" b="1" dirty="0" smtClean="0">
                <a:solidFill>
                  <a:schemeClr val="bg2"/>
                </a:solidFill>
                <a:latin typeface="Times New Roman" panose="02020603050405020304" pitchFamily="18" charset="0"/>
                <a:ea typeface="等线" panose="02010600030101010101" pitchFamily="2" charset="-122"/>
              </a:rPr>
              <a:t>Valuation </a:t>
            </a:r>
            <a:r>
              <a:rPr lang="en-US" altLang="zh-CN" sz="1200" b="1" dirty="0">
                <a:solidFill>
                  <a:schemeClr val="bg2"/>
                </a:solidFill>
                <a:latin typeface="Times New Roman" panose="02020603050405020304" pitchFamily="18" charset="0"/>
                <a:ea typeface="等线" panose="02010600030101010101" pitchFamily="2" charset="-122"/>
              </a:rPr>
              <a:t>Method and Application Research of Data </a:t>
            </a:r>
            <a:r>
              <a:rPr lang="en-US" altLang="zh-CN" sz="1200" b="1" dirty="0" smtClean="0">
                <a:solidFill>
                  <a:schemeClr val="bg2"/>
                </a:solidFill>
                <a:latin typeface="Times New Roman" panose="02020603050405020304" pitchFamily="18" charset="0"/>
                <a:ea typeface="等线" panose="02010600030101010101" pitchFamily="2" charset="-122"/>
              </a:rPr>
              <a:t>Assets</a:t>
            </a:r>
          </a:p>
          <a:p>
            <a:pPr marL="821884" lvl="1" indent="-342921">
              <a:lnSpc>
                <a:spcPts val="2800"/>
              </a:lnSpc>
              <a:buFont typeface="Wingdings" panose="05000000000000000000" pitchFamily="2" charset="2"/>
              <a:buChar char="Ø"/>
            </a:pPr>
            <a:r>
              <a:rPr lang="en-US" altLang="zh-CN" sz="1200" b="1" dirty="0" smtClean="0">
                <a:solidFill>
                  <a:schemeClr val="bg2"/>
                </a:solidFill>
                <a:latin typeface="Times New Roman" panose="02020603050405020304" pitchFamily="18" charset="0"/>
                <a:ea typeface="等线" panose="02010600030101010101" pitchFamily="2" charset="-122"/>
              </a:rPr>
              <a:t>Research </a:t>
            </a:r>
            <a:r>
              <a:rPr lang="en-US" altLang="zh-CN" sz="1200" b="1" dirty="0">
                <a:solidFill>
                  <a:schemeClr val="bg2"/>
                </a:solidFill>
                <a:latin typeface="Times New Roman" panose="02020603050405020304" pitchFamily="18" charset="0"/>
                <a:ea typeface="等线" panose="02010600030101010101" pitchFamily="2" charset="-122"/>
              </a:rPr>
              <a:t>on the Impact of Information Disclosure of Data Assets on Investor Decisions and Regulation</a:t>
            </a:r>
            <a:endParaRPr lang="en-US" altLang="zh-CN" sz="12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Research Methodology</a:t>
            </a:r>
          </a:p>
          <a:p>
            <a:pPr marL="821884" lvl="1" indent="-342921">
              <a:lnSpc>
                <a:spcPts val="2800"/>
              </a:lnSpc>
              <a:buFont typeface="Wingdings" panose="05000000000000000000" pitchFamily="2" charset="2"/>
              <a:buChar char="Ø"/>
            </a:pPr>
            <a:r>
              <a:rPr lang="en-US" altLang="zh-CN" sz="1200" b="1" dirty="0">
                <a:solidFill>
                  <a:schemeClr val="bg2"/>
                </a:solidFill>
                <a:latin typeface="Times New Roman" panose="02020603050405020304" pitchFamily="18" charset="0"/>
                <a:ea typeface="等线" panose="02010600030101010101" pitchFamily="2" charset="-122"/>
              </a:rPr>
              <a:t>Literature Analysis and Quantitative </a:t>
            </a:r>
            <a:r>
              <a:rPr lang="en-US" altLang="zh-CN" sz="1200" b="1" dirty="0" smtClean="0">
                <a:solidFill>
                  <a:schemeClr val="bg2"/>
                </a:solidFill>
                <a:latin typeface="Times New Roman" panose="02020603050405020304" pitchFamily="18" charset="0"/>
                <a:ea typeface="等线" panose="02010600030101010101" pitchFamily="2" charset="-122"/>
              </a:rPr>
              <a:t>Analysis</a:t>
            </a:r>
            <a:r>
              <a:rPr lang="en-US" altLang="zh-CN" sz="1200" b="1" dirty="0">
                <a:solidFill>
                  <a:schemeClr val="bg2"/>
                </a:solidFill>
                <a:latin typeface="Times New Roman" panose="02020603050405020304" pitchFamily="18" charset="0"/>
                <a:ea typeface="等线" panose="02010600030101010101" pitchFamily="2" charset="-122"/>
              </a:rPr>
              <a:t>, Empirical </a:t>
            </a:r>
            <a:r>
              <a:rPr lang="en-US" altLang="zh-CN" sz="1200" b="1" dirty="0" smtClean="0">
                <a:solidFill>
                  <a:schemeClr val="bg2"/>
                </a:solidFill>
                <a:latin typeface="Times New Roman" panose="02020603050405020304" pitchFamily="18" charset="0"/>
                <a:ea typeface="等线" panose="02010600030101010101" pitchFamily="2" charset="-122"/>
              </a:rPr>
              <a:t>Analysis</a:t>
            </a: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Reference and Appendix</a:t>
            </a: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343694" y="15919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Roadmap</a:t>
            </a:r>
            <a:endParaRPr lang="en-US" altLang="zh-CN" sz="2400" dirty="0">
              <a:solidFill>
                <a:schemeClr val="bg1"/>
              </a:solidFill>
            </a:endParaRPr>
          </a:p>
        </p:txBody>
      </p:sp>
      <p:sp>
        <p:nvSpPr>
          <p:cNvPr id="4" name="副标题 2">
            <a:extLst>
              <a:ext uri="{FF2B5EF4-FFF2-40B4-BE49-F238E27FC236}">
                <a16:creationId xmlns:a16="http://schemas.microsoft.com/office/drawing/2014/main" id="{D58463AA-4233-438A-9833-79ED7914084E}"/>
              </a:ext>
            </a:extLst>
          </p:cNvPr>
          <p:cNvSpPr txBox="1">
            <a:spLocks/>
          </p:cNvSpPr>
          <p:nvPr/>
        </p:nvSpPr>
        <p:spPr>
          <a:xfrm>
            <a:off x="-300776" y="657486"/>
            <a:ext cx="10516636" cy="780214"/>
          </a:xfrm>
          <a:prstGeom prst="rect">
            <a:avLst/>
          </a:prstGeom>
        </p:spPr>
        <p:txBody>
          <a:bodyPr/>
          <a:lstStyle>
            <a:lvl1pPr marL="188580" indent="-188580" algn="l" defTabSz="957984" rtl="0" eaLnBrk="1" latinLnBrk="0" hangingPunct="1">
              <a:lnSpc>
                <a:spcPct val="90000"/>
              </a:lnSpc>
              <a:spcBef>
                <a:spcPts val="1467"/>
              </a:spcBef>
              <a:buClr>
                <a:schemeClr val="bg2"/>
              </a:buClr>
              <a:buSzPct val="100000"/>
              <a:buFont typeface="Arial" pitchFamily="34" charset="0"/>
              <a:buChar char="■"/>
              <a:defRPr sz="1700" kern="1200">
                <a:solidFill>
                  <a:schemeClr val="tx1"/>
                </a:solidFill>
                <a:latin typeface="Palatino Linotype" panose="02040502050505030304" pitchFamily="18" charset="0"/>
                <a:ea typeface="+mn-ea"/>
                <a:cs typeface="Arial" pitchFamily="34" charset="0"/>
              </a:defRPr>
            </a:lvl1pPr>
            <a:lvl2pPr marL="325715" indent="-134119" algn="l" defTabSz="957984" rtl="0" eaLnBrk="1" latinLnBrk="0" hangingPunct="1">
              <a:lnSpc>
                <a:spcPct val="90000"/>
              </a:lnSpc>
              <a:spcBef>
                <a:spcPts val="943"/>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2pPr>
            <a:lvl3pPr marL="512937" indent="-188580" algn="l" defTabSz="957984" rtl="0" eaLnBrk="1" latinLnBrk="0" hangingPunct="1">
              <a:lnSpc>
                <a:spcPct val="90000"/>
              </a:lnSpc>
              <a:spcBef>
                <a:spcPts val="629"/>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3pPr>
            <a:lvl4pPr marL="663800" indent="-143698" algn="l" defTabSz="957984" rtl="0" eaLnBrk="1" latinLnBrk="0" hangingPunct="1">
              <a:lnSpc>
                <a:spcPct val="90000"/>
              </a:lnSpc>
              <a:spcBef>
                <a:spcPts val="210"/>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4pPr>
            <a:lvl5pPr marL="807121" indent="-143321" algn="l" defTabSz="957984" rtl="0" eaLnBrk="1" latinLnBrk="0" hangingPunct="1">
              <a:lnSpc>
                <a:spcPct val="90000"/>
              </a:lnSpc>
              <a:spcBef>
                <a:spcPts val="105"/>
              </a:spcBef>
              <a:buClr>
                <a:schemeClr val="bg2"/>
              </a:buClr>
              <a:buFont typeface="Arial" pitchFamily="34" charset="0"/>
              <a:buChar char="-"/>
              <a:defRPr sz="1700" kern="1200">
                <a:solidFill>
                  <a:schemeClr val="tx1"/>
                </a:solidFill>
                <a:latin typeface="Palatino Linotype" panose="02040502050505030304" pitchFamily="18" charset="0"/>
                <a:ea typeface="+mn-ea"/>
                <a:cs typeface="Arial" pitchFamily="34" charset="0"/>
              </a:defRPr>
            </a:lvl5pPr>
            <a:lvl6pPr marL="2634458"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6pPr>
            <a:lvl7pPr marL="3113451"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7pPr>
            <a:lvl8pPr marL="3592442"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8pPr>
            <a:lvl9pPr marL="4071435" indent="-239496" algn="l" defTabSz="957984" rtl="0" eaLnBrk="1" latinLnBrk="0" hangingPunct="1">
              <a:spcBef>
                <a:spcPct val="20000"/>
              </a:spcBef>
              <a:buFont typeface="Arial" pitchFamily="34" charset="0"/>
              <a:buChar char="•"/>
              <a:defRPr sz="2100" kern="1200">
                <a:solidFill>
                  <a:schemeClr val="tx1"/>
                </a:solidFill>
                <a:latin typeface="+mn-lt"/>
                <a:ea typeface="+mn-ea"/>
                <a:cs typeface="+mn-cs"/>
              </a:defRPr>
            </a:lvl9pPr>
          </a:lstStyle>
          <a:p>
            <a:pPr marL="0" indent="0" algn="ctr" defTabSz="957925">
              <a:lnSpc>
                <a:spcPts val="2800"/>
              </a:lnSpc>
              <a:spcBef>
                <a:spcPct val="0"/>
              </a:spcBef>
              <a:buNone/>
            </a:pPr>
            <a:r>
              <a:rPr lang="en-US" altLang="zh-CN" sz="2400" b="1" dirty="0">
                <a:solidFill>
                  <a:schemeClr val="bg2"/>
                </a:solidFill>
                <a:latin typeface="Times New Roman" panose="02020603050405020304" pitchFamily="18" charset="0"/>
                <a:ea typeface="等线" panose="02010600030101010101" pitchFamily="2" charset="-122"/>
              </a:rPr>
              <a:t>Research on the Relationship between Data Assets and Capital </a:t>
            </a:r>
            <a:r>
              <a:rPr lang="en-US" altLang="zh-CN" sz="2400" b="1" dirty="0" smtClean="0">
                <a:solidFill>
                  <a:schemeClr val="bg2"/>
                </a:solidFill>
                <a:latin typeface="Times New Roman" panose="02020603050405020304" pitchFamily="18" charset="0"/>
                <a:ea typeface="等线" panose="02010600030101010101" pitchFamily="2" charset="-122"/>
              </a:rPr>
              <a:t>Market</a:t>
            </a:r>
            <a:endParaRPr lang="en-US" altLang="zh-CN" sz="2400" b="1" dirty="0" smtClean="0">
              <a:solidFill>
                <a:schemeClr val="bg2"/>
              </a:solidFill>
              <a:latin typeface="Times New Roman" panose="02020603050405020304" pitchFamily="18" charset="0"/>
              <a:ea typeface="等线" panose="02010600030101010101" pitchFamily="2" charset="-122"/>
            </a:endParaRPr>
          </a:p>
          <a:p>
            <a:pPr marL="0" indent="0" algn="ctr" defTabSz="957925">
              <a:lnSpc>
                <a:spcPts val="2800"/>
              </a:lnSpc>
              <a:spcBef>
                <a:spcPct val="0"/>
              </a:spcBef>
              <a:buNone/>
            </a:pPr>
            <a:endParaRPr lang="en-US" altLang="zh-CN" sz="2400" b="1" dirty="0" smtClean="0">
              <a:solidFill>
                <a:schemeClr val="bg2"/>
              </a:solidFill>
              <a:latin typeface="Times New Roman" panose="02020603050405020304" pitchFamily="18" charset="0"/>
              <a:ea typeface="等线" panose="02010600030101010101" pitchFamily="2" charset="-122"/>
            </a:endParaRPr>
          </a:p>
          <a:p>
            <a:pPr marL="0" indent="0" algn="ctr" defTabSz="957925">
              <a:lnSpc>
                <a:spcPts val="2800"/>
              </a:lnSpc>
              <a:spcBef>
                <a:spcPct val="0"/>
              </a:spcBef>
              <a:buNone/>
            </a:pPr>
            <a:r>
              <a:rPr lang="en-US" altLang="zh-CN" sz="2400" b="1" dirty="0" smtClean="0">
                <a:solidFill>
                  <a:schemeClr val="bg2"/>
                </a:solidFill>
                <a:latin typeface="Times New Roman" panose="02020603050405020304" pitchFamily="18" charset="0"/>
                <a:ea typeface="等线" panose="02010600030101010101" pitchFamily="2" charset="-122"/>
              </a:rPr>
              <a:t>PhD Research Proposal</a:t>
            </a:r>
            <a:endParaRPr lang="zh-CN" altLang="en-US" sz="2400" b="1" dirty="0">
              <a:solidFill>
                <a:schemeClr val="bg2"/>
              </a:solidFill>
              <a:latin typeface="Times New Roman" panose="02020603050405020304" pitchFamily="18" charset="0"/>
              <a:ea typeface="等线" panose="02010600030101010101" pitchFamily="2" charset="-122"/>
            </a:endParaRPr>
          </a:p>
        </p:txBody>
      </p:sp>
    </p:spTree>
    <p:extLst>
      <p:ext uri="{BB962C8B-B14F-4D97-AF65-F5344CB8AC3E}">
        <p14:creationId xmlns:p14="http://schemas.microsoft.com/office/powerpoint/2010/main" val="3979261839"/>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545115" y="945518"/>
            <a:ext cx="8799579"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Data </a:t>
            </a:r>
            <a:r>
              <a:rPr lang="en-US" altLang="zh-CN" sz="1800" b="1" dirty="0">
                <a:solidFill>
                  <a:schemeClr val="bg2"/>
                </a:solidFill>
                <a:latin typeface="Times New Roman" panose="02020603050405020304" pitchFamily="18" charset="0"/>
                <a:ea typeface="等线" panose="02010600030101010101" pitchFamily="2" charset="-122"/>
              </a:rPr>
              <a:t>assets are resources that are owned or controlled by an entity and have economic value, which can bring current or expected economic benefits</a:t>
            </a:r>
            <a:r>
              <a:rPr lang="en-US" altLang="zh-CN" sz="1800" b="1" dirty="0" smtClean="0">
                <a:solidFill>
                  <a:schemeClr val="bg2"/>
                </a:solidFill>
                <a:latin typeface="Times New Roman" panose="02020603050405020304" pitchFamily="18" charset="0"/>
                <a:ea typeface="等线" panose="02010600030101010101" pitchFamily="2" charset="-122"/>
              </a:rPr>
              <a:t>.</a:t>
            </a: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solidFill>
                  <a:schemeClr val="bg2"/>
                </a:solidFill>
                <a:latin typeface="Times New Roman" panose="02020603050405020304" pitchFamily="18" charset="0"/>
                <a:ea typeface="等线" panose="02010600030101010101" pitchFamily="2" charset="-122"/>
              </a:rPr>
              <a:t>Data </a:t>
            </a:r>
            <a:r>
              <a:rPr lang="en-US" altLang="zh-CN" sz="1800" b="1" dirty="0">
                <a:solidFill>
                  <a:schemeClr val="bg2"/>
                </a:solidFill>
                <a:latin typeface="Times New Roman" panose="02020603050405020304" pitchFamily="18" charset="0"/>
                <a:ea typeface="等线" panose="02010600030101010101" pitchFamily="2" charset="-122"/>
              </a:rPr>
              <a:t>assets include various types of data that companies collect, store, manage, and analyze, such as customer, sales, financial, and manufacturing data. </a:t>
            </a: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In the capital market, investors typically pay attention to a company's data asset situation, which may affect their views on the company's future development and potential investment returns. </a:t>
            </a: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The innovation of this study lies in its combination of empirical analysis and normative research methods, and it explores a series of issues related to the relationship between enterprise data assets and the capital market from a financial perspective. </a:t>
            </a: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343694" y="15919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Introduction and Problem Statement </a:t>
            </a:r>
          </a:p>
        </p:txBody>
      </p:sp>
    </p:spTree>
    <p:extLst>
      <p:ext uri="{BB962C8B-B14F-4D97-AF65-F5344CB8AC3E}">
        <p14:creationId xmlns:p14="http://schemas.microsoft.com/office/powerpoint/2010/main" val="49922412"/>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43694" y="837506"/>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This study explores the relationship between data assets in the era of big data and the capital market from a micro-empirical analysis perspective, focusing on three main areas of research: </a:t>
            </a: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2.1 The impact of data assets on company stock </a:t>
            </a:r>
            <a:r>
              <a:rPr lang="en-US" altLang="zh-CN" sz="1800" b="1" dirty="0" smtClean="0">
                <a:solidFill>
                  <a:schemeClr val="bg2"/>
                </a:solidFill>
                <a:latin typeface="Times New Roman" panose="02020603050405020304" pitchFamily="18" charset="0"/>
                <a:ea typeface="等线" panose="02010600030101010101" pitchFamily="2" charset="-122"/>
              </a:rPr>
              <a:t>prices, </a:t>
            </a:r>
            <a:r>
              <a:rPr lang="en-US" altLang="zh-CN" sz="1800" b="1" dirty="0">
                <a:solidFill>
                  <a:schemeClr val="bg2"/>
                </a:solidFill>
                <a:latin typeface="Times New Roman" panose="02020603050405020304" pitchFamily="18" charset="0"/>
                <a:ea typeface="等线" panose="02010600030101010101" pitchFamily="2" charset="-122"/>
              </a:rPr>
              <a:t>and its </a:t>
            </a:r>
            <a:r>
              <a:rPr lang="en-US" altLang="zh-CN" sz="1800" b="1" dirty="0" smtClean="0">
                <a:solidFill>
                  <a:schemeClr val="bg2"/>
                </a:solidFill>
                <a:latin typeface="Times New Roman" panose="02020603050405020304" pitchFamily="18" charset="0"/>
                <a:ea typeface="等线" panose="02010600030101010101" pitchFamily="2" charset="-122"/>
              </a:rPr>
              <a:t>mechanism </a:t>
            </a:r>
          </a:p>
          <a:p>
            <a:pPr marL="821884" lvl="1" indent="-342921">
              <a:lnSpc>
                <a:spcPts val="2800"/>
              </a:lnSpc>
              <a:buFont typeface="Wingdings" panose="05000000000000000000" pitchFamily="2" charset="2"/>
              <a:buChar char="Ø"/>
            </a:pPr>
            <a:r>
              <a:rPr lang="en-US" altLang="zh-CN" dirty="0" smtClean="0">
                <a:latin typeface="Times New Roman" panose="02020603050405020304" pitchFamily="18" charset="0"/>
                <a:cs typeface="Times New Roman" panose="02020603050405020304" pitchFamily="18" charset="0"/>
              </a:rPr>
              <a:t>investigate </a:t>
            </a:r>
            <a:r>
              <a:rPr lang="en-US" altLang="zh-CN" dirty="0">
                <a:latin typeface="Times New Roman" panose="02020603050405020304" pitchFamily="18" charset="0"/>
                <a:cs typeface="Times New Roman" panose="02020603050405020304" pitchFamily="18" charset="0"/>
              </a:rPr>
              <a:t>the influence of quality, quantity, growth rate, and other factors of enterprise data assets on company stock prices, primarily </a:t>
            </a:r>
            <a:r>
              <a:rPr lang="en-US" altLang="zh-CN" b="1" dirty="0">
                <a:latin typeface="Times New Roman" panose="02020603050405020304" pitchFamily="18" charset="0"/>
                <a:cs typeface="Times New Roman" panose="02020603050405020304" pitchFamily="18" charset="0"/>
              </a:rPr>
              <a:t>focusing on two aspects:</a:t>
            </a:r>
            <a:endParaRPr lang="en-US" altLang="zh-CN" sz="1200" b="1" dirty="0" smtClean="0">
              <a:solidFill>
                <a:schemeClr val="bg2"/>
              </a:solidFill>
              <a:latin typeface="Times New Roman" panose="02020603050405020304" pitchFamily="18" charset="0"/>
              <a:ea typeface="等线" panose="02010600030101010101" pitchFamily="2" charset="-122"/>
              <a:cs typeface="Times New Roman" panose="02020603050405020304" pitchFamily="18" charset="0"/>
            </a:endParaRPr>
          </a:p>
          <a:p>
            <a:pPr marL="821884" lvl="1" indent="-342921">
              <a:lnSpc>
                <a:spcPts val="2800"/>
              </a:lnSpc>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-The impact of data assets on company stock prices: exploring the extent to which factors such as data asset scale, quality, and usability affect company stock prices.</a:t>
            </a:r>
            <a:endParaRPr lang="en-US" altLang="zh-CN" sz="1200" b="1" dirty="0" smtClean="0">
              <a:solidFill>
                <a:schemeClr val="bg2"/>
              </a:solidFill>
              <a:latin typeface="Times New Roman" panose="02020603050405020304" pitchFamily="18" charset="0"/>
              <a:ea typeface="等线" panose="02010600030101010101" pitchFamily="2" charset="-122"/>
              <a:cs typeface="Times New Roman" panose="02020603050405020304" pitchFamily="18" charset="0"/>
            </a:endParaRPr>
          </a:p>
          <a:p>
            <a:pPr marL="821884" lvl="1" indent="-342921">
              <a:lnSpc>
                <a:spcPts val="2800"/>
              </a:lnSpc>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-The mechanism of data assets on company stock prices: investigating how data assets can enhance a company's innovation capabilities, operational costs, and decision-making and how they can positively influence external stock prices through these channels.</a:t>
            </a:r>
            <a:endParaRPr lang="en-US" altLang="zh-CN" sz="1200" b="1" dirty="0">
              <a:solidFill>
                <a:schemeClr val="bg2"/>
              </a:solidFill>
              <a:latin typeface="Times New Roman" panose="02020603050405020304" pitchFamily="18" charset="0"/>
              <a:ea typeface="等线" panose="02010600030101010101" pitchFamily="2" charset="-122"/>
              <a:cs typeface="Times New Roman" panose="02020603050405020304" pitchFamily="18" charset="0"/>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343694" y="15919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Research </a:t>
            </a:r>
            <a:r>
              <a:rPr lang="en-US" altLang="zh-CN" sz="2400" dirty="0">
                <a:solidFill>
                  <a:schemeClr val="bg1"/>
                </a:solidFill>
              </a:rPr>
              <a:t>Content</a:t>
            </a:r>
            <a:endParaRPr lang="en-US" altLang="zh-CN" sz="2400" dirty="0">
              <a:solidFill>
                <a:schemeClr val="bg1"/>
              </a:solidFill>
            </a:endParaRPr>
          </a:p>
        </p:txBody>
      </p:sp>
    </p:spTree>
    <p:extLst>
      <p:ext uri="{BB962C8B-B14F-4D97-AF65-F5344CB8AC3E}">
        <p14:creationId xmlns:p14="http://schemas.microsoft.com/office/powerpoint/2010/main" val="1322704754"/>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42156" y="657486"/>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solidFill>
                  <a:schemeClr val="bg2"/>
                </a:solidFill>
                <a:latin typeface="Times New Roman" panose="02020603050405020304" pitchFamily="18" charset="0"/>
                <a:ea typeface="等线" panose="02010600030101010101" pitchFamily="2" charset="-122"/>
              </a:rPr>
              <a:t>2.2 Research on data asset valuation methods and accounting confirmation</a:t>
            </a: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This area of research aims to explore the methods and techniques used to evaluate the value of data assets and apply them to corporate practices. Unlike the first part, this research focuses more on the internal and directional improvement of enterprises to better account for these assets</a:t>
            </a:r>
            <a:r>
              <a:rPr lang="en-US" altLang="zh-CN" dirty="0" smtClean="0">
                <a:latin typeface="Times New Roman" panose="02020603050405020304" pitchFamily="18" charset="0"/>
                <a:cs typeface="Times New Roman" panose="02020603050405020304" pitchFamily="18" charset="0"/>
              </a:rPr>
              <a:t>.</a:t>
            </a:r>
          </a:p>
          <a:p>
            <a:pPr marL="821884" lvl="1" indent="-342921">
              <a:lnSpc>
                <a:spcPts val="2800"/>
              </a:lnSpc>
              <a:buFont typeface="Wingdings" panose="05000000000000000000" pitchFamily="2" charset="2"/>
              <a:buChar char="Ø"/>
            </a:pPr>
            <a:r>
              <a:rPr lang="en-US" altLang="zh-CN" dirty="0">
                <a:latin typeface="Times New Roman" panose="02020603050405020304" pitchFamily="18" charset="0"/>
                <a:cs typeface="Times New Roman" panose="02020603050405020304" pitchFamily="18" charset="0"/>
              </a:rPr>
              <a:t>Thus, publicly available data may be difficult to obtain, and case studies and surveys may be utilized more </a:t>
            </a:r>
            <a:r>
              <a:rPr lang="en-US" altLang="zh-CN" dirty="0" smtClean="0">
                <a:latin typeface="Times New Roman" panose="02020603050405020304" pitchFamily="18" charset="0"/>
                <a:cs typeface="Times New Roman" panose="02020603050405020304" pitchFamily="18" charset="0"/>
              </a:rPr>
              <a:t>frequently.</a:t>
            </a:r>
          </a:p>
          <a:p>
            <a:pPr marL="821884" lvl="1" indent="-342921">
              <a:lnSpc>
                <a:spcPts val="2800"/>
              </a:lnSpc>
              <a:buFont typeface="Wingdings" panose="05000000000000000000" pitchFamily="2" charset="2"/>
              <a:buChar char="Ø"/>
            </a:pPr>
            <a:r>
              <a:rPr lang="en-US" altLang="zh-CN" dirty="0" smtClean="0">
                <a:latin typeface="Times New Roman" panose="02020603050405020304" pitchFamily="18" charset="0"/>
                <a:cs typeface="Times New Roman" panose="02020603050405020304" pitchFamily="18" charset="0"/>
              </a:rPr>
              <a:t>The </a:t>
            </a:r>
            <a:r>
              <a:rPr lang="en-US" altLang="zh-CN" dirty="0">
                <a:latin typeface="Times New Roman" panose="02020603050405020304" pitchFamily="18" charset="0"/>
                <a:cs typeface="Times New Roman" panose="02020603050405020304" pitchFamily="18" charset="0"/>
              </a:rPr>
              <a:t>research on data asset valuation methods and applications is mainly divided into two parts: </a:t>
            </a:r>
            <a:endParaRPr lang="en-US" altLang="zh-CN" dirty="0" smtClean="0">
              <a:latin typeface="Times New Roman" panose="02020603050405020304" pitchFamily="18" charset="0"/>
              <a:cs typeface="Times New Roman" panose="02020603050405020304" pitchFamily="18" charset="0"/>
            </a:endParaRPr>
          </a:p>
          <a:p>
            <a:pPr marL="821884" lvl="1" indent="-342921">
              <a:lnSpc>
                <a:spcPts val="2800"/>
              </a:lnSpc>
              <a:buFont typeface="Wingdings" panose="05000000000000000000" pitchFamily="2" charset="2"/>
              <a:buChar char="Ø"/>
            </a:pPr>
            <a:r>
              <a:rPr lang="en-US" altLang="zh-CN" dirty="0" smtClean="0">
                <a:latin typeface="Times New Roman" panose="02020603050405020304" pitchFamily="18" charset="0"/>
                <a:cs typeface="Times New Roman" panose="02020603050405020304" pitchFamily="18" charset="0"/>
              </a:rPr>
              <a:t>-The </a:t>
            </a:r>
            <a:r>
              <a:rPr lang="en-US" altLang="zh-CN" dirty="0">
                <a:latin typeface="Times New Roman" panose="02020603050405020304" pitchFamily="18" charset="0"/>
                <a:cs typeface="Times New Roman" panose="02020603050405020304" pitchFamily="18" charset="0"/>
              </a:rPr>
              <a:t>research on data asset valuation methods: starting from a quantitative perspective, </a:t>
            </a:r>
            <a:endParaRPr lang="en-US" altLang="zh-CN" dirty="0" smtClean="0">
              <a:latin typeface="Times New Roman" panose="02020603050405020304" pitchFamily="18" charset="0"/>
              <a:cs typeface="Times New Roman" panose="02020603050405020304" pitchFamily="18" charset="0"/>
            </a:endParaRPr>
          </a:p>
          <a:p>
            <a:pPr marL="821884" lvl="1" indent="-342921">
              <a:lnSpc>
                <a:spcPts val="2800"/>
              </a:lnSpc>
              <a:buFont typeface="Wingdings" panose="05000000000000000000" pitchFamily="2" charset="2"/>
              <a:buChar char="Ø"/>
            </a:pPr>
            <a:r>
              <a:rPr lang="en-US" altLang="zh-CN" dirty="0" smtClean="0">
                <a:latin typeface="Times New Roman" panose="02020603050405020304" pitchFamily="18" charset="0"/>
                <a:cs typeface="Times New Roman" panose="02020603050405020304" pitchFamily="18" charset="0"/>
              </a:rPr>
              <a:t>- The </a:t>
            </a:r>
            <a:r>
              <a:rPr lang="en-US" altLang="zh-CN" dirty="0">
                <a:latin typeface="Times New Roman" panose="02020603050405020304" pitchFamily="18" charset="0"/>
                <a:cs typeface="Times New Roman" panose="02020603050405020304" pitchFamily="18" charset="0"/>
              </a:rPr>
              <a:t>research investigates how to quantify the value of data assets and examines various methods and techniques for data asset valuation, as well as their applicability and correlation</a:t>
            </a:r>
            <a:r>
              <a:rPr lang="en-US" altLang="zh-CN" dirty="0" smtClean="0">
                <a:latin typeface="Times New Roman" panose="02020603050405020304" pitchFamily="18" charset="0"/>
                <a:cs typeface="Times New Roman" panose="02020603050405020304" pitchFamily="18" charset="0"/>
              </a:rPr>
              <a:t>.</a:t>
            </a:r>
          </a:p>
          <a:p>
            <a:pPr marL="821884" lvl="1" indent="-342921">
              <a:lnSpc>
                <a:spcPts val="2800"/>
              </a:lnSpc>
              <a:buFont typeface="Wingdings" panose="05000000000000000000" pitchFamily="2" charset="2"/>
              <a:buChar char="Ø"/>
            </a:pPr>
            <a:r>
              <a:rPr lang="en-US" altLang="zh-CN" dirty="0" smtClean="0">
                <a:latin typeface="Times New Roman" panose="02020603050405020304" pitchFamily="18" charset="0"/>
                <a:cs typeface="Times New Roman" panose="02020603050405020304" pitchFamily="18" charset="0"/>
              </a:rPr>
              <a:t>microeconomics</a:t>
            </a:r>
            <a:r>
              <a:rPr lang="en-US" altLang="zh-CN" dirty="0">
                <a:latin typeface="Times New Roman" panose="02020603050405020304" pitchFamily="18" charset="0"/>
                <a:cs typeface="Times New Roman" panose="02020603050405020304" pitchFamily="18" charset="0"/>
              </a:rPr>
              <a:t>, econometrics, and information technology, combined with in-depth case studies to improve the accuracy and operability of data asset valuation. </a:t>
            </a:r>
            <a:endParaRPr lang="en-US" altLang="zh-CN" sz="1800" b="1" dirty="0" smtClean="0">
              <a:solidFill>
                <a:schemeClr val="bg2"/>
              </a:solidFill>
              <a:latin typeface="Times New Roman" panose="02020603050405020304" pitchFamily="18" charset="0"/>
              <a:ea typeface="等线" panose="02010600030101010101" pitchFamily="2" charset="-122"/>
              <a:cs typeface="Times New Roman" panose="02020603050405020304" pitchFamily="18" charset="0"/>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343694" y="15919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Research </a:t>
            </a:r>
            <a:r>
              <a:rPr lang="en-US" altLang="zh-CN" sz="2400" dirty="0">
                <a:solidFill>
                  <a:schemeClr val="bg1"/>
                </a:solidFill>
              </a:rPr>
              <a:t>Content</a:t>
            </a:r>
            <a:endParaRPr lang="en-US" altLang="zh-CN" sz="2400" dirty="0">
              <a:solidFill>
                <a:schemeClr val="bg1"/>
              </a:solidFill>
            </a:endParaRPr>
          </a:p>
        </p:txBody>
      </p:sp>
    </p:spTree>
    <p:extLst>
      <p:ext uri="{BB962C8B-B14F-4D97-AF65-F5344CB8AC3E}">
        <p14:creationId xmlns:p14="http://schemas.microsoft.com/office/powerpoint/2010/main" val="2554249477"/>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43694" y="837506"/>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Qualitative research, starting from an industry application perspective, studying the specific application of data asset valuation in the finance, medical, logistics, and other sectors through practical case analysis. </a:t>
            </a:r>
          </a:p>
          <a:p>
            <a:pPr marL="342921" indent="-342921">
              <a:lnSpc>
                <a:spcPts val="2800"/>
              </a:lnSpc>
              <a:buFont typeface="Wingdings" panose="05000000000000000000" pitchFamily="2" charset="2"/>
              <a:buChar char="Ø"/>
            </a:pP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This research examines the problems and challenges encountered during this process to better combine with enterprise value evaluations, providing a reference basis for accounting confirmation, calculation, disclosure, and auditing</a:t>
            </a:r>
            <a:r>
              <a:rPr lang="en-US" altLang="zh-CN" sz="1800" dirty="0" smtClean="0">
                <a:latin typeface="Times New Roman" panose="02020603050405020304" pitchFamily="18" charset="0"/>
                <a:ea typeface="等线" panose="02010600030101010101" pitchFamily="2" charset="-122"/>
              </a:rPr>
              <a:t>.</a:t>
            </a:r>
          </a:p>
          <a:p>
            <a:pPr marL="342921" indent="-342921">
              <a:lnSpc>
                <a:spcPts val="2800"/>
              </a:lnSpc>
              <a:buFont typeface="Wingdings" panose="05000000000000000000" pitchFamily="2" charset="2"/>
              <a:buChar char="Ø"/>
            </a:pP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Quantitative analyses will be conducted using specific cases and data. This research is significant because data assets have become one of the essential resources for companies today.</a:t>
            </a:r>
          </a:p>
          <a:p>
            <a:pPr marL="342921" indent="-342921">
              <a:lnSpc>
                <a:spcPts val="2800"/>
              </a:lnSpc>
              <a:buFont typeface="Wingdings" panose="05000000000000000000" pitchFamily="2" charset="2"/>
              <a:buChar char="Ø"/>
            </a:pP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Studying data asset valuation methods and applying them in practical scenarios can assist companies in better understanding the value of their data assets and thus help manage and utilize these resources more effectively.</a:t>
            </a: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343694" y="15919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Research on the practical application of data asset valuation</a:t>
            </a:r>
            <a:endParaRPr lang="en-US" altLang="zh-CN" sz="2400" dirty="0">
              <a:solidFill>
                <a:schemeClr val="bg1"/>
              </a:solidFill>
            </a:endParaRPr>
          </a:p>
        </p:txBody>
      </p:sp>
    </p:spTree>
    <p:extLst>
      <p:ext uri="{BB962C8B-B14F-4D97-AF65-F5344CB8AC3E}">
        <p14:creationId xmlns:p14="http://schemas.microsoft.com/office/powerpoint/2010/main" val="3549229094"/>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43694" y="693490"/>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This research aims to analyze the impact of data asset information disclosure on investor trading decisions and regulatory issues, validated by survey questionnaires. </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The </a:t>
            </a:r>
            <a:r>
              <a:rPr lang="en-US" altLang="zh-CN" sz="1800" dirty="0">
                <a:latin typeface="Times New Roman" panose="02020603050405020304" pitchFamily="18" charset="0"/>
                <a:ea typeface="等线" panose="02010600030101010101" pitchFamily="2" charset="-122"/>
              </a:rPr>
              <a:t>research focuses primarily on two aspects: </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a:t>
            </a:r>
            <a:r>
              <a:rPr lang="en-US" altLang="zh-CN" sz="1800" dirty="0">
                <a:latin typeface="Times New Roman" panose="02020603050405020304" pitchFamily="18" charset="0"/>
                <a:ea typeface="等线" panose="02010600030101010101" pitchFamily="2" charset="-122"/>
              </a:rPr>
              <a:t>The impact of data asset information disclosure on investor decision-making: investigating how the level and quality of enterprise data asset information disclosure affect investor decision-making and the differences among different types of investors during this process. </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a:t>
            </a:r>
            <a:r>
              <a:rPr lang="en-US" altLang="zh-CN" sz="1800" dirty="0">
                <a:latin typeface="Times New Roman" panose="02020603050405020304" pitchFamily="18" charset="0"/>
                <a:ea typeface="等线" panose="02010600030101010101" pitchFamily="2" charset="-122"/>
              </a:rPr>
              <a:t>Research on data asset information disclosure regulation: starting from a regulatory perspective, researching how to develop and implement effective data asset information disclosure regulations to protect the legitimate interests of investors.</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Additionally, as a novel type of asset, data asset information disclosure has some unique characteristics that require appropriate regulation to promote healthy market development, secure the legitimate rights and interests of investors, and avoid market imbalances and investment risks caused by information asymmetry and other issues. </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199678" y="15919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Research on the impact of data asset information disclosure on investor decision-making and regulation </a:t>
            </a:r>
            <a:endParaRPr lang="en-US" altLang="zh-CN" sz="2400" dirty="0">
              <a:solidFill>
                <a:schemeClr val="bg1"/>
              </a:solidFill>
            </a:endParaRPr>
          </a:p>
        </p:txBody>
      </p:sp>
    </p:spTree>
    <p:extLst>
      <p:ext uri="{BB962C8B-B14F-4D97-AF65-F5344CB8AC3E}">
        <p14:creationId xmlns:p14="http://schemas.microsoft.com/office/powerpoint/2010/main" val="3088308485"/>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43694" y="693490"/>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This research aims to analyze the impact of data asset information disclosure on investor trading decisions and regulatory issues, validated by survey questionnaires. </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The </a:t>
            </a:r>
            <a:r>
              <a:rPr lang="en-US" altLang="zh-CN" sz="1800" dirty="0">
                <a:latin typeface="Times New Roman" panose="02020603050405020304" pitchFamily="18" charset="0"/>
                <a:ea typeface="等线" panose="02010600030101010101" pitchFamily="2" charset="-122"/>
              </a:rPr>
              <a:t>research focuses primarily on two aspects: </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a:t>
            </a:r>
            <a:r>
              <a:rPr lang="en-US" altLang="zh-CN" sz="1800" dirty="0">
                <a:latin typeface="Times New Roman" panose="02020603050405020304" pitchFamily="18" charset="0"/>
                <a:ea typeface="等线" panose="02010600030101010101" pitchFamily="2" charset="-122"/>
              </a:rPr>
              <a:t>The impact of data asset information disclosure on investor decision-making: investigating how the level and quality of enterprise data asset information disclosure affect investor decision-making and the differences among different types of investors during this process. </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a:t>
            </a:r>
            <a:r>
              <a:rPr lang="en-US" altLang="zh-CN" sz="1800" dirty="0">
                <a:latin typeface="Times New Roman" panose="02020603050405020304" pitchFamily="18" charset="0"/>
                <a:ea typeface="等线" panose="02010600030101010101" pitchFamily="2" charset="-122"/>
              </a:rPr>
              <a:t>Research on data asset information disclosure regulation: starting from a regulatory perspective, researching how to develop and implement effective data asset information disclosure regulations to protect the legitimate interests of investors.</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Additionally, as a novel type of asset, data asset information disclosure has some unique characteristics that require appropriate regulation to promote healthy market development, secure the legitimate rights and interests of investors, and avoid market imbalances and investment risks caused by information asymmetry and other issues. </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199678" y="15919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a:solidFill>
                  <a:schemeClr val="bg1"/>
                </a:solidFill>
              </a:rPr>
              <a:t>Research on the impact of data asset information disclosure on investor decision-making and regulation </a:t>
            </a:r>
            <a:endParaRPr lang="en-US" altLang="zh-CN" sz="2400" dirty="0">
              <a:solidFill>
                <a:schemeClr val="bg1"/>
              </a:solidFill>
            </a:endParaRPr>
          </a:p>
        </p:txBody>
      </p:sp>
    </p:spTree>
    <p:extLst>
      <p:ext uri="{BB962C8B-B14F-4D97-AF65-F5344CB8AC3E}">
        <p14:creationId xmlns:p14="http://schemas.microsoft.com/office/powerpoint/2010/main" val="3068495319"/>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43694" y="693490"/>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latin typeface="Times New Roman" panose="02020603050405020304" pitchFamily="18" charset="0"/>
                <a:ea typeface="等线" panose="02010600030101010101" pitchFamily="2" charset="-122"/>
              </a:rPr>
              <a:t>3.1 The Impact of Data Assets on Company Stock Prices and its </a:t>
            </a:r>
            <a:r>
              <a:rPr lang="en-US" altLang="zh-CN" sz="1800" b="1" dirty="0" smtClean="0">
                <a:latin typeface="Times New Roman" panose="02020603050405020304" pitchFamily="18" charset="0"/>
                <a:ea typeface="等线" panose="02010600030101010101" pitchFamily="2" charset="-122"/>
              </a:rPr>
              <a:t>Mechanisms</a:t>
            </a: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This section mainly studies the impact mechanism of a company's data assets on stock value enhancement and the favorable expectations of creditors and investors that help reduce company financing costs. </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There </a:t>
            </a:r>
            <a:r>
              <a:rPr lang="en-US" altLang="zh-CN" sz="1800" dirty="0">
                <a:latin typeface="Times New Roman" panose="02020603050405020304" pitchFamily="18" charset="0"/>
                <a:ea typeface="等线" panose="02010600030101010101" pitchFamily="2" charset="-122"/>
              </a:rPr>
              <a:t>is relatively little research in this area, and we will try to fill this gap and share new insights in the academic community.</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latin typeface="Times New Roman" panose="02020603050405020304" pitchFamily="18" charset="0"/>
                <a:ea typeface="等线" panose="02010600030101010101" pitchFamily="2" charset="-122"/>
              </a:rPr>
              <a:t>3.2 Valuation Method and Application Research of Data Assets </a:t>
            </a:r>
            <a:endParaRPr lang="en-US" altLang="zh-CN" sz="1800" b="1"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This section mainly studies the valuation method and application of data assets. </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The literature review found that most studies used case analysis and methods, with fewer quantitative and statistical methods, and some used mathematical models and theorems.</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There is </a:t>
            </a:r>
            <a:r>
              <a:rPr lang="en-US" altLang="zh-CN" sz="1800" dirty="0" smtClean="0">
                <a:latin typeface="Times New Roman" panose="02020603050405020304" pitchFamily="18" charset="0"/>
                <a:ea typeface="等线" panose="02010600030101010101" pitchFamily="2" charset="-122"/>
              </a:rPr>
              <a:t>many </a:t>
            </a:r>
            <a:r>
              <a:rPr lang="en-US" altLang="zh-CN" sz="1800" dirty="0">
                <a:latin typeface="Times New Roman" panose="02020603050405020304" pitchFamily="18" charset="0"/>
                <a:ea typeface="等线" panose="02010600030101010101" pitchFamily="2" charset="-122"/>
              </a:rPr>
              <a:t>research in this </a:t>
            </a:r>
            <a:r>
              <a:rPr lang="en-US" altLang="zh-CN" sz="1800" dirty="0" smtClean="0">
                <a:latin typeface="Times New Roman" panose="02020603050405020304" pitchFamily="18" charset="0"/>
                <a:ea typeface="等线" panose="02010600030101010101" pitchFamily="2" charset="-122"/>
              </a:rPr>
              <a:t>area. We </a:t>
            </a:r>
            <a:r>
              <a:rPr lang="en-US" altLang="zh-CN" sz="1800" dirty="0">
                <a:latin typeface="Times New Roman" panose="02020603050405020304" pitchFamily="18" charset="0"/>
                <a:ea typeface="等线" panose="02010600030101010101" pitchFamily="2" charset="-122"/>
              </a:rPr>
              <a:t>will consider new industry cases and data indicators, deepen theoretical research, and draw on financial engineering valuation theories based on established theoretical models.</a:t>
            </a:r>
          </a:p>
          <a:p>
            <a:pPr marL="342921" indent="-342921">
              <a:lnSpc>
                <a:spcPts val="2800"/>
              </a:lnSpc>
              <a:buFont typeface="Wingdings" panose="05000000000000000000" pitchFamily="2" charset="2"/>
              <a:buChar char="Ø"/>
            </a:pP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199678" y="15919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Literature </a:t>
            </a:r>
            <a:r>
              <a:rPr lang="en-US" altLang="zh-CN" sz="2400" dirty="0">
                <a:solidFill>
                  <a:schemeClr val="bg1"/>
                </a:solidFill>
              </a:rPr>
              <a:t>Review and Research </a:t>
            </a:r>
            <a:r>
              <a:rPr lang="en-US" altLang="zh-CN" sz="2400" dirty="0" smtClean="0">
                <a:solidFill>
                  <a:schemeClr val="bg1"/>
                </a:solidFill>
              </a:rPr>
              <a:t>Methods</a:t>
            </a:r>
            <a:endParaRPr lang="en-US" altLang="zh-CN" sz="2400" dirty="0">
              <a:solidFill>
                <a:schemeClr val="bg1"/>
              </a:solidFill>
            </a:endParaRPr>
          </a:p>
        </p:txBody>
      </p:sp>
    </p:spTree>
    <p:extLst>
      <p:ext uri="{BB962C8B-B14F-4D97-AF65-F5344CB8AC3E}">
        <p14:creationId xmlns:p14="http://schemas.microsoft.com/office/powerpoint/2010/main" val="1616813507"/>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343694" y="693490"/>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b="1" dirty="0">
                <a:latin typeface="Times New Roman" panose="02020603050405020304" pitchFamily="18" charset="0"/>
                <a:ea typeface="等线" panose="02010600030101010101" pitchFamily="2" charset="-122"/>
              </a:rPr>
              <a:t>3.1 Research on the Impact of Information Disclosure of Data Assets on Investor Decisions and Regulation </a:t>
            </a:r>
            <a:endParaRPr lang="en-US" altLang="zh-CN" sz="1800" b="1"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Due to the scarcity of micro-market data, there is relatively little literature in this section</a:t>
            </a:r>
            <a:r>
              <a:rPr lang="en-US" altLang="zh-CN" sz="1800" dirty="0" smtClean="0">
                <a:latin typeface="Times New Roman" panose="02020603050405020304" pitchFamily="18" charset="0"/>
                <a:ea typeface="等线" panose="02010600030101010101" pitchFamily="2" charset="-122"/>
              </a:rPr>
              <a:t>.</a:t>
            </a: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Based on summarizing theoretical research, we will use questionnaire surveys and case studies to conduct empirical analysis. </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latin typeface="Times New Roman" panose="02020603050405020304" pitchFamily="18" charset="0"/>
                <a:ea typeface="等线" panose="02010600030101010101" pitchFamily="2" charset="-122"/>
              </a:rPr>
              <a:t>3.4 </a:t>
            </a:r>
            <a:r>
              <a:rPr lang="en-US" altLang="zh-CN" sz="1800" b="1" dirty="0" smtClean="0">
                <a:latin typeface="Times New Roman" panose="02020603050405020304" pitchFamily="18" charset="0"/>
                <a:ea typeface="等线" panose="02010600030101010101" pitchFamily="2" charset="-122"/>
              </a:rPr>
              <a:t>Summary</a:t>
            </a: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In summary, literature in this field is relatively scarce. While data assets are relatively easy to quantify, quantitative analysis and mathematical reasoning research are rare. </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The relationship between data assets and capital markets is very close, and we need to explore it from different angles to provide better decision-making basis for enterprise managers, investors, and regulatory agencies.</a:t>
            </a: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Our future research will seek more accurate data valuation methods, more comprehensive data disclosure regulations, and deeper research into the mechanisms of data asset transmission to company performance and stock prices.</a:t>
            </a: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 We will also explore the impact of data asset valuation on company financing and investment decisions, as well as regulatory policies and investor preferences.</a:t>
            </a:r>
          </a:p>
          <a:p>
            <a:pPr marL="342921" indent="-342921">
              <a:lnSpc>
                <a:spcPts val="2800"/>
              </a:lnSpc>
              <a:buFont typeface="Wingdings" panose="05000000000000000000" pitchFamily="2" charset="2"/>
              <a:buChar char="Ø"/>
            </a:pPr>
            <a:endParaRPr lang="en-US" altLang="zh-CN" sz="18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199678" y="15919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Literature </a:t>
            </a:r>
            <a:r>
              <a:rPr lang="en-US" altLang="zh-CN" sz="2400" dirty="0">
                <a:solidFill>
                  <a:schemeClr val="bg1"/>
                </a:solidFill>
              </a:rPr>
              <a:t>Review and Research </a:t>
            </a:r>
            <a:r>
              <a:rPr lang="en-US" altLang="zh-CN" sz="2400" dirty="0" smtClean="0">
                <a:solidFill>
                  <a:schemeClr val="bg1"/>
                </a:solidFill>
              </a:rPr>
              <a:t>Methods</a:t>
            </a:r>
            <a:endParaRPr lang="en-US" altLang="zh-CN" sz="2400" dirty="0">
              <a:solidFill>
                <a:schemeClr val="bg1"/>
              </a:solidFill>
            </a:endParaRPr>
          </a:p>
        </p:txBody>
      </p:sp>
    </p:spTree>
    <p:extLst>
      <p:ext uri="{BB962C8B-B14F-4D97-AF65-F5344CB8AC3E}">
        <p14:creationId xmlns:p14="http://schemas.microsoft.com/office/powerpoint/2010/main" val="1543923687"/>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a:extLst>
              <a:ext uri="{FF2B5EF4-FFF2-40B4-BE49-F238E27FC236}">
                <a16:creationId xmlns:a16="http://schemas.microsoft.com/office/drawing/2014/main" id="{A3C71D49-1CFF-4704-AE93-7F736EAECB98}"/>
              </a:ext>
            </a:extLst>
          </p:cNvPr>
          <p:cNvSpPr txBox="1">
            <a:spLocks/>
          </p:cNvSpPr>
          <p:nvPr/>
        </p:nvSpPr>
        <p:spPr bwMode="auto">
          <a:xfrm>
            <a:off x="199678" y="560058"/>
            <a:ext cx="9368110" cy="13272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2500" b="0" kern="1200" baseline="0">
                <a:solidFill>
                  <a:schemeClr val="tx1"/>
                </a:solidFill>
                <a:latin typeface="Palatino Linotype" panose="02040502050505030304" pitchFamily="18" charset="0"/>
                <a:ea typeface="华文楷体" panose="02010600040101010101" pitchFamily="2" charset="-122"/>
                <a:cs typeface="Arial" pitchFamily="34" charset="0"/>
              </a:defRPr>
            </a:lvl1pPr>
          </a:lstStyle>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This study will employ a combination of literature analysis, statistical methods, empirical research, and qualitative and quantitative analysis to conduct empirical analysis with a focus on standardizing research on data assets and the capital market</a:t>
            </a:r>
            <a:r>
              <a:rPr lang="en-US" altLang="zh-CN" sz="1800" dirty="0" smtClean="0">
                <a:latin typeface="Times New Roman" panose="02020603050405020304" pitchFamily="18" charset="0"/>
                <a:ea typeface="等线" panose="02010600030101010101" pitchFamily="2" charset="-122"/>
              </a:rPr>
              <a:t>.</a:t>
            </a: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latin typeface="Times New Roman" panose="02020603050405020304" pitchFamily="18" charset="0"/>
                <a:ea typeface="等线" panose="02010600030101010101" pitchFamily="2" charset="-122"/>
              </a:rPr>
              <a:t>4.1 </a:t>
            </a:r>
            <a:r>
              <a:rPr lang="en-US" altLang="zh-CN" sz="1800" b="1" dirty="0" smtClean="0">
                <a:latin typeface="Times New Roman" panose="02020603050405020304" pitchFamily="18" charset="0"/>
                <a:ea typeface="等线" panose="02010600030101010101" pitchFamily="2" charset="-122"/>
              </a:rPr>
              <a:t>Common Methods</a:t>
            </a:r>
            <a:r>
              <a:rPr lang="en-US" altLang="zh-CN" sz="1800" b="1" dirty="0">
                <a:latin typeface="Times New Roman" panose="02020603050405020304" pitchFamily="18" charset="0"/>
                <a:ea typeface="等线" panose="02010600030101010101" pitchFamily="2" charset="-122"/>
              </a:rPr>
              <a:t>: Literature Analysis and Quantitative Analysis </a:t>
            </a:r>
            <a:endParaRPr lang="en-US" altLang="zh-CN" sz="1800" b="1"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a:latin typeface="Times New Roman" panose="02020603050405020304" pitchFamily="18" charset="0"/>
                <a:ea typeface="等线" panose="02010600030101010101" pitchFamily="2" charset="-122"/>
              </a:rPr>
              <a:t>4.2 Empirical Analysis of Data Asset Valuation Methods and Application </a:t>
            </a:r>
            <a:r>
              <a:rPr lang="en-US" altLang="zh-CN" sz="1800" b="1" dirty="0" smtClean="0">
                <a:latin typeface="Times New Roman" panose="02020603050405020304" pitchFamily="18" charset="0"/>
                <a:ea typeface="等线" panose="02010600030101010101" pitchFamily="2" charset="-122"/>
              </a:rPr>
              <a:t>Research</a:t>
            </a:r>
          </a:p>
          <a:p>
            <a:pPr marL="342921" indent="-342921">
              <a:lnSpc>
                <a:spcPts val="2800"/>
              </a:lnSpc>
              <a:buFont typeface="Wingdings" panose="05000000000000000000" pitchFamily="2" charset="2"/>
              <a:buChar char="Ø"/>
            </a:pPr>
            <a:r>
              <a:rPr lang="en-US" altLang="zh-CN" sz="1800" dirty="0">
                <a:latin typeface="Times New Roman" panose="02020603050405020304" pitchFamily="18" charset="0"/>
                <a:ea typeface="等线" panose="02010600030101010101" pitchFamily="2" charset="-122"/>
              </a:rPr>
              <a:t>survey research and case analysis to collect data on the valuation and identification of data assets facing enterprises and individuals in the era of big data</a:t>
            </a:r>
            <a:r>
              <a:rPr lang="en-US" altLang="zh-CN" sz="1800" dirty="0" smtClean="0">
                <a:latin typeface="Times New Roman" panose="02020603050405020304" pitchFamily="18" charset="0"/>
                <a:ea typeface="等线" panose="02010600030101010101" pitchFamily="2" charset="-122"/>
              </a:rPr>
              <a:t>.</a:t>
            </a:r>
          </a:p>
          <a:p>
            <a:pPr marL="342921" indent="-342921">
              <a:lnSpc>
                <a:spcPts val="2800"/>
              </a:lnSpc>
              <a:buFont typeface="Wingdings" panose="05000000000000000000" pitchFamily="2" charset="2"/>
              <a:buChar char="Ø"/>
            </a:pPr>
            <a:r>
              <a:rPr lang="en-US" altLang="zh-CN" sz="1800" b="1" dirty="0" smtClean="0">
                <a:latin typeface="Times New Roman" panose="02020603050405020304" pitchFamily="18" charset="0"/>
                <a:ea typeface="等线" panose="02010600030101010101" pitchFamily="2" charset="-122"/>
              </a:rPr>
              <a:t>4.3 </a:t>
            </a:r>
            <a:r>
              <a:rPr lang="en-US" altLang="zh-CN" sz="1800" b="1" dirty="0">
                <a:latin typeface="Times New Roman" panose="02020603050405020304" pitchFamily="18" charset="0"/>
                <a:ea typeface="等线" panose="02010600030101010101" pitchFamily="2" charset="-122"/>
              </a:rPr>
              <a:t>An Empirical Study on the Effect of Data Assets on Company Stock Price and Its </a:t>
            </a:r>
            <a:r>
              <a:rPr lang="en-US" altLang="zh-CN" sz="1800" b="1" dirty="0" smtClean="0">
                <a:latin typeface="Times New Roman" panose="02020603050405020304" pitchFamily="18" charset="0"/>
                <a:ea typeface="等线" panose="02010600030101010101" pitchFamily="2" charset="-122"/>
              </a:rPr>
              <a:t>Mechanisms</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case </a:t>
            </a:r>
            <a:r>
              <a:rPr lang="en-US" altLang="zh-CN" sz="1800" dirty="0">
                <a:latin typeface="Times New Roman" panose="02020603050405020304" pitchFamily="18" charset="0"/>
                <a:ea typeface="等线" panose="02010600030101010101" pitchFamily="2" charset="-122"/>
              </a:rPr>
              <a:t>studies on representative companies with significant data assets, focusing </a:t>
            </a:r>
            <a:r>
              <a:rPr lang="en-US" altLang="zh-CN" sz="1800" dirty="0" smtClean="0">
                <a:latin typeface="Times New Roman" panose="02020603050405020304" pitchFamily="18" charset="0"/>
                <a:ea typeface="等线" panose="02010600030101010101" pitchFamily="2" charset="-122"/>
              </a:rPr>
              <a:t>on</a:t>
            </a:r>
          </a:p>
          <a:p>
            <a:pPr marL="821884" lvl="1" indent="-342921">
              <a:lnSpc>
                <a:spcPts val="2800"/>
              </a:lnSpc>
              <a:buFont typeface="Wingdings" panose="05000000000000000000" pitchFamily="2" charset="2"/>
              <a:buChar char="Ø"/>
            </a:pPr>
            <a:r>
              <a:rPr lang="en-US" altLang="zh-CN" sz="1600" dirty="0" smtClean="0">
                <a:latin typeface="Times New Roman" panose="02020603050405020304" pitchFamily="18" charset="0"/>
                <a:ea typeface="等线" panose="02010600030101010101" pitchFamily="2" charset="-122"/>
              </a:rPr>
              <a:t>how </a:t>
            </a:r>
            <a:r>
              <a:rPr lang="en-US" altLang="zh-CN" sz="1600" dirty="0">
                <a:latin typeface="Times New Roman" panose="02020603050405020304" pitchFamily="18" charset="0"/>
                <a:ea typeface="等线" panose="02010600030101010101" pitchFamily="2" charset="-122"/>
              </a:rPr>
              <a:t>these assets are utilized to empower their businesses and create value, </a:t>
            </a:r>
            <a:endParaRPr lang="en-US" altLang="zh-CN" sz="1600" dirty="0" smtClean="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r>
              <a:rPr lang="en-US" altLang="zh-CN" sz="1600" dirty="0" smtClean="0">
                <a:latin typeface="Times New Roman" panose="02020603050405020304" pitchFamily="18" charset="0"/>
                <a:ea typeface="等线" panose="02010600030101010101" pitchFamily="2" charset="-122"/>
              </a:rPr>
              <a:t>how </a:t>
            </a:r>
            <a:r>
              <a:rPr lang="en-US" altLang="zh-CN" sz="1600" dirty="0">
                <a:latin typeface="Times New Roman" panose="02020603050405020304" pitchFamily="18" charset="0"/>
                <a:ea typeface="等线" panose="02010600030101010101" pitchFamily="2" charset="-122"/>
              </a:rPr>
              <a:t>capital markets respond to this information.</a:t>
            </a:r>
            <a:endParaRPr lang="en-US" altLang="zh-CN" sz="1600"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r>
              <a:rPr lang="en-US" altLang="zh-CN" sz="1800" b="1" dirty="0" smtClean="0">
                <a:latin typeface="Times New Roman" panose="02020603050405020304" pitchFamily="18" charset="0"/>
                <a:ea typeface="等线" panose="02010600030101010101" pitchFamily="2" charset="-122"/>
              </a:rPr>
              <a:t>4.4 An Empirical Study on the Impact of Data Asset Disclosure on Investor Decisions and Regulatory Policy</a:t>
            </a:r>
          </a:p>
          <a:p>
            <a:pPr marL="342921" indent="-342921">
              <a:lnSpc>
                <a:spcPts val="2800"/>
              </a:lnSpc>
              <a:buFont typeface="Wingdings" panose="05000000000000000000" pitchFamily="2" charset="2"/>
              <a:buChar char="Ø"/>
            </a:pPr>
            <a:r>
              <a:rPr lang="en-US" altLang="zh-CN" sz="1800" dirty="0" smtClean="0">
                <a:latin typeface="Times New Roman" panose="02020603050405020304" pitchFamily="18" charset="0"/>
                <a:ea typeface="等线" panose="02010600030101010101" pitchFamily="2" charset="-122"/>
              </a:rPr>
              <a:t>Case </a:t>
            </a:r>
            <a:r>
              <a:rPr lang="en-US" altLang="zh-CN" sz="1800" dirty="0">
                <a:latin typeface="Times New Roman" panose="02020603050405020304" pitchFamily="18" charset="0"/>
                <a:ea typeface="等线" panose="02010600030101010101" pitchFamily="2" charset="-122"/>
              </a:rPr>
              <a:t>studies and surveys, supplemented with public market data. The study aims to explore the impact of data asset disclosure levels on investor decisions and analyze regulatory policy effectiveness.</a:t>
            </a:r>
            <a:endParaRPr lang="en-US" altLang="zh-CN" sz="1800" dirty="0" smtClean="0">
              <a:latin typeface="Times New Roman" panose="02020603050405020304" pitchFamily="18" charset="0"/>
              <a:ea typeface="等线" panose="02010600030101010101" pitchFamily="2" charset="-122"/>
            </a:endParaRPr>
          </a:p>
          <a:p>
            <a:pPr marL="821884" lvl="1" indent="-342921">
              <a:lnSpc>
                <a:spcPts val="2800"/>
              </a:lnSpc>
              <a:buFont typeface="Wingdings" panose="05000000000000000000" pitchFamily="2" charset="2"/>
              <a:buChar char="Ø"/>
            </a:pPr>
            <a:endParaRPr lang="en-US" altLang="zh-CN" sz="1200" b="1" dirty="0" smtClean="0">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smtClean="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b="1"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pPr marL="342921" indent="-342921">
              <a:lnSpc>
                <a:spcPts val="2800"/>
              </a:lnSpc>
              <a:buFont typeface="Wingdings" panose="05000000000000000000" pitchFamily="2" charset="2"/>
              <a:buChar char="Ø"/>
            </a:pPr>
            <a:endParaRPr lang="en-US" altLang="zh-CN" sz="1800" dirty="0">
              <a:solidFill>
                <a:schemeClr val="bg2"/>
              </a:solidFill>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a:p>
            <a:endParaRPr lang="en-US" altLang="zh-CN" sz="1800" b="1" dirty="0" smtClean="0">
              <a:latin typeface="Times New Roman" panose="02020603050405020304" pitchFamily="18" charset="0"/>
              <a:ea typeface="等线" panose="02010600030101010101" pitchFamily="2" charset="-122"/>
            </a:endParaRPr>
          </a:p>
          <a:p>
            <a:endParaRPr lang="en-US" altLang="zh-CN" sz="1800" b="1" dirty="0">
              <a:latin typeface="Times New Roman" panose="02020603050405020304" pitchFamily="18" charset="0"/>
              <a:ea typeface="等线" panose="02010600030101010101" pitchFamily="2" charset="-122"/>
            </a:endParaRPr>
          </a:p>
        </p:txBody>
      </p:sp>
      <p:sp>
        <p:nvSpPr>
          <p:cNvPr id="10" name="标题 1"/>
          <p:cNvSpPr txBox="1">
            <a:spLocks/>
          </p:cNvSpPr>
          <p:nvPr/>
        </p:nvSpPr>
        <p:spPr bwMode="auto">
          <a:xfrm>
            <a:off x="199678" y="159193"/>
            <a:ext cx="9368110" cy="3902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indent="0" algn="l" defTabSz="957925" rtl="0" eaLnBrk="1" latinLnBrk="0" hangingPunct="1">
              <a:lnSpc>
                <a:spcPct val="90000"/>
              </a:lnSpc>
              <a:spcBef>
                <a:spcPct val="0"/>
              </a:spcBef>
              <a:buNone/>
              <a:defRPr sz="1800" b="0" kern="1200" baseline="0">
                <a:solidFill>
                  <a:schemeClr val="tx1"/>
                </a:solidFill>
                <a:latin typeface="Times New Roman" panose="02020603050405020304" pitchFamily="18" charset="0"/>
                <a:ea typeface="华文楷体" panose="02010600040101010101" pitchFamily="2" charset="-122"/>
                <a:cs typeface="Times New Roman" panose="02020603050405020304" pitchFamily="18" charset="0"/>
              </a:defRPr>
            </a:lvl1pPr>
          </a:lstStyle>
          <a:p>
            <a:r>
              <a:rPr lang="en-US" altLang="zh-CN" sz="2400" dirty="0" smtClean="0">
                <a:solidFill>
                  <a:schemeClr val="bg1"/>
                </a:solidFill>
              </a:rPr>
              <a:t>Research </a:t>
            </a:r>
            <a:r>
              <a:rPr lang="en-US" altLang="zh-CN" sz="2400" dirty="0">
                <a:solidFill>
                  <a:schemeClr val="bg1"/>
                </a:solidFill>
              </a:rPr>
              <a:t>Methodology</a:t>
            </a:r>
            <a:endParaRPr lang="en-US" altLang="zh-CN" sz="2400" dirty="0">
              <a:solidFill>
                <a:schemeClr val="bg1"/>
              </a:solidFill>
            </a:endParaRPr>
          </a:p>
        </p:txBody>
      </p:sp>
    </p:spTree>
    <p:extLst>
      <p:ext uri="{BB962C8B-B14F-4D97-AF65-F5344CB8AC3E}">
        <p14:creationId xmlns:p14="http://schemas.microsoft.com/office/powerpoint/2010/main" val="3422021378"/>
      </p:ext>
    </p:extLst>
  </p:cSld>
  <p:clrMapOvr>
    <a:masterClrMapping/>
  </p:clrMapOvr>
  <mc:AlternateContent xmlns:mc="http://schemas.openxmlformats.org/markup-compatibility/2006" xmlns:p14="http://schemas.microsoft.com/office/powerpoint/2010/main">
    <mc:Choice Requires="p14">
      <p:transition spd="slow" p14:dur="2000" advTm="1178"/>
    </mc:Choice>
    <mc:Fallback xmlns="">
      <p:transition spd="slow" advTm="1178"/>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 reqver=&quot;21047&quot;&gt;&lt;version val=&quot;22077&quot;/&gt;&lt;CPresentation id=&quot;1&quot;&gt;&lt;m_precDefaultNumber&gt;&lt;m_chMinusSymbol&gt;-&lt;/m_chMinusSymbol&gt;&lt;m_chDecimalSymbol17909&gt;.&lt;/m_chDecimalSymbol17909&gt;&lt;m_nGroupingDigits17909 val=&quot;3&quot;/&gt;&lt;m_chGroupingSymbol17909&gt;,&lt;/m_chGroupingSymbol17909&gt;&lt;/m_precDefaultNumber&gt;&lt;m_precDefaultPercent&gt;&lt;m_chMinusSymbol&gt;-&lt;/m_chMinusSymbol&gt;&lt;m_nDecimalDigits17909 val=&quot;1&quot;/&gt;&lt;m_chDecimalSymbol17909&gt;.&lt;/m_chDecimalSymbol17909&gt;&lt;m_nGroupingDigits17909 val=&quot;3&quot;/&gt;&lt;m_chGroupingSymbol17909&gt;,&lt;/m_chGroupingSymbol17909&gt;&lt;m_strSuffix17909&gt;%&lt;/m_strSuffix17909&gt;&lt;/m_precDefaultPercent&gt;&lt;m_precDefaultDate&gt;&lt;m_strFormatTime&gt;%#m/%#d/%Y&lt;/m_strFormatTime&gt;&lt;/m_precDefaultDate&gt;&lt;m_precDefaultYear/&gt;&lt;m_precDefaultQuarter/&gt;&lt;m_precDefaultMonth/&gt;&lt;m_precDefaultWeek/&gt;&lt;m_precDefaultDay/&gt;&lt;m_mruColor&gt;&lt;m_vecMRU length=&quot;12&quot;&gt;&lt;elem m_fUsage=&quot;1.68322986240641190000E+000&quot;&gt;&lt;m_ppcolschidx val=&quot;0&quot;/&gt;&lt;m_rgb r=&quot;9b&quot; g=&quot;17&quot; b=&quot;17&quot;/&gt;&lt;/elem&gt;&lt;elem m_fUsage=&quot;1.50338772469263370000E+000&quot;&gt;&lt;m_ppcolschidx val=&quot;0&quot;/&gt;&lt;m_rgb r=&quot;e5&quot; g=&quot;52&quot; b=&quot;52&quot;/&gt;&lt;/elem&gt;&lt;elem m_fUsage=&quot;1.22240875340971660000E+000&quot;&gt;&lt;m_ppcolschidx val=&quot;0&quot;/&gt;&lt;m_rgb r=&quot;c0&quot; g=&quot;0&quot; b=&quot;0&quot;/&gt;&lt;/elem&gt;&lt;elem m_fUsage=&quot;1.01916297527188230000E+000&quot;&gt;&lt;m_ppcolschidx val=&quot;0&quot;/&gt;&lt;m_rgb r=&quot;ee&quot; g=&quot;8b&quot; b=&quot;8b&quot;/&gt;&lt;/elem&gt;&lt;elem m_fUsage=&quot;9.90952901816634310000E-001&quot;&gt;&lt;m_ppcolschidx val=&quot;0&quot;/&gt;&lt;m_rgb r=&quot;f6&quot; g=&quot;c5&quot; b=&quot;c5&quot;/&gt;&lt;/elem&gt;&lt;elem m_fUsage=&quot;7.96036907042989350000E-001&quot;&gt;&lt;m_ppcolschidx val=&quot;0&quot;/&gt;&lt;m_rgb r=&quot;8c&quot; g=&quot;0&quot; b=&quot;0&quot;/&gt;&lt;/elem&gt;&lt;elem m_fUsage=&quot;7.74929666165770640000E-001&quot;&gt;&lt;m_ppcolschidx val=&quot;0&quot;/&gt;&lt;m_rgb r=&quot;74&quot; g=&quot;11&quot; b=&quot;11&quot;/&gt;&lt;/elem&gt;&lt;elem m_fUsage=&quot;6.20506540339557430000E-001&quot;&gt;&lt;m_ppcolschidx val=&quot;0&quot;/&gt;&lt;m_rgb r=&quot;b7&quot; g=&quot;84&quot; b=&quot;84&quot;/&gt;&lt;/elem&gt;&lt;elem m_fUsage=&quot;5.37470833195205280000E-001&quot;&gt;&lt;m_ppcolschidx val=&quot;0&quot;/&gt;&lt;m_rgb r=&quot;c5&quot; g=&quot;a0&quot; b=&quot;a0&quot;/&gt;&lt;/elem&gt;&lt;elem m_fUsage=&quot;4.22298087940373430000E-001&quot;&gt;&lt;m_ppcolschidx val=&quot;0&quot;/&gt;&lt;m_rgb r=&quot;d6&quot; g=&quot;bf&quot; b=&quot;bf&quot;/&gt;&lt;/elem&gt;&lt;elem m_fUsage=&quot;2.57980839435674180000E-001&quot;&gt;&lt;m_ppcolschidx val=&quot;0&quot;/&gt;&lt;m_rgb r=&quot;73&quot; g=&quot;0&quot; b=&quot;0&quot;/&gt;&lt;/elem&gt;&lt;elem m_fUsage=&quot;1.65995699549193580000E-001&quot;&gt;&lt;m_ppcolschidx val=&quot;0&quot;/&gt;&lt;m_rgb r=&quot;4e&quot; g=&quot;c&quot; b=&quot;c&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R Onlytext">
  <a:themeElements>
    <a:clrScheme name="ATK Color 2012_01">
      <a:dk1>
        <a:srgbClr val="000000"/>
      </a:dk1>
      <a:lt1>
        <a:srgbClr val="FFFFFF"/>
      </a:lt1>
      <a:dk2>
        <a:srgbClr val="778242"/>
      </a:dk2>
      <a:lt2>
        <a:srgbClr val="9B1717"/>
      </a:lt2>
      <a:accent1>
        <a:srgbClr val="364086"/>
      </a:accent1>
      <a:accent2>
        <a:srgbClr val="EFEEEC"/>
      </a:accent2>
      <a:accent3>
        <a:srgbClr val="ADABA1"/>
      </a:accent3>
      <a:accent4>
        <a:srgbClr val="858274"/>
      </a:accent4>
      <a:accent5>
        <a:srgbClr val="FCA248"/>
      </a:accent5>
      <a:accent6>
        <a:srgbClr val="CDD773"/>
      </a:accent6>
      <a:hlink>
        <a:srgbClr val="364086"/>
      </a:hlink>
      <a:folHlink>
        <a:srgbClr val="A3AADA"/>
      </a:folHlink>
    </a:clrScheme>
    <a:fontScheme name="ATK Font 2012_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w="6350" cap="flat">
          <a:noFill/>
          <a:miter lim="800000"/>
        </a:ln>
      </a:spPr>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defPPr algn="ctr">
          <a:lnSpc>
            <a:spcPct val="90000"/>
          </a:lnSpc>
          <a:spcBef>
            <a:spcPts val="900"/>
          </a:spcBef>
          <a:defRPr sz="1400" dirty="0" err="1" smtClean="0">
            <a:solidFill>
              <a:schemeClr val="bg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accent3"/>
          </a:solidFill>
          <a:miter lim="800000"/>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6350" cap="flat">
          <a:noFill/>
          <a:miter lim="800000"/>
        </a:ln>
      </a:spPr>
      <a:bodyPr wrap="none" lIns="0" tIns="0" rIns="0" bIns="0" rtlCol="0" anchor="t" anchorCtr="0">
        <a:spAutoFit/>
      </a:bodyPr>
      <a:lstStyle>
        <a:defPPr>
          <a:lnSpc>
            <a:spcPct val="90000"/>
          </a:lnSpc>
          <a:spcBef>
            <a:spcPts val="600"/>
          </a:spcBef>
          <a:buClr>
            <a:schemeClr val="bg2"/>
          </a:buClr>
          <a:defRPr sz="1400" dirty="0" smtClean="0">
            <a:latin typeface="Arial" pitchFamily="34" charset="0"/>
            <a:cs typeface="Arial" pitchFamily="34" charset="0"/>
          </a:defRPr>
        </a:defPPr>
      </a:lstStyle>
    </a:txDef>
  </a:objectDefaults>
  <a:extraClrSchemeLst/>
  <a:custClrLst>
    <a:custClr name="Custom Color 1">
      <a:srgbClr val="9B1717"/>
    </a:custClr>
    <a:custClr name="Custom Color 2">
      <a:srgbClr val="DCDC00"/>
    </a:custClr>
    <a:custClr name="Custom Color 3">
      <a:srgbClr val="289055"/>
    </a:custClr>
  </a:custClrLst>
</a:theme>
</file>

<file path=ppt/theme/theme2.xml><?xml version="1.0" encoding="utf-8"?>
<a:theme xmlns:a="http://schemas.openxmlformats.org/drawingml/2006/main" name="1_CR Onlytext">
  <a:themeElements>
    <a:clrScheme name="ATK Color 2012_01">
      <a:dk1>
        <a:srgbClr val="000000"/>
      </a:dk1>
      <a:lt1>
        <a:srgbClr val="FFFFFF"/>
      </a:lt1>
      <a:dk2>
        <a:srgbClr val="778242"/>
      </a:dk2>
      <a:lt2>
        <a:srgbClr val="9B1717"/>
      </a:lt2>
      <a:accent1>
        <a:srgbClr val="364086"/>
      </a:accent1>
      <a:accent2>
        <a:srgbClr val="EFEEEC"/>
      </a:accent2>
      <a:accent3>
        <a:srgbClr val="ADABA1"/>
      </a:accent3>
      <a:accent4>
        <a:srgbClr val="858274"/>
      </a:accent4>
      <a:accent5>
        <a:srgbClr val="FCA248"/>
      </a:accent5>
      <a:accent6>
        <a:srgbClr val="CDD773"/>
      </a:accent6>
      <a:hlink>
        <a:srgbClr val="364086"/>
      </a:hlink>
      <a:folHlink>
        <a:srgbClr val="A3AADA"/>
      </a:folHlink>
    </a:clrScheme>
    <a:fontScheme name="ATK Font 2012_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w="6350" cap="flat">
          <a:noFill/>
          <a:miter lim="800000"/>
        </a:ln>
      </a:spPr>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defPPr algn="ctr">
          <a:lnSpc>
            <a:spcPct val="90000"/>
          </a:lnSpc>
          <a:spcBef>
            <a:spcPts val="900"/>
          </a:spcBef>
          <a:defRPr sz="1400" dirty="0" err="1" smtClean="0">
            <a:solidFill>
              <a:schemeClr val="bg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accent3"/>
          </a:solidFill>
          <a:miter lim="800000"/>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6350" cap="flat">
          <a:noFill/>
          <a:miter lim="800000"/>
        </a:ln>
      </a:spPr>
      <a:bodyPr wrap="none" lIns="0" tIns="0" rIns="0" bIns="0" rtlCol="0" anchor="t" anchorCtr="0">
        <a:spAutoFit/>
      </a:bodyPr>
      <a:lstStyle>
        <a:defPPr>
          <a:lnSpc>
            <a:spcPct val="90000"/>
          </a:lnSpc>
          <a:spcBef>
            <a:spcPts val="600"/>
          </a:spcBef>
          <a:buClr>
            <a:schemeClr val="bg2"/>
          </a:buClr>
          <a:defRPr sz="1400" dirty="0" smtClean="0">
            <a:latin typeface="Arial" pitchFamily="34" charset="0"/>
            <a:cs typeface="Arial" pitchFamily="34" charset="0"/>
          </a:defRPr>
        </a:defPPr>
      </a:lstStyle>
    </a:txDef>
  </a:objectDefaults>
  <a:extraClrSchemeLst/>
  <a:custClrLst>
    <a:custClr name="Custom Color 1">
      <a:srgbClr val="9B1717"/>
    </a:custClr>
    <a:custClr name="Custom Color 2">
      <a:srgbClr val="DCDC00"/>
    </a:custClr>
    <a:custClr name="Custom Color 3">
      <a:srgbClr val="289055"/>
    </a:custClr>
  </a:custClrLst>
</a:theme>
</file>

<file path=ppt/theme/theme3.xml><?xml version="1.0" encoding="utf-8"?>
<a:theme xmlns:a="http://schemas.openxmlformats.org/drawingml/2006/main" name="3_CR Onlytext">
  <a:themeElements>
    <a:clrScheme name="ATK Color 2012_01">
      <a:dk1>
        <a:srgbClr val="000000"/>
      </a:dk1>
      <a:lt1>
        <a:srgbClr val="FFFFFF"/>
      </a:lt1>
      <a:dk2>
        <a:srgbClr val="778242"/>
      </a:dk2>
      <a:lt2>
        <a:srgbClr val="9B1717"/>
      </a:lt2>
      <a:accent1>
        <a:srgbClr val="364086"/>
      </a:accent1>
      <a:accent2>
        <a:srgbClr val="EFEEEC"/>
      </a:accent2>
      <a:accent3>
        <a:srgbClr val="ADABA1"/>
      </a:accent3>
      <a:accent4>
        <a:srgbClr val="858274"/>
      </a:accent4>
      <a:accent5>
        <a:srgbClr val="FCA248"/>
      </a:accent5>
      <a:accent6>
        <a:srgbClr val="CDD773"/>
      </a:accent6>
      <a:hlink>
        <a:srgbClr val="364086"/>
      </a:hlink>
      <a:folHlink>
        <a:srgbClr val="A3AADA"/>
      </a:folHlink>
    </a:clrScheme>
    <a:fontScheme name="ATK Font 2012_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w="6350" cap="flat">
          <a:noFill/>
          <a:miter lim="800000"/>
        </a:ln>
      </a:spPr>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defPPr algn="ctr">
          <a:lnSpc>
            <a:spcPct val="90000"/>
          </a:lnSpc>
          <a:spcBef>
            <a:spcPts val="900"/>
          </a:spcBef>
          <a:defRPr sz="1400" dirty="0" err="1" smtClean="0">
            <a:solidFill>
              <a:schemeClr val="bg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accent3"/>
          </a:solidFill>
          <a:miter lim="800000"/>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6350" cap="flat">
          <a:noFill/>
          <a:miter lim="800000"/>
        </a:ln>
      </a:spPr>
      <a:bodyPr wrap="none" lIns="0" tIns="0" rIns="0" bIns="0" rtlCol="0" anchor="t" anchorCtr="0">
        <a:spAutoFit/>
      </a:bodyPr>
      <a:lstStyle>
        <a:defPPr>
          <a:lnSpc>
            <a:spcPct val="90000"/>
          </a:lnSpc>
          <a:spcBef>
            <a:spcPts val="600"/>
          </a:spcBef>
          <a:buClr>
            <a:schemeClr val="bg2"/>
          </a:buClr>
          <a:defRPr sz="1400" dirty="0" smtClean="0">
            <a:latin typeface="Arial" pitchFamily="34" charset="0"/>
            <a:cs typeface="Arial" pitchFamily="34" charset="0"/>
          </a:defRPr>
        </a:defPPr>
      </a:lstStyle>
    </a:txDef>
  </a:objectDefaults>
  <a:extraClrSchemeLst/>
  <a:custClrLst>
    <a:custClr name="Custom Color 1">
      <a:srgbClr val="9B1717"/>
    </a:custClr>
    <a:custClr name="Custom Color 2">
      <a:srgbClr val="DCDC00"/>
    </a:custClr>
    <a:custClr name="Custom Color 3">
      <a:srgbClr val="289055"/>
    </a:custClr>
  </a:custClrLst>
</a:theme>
</file>

<file path=ppt/theme/theme4.xml><?xml version="1.0" encoding="utf-8"?>
<a:theme xmlns:a="http://schemas.openxmlformats.org/drawingml/2006/main" name="4_CR Onlytext">
  <a:themeElements>
    <a:clrScheme name="ATK Color 2012_01">
      <a:dk1>
        <a:srgbClr val="000000"/>
      </a:dk1>
      <a:lt1>
        <a:srgbClr val="FFFFFF"/>
      </a:lt1>
      <a:dk2>
        <a:srgbClr val="778242"/>
      </a:dk2>
      <a:lt2>
        <a:srgbClr val="9B1717"/>
      </a:lt2>
      <a:accent1>
        <a:srgbClr val="364086"/>
      </a:accent1>
      <a:accent2>
        <a:srgbClr val="EFEEEC"/>
      </a:accent2>
      <a:accent3>
        <a:srgbClr val="ADABA1"/>
      </a:accent3>
      <a:accent4>
        <a:srgbClr val="858274"/>
      </a:accent4>
      <a:accent5>
        <a:srgbClr val="FCA248"/>
      </a:accent5>
      <a:accent6>
        <a:srgbClr val="CDD773"/>
      </a:accent6>
      <a:hlink>
        <a:srgbClr val="364086"/>
      </a:hlink>
      <a:folHlink>
        <a:srgbClr val="A3AADA"/>
      </a:folHlink>
    </a:clrScheme>
    <a:fontScheme name="ATK Font 2012_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w="6350" cap="flat">
          <a:noFill/>
          <a:miter lim="800000"/>
        </a:ln>
      </a:spPr>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defPPr algn="ctr">
          <a:lnSpc>
            <a:spcPct val="90000"/>
          </a:lnSpc>
          <a:spcBef>
            <a:spcPts val="900"/>
          </a:spcBef>
          <a:defRPr sz="1400" dirty="0" err="1" smtClean="0">
            <a:solidFill>
              <a:schemeClr val="bg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accent3"/>
          </a:solidFill>
          <a:miter lim="800000"/>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6350" cap="flat">
          <a:noFill/>
          <a:miter lim="800000"/>
        </a:ln>
      </a:spPr>
      <a:bodyPr wrap="none" lIns="0" tIns="0" rIns="0" bIns="0" rtlCol="0" anchor="t" anchorCtr="0">
        <a:spAutoFit/>
      </a:bodyPr>
      <a:lstStyle>
        <a:defPPr>
          <a:lnSpc>
            <a:spcPct val="90000"/>
          </a:lnSpc>
          <a:spcBef>
            <a:spcPts val="600"/>
          </a:spcBef>
          <a:buClr>
            <a:schemeClr val="bg2"/>
          </a:buClr>
          <a:defRPr sz="1400" dirty="0" smtClean="0">
            <a:latin typeface="Arial" pitchFamily="34" charset="0"/>
            <a:cs typeface="Arial" pitchFamily="34" charset="0"/>
          </a:defRPr>
        </a:defPPr>
      </a:lstStyle>
    </a:txDef>
  </a:objectDefaults>
  <a:extraClrSchemeLst/>
  <a:custClrLst>
    <a:custClr name="Custom Color 1">
      <a:srgbClr val="9B1717"/>
    </a:custClr>
    <a:custClr name="Custom Color 2">
      <a:srgbClr val="DCDC00"/>
    </a:custClr>
    <a:custClr name="Custom Color 3">
      <a:srgbClr val="289055"/>
    </a:custClr>
  </a:custClrLst>
</a:theme>
</file>

<file path=ppt/theme/theme5.xml><?xml version="1.0" encoding="utf-8"?>
<a:theme xmlns:a="http://schemas.openxmlformats.org/drawingml/2006/main" name="5_CR Onlytext">
  <a:themeElements>
    <a:clrScheme name="ATK Color 2012_01">
      <a:dk1>
        <a:srgbClr val="000000"/>
      </a:dk1>
      <a:lt1>
        <a:srgbClr val="FFFFFF"/>
      </a:lt1>
      <a:dk2>
        <a:srgbClr val="778242"/>
      </a:dk2>
      <a:lt2>
        <a:srgbClr val="9B1717"/>
      </a:lt2>
      <a:accent1>
        <a:srgbClr val="364086"/>
      </a:accent1>
      <a:accent2>
        <a:srgbClr val="EFEEEC"/>
      </a:accent2>
      <a:accent3>
        <a:srgbClr val="ADABA1"/>
      </a:accent3>
      <a:accent4>
        <a:srgbClr val="858274"/>
      </a:accent4>
      <a:accent5>
        <a:srgbClr val="FCA248"/>
      </a:accent5>
      <a:accent6>
        <a:srgbClr val="CDD773"/>
      </a:accent6>
      <a:hlink>
        <a:srgbClr val="364086"/>
      </a:hlink>
      <a:folHlink>
        <a:srgbClr val="A3AADA"/>
      </a:folHlink>
    </a:clrScheme>
    <a:fontScheme name="ATK Font 2012_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w="6350" cap="flat">
          <a:noFill/>
          <a:miter lim="800000"/>
        </a:ln>
      </a:spPr>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defPPr algn="ctr">
          <a:lnSpc>
            <a:spcPct val="90000"/>
          </a:lnSpc>
          <a:spcBef>
            <a:spcPts val="900"/>
          </a:spcBef>
          <a:defRPr sz="1400" dirty="0" err="1" smtClean="0">
            <a:solidFill>
              <a:schemeClr val="bg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accent3"/>
          </a:solidFill>
          <a:miter lim="800000"/>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6350" cap="flat">
          <a:noFill/>
          <a:miter lim="800000"/>
        </a:ln>
      </a:spPr>
      <a:bodyPr wrap="none" lIns="0" tIns="0" rIns="0" bIns="0" rtlCol="0" anchor="t" anchorCtr="0">
        <a:spAutoFit/>
      </a:bodyPr>
      <a:lstStyle>
        <a:defPPr>
          <a:lnSpc>
            <a:spcPct val="90000"/>
          </a:lnSpc>
          <a:spcBef>
            <a:spcPts val="600"/>
          </a:spcBef>
          <a:buClr>
            <a:schemeClr val="bg2"/>
          </a:buClr>
          <a:defRPr sz="1400" dirty="0" smtClean="0">
            <a:latin typeface="Arial" pitchFamily="34" charset="0"/>
            <a:cs typeface="Arial" pitchFamily="34" charset="0"/>
          </a:defRPr>
        </a:defPPr>
      </a:lstStyle>
    </a:txDef>
  </a:objectDefaults>
  <a:extraClrSchemeLst/>
  <a:custClrLst>
    <a:custClr name="Custom Color 1">
      <a:srgbClr val="9B1717"/>
    </a:custClr>
    <a:custClr name="Custom Color 2">
      <a:srgbClr val="DCDC00"/>
    </a:custClr>
    <a:custClr name="Custom Color 3">
      <a:srgbClr val="289055"/>
    </a:custClr>
  </a:custClrLst>
</a:theme>
</file>

<file path=ppt/theme/theme6.xml><?xml version="1.0" encoding="utf-8"?>
<a:theme xmlns:a="http://schemas.openxmlformats.org/drawingml/2006/main" name="6_CR Onlytext">
  <a:themeElements>
    <a:clrScheme name="ATK Color 2012_01">
      <a:dk1>
        <a:srgbClr val="000000"/>
      </a:dk1>
      <a:lt1>
        <a:srgbClr val="FFFFFF"/>
      </a:lt1>
      <a:dk2>
        <a:srgbClr val="778242"/>
      </a:dk2>
      <a:lt2>
        <a:srgbClr val="9B1717"/>
      </a:lt2>
      <a:accent1>
        <a:srgbClr val="364086"/>
      </a:accent1>
      <a:accent2>
        <a:srgbClr val="EFEEEC"/>
      </a:accent2>
      <a:accent3>
        <a:srgbClr val="ADABA1"/>
      </a:accent3>
      <a:accent4>
        <a:srgbClr val="858274"/>
      </a:accent4>
      <a:accent5>
        <a:srgbClr val="FCA248"/>
      </a:accent5>
      <a:accent6>
        <a:srgbClr val="CDD773"/>
      </a:accent6>
      <a:hlink>
        <a:srgbClr val="364086"/>
      </a:hlink>
      <a:folHlink>
        <a:srgbClr val="A3AADA"/>
      </a:folHlink>
    </a:clrScheme>
    <a:fontScheme name="ATK Font 2012_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w="6350" cap="flat">
          <a:noFill/>
          <a:miter lim="800000"/>
        </a:ln>
      </a:spPr>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defPPr algn="ctr">
          <a:lnSpc>
            <a:spcPct val="90000"/>
          </a:lnSpc>
          <a:spcBef>
            <a:spcPts val="900"/>
          </a:spcBef>
          <a:defRPr sz="1400" dirty="0" err="1" smtClean="0">
            <a:solidFill>
              <a:schemeClr val="bg1"/>
            </a:solidFill>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accent3"/>
          </a:solidFill>
          <a:miter lim="800000"/>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6350" cap="flat">
          <a:noFill/>
          <a:miter lim="800000"/>
        </a:ln>
      </a:spPr>
      <a:bodyPr wrap="none" lIns="0" tIns="0" rIns="0" bIns="0" rtlCol="0" anchor="t" anchorCtr="0">
        <a:spAutoFit/>
      </a:bodyPr>
      <a:lstStyle>
        <a:defPPr>
          <a:lnSpc>
            <a:spcPct val="90000"/>
          </a:lnSpc>
          <a:spcBef>
            <a:spcPts val="600"/>
          </a:spcBef>
          <a:buClr>
            <a:schemeClr val="bg2"/>
          </a:buClr>
          <a:defRPr sz="1400" dirty="0" smtClean="0">
            <a:latin typeface="Arial" pitchFamily="34" charset="0"/>
            <a:cs typeface="Arial" pitchFamily="34" charset="0"/>
          </a:defRPr>
        </a:defPPr>
      </a:lstStyle>
    </a:txDef>
  </a:objectDefaults>
  <a:extraClrSchemeLst/>
  <a:custClrLst>
    <a:custClr name="Custom Color 1">
      <a:srgbClr val="9B1717"/>
    </a:custClr>
    <a:custClr name="Custom Color 2">
      <a:srgbClr val="DCDC00"/>
    </a:custClr>
    <a:custClr name="Custom Color 3">
      <a:srgbClr val="289055"/>
    </a:custClr>
  </a:custClrLst>
</a:theme>
</file>

<file path=ppt/theme/theme7.xml><?xml version="1.0" encoding="utf-8"?>
<a:theme xmlns:a="http://schemas.openxmlformats.org/drawingml/2006/main" name="Office Theme">
  <a:themeElements>
    <a:clrScheme name="ATK Color 2012_01">
      <a:dk1>
        <a:srgbClr val="000000"/>
      </a:dk1>
      <a:lt1>
        <a:srgbClr val="FFFFFF"/>
      </a:lt1>
      <a:dk2>
        <a:srgbClr val="778242"/>
      </a:dk2>
      <a:lt2>
        <a:srgbClr val="9B1717"/>
      </a:lt2>
      <a:accent1>
        <a:srgbClr val="364086"/>
      </a:accent1>
      <a:accent2>
        <a:srgbClr val="EFEEEC"/>
      </a:accent2>
      <a:accent3>
        <a:srgbClr val="ADABA1"/>
      </a:accent3>
      <a:accent4>
        <a:srgbClr val="858274"/>
      </a:accent4>
      <a:accent5>
        <a:srgbClr val="FCA248"/>
      </a:accent5>
      <a:accent6>
        <a:srgbClr val="CDD773"/>
      </a:accent6>
      <a:hlink>
        <a:srgbClr val="364086"/>
      </a:hlink>
      <a:folHlink>
        <a:srgbClr val="A3AAD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0</TotalTime>
  <Words>9372</Words>
  <Application>Microsoft Office PowerPoint</Application>
  <PresentationFormat>自定义</PresentationFormat>
  <Paragraphs>1605</Paragraphs>
  <Slides>71</Slides>
  <Notes>0</Notes>
  <HiddenSlides>0</HiddenSlides>
  <MMClips>0</MMClips>
  <ScaleCrop>false</ScaleCrop>
  <HeadingPairs>
    <vt:vector size="8" baseType="variant">
      <vt:variant>
        <vt:lpstr>已用的字体</vt:lpstr>
      </vt:variant>
      <vt:variant>
        <vt:i4>13</vt:i4>
      </vt:variant>
      <vt:variant>
        <vt:lpstr>主题</vt:lpstr>
      </vt:variant>
      <vt:variant>
        <vt:i4>6</vt:i4>
      </vt:variant>
      <vt:variant>
        <vt:lpstr>嵌入 OLE 服务器</vt:lpstr>
      </vt:variant>
      <vt:variant>
        <vt:i4>2</vt:i4>
      </vt:variant>
      <vt:variant>
        <vt:lpstr>幻灯片标题</vt:lpstr>
      </vt:variant>
      <vt:variant>
        <vt:i4>71</vt:i4>
      </vt:variant>
    </vt:vector>
  </HeadingPairs>
  <TitlesOfParts>
    <vt:vector size="92" baseType="lpstr">
      <vt:lpstr>PMingLiU</vt:lpstr>
      <vt:lpstr>Vrinda</vt:lpstr>
      <vt:lpstr>等线</vt:lpstr>
      <vt:lpstr>仿宋_GB2312</vt:lpstr>
      <vt:lpstr>华光楷体_CNKI</vt:lpstr>
      <vt:lpstr>华文楷体</vt:lpstr>
      <vt:lpstr>宋体</vt:lpstr>
      <vt:lpstr>微软雅黑</vt:lpstr>
      <vt:lpstr>Arial</vt:lpstr>
      <vt:lpstr>Cambria Math</vt:lpstr>
      <vt:lpstr>Palatino Linotype</vt:lpstr>
      <vt:lpstr>Times New Roman</vt:lpstr>
      <vt:lpstr>Wingdings</vt:lpstr>
      <vt:lpstr>CR Onlytext</vt:lpstr>
      <vt:lpstr>1_CR Onlytext</vt:lpstr>
      <vt:lpstr>3_CR Onlytext</vt:lpstr>
      <vt:lpstr>4_CR Onlytext</vt:lpstr>
      <vt:lpstr>5_CR Onlytext</vt:lpstr>
      <vt:lpstr>6_CR Onlytext</vt:lpstr>
      <vt:lpstr>think-cell Slide</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Introduction</vt:lpstr>
      <vt:lpstr>Related Literature</vt:lpstr>
      <vt:lpstr>Our Index</vt:lpstr>
      <vt:lpstr>Hypothesis, based on economics intuition</vt:lpstr>
      <vt:lpstr>Regression Model</vt:lpstr>
      <vt:lpstr>Result</vt:lpstr>
      <vt:lpstr>Regression Model</vt:lpstr>
      <vt:lpstr>PowerPoint 演示文稿</vt:lpstr>
      <vt:lpstr>Regression Model</vt:lpstr>
      <vt:lpstr>PowerPoint 演示文稿</vt:lpstr>
      <vt:lpstr>Result</vt:lpstr>
      <vt:lpstr>Hypothesis Check</vt:lpstr>
      <vt:lpstr>Explanation</vt:lpstr>
      <vt:lpstr>Solution</vt:lpstr>
      <vt:lpstr>Summary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2014-03-26T02:17:58Z</dcterms:created>
  <dcterms:modified xsi:type="dcterms:W3CDTF">2023-05-11T00:28:37Z</dcterms:modified>
  <cp:version>112013</cp:version>
</cp:coreProperties>
</file>